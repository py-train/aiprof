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08925" y="1415415"/>
            <a:ext cx="2526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1803265" y="2253615"/>
            <a:ext cx="55374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AI &amp; ML Concepts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2060544" y="2969895"/>
            <a:ext cx="50228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of Artificial Intelligence and Machine Learning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290586" y="3541395"/>
            <a:ext cx="256282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24-Hour Comprehensive Training Program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620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Artificial Intelligence and Machine Learning are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the evolution and real-world impact of AI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between supervised, unsupervised, and reinforcement learning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Grasp fundamental concepts: models, training data, and predictions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1"/>
            <a:ext cx="7924800" cy="93726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Artificial Intelligence?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6300" y="1478281"/>
            <a:ext cx="74295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is the simulation of human intelligence processes by machines, especially computer systems.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49174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85750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from experience and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Recognizing patterns and making predictions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understanding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1"/>
            <a:ext cx="7924800" cy="9372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830831"/>
            <a:ext cx="3848100" cy="71014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86300" y="2830831"/>
            <a:ext cx="3848100" cy="71014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Machine Learning?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76300" y="1478281"/>
            <a:ext cx="74295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ML is a subset of AI where systems improve their performance on tasks through experience without being explicitly programmed.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491740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Programming vs Machine Learning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983231"/>
            <a:ext cx="361416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3196590"/>
            <a:ext cx="361416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→ Output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838700" y="2983231"/>
            <a:ext cx="361416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38700" y="3196590"/>
            <a:ext cx="361416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→ Rules → Output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30680"/>
            <a:ext cx="2540020" cy="115204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2020" y="1630680"/>
            <a:ext cx="2540020" cy="115204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440" y="1630680"/>
            <a:ext cx="2540020" cy="115204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vs ML vs Deep Learning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76300" y="1859280"/>
            <a:ext cx="208561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148841"/>
            <a:ext cx="204472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Broadest concept - making machines intelligent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3568720" y="1859280"/>
            <a:ext cx="208561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8720" y="2148841"/>
            <a:ext cx="2085614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patterns from data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261140" y="1859280"/>
            <a:ext cx="208561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DL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1140" y="2148841"/>
            <a:ext cx="204472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with multiple layers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942558" cy="339090"/>
          </a:xfrm>
          <a:prstGeom prst="roundRect">
            <a:avLst>
              <a:gd name="adj" fmla="val 539326"/>
            </a:avLst>
          </a:prstGeom>
          <a:solidFill>
            <a:srgbClr val="38BDF8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1950s-60s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1741170"/>
            <a:ext cx="942558" cy="339090"/>
          </a:xfrm>
          <a:prstGeom prst="roundRect">
            <a:avLst>
              <a:gd name="adj" fmla="val 539326"/>
            </a:avLst>
          </a:prstGeom>
          <a:solidFill>
            <a:srgbClr val="10B981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1980s-90s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2232661"/>
            <a:ext cx="942558" cy="339090"/>
          </a:xfrm>
          <a:prstGeom prst="roundRect">
            <a:avLst>
              <a:gd name="adj" fmla="val 539326"/>
            </a:avLst>
          </a:prstGeom>
          <a:solidFill>
            <a:srgbClr val="F59E0B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2000s-10s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2724150"/>
            <a:ext cx="675620" cy="339090"/>
          </a:xfrm>
          <a:prstGeom prst="roundRect">
            <a:avLst>
              <a:gd name="adj" fmla="val 539326"/>
            </a:avLst>
          </a:prstGeom>
          <a:solidFill>
            <a:srgbClr val="8B5CF6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AI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704558" y="1312545"/>
            <a:ext cx="256568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Dartmouth Summer, first AI programs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04558" y="1804036"/>
            <a:ext cx="177945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systems, AI Winter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04558" y="2295525"/>
            <a:ext cx="266156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renaissance, ImageNet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37620" y="2787016"/>
            <a:ext cx="210838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LLMs, Generative AI explosion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78280"/>
            <a:ext cx="3848100" cy="93874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478280"/>
            <a:ext cx="3848100" cy="93874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645629"/>
            <a:ext cx="3848100" cy="93874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2645629"/>
            <a:ext cx="3848100" cy="93874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 of AI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706880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1996441"/>
            <a:ext cx="3458718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Diagnosis, drug discovery, personalized medicine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914900" y="1706880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4900" y="1996441"/>
            <a:ext cx="3458718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detection, algorithmic trading, risk assessment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38200" y="2874229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8200" y="3163788"/>
            <a:ext cx="3458718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Recommendations, inventory, demand forecasting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914900" y="2874229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4900" y="3163788"/>
            <a:ext cx="3458718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maintenance, quality control, robots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54480"/>
            <a:ext cx="2489180" cy="115204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80" y="1554480"/>
            <a:ext cx="2489180" cy="115204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60" y="1554480"/>
            <a:ext cx="2489180" cy="115204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Categories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17880" y="1783082"/>
            <a:ext cx="2072620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17880" y="2093951"/>
            <a:ext cx="207262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labeled data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535660" y="1783082"/>
            <a:ext cx="2072620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535660" y="2093951"/>
            <a:ext cx="207262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patterns in unlabeled data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253440" y="1783082"/>
            <a:ext cx="2072620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48"/>
              </a:lnSpc>
              <a:buNone/>
            </a:pPr>
            <a:r>
              <a:rPr lang="en-US" sz="132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273760" y="2093951"/>
            <a:ext cx="203198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rewards and penalties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67056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6300" y="1478282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from labeled examples: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data point has both input (features) and correct output (label).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92024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Main Types: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62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 continuous values (e.g., house prices, temperature)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 categories (e.g., spam/not spam, disease/healthy)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6705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6300" y="1478282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hidden patterns: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labels provided. System discovers structure in unlabeled data.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92024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Tasks: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 similar items (e.g., customer segmentation)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Dimensionality Reduction: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data complexity (e.g., PCA)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unusual patterns (e.g., fraud detection)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88392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6300" y="1478282"/>
            <a:ext cx="74295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through interaction: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 learns by taking actions, receiving rewards/penalties, and optimizing strategy.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13360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99359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Decision maker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World the agent interacts with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Feedback signal for actions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806191"/>
            <a:ext cx="8083296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Game AI (Chess, Go), Robotics, Autonomous vehicles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2"/>
            <a:ext cx="7924800" cy="8732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51484"/>
            <a:ext cx="7924800" cy="8732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77092"/>
            <a:ext cx="7924800" cy="87320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ML Concepts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76300" y="1554482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1767841"/>
            <a:ext cx="757809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representation of patterns learned from data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76300" y="2580084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Training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6300" y="2793443"/>
            <a:ext cx="757809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examples used to teach the model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76300" y="3605692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Predictions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6300" y="3819051"/>
            <a:ext cx="757809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made by the model on new, unseen data</a:t>
            </a:r>
            <a:endParaRPr lang="en-US" sz="11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78282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2042159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10B98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2606041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F59E0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3169923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8B5CF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3733800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EC4899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Workflow (High-Level)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19200" y="1562100"/>
            <a:ext cx="27732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Data: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Gather relevant examples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19200" y="2125982"/>
            <a:ext cx="349909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Data: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Clean, transform, split into train/test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19200" y="2689859"/>
            <a:ext cx="271281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Model: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Fit model on training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19200" y="3253741"/>
            <a:ext cx="213170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on unseen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19200" y="3817623"/>
            <a:ext cx="375789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Monitor: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in production, maintain quality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2"/>
            <a:ext cx="3848100" cy="2141934"/>
          </a:xfrm>
          <a:prstGeom prst="rect">
            <a:avLst/>
          </a:prstGeom>
          <a:solidFill>
            <a:srgbClr val="1E293B"/>
          </a:solidFill>
          <a:ln w="2667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325882"/>
            <a:ext cx="3848100" cy="2141934"/>
          </a:xfrm>
          <a:prstGeom prst="rect">
            <a:avLst/>
          </a:prstGeom>
          <a:solidFill>
            <a:srgbClr val="1E293B"/>
          </a:solidFill>
          <a:ln w="26670">
            <a:solidFill>
              <a:srgbClr val="EF444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Training Data = Better Models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581150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Good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1908809"/>
            <a:ext cx="3162300" cy="121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minimal errors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 quantity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(no extreme class imbalance)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4914900" y="1581150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Bad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43500" y="1908809"/>
            <a:ext cx="3162300" cy="121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Biased or skewed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values, outliers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small sample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 or irrelevant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78282"/>
            <a:ext cx="3848100" cy="150256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478282"/>
            <a:ext cx="3848100" cy="150256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09451"/>
            <a:ext cx="7924800" cy="97684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vs Underfitting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706882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Overfitting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072641"/>
            <a:ext cx="339090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memorizes training data, performs poorly on new data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2570917"/>
            <a:ext cx="345871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High train accuracy, Low test accuracy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914900" y="1706882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Underfitting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4900" y="2072641"/>
            <a:ext cx="3458718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is too simple, misses underlying patterns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914900" y="2378929"/>
            <a:ext cx="345871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Low train accuracy, Low test accuracy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76300" y="3438051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Sweet Spot: Generalization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6300" y="3765714"/>
            <a:ext cx="757809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captures true patterns, performs well on both training and test data</a:t>
            </a:r>
            <a:endParaRPr lang="en-US" sz="10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82"/>
            <a:ext cx="76200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broad, ML is a subset that learns from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main ML categories: Supervised, Unsupervised, Reinforcement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workflow: Data → Preparation → Training → Evaluation → Deployment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data is fundamental to model success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between model complexity and generalization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15565" y="2834283"/>
            <a:ext cx="3912811" cy="659844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164896" y="1649378"/>
            <a:ext cx="6814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Python Tools &amp; Environment Setup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2441635" y="2289451"/>
            <a:ext cx="426067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Essential ML Libraries &amp; Jupyter Notebooks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848090" y="3062883"/>
            <a:ext cx="3485861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hands-on with NumPy, Pandas, and Scikit-Learn!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2026-01-15T10:56:27Z</dcterms:created>
  <dcterms:modified xsi:type="dcterms:W3CDTF">2026-01-15T10:56:27Z</dcterms:modified>
</cp:coreProperties>
</file>