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comments/comment1.xml" ContentType="application/vnd.openxmlformats-officedocument.presentationml.comments+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comment2.xml" ContentType="application/vnd.openxmlformats-officedocument.presentationml.comments+xml"/>
  <Override PartName="/ppt/notesSlides/notesSlide23.xml" ContentType="application/vnd.openxmlformats-officedocument.presentationml.notesSlide+xml"/>
  <Override PartName="/ppt/comments/comment3.xml" ContentType="application/vnd.openxmlformats-officedocument.presentationml.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comment4.xml" ContentType="application/vnd.openxmlformats-officedocument.presentationml.comments+xml"/>
  <Override PartName="/ppt/notesSlides/notesSlide26.xml" ContentType="application/vnd.openxmlformats-officedocument.presentationml.notesSlide+xml"/>
  <Override PartName="/ppt/tags/tag21.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omments/comment5.xml" ContentType="application/vnd.openxmlformats-officedocument.presentationml.comments+xml"/>
  <Override PartName="/ppt/notesSlides/notesSlide33.xml" ContentType="application/vnd.openxmlformats-officedocument.presentationml.notesSlide+xml"/>
  <Override PartName="/ppt/tags/tag22.xml" ContentType="application/vnd.openxmlformats-officedocument.presentationml.tags+xml"/>
  <Override PartName="/ppt/notesSlides/notesSlide34.xml" ContentType="application/vnd.openxmlformats-officedocument.presentationml.notesSlide+xml"/>
  <Override PartName="/ppt/tags/tag23.xml" ContentType="application/vnd.openxmlformats-officedocument.presentationml.tags+xml"/>
  <Override PartName="/ppt/notesSlides/notesSlide3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4"/>
  </p:sldMasterIdLst>
  <p:notesMasterIdLst>
    <p:notesMasterId r:id="rId40"/>
  </p:notesMasterIdLst>
  <p:sldIdLst>
    <p:sldId id="2147483038" r:id="rId5"/>
    <p:sldId id="260" r:id="rId6"/>
    <p:sldId id="262" r:id="rId7"/>
    <p:sldId id="264" r:id="rId8"/>
    <p:sldId id="263" r:id="rId9"/>
    <p:sldId id="2147483061" r:id="rId10"/>
    <p:sldId id="2147483060" r:id="rId11"/>
    <p:sldId id="1763" r:id="rId12"/>
    <p:sldId id="2147482870" r:id="rId13"/>
    <p:sldId id="2147482808" r:id="rId14"/>
    <p:sldId id="1924" r:id="rId15"/>
    <p:sldId id="2147482430" r:id="rId16"/>
    <p:sldId id="663" r:id="rId17"/>
    <p:sldId id="2147483017" r:id="rId18"/>
    <p:sldId id="2147477864" r:id="rId19"/>
    <p:sldId id="2147482877" r:id="rId20"/>
    <p:sldId id="2147482883" r:id="rId21"/>
    <p:sldId id="2147482884" r:id="rId22"/>
    <p:sldId id="2147483046" r:id="rId23"/>
    <p:sldId id="2147483019" r:id="rId24"/>
    <p:sldId id="2147483041" r:id="rId25"/>
    <p:sldId id="2147483052" r:id="rId26"/>
    <p:sldId id="2147483051" r:id="rId27"/>
    <p:sldId id="2147483043" r:id="rId28"/>
    <p:sldId id="2147483025" r:id="rId29"/>
    <p:sldId id="2147483030" r:id="rId30"/>
    <p:sldId id="2147483018" r:id="rId31"/>
    <p:sldId id="2147483053" r:id="rId32"/>
    <p:sldId id="2147483055" r:id="rId33"/>
    <p:sldId id="2147483056" r:id="rId34"/>
    <p:sldId id="2147483057" r:id="rId35"/>
    <p:sldId id="2147483058" r:id="rId36"/>
    <p:sldId id="2147483059" r:id="rId37"/>
    <p:sldId id="2147483047" r:id="rId38"/>
    <p:sldId id="2147483048" r:id="rId39"/>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98EB284-D26F-4B6B-94A6-BD5F46D7B791}">
          <p14:sldIdLst>
            <p14:sldId id="2147483038"/>
            <p14:sldId id="260"/>
          </p14:sldIdLst>
        </p14:section>
        <p14:section name="Topic A" id="{71B1A5AC-FA9F-704B-A772-E1CE6DABDD22}">
          <p14:sldIdLst>
            <p14:sldId id="262"/>
            <p14:sldId id="264"/>
            <p14:sldId id="263"/>
            <p14:sldId id="2147483061"/>
            <p14:sldId id="2147483060"/>
            <p14:sldId id="1763"/>
            <p14:sldId id="2147482870"/>
            <p14:sldId id="2147482808"/>
            <p14:sldId id="1924"/>
            <p14:sldId id="2147482430"/>
            <p14:sldId id="663"/>
          </p14:sldIdLst>
        </p14:section>
        <p14:section name="Topic B" id="{A409E03A-D5BE-9541-87A3-2BF5BFC29DE6}">
          <p14:sldIdLst>
            <p14:sldId id="2147483017"/>
            <p14:sldId id="2147477864"/>
            <p14:sldId id="2147482877"/>
            <p14:sldId id="2147482883"/>
            <p14:sldId id="2147482884"/>
            <p14:sldId id="2147483046"/>
          </p14:sldIdLst>
        </p14:section>
        <p14:section name="Topic C" id="{317C5811-5C64-1C4A-A1CB-1005E136480A}">
          <p14:sldIdLst>
            <p14:sldId id="2147483019"/>
            <p14:sldId id="2147483041"/>
            <p14:sldId id="2147483052"/>
            <p14:sldId id="2147483051"/>
            <p14:sldId id="2147483043"/>
            <p14:sldId id="2147483025"/>
            <p14:sldId id="2147483030"/>
          </p14:sldIdLst>
        </p14:section>
        <p14:section name="Knowledge Check" id="{F74AACAD-1C50-BC4E-836F-8EB0DBDD978D}">
          <p14:sldIdLst>
            <p14:sldId id="2147483018"/>
            <p14:sldId id="2147483053"/>
            <p14:sldId id="2147483055"/>
            <p14:sldId id="2147483056"/>
            <p14:sldId id="2147483057"/>
            <p14:sldId id="2147483058"/>
            <p14:sldId id="2147483059"/>
          </p14:sldIdLst>
        </p14:section>
        <p14:section name="Wrap-up" id="{0EDB4C44-98F9-4127-86AE-C163B090E302}">
          <p14:sldIdLst>
            <p14:sldId id="2147483047"/>
            <p14:sldId id="2147483048"/>
          </p14:sldIdLst>
        </p14:section>
      </p14:sectionLst>
    </p:ext>
    <p:ext uri="{EFAFB233-063F-42B5-8137-9DF3F51BA10A}">
      <p15:sldGuideLst xmlns:p15="http://schemas.microsoft.com/office/powerpoint/2012/main">
        <p15:guide id="1" orient="horz" pos="2208" userDrawn="1">
          <p15:clr>
            <a:srgbClr val="A4A3A4"/>
          </p15:clr>
        </p15:guide>
        <p15:guide id="2" orient="horz" pos="2856" userDrawn="1">
          <p15:clr>
            <a:srgbClr val="A4A3A4"/>
          </p15:clr>
        </p15:guide>
        <p15:guide id="3" pos="56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346EE62-2B83-BE57-DCD0-C709ADEDC5C3}" name="Candice Barrow" initials="KC" userId="Candice Barrow" providerId="None"/>
  <p188:author id="{E29A56EE-11FA-2DBF-A217-7705DD9CCFF3}" name="Raymond, Patty" initials="PR" userId="S::patray@amazon.com::ecb969d0-685b-4d15-aed2-0053ae13ef7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owen, Martha" initials="BM" lastIdx="34" clrIdx="0">
    <p:extLst>
      <p:ext uri="{19B8F6BF-5375-455C-9EA6-DF929625EA0E}">
        <p15:presenceInfo xmlns:p15="http://schemas.microsoft.com/office/powerpoint/2012/main" userId="S-1-5-21-1407069837-2091007605-538272213-32310525" providerId="AD"/>
      </p:ext>
    </p:extLst>
  </p:cmAuthor>
  <p:cmAuthor id="2" name="Nadine Bell" initials="NB" lastIdx="40" clrIdx="1">
    <p:extLst>
      <p:ext uri="{19B8F6BF-5375-455C-9EA6-DF929625EA0E}">
        <p15:presenceInfo xmlns:p15="http://schemas.microsoft.com/office/powerpoint/2012/main" userId="S::Nadine.Bell@pulselearning.com::dab4fb53-2385-44df-8f97-cd028fa71511" providerId="AD"/>
      </p:ext>
    </p:extLst>
  </p:cmAuthor>
  <p:cmAuthor id="3" name="Raymond, Patty" initials="PR" lastIdx="2" clrIdx="2">
    <p:extLst>
      <p:ext uri="{19B8F6BF-5375-455C-9EA6-DF929625EA0E}">
        <p15:presenceInfo xmlns:p15="http://schemas.microsoft.com/office/powerpoint/2012/main" userId="S::patray@amazon.com::ecb969d0-685b-4d15-aed2-0053ae13ef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FCCE1A-F422-407C-B4AC-8637CC51C9C9}" v="518" dt="2025-08-29T15:35:23.8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78" autoAdjust="0"/>
    <p:restoredTop sz="52616" autoAdjust="0"/>
  </p:normalViewPr>
  <p:slideViewPr>
    <p:cSldViewPr snapToGrid="0">
      <p:cViewPr varScale="1">
        <p:scale>
          <a:sx n="50" d="100"/>
          <a:sy n="50" d="100"/>
        </p:scale>
        <p:origin x="3808" y="40"/>
      </p:cViewPr>
      <p:guideLst>
        <p:guide orient="horz" pos="2208"/>
        <p:guide orient="horz" pos="2856"/>
        <p:guide pos="5640"/>
      </p:guideLst>
    </p:cSldViewPr>
  </p:slideViewPr>
  <p:outlineViewPr>
    <p:cViewPr>
      <p:scale>
        <a:sx n="33" d="100"/>
        <a:sy n="33" d="100"/>
      </p:scale>
      <p:origin x="0" y="-1992"/>
    </p:cViewPr>
  </p:outlineViewPr>
  <p:notesTextViewPr>
    <p:cViewPr>
      <p:scale>
        <a:sx n="125" d="100"/>
        <a:sy n="125" d="100"/>
      </p:scale>
      <p:origin x="0" y="0"/>
    </p:cViewPr>
  </p:notesTextViewPr>
  <p:sorterViewPr>
    <p:cViewPr>
      <p:scale>
        <a:sx n="80" d="100"/>
        <a:sy n="80" d="100"/>
      </p:scale>
      <p:origin x="0" y="0"/>
    </p:cViewPr>
  </p:sorterViewPr>
  <p:notesViewPr>
    <p:cSldViewPr snapToGrid="0">
      <p:cViewPr>
        <p:scale>
          <a:sx n="125" d="100"/>
          <a:sy n="125" d="100"/>
        </p:scale>
        <p:origin x="3473" y="-105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5-08-28T10:33:50.318" idx="7">
    <p:pos x="4320" y="3079"/>
    <p:text>I added alt text for the graphic. Please review.</p:text>
    <p:extLst>
      <p:ext uri="{C676402C-5697-4E1C-873F-D02D1690AC5C}">
        <p15:threadingInfo xmlns:p15="http://schemas.microsoft.com/office/powerpoint/2012/main" timeZoneBias="240"/>
      </p:ext>
    </p:extLst>
  </p:cm>
  <p:cm authorId="3" dt="2025-09-02T09:34:54.214" idx="1">
    <p:pos x="4320" y="3175"/>
    <p:text>not needed. text boxes will be read, circles are decorative.</p:text>
    <p:extLst>
      <p:ext uri="{C676402C-5697-4E1C-873F-D02D1690AC5C}">
        <p15:threadingInfo xmlns:p15="http://schemas.microsoft.com/office/powerpoint/2012/main" timeZoneBias="240">
          <p15:parentCm authorId="2" idx="7"/>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5-08-28T16:06:49.296" idx="27">
    <p:pos x="481" y="1753"/>
    <p:text>Consider grouping the information on screen and adding alt text for accessibility.</p:text>
    <p:extLst>
      <p:ext uri="{C676402C-5697-4E1C-873F-D02D1690AC5C}">
        <p15:threadingInfo xmlns:p15="http://schemas.microsoft.com/office/powerpoint/2012/main" timeZoneBias="24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5-08-28T16:07:19.721" idx="28">
    <p:pos x="1020" y="1686"/>
    <p:text>Consider grouping the information on screen and adding alt text for accessibility.</p:text>
    <p:extLst>
      <p:ext uri="{C676402C-5697-4E1C-873F-D02D1690AC5C}">
        <p15:threadingInfo xmlns:p15="http://schemas.microsoft.com/office/powerpoint/2012/main" timeZoneBias="24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5-08-28T16:10:56.701" idx="30">
    <p:pos x="6842" y="1909"/>
    <p:text>Consider grouping the information on screen and adding alt text for accessibility.</p:text>
    <p:extLst>
      <p:ext uri="{C676402C-5697-4E1C-873F-D02D1690AC5C}">
        <p15:threadingInfo xmlns:p15="http://schemas.microsoft.com/office/powerpoint/2012/main" timeZoneBias="24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2" dt="2025-08-28T16:39:57.058" idx="37">
    <p:pos x="658" y="3740"/>
    <p:text>On other question slides, the instructor text has information about the purpose of asking the question shown on the slide. Should text be added here to be consistent with similar slides?</p:text>
    <p:extLst>
      <p:ext uri="{C676402C-5697-4E1C-873F-D02D1690AC5C}">
        <p15:threadingInfo xmlns:p15="http://schemas.microsoft.com/office/powerpoint/2012/main" timeZoneBias="240"/>
      </p:ext>
    </p:extLst>
  </p:cm>
  <p:cm authorId="2" dt="2025-08-28T16:42:08.246" idx="38">
    <p:pos x="10" y="10"/>
    <p:text>Revise the question stem to avoid using the 2nd person, you. Use a job specific role instead. "Which optional application component could a developer use to make sure that the foundation model (FM) they are using can appropriately handle pronouns such as “this,” ”that,” and “it” in a conversational application?"</p:text>
    <p:extLst>
      <p:ext uri="{C676402C-5697-4E1C-873F-D02D1690AC5C}">
        <p15:threadingInfo xmlns:p15="http://schemas.microsoft.com/office/powerpoint/2012/main" timeZoneBias="24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0" y="635000"/>
            <a:ext cx="5486400" cy="3086822"/>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7500" y="3810000"/>
            <a:ext cx="7112000" cy="55880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9270313"/>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0"/>
      </a:spcBef>
      <a:spcAft>
        <a:spcPts val="0"/>
      </a:spcAft>
      <a:defRPr sz="1200" kern="1200">
        <a:solidFill>
          <a:schemeClr val="tx1"/>
        </a:solidFill>
        <a:latin typeface="+mn-lt"/>
        <a:ea typeface="+mn-ea"/>
        <a:cs typeface="+mn-cs"/>
      </a:defRPr>
    </a:lvl1pPr>
    <a:lvl2pPr marL="457200" algn="l" defTabSz="914400" rtl="0" eaLnBrk="1" latinLnBrk="0" hangingPunct="1">
      <a:spcBef>
        <a:spcPts val="0"/>
      </a:spcBef>
      <a:spcAft>
        <a:spcPts val="0"/>
      </a:spcAft>
      <a:defRPr sz="1200" kern="1200">
        <a:solidFill>
          <a:schemeClr val="tx1"/>
        </a:solidFill>
        <a:latin typeface="+mn-lt"/>
        <a:ea typeface="+mn-ea"/>
        <a:cs typeface="+mn-cs"/>
      </a:defRPr>
    </a:lvl2pPr>
    <a:lvl3pPr marL="914400" algn="l" defTabSz="914400" rtl="0" eaLnBrk="1" latinLnBrk="0" hangingPunct="1">
      <a:spcBef>
        <a:spcPts val="0"/>
      </a:spcBef>
      <a:spcAft>
        <a:spcPts val="0"/>
      </a:spcAft>
      <a:defRPr sz="1200" kern="1200">
        <a:solidFill>
          <a:schemeClr val="tx1"/>
        </a:solidFill>
        <a:latin typeface="+mn-lt"/>
        <a:ea typeface="+mn-ea"/>
        <a:cs typeface="+mn-cs"/>
      </a:defRPr>
    </a:lvl3pPr>
    <a:lvl4pPr marL="1371600" algn="l" defTabSz="914400" rtl="0" eaLnBrk="1" latinLnBrk="0" hangingPunct="1">
      <a:spcBef>
        <a:spcPts val="0"/>
      </a:spcBef>
      <a:spcAft>
        <a:spcPts val="0"/>
      </a:spcAft>
      <a:defRPr sz="1200" kern="1200">
        <a:solidFill>
          <a:schemeClr val="tx1"/>
        </a:solidFill>
        <a:latin typeface="+mn-lt"/>
        <a:ea typeface="+mn-ea"/>
        <a:cs typeface="+mn-cs"/>
      </a:defRPr>
    </a:lvl4pPr>
    <a:lvl5pPr marL="1828800" algn="l" defTabSz="914400" rtl="0" eaLnBrk="1" latinLnBrk="0" hangingPunct="1">
      <a:spcBef>
        <a:spcPts val="0"/>
      </a:spcBef>
      <a:spcAft>
        <a:spcPts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68" userDrawn="1">
          <p15:clr>
            <a:srgbClr val="F26B43"/>
          </p15:clr>
        </p15:guide>
        <p15:guide id="2" pos="244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aws.amazon.com/what-is/artificial-intelligence/"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aws.amazon.com/what-is/generative-ai/" TargetMode="External"/><Relationship Id="rId4" Type="http://schemas.openxmlformats.org/officeDocument/2006/relationships/hyperlink" Target="https://aws.amazon.com/ai/generative-ai/"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aws.amazon.com/what-is/generative-ai"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aws.amazon.com/what-is/foundation-models"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proceedings.neurips.cc/paper_files/paper/2017/file/3f5ee243547dee91fbd053c1c4a845aa-Paper.pdf"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aws.amazon.com/what-is/transformers-in-artificial-intelligence"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aws.amazon.com/what-is/foundation-model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aws.amazon.com/ai/generative-ai/use-cases"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aws.amazon.com/ai/services"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docs.aws.amazon.com/sagemaker/latest/dg/whatis.html"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aws.amazon.com/blogs/machine-learning/welcome-to-a-new-era-of-building-in-the-cloud-with-generative-ai-on-aws/" TargetMode="Externa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docs.aws.amazon.com/bedrock/latest/userguide/models-regions.html"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63817-7F05-433E-35CF-C8134582B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ADEA88-AEC8-97F3-3D9C-C2B6A7823B00}"/>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79034835-A7DC-51AC-3D0E-BCA31150262A}"/>
              </a:ext>
            </a:extLst>
          </p:cNvPr>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|Instructor notes</a:t>
            </a:r>
          </a:p>
          <a:p>
            <a:pPr lvl="0"/>
            <a:r>
              <a:rPr lang="en-US" b="1" dirty="0">
                <a:solidFill>
                  <a:srgbClr val="000000"/>
                </a:solidFill>
                <a:latin typeface="Calibri" panose="020F0502020204030204" pitchFamily="34" charset="0"/>
              </a:rPr>
              <a:t>|</a:t>
            </a:r>
            <a:r>
              <a:rPr lang="en-US" dirty="0">
                <a:latin typeface="Calibri" panose="020F0502020204030204" pitchFamily="34" charset="0"/>
              </a:rPr>
              <a:t>• Course level: Advanced</a:t>
            </a:r>
          </a:p>
          <a:p>
            <a:pPr lvl="0"/>
            <a:r>
              <a:rPr lang="en-US" dirty="0">
                <a:latin typeface="Calibri" panose="020F0502020204030204" pitchFamily="34" charset="0"/>
              </a:rPr>
              <a:t>|• Duration: 2 day</a:t>
            </a:r>
            <a:endParaRPr lang="en-US" b="1"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|Designed for 60 minutes, no lab.</a:t>
            </a:r>
          </a:p>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|Student notes</a:t>
            </a:r>
            <a:endParaRPr lang="en-US" kern="1200" dirty="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887795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7688"/>
          </a:xfrm>
        </p:spPr>
      </p:sp>
      <p:sp>
        <p:nvSpPr>
          <p:cNvPr id="3" name="Notes Placeholder 2"/>
          <p:cNvSpPr>
            <a:spLocks noGrp="1"/>
          </p:cNvSpPr>
          <p:nvPr>
            <p:ph type="body" idx="1"/>
          </p:nvPr>
        </p:nvSpPr>
        <p:spPr>
          <a:xfrm>
            <a:off x="317500" y="3810000"/>
            <a:ext cx="7112000" cy="4773168"/>
          </a:xfrm>
        </p:spPr>
        <p:txBody>
          <a:bodyPr/>
          <a:lstStyle/>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|Student notes</a:t>
            </a:r>
          </a:p>
          <a:p>
            <a:pPr marL="0" indent="0">
              <a:buNone/>
            </a:pP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733812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7688"/>
          </a:xfrm>
        </p:spPr>
      </p:sp>
      <p:sp>
        <p:nvSpPr>
          <p:cNvPr id="3" name="Notes Placeholder 2"/>
          <p:cNvSpPr>
            <a:spLocks noGrp="1"/>
          </p:cNvSpPr>
          <p:nvPr>
            <p:ph type="body" idx="1"/>
          </p:nvPr>
        </p:nvSpPr>
        <p:spPr>
          <a:xfrm>
            <a:off x="317500" y="3810000"/>
            <a:ext cx="7112000" cy="4773168"/>
          </a:xfrm>
        </p:spPr>
        <p:txBody>
          <a:bodyPr/>
          <a:lstStyle/>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|Student notes</a:t>
            </a: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This section provides a review of generative AI concepts that serves as a foundation for the subsequent topics in this module.</a:t>
            </a: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719792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7688"/>
          </a:xfrm>
        </p:spPr>
      </p:sp>
      <p:sp>
        <p:nvSpPr>
          <p:cNvPr id="3" name="Notes Placeholder 2"/>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|Instructor notes</a:t>
            </a:r>
          </a:p>
          <a:p>
            <a:pPr marL="0" marR="0" lvl="0" indent="0" defTabSz="914400" rtl="0" eaLnBrk="1" fontAlgn="auto" latinLnBrk="0" hangingPunct="1">
              <a:buClrTx/>
              <a:buSzTx/>
              <a:buFontTx/>
              <a:buNone/>
              <a:tabLst/>
              <a:defRP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|Do not teach the topics listed. This should be a reminder that AI is a broader field, and generative AI is a type of ML that can generate content. Refer students to the notes for additional details. </a:t>
            </a:r>
          </a:p>
          <a:p>
            <a:pPr marL="0" marR="0" lvl="0" indent="0" defTabSz="914400" rtl="0" eaLnBrk="1" fontAlgn="auto" latinLnBrk="0" hangingPunct="1">
              <a:buClrTx/>
              <a:buSzTx/>
              <a:buFontTx/>
              <a:buNone/>
              <a:tabLst/>
              <a:defRP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a:t>
            </a:r>
          </a:p>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|Student notes</a:t>
            </a:r>
          </a:p>
          <a:p>
            <a:r>
              <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To successfully evaluate business problems and categorize them as generative AI problems, you must understand the difference between generative AI and traditional machine learning (ML). </a:t>
            </a:r>
          </a:p>
          <a:p>
            <a:endPar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endParaRPr>
          </a:p>
          <a:p>
            <a:r>
              <a:rPr lang="en-US" b="0" i="1"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Artificial intelligence </a:t>
            </a:r>
            <a:r>
              <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is an umbrella term for the different strategies and techniques used to make machines more human-like. AI in action appears to simulate human intelligence—it can recognize images, write poems, and make data-based predictions. It includes everything from self-driving cars to robotic vacuum cleaners and smart assistants like Alexa. Although machine learning and deep learning fall under the AI umbrella, not all AI activities are machine learning and deep learning. </a:t>
            </a:r>
          </a:p>
          <a:p>
            <a:endPar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endParaRPr>
          </a:p>
          <a:p>
            <a:r>
              <a:rPr lang="en-US" b="1"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Machine learning: </a:t>
            </a:r>
            <a:r>
              <a:rPr lang="en-US" b="0" i="0" strike="noStrike"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M</a:t>
            </a:r>
            <a:r>
              <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achine learning is one among many other branches of artificial intelligence. It is the science of developing algorithms and statistical models to correlate data. Computer systems use machine learning algorithms to process large quantities of historical data and identify data patterns. Machine learning refers to a set of statistical techniques called machine learning models that you can use independently or to support other more complex AI techniques.</a:t>
            </a:r>
          </a:p>
          <a:p>
            <a:endPar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endParaRPr>
          </a:p>
          <a:p>
            <a:r>
              <a:rPr lang="en-US" b="1"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Deep learning: </a:t>
            </a:r>
            <a:r>
              <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Deep learning takes machine learning one step further. Deep learning models use neural networks that work together to learn and process information. For example, they process individual pixels in an image to classify that image. Modern AI systems often combine multiple deep neural networks to perform complex tasks like writing poems or creating images from text prompts.</a:t>
            </a:r>
          </a:p>
          <a:p>
            <a:endPar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endParaRPr>
          </a:p>
          <a:p>
            <a:r>
              <a:rPr lang="en-US" b="1"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Generative AI: </a:t>
            </a:r>
            <a:r>
              <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Generative AI is a subset of deep learning</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 Deep learning uses the concept of neurons and synapses similar to how our brain is wired. Generative AI is powered by large language models (LLMs) that are pre-trained on internet-scale data. These models are called foundation models (FMs).  With FMs, instead of gathering labeled data for each model and training multiple models, you can adapt the same FM to perform multiple tasks</a:t>
            </a:r>
            <a:r>
              <a:rPr lang="en-US" strike="noStrike" dirty="0">
                <a:effectLst/>
                <a:latin typeface="Calibri" panose="020F0502020204030204" pitchFamily="34" charset="0"/>
                <a:ea typeface="Amazon Ember Display" panose="020F0603020204020204" pitchFamily="34" charset="0"/>
                <a:cs typeface="Amazon Ember Display" panose="020F0603020204020204" pitchFamily="34" charset="0"/>
              </a:rPr>
              <a:t>.</a:t>
            </a:r>
            <a:endParaRPr lang="en-US" strike="sngStrike" dirty="0">
              <a:effectLst/>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Tx/>
              <a:buNone/>
              <a:tabLst/>
              <a:defRPr/>
            </a:pPr>
            <a:endParaRPr lang="en-US" dirty="0">
              <a:effectLst/>
              <a:latin typeface="Calibri" panose="020F0502020204030204" pitchFamily="34" charset="0"/>
              <a:ea typeface="Amazon Ember Display" panose="020F0603020204020204" pitchFamily="34" charset="0"/>
              <a:cs typeface="Amazon Ember Display" panose="020F0603020204020204" pitchFamily="34" charset="0"/>
            </a:endParaRPr>
          </a:p>
          <a:p>
            <a:pPr lvl="0">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For a description of the relationships between AI, ML, DL, and Generative AI, see What is Artificial Intelligence (AI)? at </a:t>
            </a:r>
            <a:r>
              <a:rPr lang="en-US" dirty="0">
                <a:latin typeface="Calibri" panose="020F0502020204030204" pitchFamily="34" charset="0"/>
                <a:ea typeface="Amazon Ember Display" panose="020F0603020204020204" pitchFamily="34" charset="0"/>
                <a:cs typeface="Amazon Ember Display" panose="020F0603020204020204" pitchFamily="34" charset="0"/>
                <a:hlinkClick r:id="rId3"/>
              </a:rPr>
              <a:t>https://aws.amazon.com/what-is/artificial-intelligence</a:t>
            </a:r>
            <a:r>
              <a:rPr lang="en-US" dirty="0">
                <a:latin typeface="Calibri" panose="020F0502020204030204" pitchFamily="34" charset="0"/>
                <a:ea typeface="Amazon Ember Display" panose="020F0603020204020204" pitchFamily="34" charset="0"/>
                <a:cs typeface="Amazon Ember Display" panose="020F0603020204020204" pitchFamily="34" charset="0"/>
              </a:rPr>
              <a:t>. </a:t>
            </a:r>
          </a:p>
          <a:p>
            <a:pPr lvl="0">
              <a:defRPr/>
            </a:pP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For more information about generative AI use cases and benefits, see the following resources:</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Generative AI on AWS at </a:t>
            </a:r>
            <a:r>
              <a:rPr lang="en-US" dirty="0">
                <a:latin typeface="Calibri" panose="020F0502020204030204" pitchFamily="34" charset="0"/>
                <a:hlinkClick r:id="rId4"/>
              </a:rPr>
              <a:t>https://aws.amazon.com/ai/generative-ai</a:t>
            </a: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171450" lvl="0" indent="-171450">
              <a:buFont typeface="Arial" panose="020B0604020202020204" pitchFamily="34" charset="0"/>
              <a:buChar char="•"/>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What is Generative AI? at </a:t>
            </a:r>
            <a:r>
              <a:rPr lang="en-US" dirty="0">
                <a:latin typeface="Calibri" panose="020F0502020204030204" pitchFamily="34" charset="0"/>
                <a:ea typeface="Amazon Ember Display" panose="020F0603020204020204" pitchFamily="34" charset="0"/>
                <a:cs typeface="Amazon Ember Display" panose="020F0603020204020204" pitchFamily="34" charset="0"/>
                <a:hlinkClick r:id="rId5"/>
              </a:rPr>
              <a:t>https://aws.amazon.com/what-is/generative-ai</a:t>
            </a: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2756660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7688"/>
          </a:xfrm>
        </p:spPr>
      </p:sp>
      <p:sp>
        <p:nvSpPr>
          <p:cNvPr id="3" name="Notes Placeholder 2"/>
          <p:cNvSpPr>
            <a:spLocks noGrp="1"/>
          </p:cNvSpPr>
          <p:nvPr>
            <p:ph type="body" idx="1"/>
          </p:nvPr>
        </p:nvSpPr>
        <p:spPr>
          <a:xfrm>
            <a:off x="317500" y="3810000"/>
            <a:ext cx="7112000" cy="4540055"/>
          </a:xfrm>
        </p:spPr>
        <p:txBody>
          <a:bodyPr/>
          <a:lstStyle/>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|Student notes</a:t>
            </a:r>
          </a:p>
          <a:p>
            <a:r>
              <a:rPr lang="en-US" dirty="0">
                <a:latin typeface="Calibri" panose="020F0502020204030204" pitchFamily="34" charset="0"/>
                <a:ea typeface="Amazon Ember Display" panose="020F0603020204020204" pitchFamily="34" charset="0"/>
                <a:cs typeface="Amazon Ember Display" panose="020F0603020204020204" pitchFamily="34" charset="0"/>
              </a:rPr>
              <a:t>Foundation models are ML models trained on a broad spectrum of generalized and unlabeled data. They perform a wide variety of general tasks, including understanding, transforming, and generating content.</a:t>
            </a: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r>
              <a:rPr lang="en-US" dirty="0">
                <a:latin typeface="Calibri" panose="020F0502020204030204" pitchFamily="34" charset="0"/>
                <a:ea typeface="Amazon Ember Display" panose="020F0603020204020204" pitchFamily="34" charset="0"/>
                <a:cs typeface="Amazon Ember Display" panose="020F0603020204020204" pitchFamily="34" charset="0"/>
              </a:rPr>
              <a:t>FMs are the result of the latest advancements in technology that have been evolving for decades. In general, an FM uses learned patterns and relationships to predict the next item in a sequence. For example, with image generation, the model analyzes the image and creates a sharper, more clearly defined version of the image. Similarly, with text, the model predicts the next word in a string of text based on the previous words and their context. It then selects the next word using probability distribution techniques.</a:t>
            </a:r>
          </a:p>
          <a:p>
            <a:endParaRPr lang="en-US" b="0" dirty="0">
              <a:latin typeface="Calibri" panose="020F0502020204030204" pitchFamily="34" charset="0"/>
            </a:endParaRPr>
          </a:p>
          <a:p>
            <a:r>
              <a:rPr lang="en-US" b="0" dirty="0">
                <a:latin typeface="Calibri" panose="020F0502020204030204" pitchFamily="34" charset="0"/>
              </a:rPr>
              <a:t>Generative AI works across multiple content types, or modalities, such as text, images, audio, video, structured data, and software code. For text, it produces human-like writing. For images, it creates and edits visuals. For audio, it generates speech, music, and sound effects. For video, it generates content from text prompts or starting images. For structured data, it manages database operations. For coding, it assists with writing, reviewing, debugging, and optimizing software.</a:t>
            </a:r>
          </a:p>
          <a:p>
            <a:endParaRPr lang="en-US" dirty="0">
              <a:latin typeface="Calibri" panose="020F0502020204030204" pitchFamily="34" charset="0"/>
            </a:endParaRPr>
          </a:p>
          <a:p>
            <a:r>
              <a:rPr lang="en-US" dirty="0">
                <a:latin typeface="Calibri" panose="020F0502020204030204" pitchFamily="34" charset="0"/>
              </a:rPr>
              <a:t>Each of these content types is considered a modality of data. Some generative AI tasks are single modal, such as text summarization, whereas others are multimodal, such as image understanding, because those tasks work with more than one content type or modality.</a:t>
            </a: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For more information, see the following resources:</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What is Generative AI? at </a:t>
            </a:r>
            <a:r>
              <a:rPr lang="en-US" dirty="0">
                <a:latin typeface="Calibri" panose="020F0502020204030204" pitchFamily="34" charset="0"/>
                <a:ea typeface="Amazon Ember Display" panose="020F0603020204020204" pitchFamily="34" charset="0"/>
                <a:cs typeface="Amazon Ember Display" panose="020F0603020204020204" pitchFamily="34" charset="0"/>
                <a:hlinkClick r:id="rId3"/>
              </a:rPr>
              <a:t>https://aws.amazon.com/what-is/generative-ai</a:t>
            </a:r>
            <a:r>
              <a:rPr lang="en-US" dirty="0">
                <a:latin typeface="Calibri" panose="020F0502020204030204" pitchFamily="34" charset="0"/>
                <a:ea typeface="Amazon Ember Display" panose="020F0603020204020204" pitchFamily="34" charset="0"/>
                <a:cs typeface="Amazon Ember Display" panose="020F0603020204020204" pitchFamily="34" charset="0"/>
              </a:rPr>
              <a:t> </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What are Foundation Models? at </a:t>
            </a:r>
            <a:r>
              <a:rPr lang="en-US" dirty="0">
                <a:latin typeface="Calibri" panose="020F0502020204030204" pitchFamily="34" charset="0"/>
                <a:ea typeface="Amazon Ember Display" panose="020F0603020204020204" pitchFamily="34" charset="0"/>
                <a:cs typeface="Amazon Ember Display" panose="020F0603020204020204" pitchFamily="34" charset="0"/>
                <a:hlinkClick r:id="rId4"/>
              </a:rPr>
              <a:t>https://aws.amazon.com/what-is/foundation-models</a:t>
            </a:r>
            <a:r>
              <a:rPr lang="en-US" dirty="0">
                <a:latin typeface="Calibri" panose="020F0502020204030204" pitchFamily="34" charset="0"/>
                <a:ea typeface="Amazon Ember Display" panose="020F0603020204020204" pitchFamily="34" charset="0"/>
                <a:cs typeface="Amazon Ember Display" panose="020F0603020204020204" pitchFamily="34" charset="0"/>
              </a:rPr>
              <a:t> </a:t>
            </a:r>
            <a:endParaRPr lang="en-US" dirty="0">
              <a:latin typeface="Calibri" panose="020F0502020204030204" pitchFamily="34" charset="0"/>
            </a:endParaRP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2654910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Image Placeholder 6">
            <a:extLst>
              <a:ext uri="{FF2B5EF4-FFF2-40B4-BE49-F238E27FC236}">
                <a16:creationId xmlns:a16="http://schemas.microsoft.com/office/drawing/2014/main" id="{944FBF0D-1E8A-431E-3F75-461FFDEA34A3}"/>
              </a:ext>
            </a:extLst>
          </p:cNvPr>
          <p:cNvSpPr>
            <a:spLocks noGrp="1" noRot="1" noChangeAspect="1"/>
          </p:cNvSpPr>
          <p:nvPr>
            <p:ph type="sldImg"/>
          </p:nvPr>
        </p:nvSpPr>
        <p:spPr>
          <a:xfrm>
            <a:off x="1143000" y="635000"/>
            <a:ext cx="5486400" cy="3087688"/>
          </a:xfrm>
        </p:spPr>
      </p:sp>
      <p:sp>
        <p:nvSpPr>
          <p:cNvPr id="3" name="Notes Placeholder 2"/>
          <p:cNvSpPr>
            <a:spLocks noGrp="1"/>
          </p:cNvSpPr>
          <p:nvPr>
            <p:ph type="body" idx="1"/>
          </p:nvPr>
        </p:nvSpPr>
        <p:spPr>
          <a:xfrm>
            <a:off x="317500" y="3810000"/>
            <a:ext cx="7112000" cy="4728754"/>
          </a:xfrm>
        </p:spPr>
        <p:txBody>
          <a:bodyPr/>
          <a:lstStyle/>
          <a:p>
            <a:pPr lvl="0"/>
            <a:r>
              <a:rPr lang="en-US" b="1" dirty="0">
                <a:latin typeface="Calibri" panose="020F0502020204030204" pitchFamily="34" charset="0"/>
                <a:ea typeface="Amazon Ember Display" panose="020F0603020204020204" pitchFamily="34" charset="0"/>
                <a:cs typeface="Amazon Ember Display" panose="020F0603020204020204" pitchFamily="34" charset="0"/>
              </a:rPr>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You learned that FMs are created by taking large amounts of unlabeled data, training a model with that data, and then using that model for a wide range of tasks. Pre-training is the creation of an FM by training a model with terabytes of unlabeled text or multimodal data (such as images, audio, or video). This unlabeled data used for pre-training is usually obtained by crawling the internet and it contains information from publicly crawled sources and available proprietary data. Collecting unlabeled data at scale is easier to obtain compared to labeled data. The latter requires a human task force to create laborious annotations, such as explicitly adding the tag “dog” to an image that contains one. </a:t>
            </a: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r>
              <a:rPr lang="en-US" dirty="0">
                <a:latin typeface="Calibri" panose="020F0502020204030204" pitchFamily="34" charset="0"/>
                <a:ea typeface="Amazon Ember Display" panose="020F0603020204020204" pitchFamily="34" charset="0"/>
                <a:cs typeface="Amazon Ember Display" panose="020F0603020204020204" pitchFamily="34" charset="0"/>
              </a:rPr>
              <a:t>A large model with billions of parameters can store richer, deeper context across large amounts of data compared to a smaller model trained on a smaller dataset. Pre-training models of this size require access to the following: </a:t>
            </a:r>
          </a:p>
          <a:p>
            <a:pPr marL="171450" indent="-171450">
              <a:buFont typeface="Arial" panose="020B0604020202020204" pitchFamily="34" charset="0"/>
              <a:buChar char="•"/>
            </a:pPr>
            <a:r>
              <a:rPr lang="en-US" dirty="0">
                <a:latin typeface="Calibri" panose="020F0502020204030204" pitchFamily="34" charset="0"/>
                <a:ea typeface="Amazon Ember Display" panose="020F0603020204020204" pitchFamily="34" charset="0"/>
                <a:cs typeface="Amazon Ember Display" panose="020F0603020204020204" pitchFamily="34" charset="0"/>
              </a:rPr>
              <a:t>Sufficient quantity and quality of training data (collection and processing of relevant datasets, including removal of duplicates)</a:t>
            </a:r>
          </a:p>
          <a:p>
            <a:pPr marL="171450" indent="-171450">
              <a:buFont typeface="Arial" panose="020B0604020202020204" pitchFamily="34" charset="0"/>
              <a:buChar char="•"/>
            </a:pPr>
            <a:r>
              <a:rPr lang="en-US" dirty="0">
                <a:latin typeface="Calibri" panose="020F0502020204030204" pitchFamily="34" charset="0"/>
                <a:ea typeface="Amazon Ember Display" panose="020F0603020204020204" pitchFamily="34" charset="0"/>
                <a:cs typeface="Amazon Ember Display" panose="020F0603020204020204" pitchFamily="34" charset="0"/>
              </a:rPr>
              <a:t>Large-scale training infrastructure</a:t>
            </a: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r>
              <a:rPr lang="en-US" dirty="0">
                <a:latin typeface="Calibri" panose="020F0502020204030204" pitchFamily="34" charset="0"/>
                <a:ea typeface="Amazon Ember Display" panose="020F0603020204020204" pitchFamily="34" charset="0"/>
                <a:cs typeface="Amazon Ember Display" panose="020F0603020204020204" pitchFamily="34" charset="0"/>
              </a:rPr>
              <a:t>During the pre-training process, the model automatically takes context into account from unlabeled training data. The model then tracks the relationships in sequential data, such as the position and the context of the words so that it can predict the next word in a sentence.</a:t>
            </a:r>
          </a:p>
          <a:p>
            <a:pPr marL="0" indent="0">
              <a:buFontTx/>
              <a:buNone/>
            </a:pP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0" indent="0">
              <a:buFontTx/>
              <a:buNone/>
            </a:pPr>
            <a:r>
              <a:rPr lang="en-US" b="0" dirty="0">
                <a:latin typeface="Calibri" panose="020F0502020204030204" pitchFamily="34" charset="0"/>
                <a:ea typeface="Amazon Ember Display" panose="020F0603020204020204" pitchFamily="34" charset="0"/>
                <a:cs typeface="Amazon Ember Display" panose="020F0603020204020204" pitchFamily="34" charset="0"/>
              </a:rPr>
              <a:t>Foundation models can be classified according to their size, the types of data on which they are trained, and the tasks of which they are capable. For example, some types of foundation models are as follows:</a:t>
            </a:r>
          </a:p>
          <a:p>
            <a:pPr marL="171450" indent="-171450">
              <a:buFont typeface="Arial" panose="020B0604020202020204" pitchFamily="34" charset="0"/>
              <a:buChar cha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Small language models (SLMs)</a:t>
            </a:r>
          </a:p>
          <a:p>
            <a:pPr marL="171450" indent="-171450">
              <a:buFont typeface="Arial" panose="020B0604020202020204" pitchFamily="34" charset="0"/>
              <a:buChar cha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Large language models (LLMs)</a:t>
            </a:r>
          </a:p>
          <a:p>
            <a:pPr marL="171450" indent="-171450">
              <a:buFont typeface="Arial" panose="020B0604020202020204" pitchFamily="34" charset="0"/>
              <a:buChar cha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Diffusion models</a:t>
            </a:r>
          </a:p>
          <a:p>
            <a:pPr marL="171450" indent="-171450">
              <a:buFont typeface="Arial" panose="020B0604020202020204" pitchFamily="34" charset="0"/>
              <a:buChar cha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Speech models</a:t>
            </a:r>
          </a:p>
          <a:p>
            <a:pPr marL="0" indent="0">
              <a:buFont typeface="Arial" panose="020B0604020202020204" pitchFamily="34" charset="0"/>
              <a:buNone/>
            </a:pPr>
            <a:endParaRPr lang="en-US" b="0" dirty="0">
              <a:latin typeface="Calibri" panose="020F0502020204030204" pitchFamily="34" charset="0"/>
              <a:ea typeface="Amazon Ember Display" panose="020F0603020204020204" pitchFamily="34" charset="0"/>
              <a:cs typeface="Amazon Ember Display" panose="020F0603020204020204" pitchFamily="34" charset="0"/>
            </a:endParaRPr>
          </a:p>
          <a:p>
            <a:pPr marL="0" indent="0">
              <a:buFontTx/>
              <a:buNone/>
            </a:pPr>
            <a:endParaRPr lang="en-US" b="0" dirty="0">
              <a:latin typeface="Calibri" panose="020F0502020204030204" pitchFamily="34" charset="0"/>
              <a:ea typeface="Amazon Ember Display" panose="020F0603020204020204" pitchFamily="34" charset="0"/>
              <a:cs typeface="Amazon Ember Display" panose="020F0603020204020204" pitchFamily="34" charset="0"/>
            </a:endParaRPr>
          </a:p>
          <a:p>
            <a:pPr marL="0" indent="0">
              <a:buFontTx/>
              <a:buNone/>
            </a:pPr>
            <a:endParaRPr lang="en-US" b="0" dirty="0">
              <a:latin typeface="Calibri" panose="020F050202020403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35003952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FB08F-1681-8277-05A9-41413D3C2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23303-4068-6E1A-55A4-2C67FC70C55A}"/>
              </a:ext>
            </a:extLst>
          </p:cNvPr>
          <p:cNvSpPr>
            <a:spLocks noGrp="1" noRot="1" noChangeAspect="1"/>
          </p:cNvSpPr>
          <p:nvPr>
            <p:ph type="sldImg"/>
          </p:nvPr>
        </p:nvSpPr>
        <p:spPr>
          <a:xfrm>
            <a:off x="1143000" y="635000"/>
            <a:ext cx="5486400" cy="3087688"/>
          </a:xfrm>
        </p:spPr>
      </p:sp>
      <p:sp>
        <p:nvSpPr>
          <p:cNvPr id="3" name="Notes Placeholder 2">
            <a:extLst>
              <a:ext uri="{FF2B5EF4-FFF2-40B4-BE49-F238E27FC236}">
                <a16:creationId xmlns:a16="http://schemas.microsoft.com/office/drawing/2014/main" id="{92C39C91-3369-35FB-A95B-2D24E166DD6A}"/>
              </a:ext>
            </a:extLst>
          </p:cNvPr>
          <p:cNvSpPr>
            <a:spLocks noGrp="1"/>
          </p:cNvSpPr>
          <p:nvPr>
            <p:ph type="body" idx="1"/>
          </p:nvPr>
        </p:nvSpPr>
        <p:spPr>
          <a:xfrm>
            <a:off x="317500" y="3810000"/>
            <a:ext cx="7112000" cy="4773168"/>
          </a:xfrm>
        </p:spPr>
        <p:txBody>
          <a:bodyPr/>
          <a:lstStyle/>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|Instructor notes</a:t>
            </a:r>
          </a:p>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 </a:t>
            </a:r>
            <a:r>
              <a:rPr lang="en-US" dirty="0">
                <a:latin typeface="Calibri" panose="020F0502020204030204" pitchFamily="34" charset="0"/>
              </a:rPr>
              <a:t>- </a:t>
            </a:r>
            <a:r>
              <a:rPr lang="en-US" dirty="0">
                <a:latin typeface="Calibri" panose="020F0502020204030204" pitchFamily="34" charset="0"/>
                <a:hlinkClick r:id="rId3"/>
              </a:rPr>
              <a:t>https://proceedings.neurips.cc/paper_files/paper/2017/file/3f5ee243547dee91fbd053c1c4a845aa-Paper.pdf</a:t>
            </a:r>
            <a:r>
              <a:rPr lang="en-US" dirty="0">
                <a:latin typeface="Calibri" panose="020F0502020204030204" pitchFamily="34" charset="0"/>
              </a:rPr>
              <a:t> is the Attention is all you need paper that introduced the transformer architecture. Avoid diving into architecture discussions because this is not particularly relevant for this course. For students interested in more of the model architecture discussion, direct them to the information about transformer architecture included in the AWS AI resources. The link is in the student notes. The main reason for introducing this topic is to provide a basis for understanding the use of embeddings in generative AI application architectures such as </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Retrieval Augmented Generation</a:t>
            </a:r>
            <a:r>
              <a:rPr lang="en-US" dirty="0">
                <a:latin typeface="Calibri" panose="020F0502020204030204" pitchFamily="34" charset="0"/>
              </a:rPr>
              <a:t>.</a:t>
            </a:r>
            <a:endParaRPr lang="en-US" b="1" dirty="0">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|Student notes</a:t>
            </a:r>
          </a:p>
          <a:p>
            <a:r>
              <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How does a foundation model complete a sentence?</a:t>
            </a:r>
          </a:p>
          <a:p>
            <a:r>
              <a:rPr lang="en-US" b="0"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The specific process might differ depending on the model architecture, but the transformer architecture process illustrates the key common elements of tokenization and embedding. </a:t>
            </a:r>
          </a:p>
          <a:p>
            <a:r>
              <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The process of how a foundation model, using a transformer architecture, completes a sentence consists of the following four main steps:</a:t>
            </a:r>
          </a:p>
          <a:p>
            <a:pPr marL="228600" marR="0" lvl="0" indent="-228600" defTabSz="914400" rtl="0" eaLnBrk="1" fontAlgn="auto" latinLnBrk="0" hangingPunct="1">
              <a:buClrTx/>
              <a:buSzTx/>
              <a:buFont typeface="+mj-lt"/>
              <a:buAutoNum type="arabicPeriod"/>
              <a:tabLst/>
              <a:defRPr/>
            </a:pPr>
            <a:r>
              <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Tokenization and encoding</a:t>
            </a:r>
            <a:r>
              <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 The model breaks down the input sentence into individual tokens, which are words or subwords, and converts these tokens into numerical representations that the model can understand. </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As an example scenario, the sentence “A puppy is to dog as kitten is to…” might be broken up into the following tokens: “A” “puppy” “is” “to” “dog” “as” “kitten” “is” “to.” The individual tokens start the process of helping the model understand the input.</a:t>
            </a:r>
            <a:endPar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endParaRPr>
          </a:p>
          <a:p>
            <a:pPr marL="228600" marR="0" lvl="0" indent="-228600" defTabSz="914400" rtl="0" eaLnBrk="1" fontAlgn="auto" latinLnBrk="0" hangingPunct="1">
              <a:buClrTx/>
              <a:buSzTx/>
              <a:buFont typeface="+mj-lt"/>
              <a:buAutoNum type="arabicPeriod"/>
              <a:tabLst/>
              <a:defRPr/>
            </a:pPr>
            <a:r>
              <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Word embedding</a:t>
            </a:r>
            <a:r>
              <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 The model maps each token to a dense vector representation, known as a </a:t>
            </a:r>
            <a:r>
              <a:rPr lang="en-US" i="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word embedding</a:t>
            </a:r>
            <a:r>
              <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 which captures the semantic and syntactic information of the token. </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Words with similar meaning are located closer to each other in this vector space. Think of it as coordinates on a map. The coordinates for </a:t>
            </a:r>
            <a:r>
              <a:rPr lang="en-US" i="1" dirty="0">
                <a:effectLst/>
                <a:latin typeface="Calibri" panose="020F0502020204030204" pitchFamily="34" charset="0"/>
                <a:ea typeface="Amazon Ember Display" panose="020F0603020204020204" pitchFamily="34" charset="0"/>
                <a:cs typeface="Amazon Ember Display" panose="020F0603020204020204" pitchFamily="34" charset="0"/>
              </a:rPr>
              <a:t>Cat </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and </a:t>
            </a:r>
            <a:r>
              <a:rPr lang="en-US" i="1" dirty="0">
                <a:effectLst/>
                <a:latin typeface="Calibri" panose="020F0502020204030204" pitchFamily="34" charset="0"/>
                <a:ea typeface="Amazon Ember Display" panose="020F0603020204020204" pitchFamily="34" charset="0"/>
                <a:cs typeface="Amazon Ember Display" panose="020F0603020204020204" pitchFamily="34" charset="0"/>
              </a:rPr>
              <a:t>Feline </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are likely closer to each other than the coordinates for </a:t>
            </a:r>
            <a:r>
              <a:rPr lang="en-US" i="1" dirty="0">
                <a:effectLst/>
                <a:latin typeface="Calibri" panose="020F0502020204030204" pitchFamily="34" charset="0"/>
                <a:ea typeface="Amazon Ember Display" panose="020F0603020204020204" pitchFamily="34" charset="0"/>
                <a:cs typeface="Amazon Ember Display" panose="020F0603020204020204" pitchFamily="34" charset="0"/>
              </a:rPr>
              <a:t>Dog </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and </a:t>
            </a:r>
            <a:r>
              <a:rPr lang="en-US" i="1" dirty="0">
                <a:effectLst/>
                <a:latin typeface="Calibri" panose="020F0502020204030204" pitchFamily="34" charset="0"/>
                <a:ea typeface="Amazon Ember Display" panose="020F0603020204020204" pitchFamily="34" charset="0"/>
                <a:cs typeface="Amazon Ember Display" panose="020F0603020204020204" pitchFamily="34" charset="0"/>
              </a:rPr>
              <a:t>Kitten. </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With this information, the model can start to understand context from the input sequence.</a:t>
            </a:r>
            <a:endPar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endParaRPr>
          </a:p>
          <a:p>
            <a:pPr marL="228600" marR="0" lvl="0" indent="-228600" defTabSz="914400" rtl="0" eaLnBrk="1" fontAlgn="auto" latinLnBrk="0" hangingPunct="1">
              <a:buClrTx/>
              <a:buSzTx/>
              <a:buFont typeface="+mj-lt"/>
              <a:buAutoNum type="arabicPeriod"/>
              <a:tabLst/>
              <a:defRPr/>
            </a:pPr>
            <a:r>
              <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Decoding</a:t>
            </a:r>
            <a:r>
              <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 The transformer model processes the embedded tokens through multiple layers of self-attention and feed-forward neural networks to generate contextual representations of the input sequence. The model then uses these representations to predict the next token in the sequence. </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In this scenario, the decoder would be able to understand that </a:t>
            </a:r>
            <a:r>
              <a:rPr lang="en-US" i="1" dirty="0">
                <a:effectLst/>
                <a:latin typeface="Calibri" panose="020F0502020204030204" pitchFamily="34" charset="0"/>
                <a:ea typeface="Amazon Ember Display" panose="020F0603020204020204" pitchFamily="34" charset="0"/>
                <a:cs typeface="Amazon Ember Display" panose="020F0603020204020204" pitchFamily="34" charset="0"/>
              </a:rPr>
              <a:t>puppy </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is related to </a:t>
            </a:r>
            <a:r>
              <a:rPr lang="en-US" i="1" dirty="0">
                <a:effectLst/>
                <a:latin typeface="Calibri" panose="020F0502020204030204" pitchFamily="34" charset="0"/>
                <a:ea typeface="Amazon Ember Display" panose="020F0603020204020204" pitchFamily="34" charset="0"/>
                <a:cs typeface="Amazon Ember Display" panose="020F0603020204020204" pitchFamily="34" charset="0"/>
              </a:rPr>
              <a:t>dog </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when considering which word </a:t>
            </a:r>
            <a:r>
              <a:rPr lang="en-US" i="1" dirty="0">
                <a:effectLst/>
                <a:latin typeface="Calibri" panose="020F0502020204030204" pitchFamily="34" charset="0"/>
                <a:ea typeface="Amazon Ember Display" panose="020F0603020204020204" pitchFamily="34" charset="0"/>
                <a:cs typeface="Amazon Ember Display" panose="020F0603020204020204" pitchFamily="34" charset="0"/>
              </a:rPr>
              <a:t>kitten </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is associated with. For example, consider the following hypothetical weights for each of the following words: cat: 9.2, bird: 5.5, bear: 4.7, human: 3.7. Cat has the highest score; therefore, the most likely output would be cat. (</a:t>
            </a:r>
            <a:r>
              <a:rPr lang="en-US" dirty="0">
                <a:latin typeface="Calibri" panose="020F0502020204030204" pitchFamily="34" charset="0"/>
                <a:ea typeface="Amazon Ember Display" panose="020F0603020204020204" pitchFamily="34" charset="0"/>
                <a:cs typeface="Amazon Ember Display" panose="020F0603020204020204" pitchFamily="34" charset="0"/>
              </a:rPr>
              <a:t>The numbers that appear next to the prediction answers are for illustrative purposes only.)</a:t>
            </a:r>
            <a:endPar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endParaRPr>
          </a:p>
          <a:p>
            <a:pPr marL="228600" indent="-228600">
              <a:buFont typeface="+mj-lt"/>
              <a:buAutoNum type="arabicPeriod"/>
            </a:pPr>
            <a:r>
              <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Outputs</a:t>
            </a:r>
            <a:r>
              <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 The model generates the most probable next token based on the input sequence and the learned patterns from the training data. The model repeats this process until the entire sentence is completed or it meets a stop condition.</a:t>
            </a:r>
          </a:p>
          <a:p>
            <a:pPr marL="0" indent="0">
              <a:buFont typeface="Arial" panose="020B0604020202020204" pitchFamily="34" charset="0"/>
              <a:buNone/>
            </a:pPr>
            <a:endParaRPr lang="en-US" b="1" dirty="0">
              <a:latin typeface="Calibri" panose="020F0502020204030204" pitchFamily="34" charset="0"/>
              <a:ea typeface="Amazon Ember Display" panose="020F0603020204020204" pitchFamily="34" charset="0"/>
              <a:cs typeface="Amazon Ember Display" panose="020F0603020204020204" pitchFamily="34" charset="0"/>
            </a:endParaRPr>
          </a:p>
          <a:p>
            <a:pPr marL="0" indent="0">
              <a:buFont typeface="Arial" panose="020B0604020202020204" pitchFamily="34" charset="0"/>
              <a:buNone/>
            </a:pPr>
            <a:r>
              <a:rPr lang="en-US" b="1" dirty="0">
                <a:latin typeface="Calibri" panose="020F0502020204030204" pitchFamily="34" charset="0"/>
                <a:ea typeface="Amazon Ember Display" panose="020F0603020204020204" pitchFamily="34" charset="0"/>
                <a:cs typeface="Amazon Ember Display" panose="020F0603020204020204" pitchFamily="34" charset="0"/>
              </a:rPr>
              <a:t>Transformer architecture</a:t>
            </a:r>
          </a:p>
          <a:p>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The transformer architecture is a type of neural network that is efficient, easy to scale and parallelize, and can model interdependence between input and output data.</a:t>
            </a:r>
          </a:p>
          <a:p>
            <a:endParaRPr lang="en-US" dirty="0">
              <a:effectLst/>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Large transformer models can provide for the following use cases:</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Natural language processing (NLP)</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Machine translation</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DNA sequence analysis</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Protein structure analysis</a:t>
            </a:r>
          </a:p>
          <a:p>
            <a:pPr marL="0" marR="0" lvl="0" indent="0" defTabSz="914400" rtl="0" eaLnBrk="1" fontAlgn="auto" latinLnBrk="0" hangingPunct="1">
              <a:buClrTx/>
              <a:buSzTx/>
              <a:buFont typeface="Arial" panose="020B0604020202020204" pitchFamily="34" charset="0"/>
              <a:buNone/>
              <a:tabLst/>
              <a:defRPr/>
            </a:pP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0" indent="0">
              <a:buFont typeface="Arial" panose="020B0604020202020204" pitchFamily="34" charset="0"/>
              <a:buNone/>
            </a:pPr>
            <a:r>
              <a:rPr lang="en-US" dirty="0">
                <a:latin typeface="Calibri" panose="020F0502020204030204" pitchFamily="34" charset="0"/>
                <a:ea typeface="Amazon Ember Display" panose="020F0603020204020204" pitchFamily="34" charset="0"/>
                <a:cs typeface="Amazon Ember Display" panose="020F0603020204020204" pitchFamily="34" charset="0"/>
              </a:rPr>
              <a:t>The following are benefits of transformers:</a:t>
            </a:r>
          </a:p>
          <a:p>
            <a:pPr marL="171450" indent="-171450">
              <a:buFont typeface="Arial" panose="020B0604020202020204" pitchFamily="34" charset="0"/>
              <a:buChar cha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Memory efficient and can be trained in parallel on GPUs: </a:t>
            </a:r>
            <a:r>
              <a:rPr lang="en-US" dirty="0">
                <a:latin typeface="Calibri" panose="020F0502020204030204" pitchFamily="34" charset="0"/>
                <a:ea typeface="Amazon Ember Display" panose="020F0603020204020204" pitchFamily="34" charset="0"/>
                <a:cs typeface="Amazon Ember Display" panose="020F0603020204020204" pitchFamily="34" charset="0"/>
              </a:rPr>
              <a:t>Compared to its predecessors, such as recursive neural nets, transformers are more </a:t>
            </a:r>
            <a:r>
              <a:rPr lang="en-US" i="1" dirty="0">
                <a:latin typeface="Calibri" panose="020F0502020204030204" pitchFamily="34" charset="0"/>
                <a:ea typeface="Amazon Ember Display" panose="020F0603020204020204" pitchFamily="34" charset="0"/>
                <a:cs typeface="Amazon Ember Display" panose="020F0603020204020204" pitchFamily="34" charset="0"/>
              </a:rPr>
              <a:t>parallelizable</a:t>
            </a:r>
            <a:r>
              <a:rPr lang="en-US" dirty="0">
                <a:latin typeface="Calibri" panose="020F0502020204030204" pitchFamily="34" charset="0"/>
                <a:ea typeface="Amazon Ember Display" panose="020F0603020204020204" pitchFamily="34" charset="0"/>
                <a:cs typeface="Amazon Ember Display" panose="020F0603020204020204" pitchFamily="34" charset="0"/>
              </a:rPr>
              <a:t> (sped up through processing increases). Transformers do not process words sequentially one at a time. Instead, they process the entire input all at once during the learning cycle. As a result, transformers require significantly less time to train, and one can apply more computing power to speed up training. This can lead to a model that scales well with large pieces of data.</a:t>
            </a:r>
          </a:p>
          <a:p>
            <a:pPr marL="171450" indent="-171450">
              <a:buFont typeface="Arial" panose="020B0604020202020204" pitchFamily="34" charset="0"/>
              <a:buChar cha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Retain and use information about meaning and position: </a:t>
            </a:r>
            <a:r>
              <a:rPr lang="en-US" dirty="0">
                <a:latin typeface="Calibri" panose="020F0502020204030204" pitchFamily="34" charset="0"/>
                <a:ea typeface="Amazon Ember Display" panose="020F0603020204020204" pitchFamily="34" charset="0"/>
                <a:cs typeface="Amazon Ember Display" panose="020F0603020204020204" pitchFamily="34" charset="0"/>
              </a:rPr>
              <a:t>Transformer models also take advantage of positional information. If you are inputting a sentence, the model captures the importance of each word and the relationships between the words. Humans do this by understanding what verbs and nouns are and how adjectives relate to nouns. The model follows a similar process but encoded in mathematics.</a:t>
            </a:r>
          </a:p>
          <a:p>
            <a:pPr marL="171450" indent="-171450">
              <a:buFont typeface="Arial" panose="020B0604020202020204" pitchFamily="34" charset="0"/>
              <a:buChar cha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Pay attention to multiple things at once, in different ways: </a:t>
            </a:r>
            <a:r>
              <a:rPr lang="en-US" b="0" dirty="0">
                <a:latin typeface="Calibri" panose="020F0502020204030204" pitchFamily="34" charset="0"/>
                <a:ea typeface="Amazon Ember Display" panose="020F0603020204020204" pitchFamily="34" charset="0"/>
                <a:cs typeface="Amazon Ember Display" panose="020F0603020204020204" pitchFamily="34" charset="0"/>
              </a:rPr>
              <a:t>Models use position </a:t>
            </a:r>
            <a:r>
              <a:rPr lang="en-US" dirty="0">
                <a:latin typeface="Calibri" panose="020F0502020204030204" pitchFamily="34" charset="0"/>
                <a:ea typeface="Amazon Ember Display" panose="020F0603020204020204" pitchFamily="34" charset="0"/>
                <a:cs typeface="Amazon Ember Display" panose="020F0603020204020204" pitchFamily="34" charset="0"/>
              </a:rPr>
              <a:t>encoders to prevent ambiguous meanings when a word is used in other parts of a sentence. For example, the sentences "I went to the bank to withdraw money" and "The boat anchored by the bank" have two different meanings. Although both statements include a bank, in context each bank means something different because of their position. Position encoding allows the transformer model to differentiate the semantic differences between these sentences.</a:t>
            </a:r>
          </a:p>
          <a:p>
            <a:br>
              <a:rPr lang="en-US" dirty="0">
                <a:latin typeface="Calibri" panose="020F0502020204030204" pitchFamily="34" charset="0"/>
                <a:ea typeface="Amazon Ember Display" panose="020F0603020204020204" pitchFamily="34" charset="0"/>
                <a:cs typeface="Amazon Ember Display" panose="020F0603020204020204" pitchFamily="34" charset="0"/>
              </a:rPr>
            </a:br>
            <a:r>
              <a:rPr lang="en-US" dirty="0">
                <a:latin typeface="Calibri" panose="020F0502020204030204" pitchFamily="34" charset="0"/>
                <a:ea typeface="Amazon Ember Display" panose="020F0603020204020204" pitchFamily="34" charset="0"/>
                <a:cs typeface="Amazon Ember Display" panose="020F0603020204020204" pitchFamily="34" charset="0"/>
              </a:rPr>
              <a:t>For more information about transformer models and transformer architectures, see What are Transformers in Artificial Intelligence? at </a:t>
            </a:r>
            <a:r>
              <a:rPr lang="en-US" dirty="0">
                <a:latin typeface="Calibri" panose="020F0502020204030204" pitchFamily="34" charset="0"/>
                <a:ea typeface="Amazon Ember Display" panose="020F0603020204020204" pitchFamily="34" charset="0"/>
                <a:cs typeface="Amazon Ember Display" panose="020F0603020204020204" pitchFamily="34" charset="0"/>
                <a:hlinkClick r:id="rId4"/>
              </a:rPr>
              <a:t>https://aws.amazon.com/what-is/transformers-in-artificial-intelligence</a:t>
            </a:r>
            <a:r>
              <a:rPr lang="en-US" dirty="0">
                <a:latin typeface="Calibri" panose="020F0502020204030204" pitchFamily="34" charset="0"/>
                <a:ea typeface="Amazon Ember Display" panose="020F0603020204020204" pitchFamily="34" charset="0"/>
                <a:cs typeface="Amazon Ember Display" panose="020F0603020204020204" pitchFamily="34" charset="0"/>
              </a:rPr>
              <a:t>.</a:t>
            </a:r>
          </a:p>
          <a:p>
            <a:endPar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endParaRPr>
          </a:p>
          <a:p>
            <a:endPar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4288037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7688"/>
          </a:xfrm>
        </p:spPr>
      </p:sp>
      <p:sp>
        <p:nvSpPr>
          <p:cNvPr id="3" name="Notes Placeholder 2"/>
          <p:cNvSpPr>
            <a:spLocks noGrp="1"/>
          </p:cNvSpPr>
          <p:nvPr>
            <p:ph type="body" idx="1"/>
          </p:nvPr>
        </p:nvSpPr>
        <p:spPr>
          <a:xfrm>
            <a:off x="317500" y="3810000"/>
            <a:ext cx="7112000" cy="4773168"/>
          </a:xfrm>
        </p:spPr>
        <p:txBody>
          <a:bodyPr/>
          <a:lstStyle/>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|Student notes</a:t>
            </a:r>
          </a:p>
          <a:p>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Inference is the process of invoking a foundation model with a prompt as input and getting a response as output. The model performs the tokenization and encoding, word embedding, and decoding on the input, which results in a response as output. </a:t>
            </a:r>
            <a:r>
              <a:rPr lang="en-US" dirty="0">
                <a:latin typeface="Calibri" panose="020F0502020204030204" pitchFamily="34" charset="0"/>
                <a:ea typeface="Amazon Ember Display" panose="020F0603020204020204" pitchFamily="34" charset="0"/>
                <a:cs typeface="Amazon Ember Display" panose="020F0603020204020204" pitchFamily="34" charset="0"/>
              </a:rPr>
              <a:t>The application or application component that invokes the foundation model is sometimes referred to as the client or the user.</a:t>
            </a:r>
            <a:endParaRPr lang="en-US" dirty="0">
              <a:effectLst/>
              <a:latin typeface="Calibri" panose="020F0502020204030204" pitchFamily="34" charset="0"/>
              <a:ea typeface="Amazon Ember Display" panose="020F0603020204020204" pitchFamily="34" charset="0"/>
              <a:cs typeface="Amazon Ember Display" panose="020F0603020204020204" pitchFamily="34" charset="0"/>
            </a:endParaRPr>
          </a:p>
          <a:p>
            <a:endParaRPr lang="en-US" dirty="0">
              <a:effectLst/>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Tx/>
              <a:buNone/>
              <a:tabLst/>
              <a:defRPr/>
            </a:pP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One important concept is </a:t>
            </a:r>
            <a:r>
              <a:rPr lang="en-US" i="1" dirty="0">
                <a:effectLst/>
                <a:latin typeface="Calibri" panose="020F0502020204030204" pitchFamily="34" charset="0"/>
                <a:ea typeface="Amazon Ember Display" panose="020F0603020204020204" pitchFamily="34" charset="0"/>
                <a:cs typeface="Amazon Ember Display" panose="020F0603020204020204" pitchFamily="34" charset="0"/>
              </a:rPr>
              <a:t>context.</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 Context is a one-on-one session with the model. </a:t>
            </a:r>
          </a:p>
          <a:p>
            <a:endParaRPr lang="en-US" dirty="0">
              <a:effectLst/>
              <a:latin typeface="Calibri" panose="020F0502020204030204" pitchFamily="34" charset="0"/>
              <a:ea typeface="Amazon Ember Display" panose="020F0603020204020204" pitchFamily="34" charset="0"/>
              <a:cs typeface="Amazon Ember Display" panose="020F0603020204020204" pitchFamily="34" charset="0"/>
            </a:endParaRPr>
          </a:p>
          <a:p>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Context </a:t>
            </a:r>
            <a:r>
              <a:rPr lang="en-US" dirty="0">
                <a:latin typeface="Calibri" panose="020F0502020204030204" pitchFamily="34" charset="0"/>
                <a:ea typeface="Amazon Ember Display" panose="020F0603020204020204" pitchFamily="34" charset="0"/>
                <a:cs typeface="Amazon Ember Display" panose="020F0603020204020204" pitchFamily="34" charset="0"/>
              </a:rPr>
              <a:t>has limits: it doesn't automatically persist between interactions and there is a maximum amount of information (tokens) that can be included. When you want to maintain context across interactions, you must deliberately reinclude relevant information in each new prompt. This reuse of information—whether chat history, document content, or data from retrieval systems—counts toward your token limits each time it's included, which can impact both performance and cost. </a:t>
            </a:r>
            <a:r>
              <a:rPr lang="en-US" b="1" dirty="0">
                <a:latin typeface="Calibri" panose="020F0502020204030204" pitchFamily="34" charset="0"/>
                <a:ea typeface="Amazon Ember Display" panose="020F0603020204020204" pitchFamily="34" charset="0"/>
                <a:cs typeface="Amazon Ember Display" panose="020F0603020204020204" pitchFamily="34" charset="0"/>
              </a:rPr>
              <a:t>Note</a:t>
            </a:r>
            <a:r>
              <a:rPr lang="en-US" dirty="0">
                <a:latin typeface="Calibri" panose="020F0502020204030204" pitchFamily="34" charset="0"/>
                <a:ea typeface="Amazon Ember Display" panose="020F0603020204020204" pitchFamily="34" charset="0"/>
                <a:cs typeface="Amazon Ember Display" panose="020F0603020204020204" pitchFamily="34" charset="0"/>
              </a:rPr>
              <a:t>: Caching mechanisms might offset some of those effects. The details of these considerations are beyond the scope of this module. </a:t>
            </a: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10623936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7688"/>
          </a:xfrm>
        </p:spPr>
      </p:sp>
      <p:sp>
        <p:nvSpPr>
          <p:cNvPr id="3" name="Notes Placeholder 2"/>
          <p:cNvSpPr>
            <a:spLocks noGrp="1"/>
          </p:cNvSpPr>
          <p:nvPr>
            <p:ph type="body" idx="1"/>
          </p:nvPr>
        </p:nvSpPr>
        <p:spPr>
          <a:xfrm>
            <a:off x="317500" y="3810000"/>
            <a:ext cx="7112000" cy="4773168"/>
          </a:xfrm>
        </p:spPr>
        <p:txBody>
          <a:bodyPr/>
          <a:lstStyle/>
          <a:p>
            <a:r>
              <a:rPr lang="en-US" b="1" dirty="0">
                <a:effectLst/>
                <a:latin typeface="Calibri" panose="020F0502020204030204" pitchFamily="34" charset="0"/>
                <a:ea typeface="Amazon Ember Display" panose="020F0603020204020204" pitchFamily="34" charset="0"/>
                <a:cs typeface="Amazon Ember Display" panose="020F0603020204020204" pitchFamily="34" charset="0"/>
              </a:rPr>
              <a:t>|Student notes</a:t>
            </a:r>
          </a:p>
          <a:p>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The following conversation is with a generative AI model that is asked a question about Seattle. </a:t>
            </a:r>
          </a:p>
          <a:p>
            <a:endParaRPr lang="en-US" dirty="0">
              <a:effectLst/>
              <a:latin typeface="Calibri" panose="020F0502020204030204" pitchFamily="34" charset="0"/>
              <a:ea typeface="Amazon Ember Display" panose="020F0603020204020204" pitchFamily="34" charset="0"/>
              <a:cs typeface="Amazon Ember Display" panose="020F0603020204020204" pitchFamily="34" charset="0"/>
            </a:endParaRPr>
          </a:p>
          <a:p>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The first input asks what is the best place in Seattle to visit, and the AI responds with the Columbia Center as its response. In the second interaction, the prompt uses the word </a:t>
            </a:r>
            <a:r>
              <a:rPr lang="en-US" i="1" dirty="0">
                <a:effectLst/>
                <a:latin typeface="Calibri" panose="020F0502020204030204" pitchFamily="34" charset="0"/>
                <a:ea typeface="Amazon Ember Display" panose="020F0603020204020204" pitchFamily="34" charset="0"/>
                <a:cs typeface="Amazon Ember Display" panose="020F0603020204020204" pitchFamily="34" charset="0"/>
              </a:rPr>
              <a:t>this. </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The model must figure out what </a:t>
            </a:r>
            <a:r>
              <a:rPr lang="en-US" i="1" dirty="0">
                <a:effectLst/>
                <a:latin typeface="Calibri" panose="020F0502020204030204" pitchFamily="34" charset="0"/>
                <a:ea typeface="Amazon Ember Display" panose="020F0603020204020204" pitchFamily="34" charset="0"/>
                <a:cs typeface="Amazon Ember Display" panose="020F0603020204020204" pitchFamily="34" charset="0"/>
              </a:rPr>
              <a:t>this</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 refers to in the context of the current conversation.</a:t>
            </a: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Tx/>
              <a:buNone/>
              <a:tabLst/>
              <a:defRPr/>
            </a:pPr>
            <a:r>
              <a:rPr lang="en-US" b="1" i="0" kern="1200" dirty="0">
                <a:solidFill>
                  <a:schemeClr val="tx1"/>
                </a:solidFill>
                <a:effectLst/>
                <a:latin typeface="Calibri" panose="020F0502020204030204" pitchFamily="34" charset="0"/>
                <a:ea typeface="+mn-ea"/>
                <a:cs typeface="+mn-cs"/>
              </a:rPr>
              <a:t>Disclaimer</a:t>
            </a:r>
            <a:r>
              <a:rPr lang="en-US" b="0" i="0" kern="1200" dirty="0">
                <a:solidFill>
                  <a:schemeClr val="tx1"/>
                </a:solidFill>
                <a:effectLst/>
                <a:latin typeface="Calibri" panose="020F0502020204030204" pitchFamily="34" charset="0"/>
                <a:ea typeface="+mn-ea"/>
                <a:cs typeface="+mn-cs"/>
              </a:rPr>
              <a:t>: Hypothetical recommendations are included here for instructional purposes only and are not an endorsement of specific locations or events. </a:t>
            </a:r>
            <a:endParaRPr lang="en-US" dirty="0">
              <a:latin typeface="Calibri" panose="020F0502020204030204" pitchFamily="34" charset="0"/>
            </a:endParaRP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3739477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7688"/>
          </a:xfrm>
        </p:spPr>
      </p:sp>
      <p:sp>
        <p:nvSpPr>
          <p:cNvPr id="3" name="Notes Placeholder 2"/>
          <p:cNvSpPr>
            <a:spLocks noGrp="1"/>
          </p:cNvSpPr>
          <p:nvPr>
            <p:ph type="body" idx="1"/>
          </p:nvPr>
        </p:nvSpPr>
        <p:spPr>
          <a:xfrm>
            <a:off x="317500" y="3810000"/>
            <a:ext cx="7112000" cy="4773168"/>
          </a:xfrm>
        </p:spPr>
        <p:txBody>
          <a:bodyPr/>
          <a:lstStyle/>
          <a:p>
            <a:pPr marL="0" marR="0" lvl="0" indent="0" defTabSz="914400" rtl="0" eaLnBrk="1" fontAlgn="auto" latinLnBrk="0" hangingPunct="1">
              <a:buClrTx/>
              <a:buSzTx/>
              <a:buFontTx/>
              <a:buNone/>
              <a:tabLst/>
              <a:defRPr/>
            </a:pPr>
            <a:r>
              <a:rPr lang="en-US" b="1">
                <a:latin typeface="Calibri" panose="020F0502020204030204" pitchFamily="34" charset="0"/>
                <a:ea typeface="Amazon Ember Display" panose="020F0603020204020204" pitchFamily="34" charset="0"/>
                <a:cs typeface="Amazon Ember Display" panose="020F0603020204020204" pitchFamily="34" charset="0"/>
              </a:rPr>
              <a:t>|</a:t>
            </a:r>
            <a:r>
              <a:rPr lang="en-US" b="1" dirty="0">
                <a:latin typeface="Calibri" panose="020F0502020204030204" pitchFamily="34" charset="0"/>
                <a:ea typeface="Amazon Ember Display" panose="020F0603020204020204" pitchFamily="34" charset="0"/>
                <a:cs typeface="Amazon Ember Display" panose="020F0603020204020204" pitchFamily="34" charset="0"/>
              </a:rPr>
              <a:t>Student notes</a:t>
            </a:r>
          </a:p>
          <a:p>
            <a:pPr marL="0" marR="0" lvl="0" indent="0" defTabSz="914400" rtl="0" eaLnBrk="1" fontAlgn="auto" latinLnBrk="0" hangingPunct="1">
              <a:buClrTx/>
              <a:buSzTx/>
              <a:buFontTx/>
              <a:buNone/>
              <a:tabLst/>
              <a:defRPr/>
            </a:pP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A foundation model is a pre-built ML model trained on a large amount of data. The result is a model that can be adapted to a wide range of downstream tasks. The term foundation model was coined by researchers to describe ML models  with the following characteristics: </a:t>
            </a:r>
          </a:p>
          <a:p>
            <a:pPr marL="171450" marR="0" lvl="0" indent="-171450" defTabSz="914400" rtl="0" eaLnBrk="1" fontAlgn="auto" latinLnBrk="0" hangingPunct="1">
              <a:buClrTx/>
              <a:buSzTx/>
              <a:buFont typeface="Arial" panose="020B0604020202020204" pitchFamily="34" charset="0"/>
              <a:buChar char="•"/>
              <a:tabLst/>
              <a:defRPr/>
            </a:pP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Trained on a broad spectrum of generalized and unlabeled data. </a:t>
            </a:r>
          </a:p>
          <a:p>
            <a:pPr marL="171450" marR="0" lvl="0" indent="-171450" defTabSz="914400" rtl="0" eaLnBrk="1" fontAlgn="auto" latinLnBrk="0" hangingPunct="1">
              <a:buClrTx/>
              <a:buSzTx/>
              <a:buFont typeface="Arial" panose="020B0604020202020204" pitchFamily="34" charset="0"/>
              <a:buChar char="•"/>
              <a:tabLst/>
              <a:defRPr/>
            </a:pP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Capable of performing a wide variety of general tasks such as understanding language, generating text and images, and conversing in natural language.</a:t>
            </a:r>
          </a:p>
          <a:p>
            <a:pPr marL="0" marR="0" lvl="0" indent="0" defTabSz="914400" rtl="0" eaLnBrk="1" fontAlgn="auto" latinLnBrk="0" hangingPunct="1">
              <a:buClrTx/>
              <a:buSzTx/>
              <a:buFontTx/>
              <a:buNone/>
              <a:tabLst/>
              <a:defRPr/>
            </a:pPr>
            <a:endParaRPr lang="en-US" dirty="0">
              <a:effectLst/>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Foundation models have broad applicability and adaptability not only because of the massive training datasets, but also the billions or trillions of parameters that result from their training. For more information, see What are Foundation Models? at </a:t>
            </a:r>
            <a:r>
              <a:rPr lang="en-US" dirty="0">
                <a:latin typeface="Calibri" panose="020F0502020204030204" pitchFamily="34" charset="0"/>
                <a:ea typeface="Amazon Ember Display" panose="020F0603020204020204" pitchFamily="34" charset="0"/>
                <a:cs typeface="Amazon Ember Display" panose="020F0603020204020204" pitchFamily="34" charset="0"/>
                <a:hlinkClick r:id="rId3"/>
              </a:rPr>
              <a:t>https://aws.amazon.com/what-is/foundation-models</a:t>
            </a:r>
            <a:r>
              <a:rPr lang="en-US" dirty="0">
                <a:latin typeface="Calibri" panose="020F0502020204030204" pitchFamily="34" charset="0"/>
                <a:ea typeface="Amazon Ember Display" panose="020F0603020204020204" pitchFamily="34" charset="0"/>
                <a:cs typeface="Amazon Ember Display" panose="020F0603020204020204" pitchFamily="34" charset="0"/>
              </a:rPr>
              <a:t>. </a:t>
            </a:r>
          </a:p>
          <a:p>
            <a:pPr marL="0" marR="0" lvl="0" indent="0" defTabSz="914400" rtl="0" eaLnBrk="1" fontAlgn="auto" latinLnBrk="0" hangingPunct="1">
              <a:buClrTx/>
              <a:buSzTx/>
              <a:buFontTx/>
              <a:buNone/>
              <a:tabLst/>
              <a:defRPr/>
            </a:pP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r>
              <a:rPr lang="en-US" dirty="0">
                <a:latin typeface="Calibri" panose="020F0502020204030204" pitchFamily="34" charset="0"/>
              </a:rPr>
              <a:t>A unique feature of foundation models is their adaptability. These models can perform a wide range of disparate tasks with a high degree of accuracy based on input prompts. Some tasks include natural language processing, question answering, and image classification. The size and general-purpose nature of FMs make them different from traditional ML models, which typically perform specific tasks, like analyzing text for sentiment, classifying images, and forecasting trends.</a:t>
            </a:r>
          </a:p>
          <a:p>
            <a:endParaRPr lang="en-US" dirty="0">
              <a:latin typeface="Calibri" panose="020F0502020204030204" pitchFamily="34" charset="0"/>
            </a:endParaRPr>
          </a:p>
          <a:p>
            <a:r>
              <a:rPr lang="en-US" dirty="0">
                <a:latin typeface="Calibri" panose="020F0502020204030204" pitchFamily="34" charset="0"/>
              </a:rPr>
              <a:t>You can use foundation models as base models for developing more specialized downstream applications. These models are the culmination of more than a decade of work that saw them increase in size and complexity.</a:t>
            </a: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Tx/>
              <a:buNone/>
              <a:tabLst/>
              <a:defRPr/>
            </a:pPr>
            <a:r>
              <a:rPr lang="en-US" dirty="0">
                <a:effectLst/>
                <a:latin typeface="Calibri" panose="020F0502020204030204" pitchFamily="34" charset="0"/>
              </a:rPr>
              <a:t>The process of using a foundation model is called inference. The key components of inference using a foundation model include the foundation model itself (created previously through pre-training), the request-response process, and the inputs and outputs. The inference request provides inputs such as parameters and a prompt, which can include instructions, questions, and relevant examples or documents. The foundation model then processes this input and returns an inference response to the generative AI application. This response, sometimes called an answer, can vary depending on the task. For question-answering tasks, the response typically includes the answer. However, for other tasks like text summarization or image classification, the nature and size of the response can differ significantly. Most foundation models are versatile and can be used for a broad range of general tasks, adapting their output based on the specific requirements of each task.</a:t>
            </a: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14165474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588000"/>
          </a:xfrm>
        </p:spPr>
        <p:txBody>
          <a:bodyPr/>
          <a:lstStyle/>
          <a:p>
            <a:pPr marL="0" indent="0">
              <a:buFont typeface="Arial" panose="020B0604020202020204" pitchFamily="34" charset="0"/>
              <a:buNone/>
              <a:defRPr/>
            </a:pPr>
            <a:r>
              <a:rPr lang="en-US" b="1" kern="1200" baseline="0" dirty="0">
                <a:effectLst/>
                <a:latin typeface="Calibri" panose="020F0502020204030204" pitchFamily="34" charset="0"/>
                <a:ea typeface="+mn-ea"/>
                <a:cs typeface="+mn-cs"/>
              </a:rPr>
              <a:t>|Student notes</a:t>
            </a:r>
          </a:p>
          <a:p>
            <a:pPr marL="0" indent="0">
              <a:buFont typeface="Arial" panose="020B0604020202020204" pitchFamily="34" charset="0"/>
              <a:buNone/>
              <a:defRPr/>
            </a:pPr>
            <a:r>
              <a:rPr lang="en-US" b="0" kern="1200" baseline="0" dirty="0">
                <a:effectLst/>
                <a:latin typeface="Calibri" panose="020F0502020204030204" pitchFamily="34" charset="0"/>
                <a:ea typeface="+mn-ea"/>
                <a:cs typeface="+mn-cs"/>
              </a:rPr>
              <a:t>Some foundation models are classified as </a:t>
            </a:r>
            <a:r>
              <a:rPr lang="en-US" b="0" i="1" kern="1200" baseline="0" dirty="0">
                <a:effectLst/>
                <a:latin typeface="Calibri" panose="020F0502020204030204" pitchFamily="34" charset="0"/>
                <a:ea typeface="+mn-ea"/>
                <a:cs typeface="+mn-cs"/>
              </a:rPr>
              <a:t>understanding</a:t>
            </a:r>
            <a:r>
              <a:rPr lang="en-US" b="0" kern="1200" baseline="0" dirty="0">
                <a:effectLst/>
                <a:latin typeface="Calibri" panose="020F0502020204030204" pitchFamily="34" charset="0"/>
                <a:ea typeface="+mn-ea"/>
                <a:cs typeface="+mn-cs"/>
              </a:rPr>
              <a:t> models, which can perform a wide range of tasks such as the following: </a:t>
            </a:r>
            <a:br>
              <a:rPr lang="en-US" b="0" kern="1200" baseline="0" dirty="0">
                <a:effectLst/>
                <a:latin typeface="Calibri" panose="020F0502020204030204" pitchFamily="34" charset="0"/>
                <a:ea typeface="+mn-ea"/>
                <a:cs typeface="+mn-cs"/>
              </a:rPr>
            </a:br>
            <a:endParaRPr lang="en-US" b="0" kern="1200" baseline="0" dirty="0">
              <a:effectLst/>
              <a:latin typeface="Calibri" panose="020F0502020204030204" pitchFamily="34" charset="0"/>
              <a:ea typeface="+mn-ea"/>
              <a:cs typeface="+mn-cs"/>
            </a:endParaRPr>
          </a:p>
          <a:p>
            <a:pPr marL="171450" indent="-171450">
              <a:buFont typeface="Arial" panose="020B0604020202020204" pitchFamily="34" charset="0"/>
              <a:buChar char="•"/>
              <a:defRPr/>
            </a:pPr>
            <a:r>
              <a:rPr lang="en-US" b="0" kern="1200" baseline="0" dirty="0">
                <a:effectLst/>
                <a:latin typeface="Calibri" panose="020F0502020204030204" pitchFamily="34" charset="0"/>
                <a:ea typeface="+mn-ea"/>
                <a:cs typeface="+mn-cs"/>
              </a:rPr>
              <a:t>Text </a:t>
            </a:r>
            <a:r>
              <a:rPr lang="en-US" kern="1200" baseline="0" dirty="0">
                <a:effectLst/>
                <a:latin typeface="Calibri" panose="020F0502020204030204" pitchFamily="34" charset="0"/>
                <a:ea typeface="+mn-ea"/>
                <a:cs typeface="+mn-cs"/>
              </a:rPr>
              <a:t>generation: Creating coherent, contextually appropriate text for various purposes</a:t>
            </a:r>
          </a:p>
          <a:p>
            <a:pPr marL="171450" indent="-171450">
              <a:buFont typeface="Arial" panose="020B0604020202020204" pitchFamily="34" charset="0"/>
              <a:buChar char="•"/>
              <a:defRPr/>
            </a:pPr>
            <a:r>
              <a:rPr lang="en-US" kern="1200" baseline="0" dirty="0">
                <a:effectLst/>
                <a:latin typeface="Calibri" panose="020F0502020204030204" pitchFamily="34" charset="0"/>
                <a:ea typeface="+mn-ea"/>
                <a:cs typeface="+mn-cs"/>
              </a:rPr>
              <a:t>Text summarization: Condensing long documents into concise summaries</a:t>
            </a:r>
          </a:p>
          <a:p>
            <a:pPr marL="171450" indent="-171450">
              <a:buFont typeface="Arial" panose="020B0604020202020204" pitchFamily="34" charset="0"/>
              <a:buChar char="•"/>
              <a:defRPr/>
            </a:pPr>
            <a:r>
              <a:rPr lang="en-US" kern="1200" baseline="0" dirty="0">
                <a:effectLst/>
                <a:latin typeface="Calibri" panose="020F0502020204030204" pitchFamily="34" charset="0"/>
                <a:ea typeface="+mn-ea"/>
                <a:cs typeface="+mn-cs"/>
              </a:rPr>
              <a:t>Information extraction: Identifying and extracting specific data points from unstructured text</a:t>
            </a:r>
          </a:p>
          <a:p>
            <a:pPr marL="171450" indent="-171450">
              <a:buFont typeface="Arial" panose="020B0604020202020204" pitchFamily="34" charset="0"/>
              <a:buChar char="•"/>
              <a:defRPr/>
            </a:pPr>
            <a:r>
              <a:rPr lang="en-US" kern="1200" baseline="0" dirty="0">
                <a:effectLst/>
                <a:latin typeface="Calibri" panose="020F0502020204030204" pitchFamily="34" charset="0"/>
                <a:ea typeface="+mn-ea"/>
                <a:cs typeface="+mn-cs"/>
              </a:rPr>
              <a:t>AI assistants: Powering conversational AI systems for customer service and interactions</a:t>
            </a:r>
          </a:p>
          <a:p>
            <a:pPr marL="171450" indent="-171450">
              <a:buFont typeface="Arial" panose="020B0604020202020204" pitchFamily="34" charset="0"/>
              <a:buChar char="•"/>
              <a:defRPr/>
            </a:pPr>
            <a:r>
              <a:rPr lang="en-US" kern="1200" baseline="0" dirty="0">
                <a:effectLst/>
                <a:latin typeface="Calibri" panose="020F0502020204030204" pitchFamily="34" charset="0"/>
                <a:ea typeface="+mn-ea"/>
                <a:cs typeface="+mn-cs"/>
              </a:rPr>
              <a:t>Question answering: Providing accurate responses based on available information</a:t>
            </a:r>
          </a:p>
          <a:p>
            <a:pPr marL="171450" indent="-171450">
              <a:buFont typeface="Arial" panose="020B0604020202020204" pitchFamily="34" charset="0"/>
              <a:buChar char="•"/>
              <a:defRPr/>
            </a:pPr>
            <a:r>
              <a:rPr lang="en-US" kern="1200" baseline="0" dirty="0">
                <a:effectLst/>
                <a:latin typeface="Calibri" panose="020F0502020204030204" pitchFamily="34" charset="0"/>
                <a:ea typeface="+mn-ea"/>
                <a:cs typeface="+mn-cs"/>
              </a:rPr>
              <a:t>Code generation: </a:t>
            </a:r>
            <a:r>
              <a:rPr lang="en-US" dirty="0">
                <a:effectLst/>
                <a:latin typeface="Calibri" panose="020F0502020204030204" pitchFamily="34" charset="0"/>
              </a:rPr>
              <a:t>Automatically generating code for various programming languages and tasks based on natural language descriptions or specifications</a:t>
            </a:r>
            <a:endParaRPr lang="en-US" kern="1200" baseline="0" dirty="0">
              <a:effectLst/>
              <a:latin typeface="Calibri" panose="020F0502020204030204" pitchFamily="34" charset="0"/>
              <a:ea typeface="+mn-ea"/>
              <a:cs typeface="+mn-cs"/>
            </a:endParaRPr>
          </a:p>
        </p:txBody>
      </p:sp>
    </p:spTree>
    <p:extLst>
      <p:ext uri="{BB962C8B-B14F-4D97-AF65-F5344CB8AC3E}">
        <p14:creationId xmlns:p14="http://schemas.microsoft.com/office/powerpoint/2010/main" val="29822327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A2592-C112-6EB7-D221-F604E8A7A0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864EC-DF73-6D5E-1C6B-A487B9721F61}"/>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E6A8C4BB-232A-A023-82DA-5FDB2A0D118E}"/>
              </a:ext>
            </a:extLst>
          </p:cNvPr>
          <p:cNvSpPr>
            <a:spLocks noGrp="1"/>
          </p:cNvSpPr>
          <p:nvPr>
            <p:ph type="body" idx="1"/>
          </p:nvPr>
        </p:nvSpPr>
        <p:spPr>
          <a:xfrm>
            <a:off x="317500" y="3810000"/>
            <a:ext cx="7112000" cy="5588000"/>
          </a:xfrm>
        </p:spPr>
        <p:txBody>
          <a:bodyPr/>
          <a:lstStyle/>
          <a:p>
            <a:pPr marL="0" indent="0">
              <a:buFont typeface="Arial" panose="020B0604020202020204" pitchFamily="34" charset="0"/>
              <a:buNone/>
              <a:defRPr/>
            </a:pPr>
            <a:r>
              <a:rPr lang="en-US" b="1" kern="1200" baseline="0" dirty="0">
                <a:effectLst/>
                <a:latin typeface="Calibri" panose="020F0502020204030204" pitchFamily="34" charset="0"/>
                <a:ea typeface="+mn-ea"/>
                <a:cs typeface="+mn-cs"/>
              </a:rPr>
              <a:t>|Student notes</a:t>
            </a:r>
          </a:p>
          <a:p>
            <a:pPr marL="0" indent="0">
              <a:buFont typeface="Arial" panose="020B0604020202020204" pitchFamily="34" charset="0"/>
              <a:buNone/>
              <a:defRPr/>
            </a:pPr>
            <a:r>
              <a:rPr lang="en-US" b="0" kern="1200" baseline="0" dirty="0">
                <a:effectLst/>
                <a:latin typeface="Calibri" panose="020F0502020204030204" pitchFamily="34" charset="0"/>
                <a:ea typeface="+mn-ea"/>
                <a:cs typeface="+mn-cs"/>
              </a:rPr>
              <a:t>Creative content generation models can perform a wide range of tasks such as the following: </a:t>
            </a:r>
          </a:p>
          <a:p>
            <a:pPr marL="171450" indent="-171450">
              <a:buFont typeface="Arial" panose="020B0604020202020204" pitchFamily="34" charset="0"/>
              <a:buChar char="•"/>
              <a:defRPr/>
            </a:pPr>
            <a:r>
              <a:rPr lang="en-US" kern="1200" baseline="0" dirty="0">
                <a:effectLst/>
                <a:latin typeface="Calibri" panose="020F0502020204030204" pitchFamily="34" charset="0"/>
                <a:ea typeface="+mn-ea"/>
                <a:cs typeface="+mn-cs"/>
              </a:rPr>
              <a:t>Image generation: Creating new images based on </a:t>
            </a:r>
            <a:r>
              <a:rPr lang="en-US" b="0" i="0" dirty="0">
                <a:solidFill>
                  <a:srgbClr val="232B37"/>
                </a:solidFill>
                <a:effectLst/>
                <a:latin typeface="Calibri" panose="020F0502020204030204" pitchFamily="34" charset="0"/>
              </a:rPr>
              <a:t>text or images provided</a:t>
            </a:r>
            <a:r>
              <a:rPr lang="en-US" kern="1200" baseline="0" dirty="0">
                <a:effectLst/>
                <a:latin typeface="Calibri" panose="020F0502020204030204" pitchFamily="34" charset="0"/>
                <a:ea typeface="+mn-ea"/>
                <a:cs typeface="+mn-cs"/>
              </a:rPr>
              <a:t> as inputs. </a:t>
            </a:r>
            <a:r>
              <a:rPr lang="en-US" dirty="0">
                <a:latin typeface="Calibri" panose="020F0502020204030204" pitchFamily="34" charset="0"/>
              </a:rPr>
              <a:t>Diffusion Models are a type of FM for Images/Video</a:t>
            </a:r>
            <a:endParaRPr lang="en-US" kern="1200" baseline="0" dirty="0">
              <a:effectLst/>
              <a:latin typeface="Calibri" panose="020F0502020204030204" pitchFamily="34" charset="0"/>
              <a:ea typeface="+mn-ea"/>
              <a:cs typeface="+mn-cs"/>
            </a:endParaRPr>
          </a:p>
          <a:p>
            <a:pPr marL="171450" indent="-171450">
              <a:buFont typeface="Arial" panose="020B0604020202020204" pitchFamily="34" charset="0"/>
              <a:buChar char="•"/>
              <a:defRPr/>
            </a:pPr>
            <a:r>
              <a:rPr lang="en-US" kern="1200" baseline="0" dirty="0">
                <a:effectLst/>
                <a:latin typeface="Calibri" panose="020F0502020204030204" pitchFamily="34" charset="0"/>
                <a:ea typeface="+mn-ea"/>
                <a:cs typeface="+mn-cs"/>
              </a:rPr>
              <a:t>Image editing: </a:t>
            </a:r>
            <a:r>
              <a:rPr lang="en-US" b="0" i="0" dirty="0">
                <a:solidFill>
                  <a:srgbClr val="232B37"/>
                </a:solidFill>
                <a:effectLst/>
                <a:latin typeface="Calibri" panose="020F0502020204030204" pitchFamily="34" charset="0"/>
              </a:rPr>
              <a:t> Editing images using text inputs, and adjusting color scheme and layout</a:t>
            </a:r>
            <a:endParaRPr lang="en-US" kern="1200" baseline="0" dirty="0">
              <a:effectLst/>
              <a:latin typeface="Calibri" panose="020F0502020204030204" pitchFamily="34" charset="0"/>
              <a:ea typeface="+mn-ea"/>
              <a:cs typeface="+mn-cs"/>
            </a:endParaRPr>
          </a:p>
          <a:p>
            <a:pPr marL="171450" indent="-171450">
              <a:buFont typeface="Arial" panose="020B0604020202020204" pitchFamily="34" charset="0"/>
              <a:buChar char="•"/>
              <a:defRPr/>
            </a:pPr>
            <a:r>
              <a:rPr lang="en-US" kern="1200" baseline="0" dirty="0">
                <a:effectLst/>
                <a:latin typeface="Calibri" panose="020F0502020204030204" pitchFamily="34" charset="0"/>
                <a:ea typeface="+mn-ea"/>
                <a:cs typeface="+mn-cs"/>
              </a:rPr>
              <a:t>Video generation and editing: Creating </a:t>
            </a:r>
            <a:r>
              <a:rPr lang="en-US" b="0" i="0" dirty="0">
                <a:solidFill>
                  <a:srgbClr val="232B37"/>
                </a:solidFill>
                <a:effectLst/>
                <a:latin typeface="Calibri" panose="020F0502020204030204" pitchFamily="34" charset="0"/>
              </a:rPr>
              <a:t>high-quality video based on text and images provided as input </a:t>
            </a:r>
            <a:r>
              <a:rPr lang="en-US" b="0" i="0" kern="1200" baseline="0" dirty="0">
                <a:solidFill>
                  <a:srgbClr val="232B37"/>
                </a:solidFill>
                <a:effectLst/>
                <a:latin typeface="Calibri" panose="020F0502020204030204" pitchFamily="34" charset="0"/>
                <a:ea typeface="+mn-ea"/>
                <a:cs typeface="+mn-cs"/>
              </a:rPr>
              <a:t>Adjusting</a:t>
            </a:r>
            <a:r>
              <a:rPr lang="en-US" b="0" i="0" dirty="0">
                <a:solidFill>
                  <a:srgbClr val="232B37"/>
                </a:solidFill>
                <a:effectLst/>
                <a:latin typeface="Calibri" panose="020F0502020204030204" pitchFamily="34" charset="0"/>
              </a:rPr>
              <a:t> visual style and pacing, including camera motion, rotation, and zooming</a:t>
            </a:r>
          </a:p>
          <a:p>
            <a:pPr marL="171450" indent="-171450">
              <a:buFont typeface="Arial" panose="020B0604020202020204" pitchFamily="34" charset="0"/>
              <a:buChar char="•"/>
              <a:defRPr/>
            </a:pPr>
            <a:r>
              <a:rPr lang="en-US" b="0" i="0" kern="1200" baseline="0" dirty="0">
                <a:solidFill>
                  <a:srgbClr val="232B37"/>
                </a:solidFill>
                <a:effectLst/>
                <a:latin typeface="Calibri" panose="020F0502020204030204" pitchFamily="34" charset="0"/>
                <a:ea typeface="+mn-ea"/>
                <a:cs typeface="+mn-cs"/>
              </a:rPr>
              <a:t>Speech recognition: * Recognizing natural language speech could be considered a task of an understanding model when the result is text, however speech recognition could be classified as a creative content generation task when the output is either speech or annotation/augmented speech. Thus, sometimes a model could be classified as an understanding model, another model could be classified as a creative content generation model, however in some cases the distinction of understanding or creative content generation may be a property of the task</a:t>
            </a:r>
          </a:p>
          <a:p>
            <a:pPr marL="171450" indent="-171450">
              <a:buFont typeface="Arial" panose="020B0604020202020204" pitchFamily="34" charset="0"/>
              <a:buChar char="•"/>
              <a:defRPr/>
            </a:pPr>
            <a:r>
              <a:rPr lang="en-US" b="0" i="0" kern="1200" baseline="0" dirty="0">
                <a:solidFill>
                  <a:srgbClr val="232B37"/>
                </a:solidFill>
                <a:effectLst/>
                <a:latin typeface="Calibri" panose="020F0502020204030204" pitchFamily="34" charset="0"/>
                <a:ea typeface="+mn-ea"/>
                <a:cs typeface="+mn-cs"/>
              </a:rPr>
              <a:t>Speech synthesis: Creating natural language speech</a:t>
            </a:r>
            <a:endParaRPr lang="en-US" kern="1200" baseline="0" dirty="0">
              <a:effectLst/>
              <a:latin typeface="Calibri" panose="020F0502020204030204" pitchFamily="34" charset="0"/>
              <a:ea typeface="+mn-ea"/>
              <a:cs typeface="+mn-cs"/>
            </a:endParaRPr>
          </a:p>
        </p:txBody>
      </p:sp>
    </p:spTree>
    <p:extLst>
      <p:ext uri="{BB962C8B-B14F-4D97-AF65-F5344CB8AC3E}">
        <p14:creationId xmlns:p14="http://schemas.microsoft.com/office/powerpoint/2010/main" val="2307103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Image Placeholder 9">
            <a:extLst>
              <a:ext uri="{FF2B5EF4-FFF2-40B4-BE49-F238E27FC236}">
                <a16:creationId xmlns:a16="http://schemas.microsoft.com/office/drawing/2014/main" id="{BA4784EF-CB64-5D77-58B6-F4C12A236BF5}"/>
              </a:ext>
            </a:extLst>
          </p:cNvPr>
          <p:cNvSpPr>
            <a:spLocks noGrp="1" noRot="1" noChangeAspect="1"/>
          </p:cNvSpPr>
          <p:nvPr>
            <p:ph type="sldImg"/>
          </p:nvPr>
        </p:nvSpPr>
        <p:spPr>
          <a:xfrm>
            <a:off x="1143000" y="635000"/>
            <a:ext cx="5486400" cy="3087688"/>
          </a:xfrm>
        </p:spPr>
      </p:sp>
      <p:sp>
        <p:nvSpPr>
          <p:cNvPr id="3" name="Notes Placeholder 2"/>
          <p:cNvSpPr>
            <a:spLocks noGrp="1"/>
          </p:cNvSpPr>
          <p:nvPr>
            <p:ph type="body" idx="1"/>
          </p:nvPr>
        </p:nvSpPr>
        <p:spPr>
          <a:xfrm>
            <a:off x="317500" y="3810000"/>
            <a:ext cx="7112000" cy="4773168"/>
          </a:xfrm>
        </p:spPr>
        <p:txBody>
          <a:bodyPr/>
          <a:lstStyle/>
          <a:p>
            <a:pPr lvl="0"/>
            <a:r>
              <a:rPr lang="en-US" b="1" dirty="0">
                <a:latin typeface="Calibri" panose="020F0502020204030204" pitchFamily="34" charset="0"/>
                <a:ea typeface="Amazon Ember Display" panose="020F0603020204020204" pitchFamily="34" charset="0"/>
                <a:cs typeface="Amazon Ember Display" panose="020F0603020204020204" pitchFamily="34" charset="0"/>
              </a:rPr>
              <a:t>|Instructor notes</a:t>
            </a:r>
          </a:p>
          <a:p>
            <a:pPr lvl="0"/>
            <a:r>
              <a:rPr lang="en-US" b="1" dirty="0">
                <a:latin typeface="Calibri" panose="020F0502020204030204" pitchFamily="34" charset="0"/>
                <a:ea typeface="Amazon Ember Display" panose="020F0603020204020204" pitchFamily="34" charset="0"/>
                <a:cs typeface="Amazon Ember Display" panose="020F0603020204020204" pitchFamily="34" charset="0"/>
              </a:rPr>
              <a:t>| </a:t>
            </a:r>
            <a:r>
              <a:rPr lang="en-US" b="0" dirty="0">
                <a:latin typeface="Calibri" panose="020F0502020204030204" pitchFamily="34" charset="0"/>
                <a:ea typeface="Amazon Ember Display" panose="020F0603020204020204" pitchFamily="34" charset="0"/>
                <a:cs typeface="Amazon Ember Display" panose="020F0603020204020204" pitchFamily="34" charset="0"/>
              </a:rPr>
              <a:t>Don’t go into detail about use cases here. The intent is to highlight that generative AI can add value in lots of different types of applications. </a:t>
            </a:r>
            <a:endParaRPr lang="en-US" b="1" dirty="0">
              <a:latin typeface="Calibri" panose="020F0502020204030204" pitchFamily="34" charset="0"/>
              <a:ea typeface="Amazon Ember Display" panose="020F0603020204020204" pitchFamily="34" charset="0"/>
              <a:cs typeface="Amazon Ember Display" panose="020F0603020204020204" pitchFamily="34" charset="0"/>
            </a:endParaRPr>
          </a:p>
          <a:p>
            <a:pPr lvl="0"/>
            <a:r>
              <a:rPr lang="en-US" b="1" dirty="0">
                <a:latin typeface="Calibri" panose="020F0502020204030204" pitchFamily="34" charset="0"/>
                <a:ea typeface="Amazon Ember Display" panose="020F0603020204020204" pitchFamily="34" charset="0"/>
                <a:cs typeface="Amazon Ember Display" panose="020F0603020204020204" pitchFamily="34" charset="0"/>
              </a:rPr>
              <a:t>|Student notes</a:t>
            </a:r>
          </a:p>
          <a:p>
            <a:r>
              <a:rPr lang="en-US" b="0" dirty="0">
                <a:latin typeface="Calibri" panose="020F0502020204030204" pitchFamily="34" charset="0"/>
              </a:rPr>
              <a:t>Generative AI creates business impact across four main areas: customer experience, employee productivity, creativity and content, and business operations. You can apply these capabilities for chat, virtual assistants, search, image processing, and document processing to enhance efficiency, streamline processes, reduce costs, and unlock new revenue streams.</a:t>
            </a:r>
            <a:endParaRPr lang="en-US" b="0" strike="sngStrike" dirty="0">
              <a:latin typeface="Calibri" panose="020F0502020204030204" pitchFamily="34" charset="0"/>
              <a:ea typeface="Amazon Ember Display" panose="020F0603020204020204" pitchFamily="34" charset="0"/>
              <a:cs typeface="Amazon Ember Display" panose="020F0603020204020204" pitchFamily="34" charset="0"/>
            </a:endParaRPr>
          </a:p>
          <a:p>
            <a:br>
              <a:rPr lang="en-US" dirty="0">
                <a:latin typeface="Calibri" panose="020F0502020204030204" pitchFamily="34" charset="0"/>
                <a:ea typeface="Amazon Ember Display" panose="020F0603020204020204" pitchFamily="34" charset="0"/>
                <a:cs typeface="Amazon Ember Display" panose="020F0603020204020204" pitchFamily="34" charset="0"/>
              </a:rPr>
            </a:br>
            <a:r>
              <a:rPr lang="en-US" dirty="0">
                <a:latin typeface="Calibri" panose="020F0502020204030204" pitchFamily="34" charset="0"/>
                <a:ea typeface="Amazon Ember Display" panose="020F0603020204020204" pitchFamily="34" charset="0"/>
                <a:cs typeface="Amazon Ember Display" panose="020F0603020204020204" pitchFamily="34" charset="0"/>
              </a:rPr>
              <a:t>You can apply generative AI across all lines of business, including engineering, marketing, customer service, finance, and sales. You can also apply it to many use cases, from text summarization to image generation.</a:t>
            </a: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r>
              <a:rPr lang="en-US" dirty="0">
                <a:latin typeface="Calibri" panose="020F0502020204030204" pitchFamily="34" charset="0"/>
                <a:ea typeface="Amazon Ember Display" panose="020F0603020204020204" pitchFamily="34" charset="0"/>
                <a:cs typeface="Amazon Ember Display" panose="020F0603020204020204" pitchFamily="34" charset="0"/>
              </a:rPr>
              <a:t>The following are common areas where generative AI adds business value:</a:t>
            </a:r>
          </a:p>
          <a:p>
            <a:pPr marL="171450" indent="-171450">
              <a:buFont typeface="Arial" panose="020B0604020202020204" pitchFamily="34" charset="0"/>
              <a:buChar cha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Improve customer experience: </a:t>
            </a:r>
            <a:r>
              <a:rPr lang="en-US" dirty="0">
                <a:latin typeface="Calibri" panose="020F0502020204030204" pitchFamily="34" charset="0"/>
                <a:ea typeface="Amazon Ember Display" panose="020F0603020204020204" pitchFamily="34" charset="0"/>
                <a:cs typeface="Amazon Ember Display" panose="020F0603020204020204" pitchFamily="34" charset="0"/>
              </a:rPr>
              <a:t>You can use generative AI as chatbots, virtual assistants, intelligent contact centers, personalization, and content moderation. </a:t>
            </a:r>
            <a:endParaRPr lang="en-US" strike="sngStrike" dirty="0">
              <a:latin typeface="Calibri" panose="020F0502020204030204" pitchFamily="34" charset="0"/>
              <a:ea typeface="Amazon Ember Display" panose="020F0603020204020204" pitchFamily="34" charset="0"/>
              <a:cs typeface="Amazon Ember Display" panose="020F0603020204020204" pitchFamily="34" charset="0"/>
            </a:endParaRPr>
          </a:p>
          <a:p>
            <a:pPr marL="171450" indent="-171450">
              <a:buFont typeface="Arial" panose="020B0604020202020204" pitchFamily="34" charset="0"/>
              <a:buChar cha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Boost employee productivity: </a:t>
            </a:r>
            <a:r>
              <a:rPr lang="en-US" strike="noStrike" dirty="0">
                <a:latin typeface="Calibri" panose="020F0502020204030204" pitchFamily="34" charset="0"/>
                <a:ea typeface="Amazon Ember Display" panose="020F0603020204020204" pitchFamily="34" charset="0"/>
                <a:cs typeface="Amazon Ember Display" panose="020F0603020204020204" pitchFamily="34" charset="0"/>
              </a:rPr>
              <a:t>You can boost your employees’ productivity with </a:t>
            </a:r>
            <a:r>
              <a:rPr lang="en-US" dirty="0">
                <a:latin typeface="Calibri" panose="020F0502020204030204" pitchFamily="34" charset="0"/>
                <a:ea typeface="Amazon Ember Display" panose="020F0603020204020204" pitchFamily="34" charset="0"/>
                <a:cs typeface="Amazon Ember Display" panose="020F0603020204020204" pitchFamily="34" charset="0"/>
              </a:rPr>
              <a:t>generative AI-powered conversational search, content creation, text summarization, and code generation.</a:t>
            </a:r>
            <a:r>
              <a:rPr lang="en-US" strike="noStrike" dirty="0">
                <a:latin typeface="Calibri" panose="020F0502020204030204" pitchFamily="34" charset="0"/>
                <a:ea typeface="Amazon Ember Display" panose="020F0603020204020204" pitchFamily="34" charset="0"/>
                <a:cs typeface="Amazon Ember Display" panose="020F0603020204020204" pitchFamily="34" charset="0"/>
              </a:rPr>
              <a:t> </a:t>
            </a:r>
            <a:r>
              <a:rPr lang="en-US" dirty="0">
                <a:latin typeface="Calibri" panose="020F0502020204030204" pitchFamily="34" charset="0"/>
                <a:ea typeface="Amazon Ember Display" panose="020F0603020204020204" pitchFamily="34" charset="0"/>
                <a:cs typeface="Amazon Ember Display" panose="020F0603020204020204" pitchFamily="34" charset="0"/>
              </a:rPr>
              <a:t>Amazon QuickSight uses the power of generative AI to generate, customize, and share </a:t>
            </a:r>
            <a:r>
              <a:rPr lang="en-US" strike="noStrike" dirty="0">
                <a:latin typeface="Calibri" panose="020F0502020204030204" pitchFamily="34" charset="0"/>
                <a:ea typeface="Amazon Ember Display" panose="020F0603020204020204" pitchFamily="34" charset="0"/>
                <a:cs typeface="Amazon Ember Display" panose="020F0603020204020204" pitchFamily="34" charset="0"/>
              </a:rPr>
              <a:t>reports </a:t>
            </a:r>
            <a:r>
              <a:rPr lang="en-US" dirty="0">
                <a:latin typeface="Calibri" panose="020F0502020204030204" pitchFamily="34" charset="0"/>
                <a:ea typeface="Amazon Ember Display" panose="020F0603020204020204" pitchFamily="34" charset="0"/>
                <a:cs typeface="Amazon Ember Display" panose="020F0603020204020204" pitchFamily="34" charset="0"/>
              </a:rPr>
              <a:t>using natural language prompts, thereby increasing business user productivity. </a:t>
            </a:r>
          </a:p>
          <a:p>
            <a:pPr marL="171450" indent="-171450">
              <a:buFont typeface="Arial" panose="020B0604020202020204" pitchFamily="34" charset="0"/>
              <a:buChar cha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Increase creativity: </a:t>
            </a:r>
            <a:r>
              <a:rPr lang="en-US" dirty="0">
                <a:latin typeface="Calibri" panose="020F0502020204030204" pitchFamily="34" charset="0"/>
                <a:ea typeface="Amazon Ember Display" panose="020F0603020204020204" pitchFamily="34" charset="0"/>
                <a:cs typeface="Amazon Ember Display" panose="020F0603020204020204" pitchFamily="34" charset="0"/>
              </a:rPr>
              <a:t>Use generative AI to accelerate production of creative content, from art and music to text, images, animations, and video.</a:t>
            </a:r>
          </a:p>
          <a:p>
            <a:pPr marL="171450" indent="-171450">
              <a:buFont typeface="Arial" panose="020B0604020202020204" pitchFamily="34" charset="0"/>
              <a:buChar cha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Improve business operations:  </a:t>
            </a:r>
            <a:r>
              <a:rPr lang="en-US" b="0" dirty="0">
                <a:latin typeface="Calibri" panose="020F0502020204030204" pitchFamily="34" charset="0"/>
                <a:ea typeface="Amazon Ember Display" panose="020F0603020204020204" pitchFamily="34" charset="0"/>
                <a:cs typeface="Amazon Ember Display" panose="020F0603020204020204" pitchFamily="34" charset="0"/>
              </a:rPr>
              <a:t>U</a:t>
            </a:r>
            <a:r>
              <a:rPr lang="en-US" dirty="0">
                <a:latin typeface="Calibri" panose="020F0502020204030204" pitchFamily="34" charset="0"/>
                <a:ea typeface="Amazon Ember Display" panose="020F0603020204020204" pitchFamily="34" charset="0"/>
                <a:cs typeface="Amazon Ember Display" panose="020F0603020204020204" pitchFamily="34" charset="0"/>
              </a:rPr>
              <a:t>se generative AI to improve business operations with intelligent document processing, maintenance assistants, quality control and visual inspection, and generating synthetic training data.</a:t>
            </a:r>
          </a:p>
          <a:p>
            <a:pPr marL="0" marR="0" lvl="0" indent="0" defTabSz="914400" rtl="0" eaLnBrk="1" fontAlgn="auto" latinLnBrk="0" hangingPunct="1">
              <a:buClrTx/>
              <a:buSzTx/>
              <a:buFont typeface="Arial" panose="020B0604020202020204" pitchFamily="34" charset="0"/>
              <a:buNone/>
              <a:tabLst/>
              <a:defRPr/>
            </a:pPr>
            <a:endPar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For more information about generative AI use cases, see Generative AI use cases at </a:t>
            </a:r>
            <a:r>
              <a:rPr lang="en-US" dirty="0">
                <a:latin typeface="Calibri" panose="020F0502020204030204" pitchFamily="34" charset="0"/>
                <a:hlinkClick r:id="rId3"/>
              </a:rPr>
              <a:t>https://aws.amazon.com/ai/generative-ai/use-cases</a:t>
            </a:r>
            <a:r>
              <a:rPr lang="en-US" dirty="0">
                <a:latin typeface="Calibri" panose="020F0502020204030204" pitchFamily="34" charset="0"/>
                <a:ea typeface="Amazon Ember Display" panose="020F0603020204020204" pitchFamily="34" charset="0"/>
                <a:cs typeface="Amazon Ember Display" panose="020F0603020204020204" pitchFamily="34" charset="0"/>
              </a:rPr>
              <a:t>.</a:t>
            </a:r>
            <a:endPar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endParaRPr>
          </a:p>
          <a:p>
            <a:pPr marL="0" indent="0">
              <a:buFontTx/>
              <a:buNone/>
            </a:pP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0" indent="0">
              <a:buFontTx/>
              <a:buNone/>
            </a:pPr>
            <a:endParaRPr lang="en-US" dirty="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3048689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E5392-9B26-80B6-FB9D-2023DD1A2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B9A5AB-364E-4D92-5CF5-1AC66A58FC3A}"/>
              </a:ext>
            </a:extLst>
          </p:cNvPr>
          <p:cNvSpPr>
            <a:spLocks noGrp="1" noRot="1" noChangeAspect="1"/>
          </p:cNvSpPr>
          <p:nvPr>
            <p:ph type="sldImg"/>
          </p:nvPr>
        </p:nvSpPr>
        <p:spPr>
          <a:xfrm>
            <a:off x="1143000" y="635000"/>
            <a:ext cx="5486400" cy="3087688"/>
          </a:xfrm>
        </p:spPr>
      </p:sp>
      <p:sp>
        <p:nvSpPr>
          <p:cNvPr id="3" name="Notes Placeholder 2">
            <a:extLst>
              <a:ext uri="{FF2B5EF4-FFF2-40B4-BE49-F238E27FC236}">
                <a16:creationId xmlns:a16="http://schemas.microsoft.com/office/drawing/2014/main" id="{2B3ECB2C-7A79-3D02-1A40-2AE949251ED3}"/>
              </a:ext>
            </a:extLst>
          </p:cNvPr>
          <p:cNvSpPr>
            <a:spLocks noGrp="1"/>
          </p:cNvSpPr>
          <p:nvPr>
            <p:ph type="body" idx="1"/>
          </p:nvPr>
        </p:nvSpPr>
        <p:spPr>
          <a:xfrm>
            <a:off x="317500" y="3810000"/>
            <a:ext cx="7112000" cy="4773168"/>
          </a:xfrm>
        </p:spPr>
        <p:txBody>
          <a:bodyPr/>
          <a:lstStyle/>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|Student notes</a:t>
            </a: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This section provides an overview of how AWS helps with generative AI projects and demonstrates how to get started with Amazon Bedrock.</a:t>
            </a: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15576481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tabLst/>
              <a:defRPr/>
            </a:pPr>
            <a:r>
              <a:rPr lang="en-US" b="1" dirty="0">
                <a:solidFill>
                  <a:srgbClr val="000000"/>
                </a:solidFill>
                <a:latin typeface="Calibri" panose="020F0502020204030204" pitchFamily="34" charset="0"/>
              </a:rPr>
              <a:t>|Instructor notes</a:t>
            </a:r>
          </a:p>
          <a:p>
            <a:pPr marL="171450" lvl="0" indent="-171450">
              <a:buSzPct val="100000"/>
              <a:buFont typeface="Arial" panose="020B0604020202020204" pitchFamily="34" charset="0"/>
              <a:buChar char="•"/>
              <a:defRPr/>
            </a:pPr>
            <a:r>
              <a:rPr lang="en-US" kern="1200" dirty="0">
                <a:solidFill>
                  <a:srgbClr val="000000"/>
                </a:solidFill>
                <a:latin typeface="Calibri" panose="020F0502020204030204" pitchFamily="34" charset="0"/>
                <a:ea typeface="+mn-ea"/>
                <a:cs typeface="+mn-cs"/>
              </a:rPr>
              <a:t>|Highlight other AWS AI services that are purpose-built. Do not attempt to describe each of these services. Highlight one or two as examples and direct the students to the webpage to learn more</a:t>
            </a:r>
            <a:r>
              <a:rPr lang="en-US" dirty="0">
                <a:solidFill>
                  <a:srgbClr val="000000"/>
                </a:solidFill>
                <a:latin typeface="Calibri" panose="020F0502020204030204" pitchFamily="34" charset="0"/>
              </a:rPr>
              <a:t>. The point is to consider each use case and decide if generative AI is the right fit and if there is a tool that would provide what you need with lesser cost and complexity. </a:t>
            </a:r>
            <a:endParaRPr lang="en-US" kern="1200" dirty="0">
              <a:solidFill>
                <a:srgbClr val="000000"/>
              </a:solidFill>
              <a:latin typeface="Calibri" panose="020F0502020204030204" pitchFamily="34" charset="0"/>
              <a:ea typeface="+mn-ea"/>
              <a:cs typeface="+mn-cs"/>
            </a:endParaRPr>
          </a:p>
          <a:p>
            <a:pPr marL="0" marR="0" lvl="0" indent="0" defTabSz="914400" rtl="0" eaLnBrk="1" fontAlgn="auto" latinLnBrk="0" hangingPunct="1">
              <a:buClrTx/>
              <a:buSzTx/>
              <a:tabLst/>
              <a:defRPr/>
            </a:pPr>
            <a:r>
              <a:rPr lang="en-US" dirty="0">
                <a:solidFill>
                  <a:srgbClr val="000000"/>
                </a:solidFill>
                <a:latin typeface="Calibri" panose="020F0502020204030204" pitchFamily="34" charset="0"/>
              </a:rPr>
              <a:t>|</a:t>
            </a:r>
          </a:p>
          <a:p>
            <a:pPr marL="0" marR="0" lvl="0" indent="0" defTabSz="914400" rtl="0" eaLnBrk="1" fontAlgn="auto" latinLnBrk="0" hangingPunct="1">
              <a:buClrTx/>
              <a:buSzTx/>
              <a:buFontTx/>
              <a:buNone/>
              <a:tabLst/>
              <a:defRPr/>
            </a:pPr>
            <a:r>
              <a:rPr lang="en-US" b="1" dirty="0">
                <a:latin typeface="Calibri" panose="020F0502020204030204" pitchFamily="34" charset="0"/>
              </a:rPr>
              <a:t>|Student notes</a:t>
            </a:r>
          </a:p>
          <a:p>
            <a:pPr marL="0" marR="0" lvl="0" indent="0" defTabSz="914400" rtl="0" eaLnBrk="1" fontAlgn="auto" latinLnBrk="0" hangingPunct="1">
              <a:buClrTx/>
              <a:buSzTx/>
              <a:tabLst/>
              <a:defRPr/>
            </a:pPr>
            <a:r>
              <a:rPr lang="en-US" dirty="0">
                <a:solidFill>
                  <a:srgbClr val="000000"/>
                </a:solidFill>
                <a:latin typeface="Calibri" panose="020F0502020204030204" pitchFamily="34" charset="0"/>
              </a:rPr>
              <a:t>Amazon offers a comprehensive suite of AI services designed to handle different types of data, such as vision, speech, and text. Each category addresses specific use cases while maintaining integration capabilities with other AWS services. This helps you to use them as tools for building AI based applications.</a:t>
            </a:r>
          </a:p>
          <a:p>
            <a:pPr marL="0" marR="0" lvl="0" indent="0" defTabSz="914400" rtl="0" eaLnBrk="1" fontAlgn="auto" latinLnBrk="0" hangingPunct="1">
              <a:buClrTx/>
              <a:buSzTx/>
              <a:tabLst/>
              <a:defRPr/>
            </a:pPr>
            <a:endParaRPr lang="en-US" dirty="0">
              <a:solidFill>
                <a:srgbClr val="000000"/>
              </a:solidFill>
              <a:latin typeface="Calibri" panose="020F0502020204030204" pitchFamily="34" charset="0"/>
            </a:endParaRPr>
          </a:p>
          <a:p>
            <a:pPr marL="0" marR="0" lvl="0" indent="0" defTabSz="914400" rtl="0" eaLnBrk="1" fontAlgn="auto" latinLnBrk="0" hangingPunct="1">
              <a:buClrTx/>
              <a:buSzTx/>
              <a:tabLst/>
              <a:defRPr/>
            </a:pPr>
            <a:r>
              <a:rPr lang="en-US" dirty="0">
                <a:solidFill>
                  <a:srgbClr val="000000"/>
                </a:solidFill>
                <a:latin typeface="Calibri" panose="020F0502020204030204" pitchFamily="34" charset="0"/>
              </a:rPr>
              <a:t>These pre-built solutions help you enhance customer experiences, improve operational efficiency, and create new AI-powered applications without the need to build custom ML models from scratch. By using these services, you can quickly implement AI capabilities tailored to specific business use cases, accelerating innovation and digital transformation efforts.</a:t>
            </a:r>
          </a:p>
          <a:p>
            <a:pPr marL="0" marR="0" lvl="0" indent="0" defTabSz="914400" rtl="0" eaLnBrk="1" fontAlgn="auto" latinLnBrk="0" hangingPunct="1">
              <a:buClrTx/>
              <a:buSzTx/>
              <a:tabLst/>
              <a:defRPr/>
            </a:pPr>
            <a:endParaRPr lang="en-US" dirty="0">
              <a:solidFill>
                <a:srgbClr val="000000"/>
              </a:solidFill>
              <a:latin typeface="Calibri" panose="020F0502020204030204" pitchFamily="34" charset="0"/>
            </a:endParaRPr>
          </a:p>
          <a:p>
            <a:pPr>
              <a:defRPr/>
            </a:pPr>
            <a:r>
              <a:rPr lang="en-US" dirty="0">
                <a:solidFill>
                  <a:srgbClr val="000000"/>
                </a:solidFill>
                <a:latin typeface="Calibri" panose="020F0502020204030204" pitchFamily="34" charset="0"/>
              </a:rPr>
              <a:t>For more information, see AI Services at </a:t>
            </a:r>
            <a:r>
              <a:rPr lang="en-US" dirty="0">
                <a:solidFill>
                  <a:srgbClr val="000000"/>
                </a:solidFill>
                <a:latin typeface="Calibri" panose="020F0502020204030204" pitchFamily="34" charset="0"/>
                <a:hlinkClick r:id="rId3"/>
              </a:rPr>
              <a:t>https://aws.amazon.com/ai/services</a:t>
            </a:r>
            <a:r>
              <a:rPr lang="en-US" dirty="0">
                <a:solidFill>
                  <a:srgbClr val="000000"/>
                </a:solidFill>
                <a:latin typeface="Calibri" panose="020F0502020204030204" pitchFamily="34" charset="0"/>
              </a:rPr>
              <a:t>. </a:t>
            </a:r>
            <a:endParaRPr lang="en-US" dirty="0">
              <a:latin typeface="Calibri" panose="020F0502020204030204" pitchFamily="34" charset="0"/>
            </a:endParaRPr>
          </a:p>
          <a:p>
            <a:pPr lvl="0">
              <a:defRPr/>
            </a:pPr>
            <a:endParaRPr lang="en-US"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008745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7688"/>
          </a:xfrm>
        </p:spPr>
      </p:sp>
      <p:sp>
        <p:nvSpPr>
          <p:cNvPr id="3" name="Notes Placeholder 2"/>
          <p:cNvSpPr>
            <a:spLocks noGrp="1"/>
          </p:cNvSpPr>
          <p:nvPr>
            <p:ph type="body" idx="1"/>
          </p:nvPr>
        </p:nvSpPr>
        <p:spPr>
          <a:xfrm>
            <a:off x="317500" y="3810000"/>
            <a:ext cx="7112000" cy="4773168"/>
          </a:xfrm>
        </p:spPr>
        <p:txBody>
          <a:bodyPr/>
          <a:lstStyle/>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|Instructor notes</a:t>
            </a:r>
          </a:p>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a:t>
            </a:r>
            <a:r>
              <a:rPr lang="en-US" b="0" dirty="0">
                <a:latin typeface="Calibri" panose="020F0502020204030204" pitchFamily="34" charset="0"/>
                <a:ea typeface="Amazon Ember Display" panose="020F0603020204020204" pitchFamily="34" charset="0"/>
                <a:cs typeface="Amazon Ember Display" panose="020F0603020204020204" pitchFamily="34" charset="0"/>
              </a:rPr>
              <a:t>Use this slide to touch on services that the course does not focus on without going deep. Do not cover details of any of the services while on this slide. For Amazon SageMaker AI, be sure to mention its uses for full lifecycle ML in addition to SageMaker Jumpstart for foundation models and the Unified Studio which </a:t>
            </a:r>
            <a:r>
              <a:rPr lang="en-US" dirty="0">
                <a:latin typeface="Calibri" panose="020F0502020204030204" pitchFamily="34" charset="0"/>
              </a:rPr>
              <a:t>brings together the functionality and tools from existing AWS Analytics and AI/ML services including Amazon Bedrock. Encourage students to use the links provided to go deeper on any of these topics but avoid starting to teach any of the services here. </a:t>
            </a:r>
          </a:p>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|Note: As of this writing in August 2025, Kiro is still in preview. </a:t>
            </a:r>
          </a:p>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a:t>
            </a:r>
          </a:p>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|Student notes</a:t>
            </a:r>
          </a:p>
          <a:p>
            <a:pPr marL="0" marR="0" lvl="0" indent="0" defTabSz="914400" rtl="0" eaLnBrk="1" fontAlgn="auto" latinLnBrk="0" hangingPunct="1">
              <a:buClrTx/>
              <a:buSzTx/>
              <a:buFontTx/>
              <a:buNone/>
              <a:tabLst/>
              <a:defRPr/>
            </a:pP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Use services across the generative AI stack to meet different generative AI needs and use cases.  </a:t>
            </a: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 typeface="Arial" panose="020B0604020202020204" pitchFamily="34" charset="0"/>
              <a:buNone/>
              <a:tabLst/>
              <a:defRPr/>
            </a:pPr>
            <a:endParaRPr lang="en-US" b="1" dirty="0">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 typeface="Arial" panose="020B0604020202020204" pitchFamily="34" charset="0"/>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Generative AI applications to boost productivity</a:t>
            </a: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The top layer includes Amazon Q and Kiro. Amazon Q is a generative AI assistant that includes the following services: </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Amazon Q Business helps roles including business intelligence analysts, contact center employees, and supply chain analysts to get insights into their data and accelerate their tasks using generative AI. </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Amazon Q Developer is a generative AI assistant that helps software developers, and anyone building with AWS, to ask questions and generate code.  </a:t>
            </a:r>
          </a:p>
          <a:p>
            <a:pPr marL="0" marR="0" lvl="0" indent="0" defTabSz="914400" rtl="0" eaLnBrk="1" fontAlgn="auto" latinLnBrk="0" hangingPunct="1">
              <a:buClrTx/>
              <a:buSzTx/>
              <a:buFont typeface="Arial" panose="020B0604020202020204" pitchFamily="34" charset="0"/>
              <a:buNone/>
              <a:tabLst/>
              <a:defRPr/>
            </a:pP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Kiro is an agentic IDE that helps you deliver from concept to production through a streamlined developer experience for working with AI agents. The strength of Kiro comes from getting prototypes into production systems with features such as specs and hooks. Kiro specs are artifacts that prove useful anytime you need to think through a feature in-depth, refactor work that needs upfront planning, or when you want to understand the behavior of systems. Kiro hooks act like an experienced developer catching things you miss or completing boilerplate tasks in the background as you work.</a:t>
            </a:r>
          </a:p>
          <a:p>
            <a:pPr marL="0" marR="0" lvl="0" indent="0" defTabSz="914400" rtl="0" eaLnBrk="1" fontAlgn="auto" latinLnBrk="0" hangingPunct="1">
              <a:buClrTx/>
              <a:buSzTx/>
              <a:buFont typeface="Arial" panose="020B0604020202020204" pitchFamily="34" charset="0"/>
              <a:buNone/>
              <a:tabLst/>
              <a:defRPr/>
            </a:pPr>
            <a:br>
              <a:rPr lang="en-US" b="1" dirty="0">
                <a:latin typeface="Calibri" panose="020F0502020204030204" pitchFamily="34" charset="0"/>
                <a:ea typeface="Amazon Ember Display" panose="020F0603020204020204" pitchFamily="34" charset="0"/>
                <a:cs typeface="Amazon Ember Display" panose="020F0603020204020204" pitchFamily="34" charset="0"/>
              </a:rPr>
            </a:br>
            <a:r>
              <a:rPr lang="en-US" b="1" dirty="0">
                <a:latin typeface="Calibri" panose="020F0502020204030204" pitchFamily="34" charset="0"/>
                <a:ea typeface="Amazon Ember Display" panose="020F0603020204020204" pitchFamily="34" charset="0"/>
                <a:cs typeface="Amazon Ember Display" panose="020F0603020204020204" pitchFamily="34" charset="0"/>
              </a:rPr>
              <a:t>Models and tools to build generative AI applications</a:t>
            </a: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The middle layer provides foundation models as a service through Amazon Bedrock. Amazon Bedrock provides access to LLMs and other FMs. This service is the focus of this course. This layer also includes Amazon Bedrock AgentCore. Bedrock AgentCore provides a set of enterprise-grade services that help developers quickly and securely deploy and operate AI agents at scale with any framework and model.</a:t>
            </a:r>
          </a:p>
          <a:p>
            <a:pPr marL="0" marR="0" lvl="0" indent="0" defTabSz="914400" rtl="0" eaLnBrk="1" fontAlgn="auto" latinLnBrk="0" hangingPunct="1">
              <a:buClrTx/>
              <a:buSzTx/>
              <a:buFont typeface="Arial" panose="020B0604020202020204" pitchFamily="34" charset="0"/>
              <a:buNone/>
              <a:tabLst/>
              <a:defRPr/>
            </a:pP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 typeface="Arial" panose="020B0604020202020204" pitchFamily="34" charset="0"/>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Infrastructure to build and train AI models</a:t>
            </a: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This layer includes Amazon SageMaker AI, </a:t>
            </a:r>
            <a:r>
              <a:rPr lang="en-US" dirty="0">
                <a:solidFill>
                  <a:srgbClr val="000000"/>
                </a:solidFill>
                <a:latin typeface="Calibri" panose="020F0502020204030204" pitchFamily="34" charset="0"/>
              </a:rPr>
              <a:t>an ML service designed to streamline the entire ML lifecycle. </a:t>
            </a:r>
            <a:r>
              <a:rPr lang="en-US" dirty="0">
                <a:latin typeface="Calibri" panose="020F0502020204030204" pitchFamily="34" charset="0"/>
                <a:ea typeface="Amazon Ember Display" panose="020F0603020204020204" pitchFamily="34" charset="0"/>
                <a:cs typeface="Amazon Ember Display" panose="020F0603020204020204" pitchFamily="34" charset="0"/>
              </a:rPr>
              <a:t>Amazon SageMaker JumpStart is an ML hub for evaluating, comparing, and selecting pre-trained FMs. Amazon SageMaker AI also includes Amazon SageMaker Unified Studio, a single data and AI development environment that brings together the functionality and tools from existing AWS analytics and AI/ML services, including Amazon Bedrock. </a:t>
            </a:r>
            <a:r>
              <a:rPr lang="en-US" dirty="0">
                <a:latin typeface="Calibri" panose="020F0502020204030204" pitchFamily="34" charset="0"/>
              </a:rPr>
              <a:t>For a complete list of SageMaker AI features and services, see the SageMaker AI documentation at </a:t>
            </a:r>
            <a:r>
              <a:rPr lang="en-US" dirty="0">
                <a:latin typeface="Calibri" panose="020F0502020204030204" pitchFamily="34" charset="0"/>
                <a:hlinkClick r:id="rId3"/>
              </a:rPr>
              <a:t>https://docs.aws.amazon.com/sagemaker/latest/dg/whatis.html</a:t>
            </a:r>
            <a:r>
              <a:rPr lang="en-US" dirty="0">
                <a:latin typeface="Calibri" panose="020F0502020204030204" pitchFamily="34" charset="0"/>
              </a:rPr>
              <a:t>. </a:t>
            </a:r>
          </a:p>
          <a:p>
            <a:pPr marL="0" marR="0" lvl="0" indent="0" defTabSz="914400" rtl="0" eaLnBrk="1" fontAlgn="auto" latinLnBrk="0" hangingPunct="1">
              <a:buClrTx/>
              <a:buSzTx/>
              <a:buFont typeface="Arial" panose="020B0604020202020204" pitchFamily="34" charset="0"/>
              <a:buNone/>
              <a:tabLst/>
              <a:defRPr/>
            </a:pP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The infrastructure layer also includes compute with AWS Trainium, AWS Inferentia, and graphics processing units (GPUs), which provide specialized hardware and instances optimized for ML workloads.</a:t>
            </a: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To learn more about these generative AI components, see Welcome to a New Era of Building in the Cloud with Generative AI on AWS at </a:t>
            </a:r>
            <a:r>
              <a:rPr lang="en-US" dirty="0">
                <a:latin typeface="Calibri" panose="020F0502020204030204" pitchFamily="34" charset="0"/>
                <a:ea typeface="Amazon Ember Display" panose="020F0603020204020204" pitchFamily="34" charset="0"/>
                <a:cs typeface="Amazon Ember Display" panose="020F0603020204020204" pitchFamily="34" charset="0"/>
                <a:hlinkClick r:id="rId4"/>
              </a:rPr>
              <a:t>https://aws.amazon.com/blogs/machine-learning/welcome-to-a-new-era-of-building-in-the-cloud-with-generative-ai-on-aws</a:t>
            </a:r>
            <a:r>
              <a:rPr lang="en-US" dirty="0">
                <a:latin typeface="Calibri" panose="020F0502020204030204" pitchFamily="34" charset="0"/>
                <a:ea typeface="Amazon Ember Display" panose="020F0603020204020204" pitchFamily="34" charset="0"/>
                <a:cs typeface="Amazon Ember Display" panose="020F0603020204020204" pitchFamily="34" charset="0"/>
              </a:rPr>
              <a:t>.</a:t>
            </a:r>
          </a:p>
          <a:p>
            <a:pPr marL="0" marR="0" lvl="0" indent="0" defTabSz="914400" rtl="0" eaLnBrk="1" fontAlgn="auto" latinLnBrk="0" hangingPunct="1">
              <a:buClrTx/>
              <a:buSzTx/>
              <a:buFontTx/>
              <a:buNone/>
              <a:tabLst/>
              <a:defRPr/>
            </a:pP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4126702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87248701-EB12-6400-94C9-5E424615B236}"/>
              </a:ext>
            </a:extLst>
          </p:cNvPr>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dirty="0">
                <a:latin typeface="Calibri" panose="020F0502020204030204" pitchFamily="34" charset="0"/>
              </a:rPr>
              <a:t>|Instructor notes</a:t>
            </a:r>
          </a:p>
          <a:p>
            <a:r>
              <a:rPr lang="en-US" b="1" dirty="0">
                <a:latin typeface="Calibri" panose="020F0502020204030204" pitchFamily="34" charset="0"/>
              </a:rPr>
              <a:t>|</a:t>
            </a:r>
            <a:r>
              <a:rPr lang="en-US" b="0" dirty="0">
                <a:latin typeface="Calibri" panose="020F0502020204030204" pitchFamily="34" charset="0"/>
              </a:rPr>
              <a:t>Consider </a:t>
            </a:r>
            <a:r>
              <a:rPr lang="en-US" dirty="0">
                <a:latin typeface="Calibri" panose="020F0502020204030204" pitchFamily="34" charset="0"/>
              </a:rPr>
              <a:t>demonstrating Amazon Bedrock Model Access and Model Catalog or ask the group what providers they are using or interested in and show them in the catalog or the playground. </a:t>
            </a:r>
            <a:endParaRPr lang="en-US" b="1" dirty="0">
              <a:latin typeface="Calibri" panose="020F0502020204030204" pitchFamily="34" charset="0"/>
            </a:endParaRP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Amazon Bedrock makes hundreds of foundation models available through an API. Amazon Bedrock offers a variety of foundation models from Amazon and leading AI companies like AI21 Labs, Anthropic, and Stability AI. This allows you to choose the best model for your specific use case. With Amazon Bedrock, you can efficiently build with FMs, securely build generative AI applications, and deliver customized experiences using your organization’s data. </a:t>
            </a:r>
            <a:r>
              <a:rPr lang="en-US" dirty="0">
                <a:latin typeface="Calibri" panose="020F0502020204030204" pitchFamily="34" charset="0"/>
                <a:ea typeface="Amazon Ember Display" panose="020F0603020204020204" pitchFamily="34" charset="0"/>
                <a:cs typeface="Amazon Ember Display" panose="020F0603020204020204" pitchFamily="34" charset="0"/>
              </a:rPr>
              <a:t>For information on the latest list of supported providers and model versions, see the </a:t>
            </a:r>
            <a:r>
              <a:rPr lang="en-US" i="0" dirty="0">
                <a:latin typeface="Calibri" panose="020F0502020204030204" pitchFamily="34" charset="0"/>
                <a:ea typeface="Amazon Ember Display" panose="020F0603020204020204" pitchFamily="34" charset="0"/>
                <a:cs typeface="Amazon Ember Display" panose="020F0603020204020204" pitchFamily="34" charset="0"/>
              </a:rPr>
              <a:t>Amazon Bedrock User Guide</a:t>
            </a:r>
            <a:r>
              <a:rPr lang="en-US" i="1" dirty="0">
                <a:latin typeface="Calibri" panose="020F0502020204030204" pitchFamily="34" charset="0"/>
                <a:ea typeface="Amazon Ember Display" panose="020F0603020204020204" pitchFamily="34" charset="0"/>
                <a:cs typeface="Amazon Ember Display" panose="020F0603020204020204" pitchFamily="34" charset="0"/>
              </a:rPr>
              <a:t> </a:t>
            </a:r>
            <a:r>
              <a:rPr lang="en-US" dirty="0">
                <a:latin typeface="Calibri" panose="020F0502020204030204" pitchFamily="34" charset="0"/>
                <a:ea typeface="Amazon Ember Display" panose="020F0603020204020204" pitchFamily="34" charset="0"/>
                <a:cs typeface="Amazon Ember Display" panose="020F0603020204020204" pitchFamily="34" charset="0"/>
              </a:rPr>
              <a:t>at </a:t>
            </a:r>
            <a:r>
              <a:rPr lang="en-US" dirty="0">
                <a:latin typeface="Calibri" panose="020F0502020204030204" pitchFamily="34" charset="0"/>
                <a:ea typeface="Amazon Ember Display" panose="020F0603020204020204" pitchFamily="34" charset="0"/>
                <a:cs typeface="Amazon Ember Display" panose="020F0603020204020204" pitchFamily="34" charset="0"/>
                <a:hlinkClick r:id="rId3"/>
              </a:rPr>
              <a:t>https://docs.aws.amazon.com/bedrock/latest/userguide/models-regions.html</a:t>
            </a:r>
            <a:r>
              <a:rPr lang="en-US" dirty="0">
                <a:latin typeface="Calibri" panose="020F0502020204030204" pitchFamily="34" charset="0"/>
                <a:ea typeface="Amazon Ember Display" panose="020F0603020204020204" pitchFamily="34" charset="0"/>
                <a:cs typeface="Amazon Ember Display" panose="020F0603020204020204" pitchFamily="34" charset="0"/>
              </a:rPr>
              <a:t>. </a:t>
            </a:r>
            <a:endParaRPr lang="en-US" dirty="0">
              <a:latin typeface="Calibri" panose="020F0502020204030204" pitchFamily="34" charset="0"/>
            </a:endParaRPr>
          </a:p>
          <a:p>
            <a:endParaRPr lang="en-US" dirty="0">
              <a:latin typeface="Calibri" panose="020F0502020204030204" pitchFamily="34" charset="0"/>
            </a:endParaRPr>
          </a:p>
          <a:p>
            <a:r>
              <a:rPr lang="en-US" dirty="0">
                <a:latin typeface="Calibri" panose="020F0502020204030204" pitchFamily="34" charset="0"/>
              </a:rPr>
              <a:t>The following are some key reasons to consider using Amazon Bedrock:</a:t>
            </a: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171450" indent="-171450">
              <a:buFont typeface="Arial" panose="020B0604020202020204" pitchFamily="34" charset="0"/>
              <a:buChar char="•"/>
            </a:pPr>
            <a:r>
              <a:rPr lang="en-US" b="1" dirty="0">
                <a:latin typeface="Calibri" panose="020F0502020204030204" pitchFamily="34" charset="0"/>
              </a:rPr>
              <a:t>Easy integration</a:t>
            </a:r>
            <a:r>
              <a:rPr lang="en-US" dirty="0">
                <a:latin typeface="Calibri" panose="020F0502020204030204" pitchFamily="34" charset="0"/>
              </a:rPr>
              <a:t>: With a single API, you can integrate these AI models into your applications without having to manage the underlying infrastructure.</a:t>
            </a:r>
          </a:p>
          <a:p>
            <a:pPr marL="171450" indent="-171450">
              <a:buFont typeface="Arial" panose="020B0604020202020204" pitchFamily="34" charset="0"/>
              <a:buChar char="•"/>
            </a:pPr>
            <a:r>
              <a:rPr lang="en-US" b="1" dirty="0">
                <a:latin typeface="Calibri" panose="020F0502020204030204" pitchFamily="34" charset="0"/>
              </a:rPr>
              <a:t>Customization</a:t>
            </a:r>
            <a:r>
              <a:rPr lang="en-US" dirty="0">
                <a:latin typeface="Calibri" panose="020F0502020204030204" pitchFamily="34" charset="0"/>
              </a:rPr>
              <a:t>: Amazon Bedrock helps you to fine-tune models with your own data, creating custom models tailored to your specific needs.</a:t>
            </a:r>
          </a:p>
          <a:p>
            <a:pPr marL="171450" indent="-171450">
              <a:buFont typeface="Arial" panose="020B0604020202020204" pitchFamily="34" charset="0"/>
              <a:buChar char="•"/>
            </a:pPr>
            <a:r>
              <a:rPr lang="en-US" b="1" dirty="0">
                <a:latin typeface="Calibri" panose="020F0502020204030204" pitchFamily="34" charset="0"/>
              </a:rPr>
              <a:t>Privacy and security</a:t>
            </a:r>
            <a:r>
              <a:rPr lang="en-US" dirty="0">
                <a:latin typeface="Calibri" panose="020F0502020204030204" pitchFamily="34" charset="0"/>
              </a:rPr>
              <a:t>: Your data and customizations remain private and secure within your AWS account. Amazon Bedrock also supports AWS security, identity, and compliance features.</a:t>
            </a:r>
          </a:p>
          <a:p>
            <a:pPr marL="171450" indent="-171450">
              <a:buFont typeface="Arial" panose="020B0604020202020204" pitchFamily="34" charset="0"/>
              <a:buChar char="•"/>
            </a:pPr>
            <a:r>
              <a:rPr lang="en-US" b="1" dirty="0">
                <a:latin typeface="Calibri" panose="020F0502020204030204" pitchFamily="34" charset="0"/>
              </a:rPr>
              <a:t>Cost-effective</a:t>
            </a:r>
            <a:r>
              <a:rPr lang="en-US" dirty="0">
                <a:latin typeface="Calibri" panose="020F0502020204030204" pitchFamily="34" charset="0"/>
              </a:rPr>
              <a:t>: Pay only for what you use, without upfront costs or commitments.</a:t>
            </a:r>
          </a:p>
          <a:p>
            <a:pPr marL="171450" indent="-171450">
              <a:buFont typeface="Arial" panose="020B0604020202020204" pitchFamily="34" charset="0"/>
              <a:buChar char="•"/>
            </a:pPr>
            <a:r>
              <a:rPr lang="en-US" b="1" dirty="0">
                <a:latin typeface="Calibri" panose="020F0502020204030204" pitchFamily="34" charset="0"/>
              </a:rPr>
              <a:t>Scalability</a:t>
            </a:r>
            <a:r>
              <a:rPr lang="en-US" dirty="0">
                <a:latin typeface="Calibri" panose="020F0502020204030204" pitchFamily="34" charset="0"/>
              </a:rPr>
              <a:t>: Amazon Bedrock can automatically scale to meet your application's demands.</a:t>
            </a:r>
          </a:p>
          <a:p>
            <a:pPr marL="171450" indent="-171450">
              <a:buFont typeface="Arial" panose="020B0604020202020204" pitchFamily="34" charset="0"/>
              <a:buChar char="•"/>
            </a:pPr>
            <a:r>
              <a:rPr lang="en-US" b="1" dirty="0">
                <a:latin typeface="Calibri" panose="020F0502020204030204" pitchFamily="34" charset="0"/>
              </a:rPr>
              <a:t>Continuous updates</a:t>
            </a:r>
            <a:r>
              <a:rPr lang="en-US" dirty="0">
                <a:latin typeface="Calibri" panose="020F0502020204030204" pitchFamily="34" charset="0"/>
              </a:rPr>
              <a:t>: Access the latest model versions and capabilities as they become available.</a:t>
            </a:r>
          </a:p>
          <a:p>
            <a:pPr marL="171450" indent="-171450">
              <a:buFont typeface="Arial" panose="020B0604020202020204" pitchFamily="34" charset="0"/>
              <a:buChar char="•"/>
            </a:pPr>
            <a:r>
              <a:rPr lang="en-US" b="1" dirty="0">
                <a:latin typeface="Calibri" panose="020F0502020204030204" pitchFamily="34" charset="0"/>
              </a:rPr>
              <a:t>Integration with AWS services</a:t>
            </a:r>
            <a:r>
              <a:rPr lang="en-US" dirty="0">
                <a:latin typeface="Calibri" panose="020F0502020204030204" pitchFamily="34" charset="0"/>
              </a:rPr>
              <a:t>: Integrate with other AWS services for a comprehensive AI/ML workflow.</a:t>
            </a:r>
          </a:p>
          <a:p>
            <a:pPr marL="171450" indent="-171450">
              <a:buFont typeface="Arial" panose="020B0604020202020204" pitchFamily="34" charset="0"/>
              <a:buChar char="•"/>
            </a:pPr>
            <a:r>
              <a:rPr lang="en-US" b="1" dirty="0">
                <a:latin typeface="Calibri" panose="020F0502020204030204" pitchFamily="34" charset="0"/>
              </a:rPr>
              <a:t>Reduced complexity</a:t>
            </a:r>
            <a:r>
              <a:rPr lang="en-US" dirty="0">
                <a:latin typeface="Calibri" panose="020F0502020204030204" pitchFamily="34" charset="0"/>
              </a:rPr>
              <a:t>: Amazon Bedrock eliminates the need to build and manage your own infrastructure for running large language models.</a:t>
            </a:r>
          </a:p>
          <a:p>
            <a:pPr marL="171450" indent="-171450">
              <a:buFont typeface="Arial" panose="020B0604020202020204" pitchFamily="34" charset="0"/>
              <a:buChar char="•"/>
            </a:pPr>
            <a:r>
              <a:rPr lang="en-US" b="1" dirty="0">
                <a:latin typeface="Calibri" panose="020F0502020204030204" pitchFamily="34" charset="0"/>
              </a:rPr>
              <a:t>Experimentation</a:t>
            </a:r>
            <a:r>
              <a:rPr lang="en-US" dirty="0">
                <a:latin typeface="Calibri" panose="020F0502020204030204" pitchFamily="34" charset="0"/>
              </a:rPr>
              <a:t>: You can experiment with different models to find the best fit for your use case.</a:t>
            </a:r>
          </a:p>
          <a:p>
            <a:pPr marL="171450" indent="-171450">
              <a:buFont typeface="Arial" panose="020B0604020202020204" pitchFamily="34" charset="0"/>
              <a:buChar char="•"/>
            </a:pPr>
            <a:r>
              <a:rPr lang="en-US" b="1" dirty="0">
                <a:latin typeface="Calibri" panose="020F0502020204030204" pitchFamily="34" charset="0"/>
              </a:rPr>
              <a:t>Compliance</a:t>
            </a:r>
            <a:r>
              <a:rPr lang="en-US" dirty="0">
                <a:latin typeface="Calibri" panose="020F0502020204030204" pitchFamily="34" charset="0"/>
              </a:rPr>
              <a:t>: It helps you meet regulatory requirements with built-in governance and control features.</a:t>
            </a:r>
          </a:p>
        </p:txBody>
      </p:sp>
    </p:spTree>
    <p:extLst>
      <p:ext uri="{BB962C8B-B14F-4D97-AF65-F5344CB8AC3E}">
        <p14:creationId xmlns:p14="http://schemas.microsoft.com/office/powerpoint/2010/main" val="30643391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7688"/>
          </a:xfrm>
        </p:spPr>
      </p:sp>
      <p:sp>
        <p:nvSpPr>
          <p:cNvPr id="3" name="Notes Placeholder 2"/>
          <p:cNvSpPr>
            <a:spLocks noGrp="1"/>
          </p:cNvSpPr>
          <p:nvPr>
            <p:ph type="body" idx="1"/>
          </p:nvPr>
        </p:nvSpPr>
        <p:spPr>
          <a:xfrm>
            <a:off x="317500" y="3810000"/>
            <a:ext cx="7112000" cy="4773168"/>
          </a:xfrm>
        </p:spPr>
        <p:txBody>
          <a:bodyPr/>
          <a:lstStyle/>
          <a:p>
            <a:r>
              <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|Student notes</a:t>
            </a:r>
          </a:p>
          <a:p>
            <a:r>
              <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There are many benefits of using the secure and comprehensive AI/ML services available from AWS. AWS offers a broad portfolio of secure AI/ML services, all built on the secure AWS Global Infrastructure. This provides a solid foundation for building and deploying generative AI applications with confidence. </a:t>
            </a:r>
          </a:p>
          <a:p>
            <a:pPr marL="171450" indent="-171450">
              <a:buFont typeface="Arial" panose="020B0604020202020204" pitchFamily="34" charset="0"/>
              <a:buChar char="•"/>
            </a:pPr>
            <a:r>
              <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Secure your generative AI applications</a:t>
            </a:r>
            <a:r>
              <a:rPr lang="en-US" b="0"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 </a:t>
            </a:r>
            <a:r>
              <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Implement robust security measures such as model watermarking, content filtering, and monitoring to mitigate risks associated with generative AI models. This helps prevent misuse and maintain trust. </a:t>
            </a:r>
            <a:endPar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endParaRPr>
          </a:p>
          <a:p>
            <a:pPr marL="171450" indent="-171450">
              <a:buFont typeface="Arial" panose="020B0604020202020204" pitchFamily="34" charset="0"/>
              <a:buChar char="•"/>
            </a:pPr>
            <a:r>
              <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Access support for governance and auditability</a:t>
            </a:r>
            <a:r>
              <a:rPr lang="en-US" b="0"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a:t>
            </a:r>
            <a:r>
              <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 </a:t>
            </a:r>
            <a:r>
              <a:rPr lang="en-US"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Use AWS services for AI governance, including model tracking, explainability, and bias detection. This provides responsible AI development and deployment while meeting compliance requirements.</a:t>
            </a:r>
            <a:endPar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33707501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273B8-F4D1-D631-7FDF-5F2AEB3EB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D41AFC-926F-263C-5581-BD426414934A}"/>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46012EE4-D32A-72C4-9732-872C1ACC013F}"/>
              </a:ext>
            </a:extLst>
          </p:cNvPr>
          <p:cNvSpPr>
            <a:spLocks noGrp="1"/>
          </p:cNvSpPr>
          <p:nvPr>
            <p:ph type="body" idx="1"/>
          </p:nvPr>
        </p:nvSpPr>
        <p:spPr>
          <a:xfrm>
            <a:off x="317500" y="3810000"/>
            <a:ext cx="7112000" cy="5397500"/>
          </a:xfrm>
        </p:spPr>
        <p:txBody>
          <a:bodyPr/>
          <a:lstStyle/>
          <a:p>
            <a:r>
              <a:rPr lang="en-US" b="1" dirty="0">
                <a:latin typeface="Calibri" panose="020F0502020204030204" pitchFamily="34" charset="0"/>
                <a:ea typeface="Amazon Ember Display" panose="020F0603020204020204" pitchFamily="34" charset="0"/>
                <a:cs typeface="Amazon Ember Display" panose="020F0603020204020204" pitchFamily="34" charset="0"/>
              </a:rPr>
              <a:t>|Instructor notes</a:t>
            </a:r>
            <a:br>
              <a:rPr lang="en-US" b="1" dirty="0">
                <a:latin typeface="Calibri" panose="020F0502020204030204" pitchFamily="34" charset="0"/>
                <a:ea typeface="Amazon Ember Display" panose="020F0603020204020204" pitchFamily="34" charset="0"/>
                <a:cs typeface="Amazon Ember Display" panose="020F0603020204020204" pitchFamily="34" charset="0"/>
              </a:rPr>
            </a:br>
            <a:r>
              <a:rPr lang="en-US" b="0" dirty="0">
                <a:latin typeface="Calibri" panose="020F0502020204030204" pitchFamily="34" charset="0"/>
                <a:ea typeface="Amazon Ember Display" panose="020F0603020204020204" pitchFamily="34" charset="0"/>
                <a:cs typeface="Amazon Ember Display" panose="020F0603020204020204" pitchFamily="34" charset="0"/>
              </a:rPr>
              <a:t>|Use the console to show the students the following items – keep the demo limited to 10 minutes.</a:t>
            </a:r>
          </a:p>
          <a:p>
            <a:pPr marL="171450" indent="-171450">
              <a:buFont typeface="Arial" panose="020B0604020202020204" pitchFamily="34" charset="0"/>
              <a:buChar cha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|Show the chat playgrounds – show how to compare models.</a:t>
            </a:r>
          </a:p>
          <a:p>
            <a:pPr marL="171450" indent="-171450">
              <a:buFont typeface="Arial" panose="020B0604020202020204" pitchFamily="34" charset="0"/>
              <a:buChar cha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|Compare Amazon Titan Text G1 Express with Anthropic Claude 3 Sonnet.</a:t>
            </a:r>
          </a:p>
          <a:p>
            <a:pPr marL="171450" indent="-171450">
              <a:buFont typeface="Arial" panose="020B0604020202020204" pitchFamily="34" charset="0"/>
              <a:buChar cha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|Ask the models to recommend the top 5 pizza restaurants in Seattle.</a:t>
            </a:r>
          </a:p>
          <a:p>
            <a:pPr marL="171450" indent="-171450">
              <a:buFont typeface="Arial" panose="020B0604020202020204" pitchFamily="34" charset="0"/>
              <a:buChar cha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|Ask which pizza place is closest to downtown.</a:t>
            </a:r>
          </a:p>
          <a:p>
            <a:pPr marL="171450" indent="-171450">
              <a:buFont typeface="Arial" panose="020B0604020202020204" pitchFamily="34" charset="0"/>
              <a:buChar cha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|Give it a format to follow – ask to list the top 5 pizza places, give a rank number, restaurant stars, the number of positive reviews, and a brief description.</a:t>
            </a:r>
          </a:p>
          <a:p>
            <a:pPr marL="171450" indent="-171450">
              <a:buFont typeface="Arial" panose="020B0604020202020204" pitchFamily="34" charset="0"/>
              <a:buChar cha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|Go to the text playground – use Nova Lite.</a:t>
            </a:r>
          </a:p>
          <a:p>
            <a:pPr marL="171450" indent="-171450">
              <a:buFont typeface="Arial" panose="020B0604020202020204" pitchFamily="34" charset="0"/>
              <a:buChar cha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|Ask the question what AWS services can be used for compute – provide an output indicator to list in a bullet list format.</a:t>
            </a:r>
          </a:p>
          <a:p>
            <a:pPr marL="171450" indent="-171450">
              <a:buFont typeface="Arial" panose="020B0604020202020204" pitchFamily="34" charset="0"/>
              <a:buChar cha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|Go to image playground – use Amazon Titan Image Generator G1.</a:t>
            </a:r>
          </a:p>
          <a:p>
            <a:pPr marL="171450" indent="-171450">
              <a:buFont typeface="Arial" panose="020B0604020202020204" pitchFamily="34" charset="0"/>
              <a:buChar cha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|Ask it to create a skyline of New York at night – generate one image.</a:t>
            </a:r>
          </a:p>
          <a:p>
            <a:pPr marL="171450" indent="-171450">
              <a:buFont typeface="Arial" panose="020B0604020202020204" pitchFamily="34" charset="0"/>
              <a:buChar char="•"/>
            </a:pPr>
            <a:r>
              <a:rPr lang="en-US" b="0" dirty="0">
                <a:latin typeface="Calibri" panose="020F0502020204030204" pitchFamily="34" charset="0"/>
                <a:ea typeface="Amazon Ember Display" panose="020F0603020204020204" pitchFamily="34" charset="0"/>
                <a:cs typeface="Amazon Ember Display" panose="020F0603020204020204" pitchFamily="34" charset="0"/>
              </a:rPr>
              <a:t>|Explain prompt strength, the seed.</a:t>
            </a:r>
          </a:p>
          <a:p>
            <a:r>
              <a:rPr lang="en-US" b="1" dirty="0">
                <a:latin typeface="Calibri" panose="020F0502020204030204" pitchFamily="34" charset="0"/>
                <a:ea typeface="Amazon Ember Display" panose="020F0603020204020204" pitchFamily="34" charset="0"/>
                <a:cs typeface="Amazon Ember Display" panose="020F0603020204020204" pitchFamily="34" charset="0"/>
              </a:rPr>
              <a:t>|Student notes</a:t>
            </a:r>
          </a:p>
          <a:p>
            <a:r>
              <a:rPr lang="en-US" dirty="0">
                <a:latin typeface="Calibri" panose="020F0502020204030204" pitchFamily="34" charset="0"/>
                <a:ea typeface="Amazon Ember Display" panose="020F0603020204020204" pitchFamily="34" charset="0"/>
                <a:cs typeface="Amazon Ember Display" panose="020F0603020204020204" pitchFamily="34" charset="0"/>
              </a:rPr>
              <a:t>This demonstration shows how to set up access to Amazon Bedrock and use its playgrounds feature.</a:t>
            </a:r>
          </a:p>
          <a:p>
            <a:pPr marL="0" indent="0">
              <a:buNone/>
            </a:pPr>
            <a:endParaRPr lang="en-US" dirty="0">
              <a:solidFill>
                <a:srgbClr val="000000"/>
              </a:solidFill>
              <a:latin typeface="Calibri" panose="020F0502020204030204" pitchFamily="34" charset="0"/>
            </a:endParaRPr>
          </a:p>
        </p:txBody>
      </p:sp>
    </p:spTree>
    <p:extLst>
      <p:ext uri="{BB962C8B-B14F-4D97-AF65-F5344CB8AC3E}">
        <p14:creationId xmlns:p14="http://schemas.microsoft.com/office/powerpoint/2010/main" val="6822038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7585B-AC01-7E88-4E38-D42D5288F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AAD31-0020-2236-7012-4D8B13BAAF83}"/>
              </a:ext>
            </a:extLst>
          </p:cNvPr>
          <p:cNvSpPr>
            <a:spLocks noGrp="1" noRot="1" noChangeAspect="1"/>
          </p:cNvSpPr>
          <p:nvPr>
            <p:ph type="sldImg"/>
          </p:nvPr>
        </p:nvSpPr>
        <p:spPr>
          <a:xfrm>
            <a:off x="1143000" y="635000"/>
            <a:ext cx="5486400" cy="3087688"/>
          </a:xfrm>
        </p:spPr>
      </p:sp>
      <p:sp>
        <p:nvSpPr>
          <p:cNvPr id="3" name="Notes Placeholder 2">
            <a:extLst>
              <a:ext uri="{FF2B5EF4-FFF2-40B4-BE49-F238E27FC236}">
                <a16:creationId xmlns:a16="http://schemas.microsoft.com/office/drawing/2014/main" id="{4D57F0C7-EFB9-86B1-FA84-BB3F041B7FEF}"/>
              </a:ext>
            </a:extLst>
          </p:cNvPr>
          <p:cNvSpPr>
            <a:spLocks noGrp="1"/>
          </p:cNvSpPr>
          <p:nvPr>
            <p:ph type="body" idx="1"/>
          </p:nvPr>
        </p:nvSpPr>
        <p:spPr>
          <a:xfrm>
            <a:off x="317500" y="3810000"/>
            <a:ext cx="7112000" cy="4773168"/>
          </a:xfrm>
        </p:spPr>
        <p:txBody>
          <a:bodyPr/>
          <a:lstStyle/>
          <a:p>
            <a:pPr marL="0" marR="0" lvl="0" indent="0" defTabSz="914400" rtl="0" eaLnBrk="1" fontAlgn="auto" latinLnBrk="0" hangingPunct="1">
              <a:buClrTx/>
              <a:buSzTx/>
              <a:buFontTx/>
              <a:buNone/>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This section explains the core and optional components of a generative AI application, so you can design applications that incorporate these components to use the art of the possible with generative AI.</a:t>
            </a:r>
          </a:p>
        </p:txBody>
      </p:sp>
    </p:spTree>
    <p:extLst>
      <p:ext uri="{BB962C8B-B14F-4D97-AF65-F5344CB8AC3E}">
        <p14:creationId xmlns:p14="http://schemas.microsoft.com/office/powerpoint/2010/main" val="19125615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r>
              <a:rPr lang="en-US" b="1" dirty="0">
                <a:latin typeface="Calibri" panose="020F0502020204030204" pitchFamily="34" charset="0"/>
                <a:ea typeface="Amazon Ember Display" panose="020F0603020204020204" pitchFamily="34" charset="0"/>
                <a:cs typeface="Amazon Ember Display" panose="020F0603020204020204" pitchFamily="34" charset="0"/>
              </a:rPr>
              <a:t>|Instructor notes</a:t>
            </a:r>
          </a:p>
          <a:p>
            <a:r>
              <a:rPr lang="en-US" b="0" dirty="0">
                <a:latin typeface="Calibri" panose="020F0502020204030204" pitchFamily="34" charset="0"/>
                <a:ea typeface="Amazon Ember Display" panose="020F0603020204020204" pitchFamily="34" charset="0"/>
                <a:cs typeface="Amazon Ember Display" panose="020F0603020204020204" pitchFamily="34" charset="0"/>
              </a:rPr>
              <a:t>|Consider asking the attendees for example customer needs and capabilities in their organization and use that as an activity of not more than 5 minutes of workshopping their ideas. Alternatively, present this slide in the context of the use cases identified earlier in this topic.</a:t>
            </a:r>
            <a:br>
              <a:rPr lang="en-US" b="1" dirty="0">
                <a:latin typeface="Calibri" panose="020F0502020204030204" pitchFamily="34" charset="0"/>
                <a:ea typeface="Amazon Ember Display" panose="020F0603020204020204" pitchFamily="34" charset="0"/>
                <a:cs typeface="Amazon Ember Display" panose="020F0603020204020204" pitchFamily="34" charset="0"/>
              </a:rPr>
            </a:br>
            <a:r>
              <a:rPr lang="en-US" b="1" dirty="0">
                <a:latin typeface="Calibri" panose="020F0502020204030204" pitchFamily="34" charset="0"/>
                <a:ea typeface="Amazon Ember Display" panose="020F0603020204020204" pitchFamily="34" charset="0"/>
                <a:cs typeface="Amazon Ember Display" panose="020F0603020204020204" pitchFamily="34" charset="0"/>
              </a:rPr>
              <a:t>|Student notes</a:t>
            </a:r>
          </a:p>
          <a:p>
            <a:r>
              <a:rPr lang="en-US" dirty="0">
                <a:latin typeface="Calibri" panose="020F0502020204030204" pitchFamily="34" charset="0"/>
                <a:ea typeface="Amazon Ember Display" panose="020F0603020204020204" pitchFamily="34" charset="0"/>
                <a:cs typeface="Amazon Ember Display" panose="020F0603020204020204" pitchFamily="34" charset="0"/>
              </a:rPr>
              <a:t>There are four key steps involved in planning a generative AI project. By following these steps, you can effectively plan and operate a generative AI </a:t>
            </a:r>
            <a:r>
              <a:rPr lang="en-US"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project, making sure that it aligns with your goals, uses the right data and model architecture, and produces high-quality, reliable outputs. The steps are as follows:</a:t>
            </a:r>
          </a:p>
          <a:p>
            <a:pPr marL="228600" indent="-228600">
              <a:buFont typeface="+mj-lt"/>
              <a:buAutoNum type="arabicPeriod"/>
            </a:pPr>
            <a:r>
              <a:rPr lang="en-US" b="1" dirty="0">
                <a:effectLst/>
                <a:latin typeface="Calibri" panose="020F0502020204030204" pitchFamily="34" charset="0"/>
                <a:ea typeface="Amazon Ember Display" panose="020F0603020204020204" pitchFamily="34" charset="0"/>
                <a:cs typeface="Amazon Ember Display" panose="020F0603020204020204" pitchFamily="34" charset="0"/>
              </a:rPr>
              <a:t>Define the scope.</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 This step helps to ensure that the AI project is focused, relevant, and achievable. Understand customer needs and consider organization capabilities. </a:t>
            </a:r>
            <a:r>
              <a:rPr lang="en-US" dirty="0">
                <a:latin typeface="Calibri" panose="020F0502020204030204" pitchFamily="34" charset="0"/>
                <a:ea typeface="Amazon Ember Display" panose="020F0603020204020204" pitchFamily="34" charset="0"/>
                <a:cs typeface="Amazon Ember Display" panose="020F0603020204020204" pitchFamily="34" charset="0"/>
              </a:rPr>
              <a:t>Assess the long-term and short-term impacts that each solution provides. What are the trade-offs of having faster development cycles for your developers? What about implementation time of the solutions?</a:t>
            </a:r>
          </a:p>
          <a:p>
            <a:pPr marL="228600" marR="0" lvl="0" indent="-228600" defTabSz="914400" rtl="0" eaLnBrk="1" fontAlgn="auto" latinLnBrk="0" hangingPunct="1">
              <a:buClrTx/>
              <a:buSzTx/>
              <a:buFont typeface="+mj-lt"/>
              <a:buAutoNum type="arabicPeriod"/>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Select a model.</a:t>
            </a:r>
            <a:r>
              <a:rPr lang="en-US" dirty="0">
                <a:latin typeface="Calibri" panose="020F0502020204030204" pitchFamily="34" charset="0"/>
                <a:ea typeface="Amazon Ember Display" panose="020F0603020204020204" pitchFamily="34" charset="0"/>
                <a:cs typeface="Amazon Ember Display" panose="020F0603020204020204" pitchFamily="34" charset="0"/>
              </a:rPr>
              <a:t> </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The choice between using a pre-trained model as is or fine-tuning a model for customization is primarily a trade-off between ease of use and flexibility. By u</a:t>
            </a:r>
            <a:r>
              <a:rPr lang="en-US" dirty="0">
                <a:latin typeface="Calibri" panose="020F0502020204030204" pitchFamily="34" charset="0"/>
                <a:ea typeface="Amazon Ember Display" panose="020F0603020204020204" pitchFamily="34" charset="0"/>
                <a:cs typeface="Amazon Ember Display" panose="020F0603020204020204" pitchFamily="34" charset="0"/>
              </a:rPr>
              <a:t>sing a pre-trained model as is, you have a quick solution for integrating generative AI capabilities. It is suitable for general tasks. It is a good choice when the need for customization is minimal, and speed is important. For more customized output, it offers the flexibility to tailor the model to your specific needs. It is suitable for specialized tasks. You can use it to choose from a wider range of open source models. The downsides include greater computational resources, expertise, and time required.</a:t>
            </a:r>
          </a:p>
          <a:p>
            <a:pPr marL="228600" marR="0" lvl="0" indent="-228600" defTabSz="914400" rtl="0" eaLnBrk="1" fontAlgn="auto" latinLnBrk="0" hangingPunct="1">
              <a:buClrTx/>
              <a:buSzTx/>
              <a:buFont typeface="+mj-lt"/>
              <a:buAutoNum type="arabicPeriod"/>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Adapt the model.</a:t>
            </a:r>
            <a:r>
              <a:rPr lang="en-US" dirty="0">
                <a:latin typeface="Calibri" panose="020F0502020204030204" pitchFamily="34" charset="0"/>
                <a:ea typeface="Amazon Ember Display" panose="020F0603020204020204" pitchFamily="34" charset="0"/>
                <a:cs typeface="Amazon Ember Display" panose="020F0603020204020204" pitchFamily="34" charset="0"/>
              </a:rPr>
              <a:t> </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There are two ways you can customize the type of output you are getting from your models. How you choose to customize your output will largely be impacted by your previous decision of model selection. If you choose the simple solution to use the pre-trained model with a large dataset, you will most likely be using prompt engineering. A particularly useful prompt engineering technique for incorporating enterprise data is RAG. Your application can also use conversational history, possibly including persistent storage of such history on an organizational, team, or per-user basis. If you decide to customize a model, you will start the process of continued pre-training, fine-tuning, or distillation of either an FM or an open source model on your use-case specific data. These types of solutions could incur large costs if the models are large and need a policy for maintaining data quality. Another adaptation technique is to use agents, tools, and other resources.</a:t>
            </a:r>
          </a:p>
          <a:p>
            <a:pPr marL="228600" marR="0" lvl="0" indent="-228600" defTabSz="914400" rtl="0" eaLnBrk="1" fontAlgn="auto" latinLnBrk="0" hangingPunct="1">
              <a:buClrTx/>
              <a:buSzTx/>
              <a:buFont typeface="+mj-lt"/>
              <a:buAutoNum type="arabicPeriod"/>
              <a:tabLst/>
              <a:defRPr/>
            </a:pPr>
            <a:r>
              <a:rPr lang="en-US" b="1" dirty="0">
                <a:effectLst/>
                <a:latin typeface="Calibri" panose="020F0502020204030204" pitchFamily="34" charset="0"/>
                <a:ea typeface="Amazon Ember Display" panose="020F0603020204020204" pitchFamily="34" charset="0"/>
                <a:cs typeface="Amazon Ember Display" panose="020F0603020204020204" pitchFamily="34" charset="0"/>
              </a:rPr>
              <a:t>Use the model.</a:t>
            </a:r>
            <a:r>
              <a:rPr lang="en-US" dirty="0">
                <a:effectLst/>
                <a:latin typeface="Calibri" panose="020F0502020204030204" pitchFamily="34" charset="0"/>
                <a:ea typeface="Amazon Ember Display" panose="020F0603020204020204" pitchFamily="34" charset="0"/>
                <a:cs typeface="Amazon Ember Display" panose="020F0603020204020204" pitchFamily="34" charset="0"/>
              </a:rPr>
              <a:t> Now it's time to ask yourself the following questions when using your new solution. </a:t>
            </a:r>
            <a:r>
              <a:rPr lang="en-US" dirty="0">
                <a:latin typeface="Calibri" panose="020F0502020204030204" pitchFamily="34" charset="0"/>
                <a:ea typeface="Amazon Ember Display" panose="020F0603020204020204" pitchFamily="34" charset="0"/>
                <a:cs typeface="Amazon Ember Display" panose="020F0603020204020204" pitchFamily="34" charset="0"/>
              </a:rPr>
              <a:t>Have you managed all the responsible AI concerns? Do you have a plan for feedback from users? How are you going to track performance of your FM over time? How are you tracking changes to the pre-trained model so you can retrain your fine-tuned model?</a:t>
            </a: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984807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D04D5-3640-3502-0A65-8786B2CF3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49E4E-69E8-72E6-3A36-D29BA8B54ABC}"/>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A11EDF50-82D9-6C42-C5E6-467C601EA9B4}"/>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In this section, you learn about the basic application components as shown on this slide, additional components, and the additional governance and security features available to generative AI components.</a:t>
            </a:r>
          </a:p>
          <a:p>
            <a:pPr marL="0" marR="0" lvl="0" indent="0" defTabSz="914400" rtl="0" eaLnBrk="1" fontAlgn="auto" latinLnBrk="0" hangingPunct="1">
              <a:buClrTx/>
              <a:buSzTx/>
              <a:buFontTx/>
              <a:buNone/>
              <a:tabLst/>
              <a:defRPr/>
            </a:pP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r>
              <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An FM</a:t>
            </a:r>
            <a:r>
              <a:rPr lang="en-US" b="1"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 </a:t>
            </a:r>
            <a:r>
              <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is the core of building a generative AI application. The core components include a frontend web application or mobile app, application logic that uses an FM interface, and the FM itself. FMs are developed and hosted in an ML environment, including model training. </a:t>
            </a:r>
          </a:p>
          <a:p>
            <a:endPar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To use an FM, you need an interface that provides access to it. The interface is generally an API that is managed, or it can be self-hosted using an open source or proprietary model. Self-hosting often involves procuring access to an ML environment that is supported by purpose-built accelerated computing instances to host the model. Using the API call, you can pass prompts to the FM and receive inference responses back. Such FM interfaces also allow passing inference parameters to the FM, such as a temperature or seed.</a:t>
            </a:r>
          </a:p>
          <a:p>
            <a:pPr marL="0" marR="0" lvl="0" indent="0" defTabSz="914400" rtl="0" eaLnBrk="1" fontAlgn="auto" latinLnBrk="0" hangingPunct="1">
              <a:buClrTx/>
              <a:buSzTx/>
              <a:buFontTx/>
              <a:buNone/>
              <a:tabLst/>
              <a:defRPr/>
            </a:pP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You can use Amazon Bedrock as the FM interface. As a fully managed service, Amazon Bedrock offers a choice of high-performing foundation models through a single API, along with a broad set of capabilities you need to build generative AI applications with security, privacy, and responsible AI. </a:t>
            </a:r>
          </a:p>
          <a:p>
            <a:pPr marL="0" marR="0" lvl="0" indent="0" defTabSz="914400" rtl="0" eaLnBrk="1" fontAlgn="auto" latinLnBrk="0" hangingPunct="1">
              <a:buClrTx/>
              <a:buSzTx/>
              <a:buFontTx/>
              <a:buNone/>
              <a:tabLst/>
              <a:defRPr/>
            </a:pPr>
            <a:endPar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Governance and security are integrated into all components. </a:t>
            </a: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15407714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6200-BD60-3454-CFA9-D2F7B067E8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0536C-1BFD-6935-BEDF-BF4D550A9915}"/>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642AF77C-8228-52DB-49D9-CBCE2109FA57}"/>
              </a:ext>
            </a:extLst>
          </p:cNvPr>
          <p:cNvSpPr>
            <a:spLocks noGrp="1"/>
          </p:cNvSpPr>
          <p:nvPr>
            <p:ph type="body" idx="1"/>
          </p:nvPr>
        </p:nvSpPr>
        <p:spPr/>
        <p:txBody>
          <a:bodyPr/>
          <a:lstStyle/>
          <a:p>
            <a:r>
              <a:rPr lang="en-US" b="1">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a:t>
            </a:r>
            <a:r>
              <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Instructor notes</a:t>
            </a:r>
          </a:p>
          <a:p>
            <a:r>
              <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a:t>
            </a:r>
            <a:r>
              <a:rPr lang="en-US" dirty="0">
                <a:latin typeface="Calibri" panose="020F0502020204030204" pitchFamily="34" charset="0"/>
              </a:rPr>
              <a:t>Keep it light. This is like a table of contents for what the course will cover. Don’t go into depth on each of the elements. The notes go a bit deeper to provide reference for the students and to work in conjunction with the previous planning slide to help them think about the types of tradeoffs required in choosing project components and planning the project. The talk track is “Here are the pieces we’re going to spend the next two days talking about in this course: Enterprise datasets that allow you to use the value in your data, embeddings models and vector stores that facilitate more relevant outputs, and memory and agents for more complex workflows. And as with any cloud-based application, there must be a security and governance layer integrated across all components.” </a:t>
            </a:r>
          </a:p>
          <a:p>
            <a:r>
              <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ea typeface="Amazon Ember Display" panose="020F0603020204020204" pitchFamily="34" charset="0"/>
                <a:cs typeface="Amazon Ember Display" panose="020F0603020204020204" pitchFamily="34" charset="0"/>
              </a:rPr>
              <a:t>Beyond the core components of a generative AI application, you could optionally add additional components to integrate enterprise datasets into your applications. </a:t>
            </a:r>
            <a:r>
              <a:rPr lang="en-US" b="0"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Three additional components of a generative AI application are as follows:</a:t>
            </a: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171450" marR="0" lvl="0" indent="-171450" defTabSz="914400" rtl="0" eaLnBrk="1" fontAlgn="auto" latinLnBrk="0" hangingPunct="1">
              <a:buClrTx/>
              <a:buSzTx/>
              <a:buFont typeface="Arial" panose="020B0604020202020204" pitchFamily="34" charset="0"/>
              <a:buChar char="•"/>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Enterprise datasets</a:t>
            </a:r>
            <a:r>
              <a:rPr lang="en-US" dirty="0">
                <a:latin typeface="Calibri" panose="020F0502020204030204" pitchFamily="34" charset="0"/>
                <a:ea typeface="Amazon Ember Display" panose="020F0603020204020204" pitchFamily="34" charset="0"/>
                <a:cs typeface="Amazon Ember Display" panose="020F0603020204020204" pitchFamily="34" charset="0"/>
              </a:rPr>
              <a:t>: Enterprises accumulate huge volumes of internal data that the foundation model has never encountered. Ingesting and using enterprise data sources provides the foundation model with domain-specific knowledge to generate tailored, highly relevant outputs that align with the needs of the enterprise. To power customized enterprise applications, the FMs need relevant data from </a:t>
            </a:r>
            <a:r>
              <a:rPr lang="en-US" b="0" dirty="0">
                <a:latin typeface="Calibri" panose="020F0502020204030204" pitchFamily="34" charset="0"/>
                <a:ea typeface="Amazon Ember Display" panose="020F0603020204020204" pitchFamily="34" charset="0"/>
                <a:cs typeface="Amazon Ember Display" panose="020F0603020204020204" pitchFamily="34" charset="0"/>
              </a:rPr>
              <a:t>enterprise datasets. </a:t>
            </a:r>
            <a:r>
              <a:rPr lang="en-US" dirty="0">
                <a:latin typeface="Calibri" panose="020F0502020204030204" pitchFamily="34" charset="0"/>
                <a:ea typeface="Amazon Ember Display" panose="020F0603020204020204" pitchFamily="34" charset="0"/>
                <a:cs typeface="Amazon Ember Display" panose="020F0603020204020204" pitchFamily="34" charset="0"/>
              </a:rPr>
              <a:t>In addition to pre-training, enterprise data can also be used for domain adaptation or fine-tuning.</a:t>
            </a:r>
          </a:p>
          <a:p>
            <a:pPr marL="171450" marR="0" lvl="0" indent="-171450" defTabSz="914400" rtl="0" eaLnBrk="1" fontAlgn="auto" latinLnBrk="0" hangingPunct="1">
              <a:buClrTx/>
              <a:buSzTx/>
              <a:buFont typeface="Arial" panose="020B0604020202020204" pitchFamily="34" charset="0"/>
              <a:buChar char="•"/>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Text or image embeddings</a:t>
            </a:r>
            <a:r>
              <a:rPr lang="en-US" dirty="0">
                <a:latin typeface="Calibri" panose="020F0502020204030204" pitchFamily="34" charset="0"/>
                <a:ea typeface="Amazon Ember Display" panose="020F0603020204020204" pitchFamily="34" charset="0"/>
                <a:cs typeface="Amazon Ember Display" panose="020F0603020204020204" pitchFamily="34" charset="0"/>
              </a:rPr>
              <a:t>: You can supply enterprise data to the FMs as context along with the prompt, which will help the model to return more accurate outputs. How do you figure out the context to pass? For that, you need a way to search the enterprise datasets using the prompt text that is passed. This is where </a:t>
            </a:r>
            <a:r>
              <a:rPr lang="en-US" b="0" dirty="0">
                <a:latin typeface="Calibri" panose="020F0502020204030204" pitchFamily="34" charset="0"/>
                <a:ea typeface="Amazon Ember Display" panose="020F0603020204020204" pitchFamily="34" charset="0"/>
                <a:cs typeface="Amazon Ember Display" panose="020F0603020204020204" pitchFamily="34" charset="0"/>
              </a:rPr>
              <a:t>vector embeddings</a:t>
            </a:r>
            <a:r>
              <a:rPr lang="en-US" dirty="0">
                <a:latin typeface="Calibri" panose="020F0502020204030204" pitchFamily="34" charset="0"/>
                <a:ea typeface="Amazon Ember Display" panose="020F0603020204020204" pitchFamily="34" charset="0"/>
                <a:cs typeface="Amazon Ember Display" panose="020F0603020204020204" pitchFamily="34" charset="0"/>
              </a:rPr>
              <a:t> help. Embedding is the process by which text, images, and audio are given numerical representation in a vector space. Embedding is usually performed by a machine learning model. </a:t>
            </a:r>
            <a:r>
              <a:rPr lang="en-US" dirty="0">
                <a:solidFill>
                  <a:srgbClr val="000000"/>
                </a:solidFill>
                <a:effectLst/>
                <a:latin typeface="Calibri" panose="020F0502020204030204" pitchFamily="34" charset="0"/>
                <a:ea typeface="Amazon Ember Display" panose="020F0603020204020204" pitchFamily="34" charset="0"/>
                <a:cs typeface="Amazon Ember Display" panose="020F0603020204020204" pitchFamily="34" charset="0"/>
              </a:rPr>
              <a:t>Enterprise datasets, such as documents, images, and audio, are passed to ML models as tokens and are vectorized. These vectors in an n-dimensional space, along with the metadata about them, are stored in purpose-built vector databases for faster retrieval. </a:t>
            </a: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pPr marL="171450" marR="0" lvl="0" indent="-171450" defTabSz="914400" rtl="0" eaLnBrk="1" fontAlgn="auto" latinLnBrk="0" hangingPunct="1">
              <a:buClrTx/>
              <a:buSzTx/>
              <a:buFont typeface="Arial" panose="020B0604020202020204" pitchFamily="34" charset="0"/>
              <a:buChar char="•"/>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Vector stores (databases)</a:t>
            </a:r>
            <a:r>
              <a:rPr lang="en-US" dirty="0">
                <a:latin typeface="Calibri" panose="020F0502020204030204" pitchFamily="34" charset="0"/>
                <a:ea typeface="Amazon Ember Display" panose="020F0603020204020204" pitchFamily="34" charset="0"/>
                <a:cs typeface="Amazon Ember Display" panose="020F0603020204020204" pitchFamily="34" charset="0"/>
              </a:rPr>
              <a:t>: The core function of </a:t>
            </a:r>
            <a:r>
              <a:rPr lang="en-US" b="0" dirty="0">
                <a:latin typeface="Calibri" panose="020F0502020204030204" pitchFamily="34" charset="0"/>
                <a:ea typeface="Amazon Ember Display" panose="020F0603020204020204" pitchFamily="34" charset="0"/>
                <a:cs typeface="Amazon Ember Display" panose="020F0603020204020204" pitchFamily="34" charset="0"/>
              </a:rPr>
              <a:t>vector databases </a:t>
            </a:r>
            <a:r>
              <a:rPr lang="en-US" dirty="0">
                <a:latin typeface="Calibri" panose="020F0502020204030204" pitchFamily="34" charset="0"/>
                <a:ea typeface="Amazon Ember Display" panose="020F0603020204020204" pitchFamily="34" charset="0"/>
                <a:cs typeface="Amazon Ember Display" panose="020F0603020204020204" pitchFamily="34" charset="0"/>
              </a:rPr>
              <a:t>is to compactly store billions of high-dimensional vectors representing words and entities. Vector databases provide ultra-fast similarity search across these billions of vectors in real time. The most common algorithms used to perform the similarity search are k-nearest neighbors (k-NN) or cosine similarity. After enterprise data is vectorized, you can search the given prompt in a vector database. You can supply the relevant chunks of information as context to improve the output of the generative AI model. This can reduce hallucinations, a phenomenon in which an LLM confidently generates plausible sounding but false information. Vector databases and context are used in RAG.</a:t>
            </a:r>
          </a:p>
          <a:p>
            <a:endParaRPr lang="en-US" dirty="0">
              <a:latin typeface="Calibri" panose="020F0502020204030204" pitchFamily="34" charset="0"/>
            </a:endParaRPr>
          </a:p>
          <a:p>
            <a:pPr marL="0" marR="0" lvl="0" indent="0" defTabSz="914400" rtl="0" eaLnBrk="1" fontAlgn="auto" latinLnBrk="0" hangingPunct="1">
              <a:buClrTx/>
              <a:buSzTx/>
              <a:buFont typeface="Arial" panose="020B0604020202020204" pitchFamily="34" charset="0"/>
              <a:buNone/>
              <a:tabLst/>
              <a:defRPr/>
            </a:pPr>
            <a:r>
              <a:rPr lang="en-US" b="0"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If your application needs to support complex workflows around the generative AI components, you could also include optional components such as the following:</a:t>
            </a:r>
          </a:p>
          <a:p>
            <a:pPr marL="171450" marR="0" lvl="0" indent="-171450" defTabSz="914400" rtl="0" eaLnBrk="1" fontAlgn="auto" latinLnBrk="0" hangingPunct="1">
              <a:buClrTx/>
              <a:buSzTx/>
              <a:buFont typeface="Arial" panose="020B0604020202020204" pitchFamily="34" charset="0"/>
              <a:buChar char="•"/>
              <a:tabLst/>
              <a:defRP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Memory components</a:t>
            </a:r>
            <a:r>
              <a:rPr lang="en-US" dirty="0">
                <a:latin typeface="Calibri" panose="020F0502020204030204" pitchFamily="34" charset="0"/>
                <a:ea typeface="Amazon Ember Display" panose="020F0603020204020204" pitchFamily="34" charset="0"/>
                <a:cs typeface="Amazon Ember Display" panose="020F0603020204020204" pitchFamily="34" charset="0"/>
              </a:rPr>
              <a:t>: To </a:t>
            </a:r>
            <a:r>
              <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cache the natural language requests generative AI applications accept as inputs, having a persistent semantic caching layer will improve speed and reduce cost for generative AI workloads. </a:t>
            </a:r>
            <a:r>
              <a:rPr lang="en-US" dirty="0">
                <a:latin typeface="Calibri" panose="020F0502020204030204" pitchFamily="34" charset="0"/>
                <a:ea typeface="Amazon Ember Display" panose="020F0603020204020204" pitchFamily="34" charset="0"/>
                <a:cs typeface="Amazon Ember Display" panose="020F0603020204020204" pitchFamily="34" charset="0"/>
              </a:rPr>
              <a:t>Without a memory component, an LLM chat application would treat each input as an isolated query, losing the benefits of context and continuity that make conversations feel natural and productive. The memory component bridges the gap between the model's vast knowledge and the specific context of each unique conversation. A prompt history store is another essential component in a generative AI application, particularly applications used for conversational AI, such as chatbots. A prompt history store helps with contextually aware conversations that are both relevant and coherent. Many foundation models have a limited context window, which means you can only pass so much data as input to them. Storing state information in a multiple-turn conversation becomes difficult, which is why a prompt history store is needed. It can persist the state and make it possible to have long-term memory of the conversation. By storing the history of prompts and responses, you can look up prompts from a previous conversation and avoid repetitive requests to the FM. For requests, this helps your audit and compliance teams adhere to company policy and regulations. You can also debug prompt requests and responses to diagnose errors and warnings from your applications.</a:t>
            </a:r>
          </a:p>
          <a:p>
            <a:pPr marL="171450" indent="-171450">
              <a:buFont typeface="Arial" panose="020B0604020202020204" pitchFamily="34" charset="0"/>
              <a:buChar char="•"/>
            </a:pPr>
            <a:r>
              <a:rPr lang="en-US" b="1" dirty="0">
                <a:latin typeface="Calibri" panose="020F0502020204030204" pitchFamily="34" charset="0"/>
                <a:ea typeface="Amazon Ember Display" panose="020F0603020204020204" pitchFamily="34" charset="0"/>
                <a:cs typeface="Amazon Ember Display" panose="020F0603020204020204" pitchFamily="34" charset="0"/>
              </a:rPr>
              <a:t>Agents</a:t>
            </a:r>
            <a:r>
              <a:rPr lang="en-US" dirty="0">
                <a:latin typeface="Calibri" panose="020F0502020204030204" pitchFamily="34" charset="0"/>
                <a:ea typeface="Amazon Ember Display" panose="020F0603020204020204" pitchFamily="34" charset="0"/>
                <a:cs typeface="Amazon Ember Display" panose="020F0603020204020204" pitchFamily="34" charset="0"/>
              </a:rPr>
              <a:t>: Agents use the power of LLMs to prompt and respond using natural language. Agents break down tasks, then orchestrate and complete tasks by dynamically invoking APIs. </a:t>
            </a:r>
            <a:endParaRPr lang="en-US" dirty="0">
              <a:latin typeface="Calibri" panose="020F0502020204030204" pitchFamily="34" charset="0"/>
            </a:endParaRPr>
          </a:p>
          <a:p>
            <a:pPr marL="0" marR="0" lvl="0" indent="0" defTabSz="914400" rtl="0" eaLnBrk="1" fontAlgn="auto" latinLnBrk="0" hangingPunct="1">
              <a:buClrTx/>
              <a:buSzTx/>
              <a:buFontTx/>
              <a:buNone/>
              <a:tabLst/>
              <a:defRPr/>
            </a:pPr>
            <a:endPar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endParaRPr>
          </a:p>
          <a:p>
            <a:r>
              <a:rPr lang="en-US" dirty="0">
                <a:latin typeface="Calibri" panose="020F0502020204030204" pitchFamily="34" charset="0"/>
                <a:ea typeface="Amazon Ember Display" panose="020F0603020204020204" pitchFamily="34" charset="0"/>
                <a:cs typeface="Amazon Ember Display" panose="020F0603020204020204" pitchFamily="34" charset="0"/>
              </a:rPr>
              <a:t>Governance and security are of paramount importance when building generative AI applications. They are vital to every step and component of a generative AI application. Governance and security must be in place to make sure that you mitigate risks, maintain oversight, ensure accountability, and earn trust with your customers.</a:t>
            </a: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r>
              <a:rPr lang="en-US" dirty="0">
                <a:latin typeface="Calibri" panose="020F0502020204030204" pitchFamily="34" charset="0"/>
                <a:ea typeface="Amazon Ember Display" panose="020F0603020204020204" pitchFamily="34" charset="0"/>
                <a:cs typeface="Amazon Ember Display" panose="020F0603020204020204" pitchFamily="34" charset="0"/>
              </a:rPr>
              <a:t>Consider the following points when building generative AI applications:</a:t>
            </a:r>
          </a:p>
          <a:p>
            <a:pPr marL="171450" indent="-171450">
              <a:buFont typeface="Arial" panose="020B0604020202020204" pitchFamily="34" charset="0"/>
              <a:buChar char="•"/>
            </a:pPr>
            <a:r>
              <a:rPr lang="en-US" dirty="0">
                <a:latin typeface="Calibri" panose="020F0502020204030204" pitchFamily="34" charset="0"/>
                <a:ea typeface="Amazon Ember Display" panose="020F0603020204020204" pitchFamily="34" charset="0"/>
                <a:cs typeface="Amazon Ember Display" panose="020F0603020204020204" pitchFamily="34" charset="0"/>
              </a:rPr>
              <a:t>Manage and audit who can access each part of the generative AI application, such the FMs, API methods, and so on.</a:t>
            </a:r>
          </a:p>
          <a:p>
            <a:pPr marL="171450" indent="-171450">
              <a:buFont typeface="Arial" panose="020B0604020202020204" pitchFamily="34" charset="0"/>
              <a:buChar char="•"/>
            </a:pPr>
            <a:r>
              <a:rPr lang="en-US" dirty="0">
                <a:latin typeface="Calibri" panose="020F0502020204030204" pitchFamily="34" charset="0"/>
                <a:ea typeface="Amazon Ember Display" panose="020F0603020204020204" pitchFamily="34" charset="0"/>
                <a:cs typeface="Amazon Ember Display" panose="020F0603020204020204" pitchFamily="34" charset="0"/>
              </a:rPr>
              <a:t>Monitor, log, and report on access to the underlying FM either directly or through customized approaches.</a:t>
            </a:r>
          </a:p>
          <a:p>
            <a:pPr marL="171450" indent="-171450">
              <a:buFont typeface="Arial" panose="020B0604020202020204" pitchFamily="34" charset="0"/>
              <a:buChar char="•"/>
            </a:pPr>
            <a:r>
              <a:rPr lang="en-US" dirty="0">
                <a:latin typeface="Calibri" panose="020F0502020204030204" pitchFamily="34" charset="0"/>
                <a:ea typeface="Amazon Ember Display" panose="020F0603020204020204" pitchFamily="34" charset="0"/>
                <a:cs typeface="Amazon Ember Display" panose="020F0603020204020204" pitchFamily="34" charset="0"/>
              </a:rPr>
              <a:t>Log requests to and responses from the FM to stay compliant with regulations and to ensure explainability of your actions.</a:t>
            </a:r>
          </a:p>
          <a:p>
            <a:pPr marL="171450" indent="-171450">
              <a:buFont typeface="Arial" panose="020B0604020202020204" pitchFamily="34" charset="0"/>
              <a:buChar char="•"/>
            </a:pPr>
            <a:r>
              <a:rPr lang="en-US" dirty="0">
                <a:latin typeface="Calibri" panose="020F0502020204030204" pitchFamily="34" charset="0"/>
                <a:ea typeface="Amazon Ember Display" panose="020F0603020204020204" pitchFamily="34" charset="0"/>
                <a:cs typeface="Amazon Ember Display" panose="020F0603020204020204" pitchFamily="34" charset="0"/>
              </a:rPr>
              <a:t>Periodically audit FMs with test data and simulate prompt injection attacks to ensure that there are no unintended consequences.</a:t>
            </a:r>
          </a:p>
          <a:p>
            <a:pPr marL="171450" indent="-171450">
              <a:buFont typeface="Arial" panose="020B0604020202020204" pitchFamily="34" charset="0"/>
              <a:buChar char="•"/>
            </a:pPr>
            <a:r>
              <a:rPr lang="en-US" dirty="0">
                <a:latin typeface="Calibri" panose="020F0502020204030204" pitchFamily="34" charset="0"/>
                <a:ea typeface="Amazon Ember Display" panose="020F0603020204020204" pitchFamily="34" charset="0"/>
                <a:cs typeface="Amazon Ember Display" panose="020F0603020204020204" pitchFamily="34" charset="0"/>
              </a:rPr>
              <a:t>Document the complete process of the various facets of the application and keep them up to date.</a:t>
            </a:r>
          </a:p>
          <a:p>
            <a:endParaRPr lang="en-US" dirty="0"/>
          </a:p>
        </p:txBody>
      </p:sp>
    </p:spTree>
    <p:extLst>
      <p:ext uri="{BB962C8B-B14F-4D97-AF65-F5344CB8AC3E}">
        <p14:creationId xmlns:p14="http://schemas.microsoft.com/office/powerpoint/2010/main" val="17886713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b="1">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a:t>
            </a:r>
            <a:r>
              <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Student notes</a:t>
            </a:r>
          </a:p>
          <a:p>
            <a:r>
              <a:rPr lang="en-US" dirty="0">
                <a:latin typeface="Calibri" panose="020F0502020204030204" pitchFamily="34" charset="0"/>
                <a:ea typeface="Amazon Ember Display" panose="020F0603020204020204" pitchFamily="34" charset="0"/>
                <a:cs typeface="Amazon Ember Display" panose="020F0603020204020204" pitchFamily="34" charset="0"/>
              </a:rPr>
              <a:t>A simple application architecture could consist of an application frontend that invokes Amazon Bedrock APIs directly. As depicted, a user sends a request to the application front end. The application frontend invokes Amazon Bedrock using the API. Amazon Bedrock interacts with the foundation model to provide the prompt and capture the response, then return the results to the application frontend. </a:t>
            </a: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r>
              <a:rPr lang="en-US" dirty="0">
                <a:latin typeface="Calibri" panose="020F0502020204030204" pitchFamily="34" charset="0"/>
                <a:ea typeface="Amazon Ember Display" panose="020F0603020204020204" pitchFamily="34" charset="0"/>
                <a:cs typeface="Amazon Ember Display" panose="020F0603020204020204" pitchFamily="34" charset="0"/>
              </a:rPr>
              <a:t>The application frontend that invokes Amazon Bedrock APIs could be implemented and deployed in a variety of ways, including (but not limited to) the following:</a:t>
            </a:r>
          </a:p>
          <a:p>
            <a:pPr marL="171450" indent="-171450">
              <a:buFont typeface="Arial" panose="020B0604020202020204" pitchFamily="34" charset="0"/>
              <a:buChar char="•"/>
            </a:pPr>
            <a:r>
              <a:rPr lang="en-US" dirty="0">
                <a:latin typeface="Calibri" panose="020F0502020204030204" pitchFamily="34" charset="0"/>
                <a:ea typeface="Amazon Ember Display" panose="020F0603020204020204" pitchFamily="34" charset="0"/>
                <a:cs typeface="Amazon Ember Display" panose="020F0603020204020204" pitchFamily="34" charset="0"/>
              </a:rPr>
              <a:t>Mobile application</a:t>
            </a:r>
          </a:p>
          <a:p>
            <a:pPr marL="171450" indent="-171450">
              <a:buFont typeface="Arial" panose="020B0604020202020204" pitchFamily="34" charset="0"/>
              <a:buChar char="•"/>
            </a:pPr>
            <a:r>
              <a:rPr lang="en-US" dirty="0">
                <a:latin typeface="Calibri" panose="020F0502020204030204" pitchFamily="34" charset="0"/>
                <a:ea typeface="Amazon Ember Display" panose="020F0603020204020204" pitchFamily="34" charset="0"/>
                <a:cs typeface="Amazon Ember Display" panose="020F0603020204020204" pitchFamily="34" charset="0"/>
              </a:rPr>
              <a:t>Web browser-based application</a:t>
            </a:r>
          </a:p>
          <a:p>
            <a:pPr marL="171450" indent="-171450">
              <a:buFont typeface="Arial" panose="020B0604020202020204" pitchFamily="34" charset="0"/>
              <a:buChar char="•"/>
            </a:pPr>
            <a:r>
              <a:rPr lang="en-US" dirty="0">
                <a:latin typeface="Calibri" panose="020F0502020204030204" pitchFamily="34" charset="0"/>
                <a:ea typeface="Amazon Ember Display" panose="020F0603020204020204" pitchFamily="34" charset="0"/>
                <a:cs typeface="Amazon Ember Display" panose="020F0603020204020204" pitchFamily="34" charset="0"/>
              </a:rPr>
              <a:t>Amazon Elastic Compute Cloud (Amazon EC2) application component</a:t>
            </a:r>
          </a:p>
          <a:p>
            <a:pPr marL="171450" indent="-171450">
              <a:buFont typeface="Arial" panose="020B0604020202020204" pitchFamily="34" charset="0"/>
              <a:buChar char="•"/>
            </a:pPr>
            <a:r>
              <a:rPr lang="en-US" dirty="0">
                <a:latin typeface="Calibri" panose="020F0502020204030204" pitchFamily="34" charset="0"/>
                <a:ea typeface="Amazon Ember Display" panose="020F0603020204020204" pitchFamily="34" charset="0"/>
                <a:cs typeface="Amazon Ember Display" panose="020F0603020204020204" pitchFamily="34" charset="0"/>
              </a:rPr>
              <a:t>AWS Fargate container application component</a:t>
            </a:r>
          </a:p>
          <a:p>
            <a:pPr marL="171450" indent="-171450">
              <a:buFont typeface="Arial" panose="020B0604020202020204" pitchFamily="34" charset="0"/>
              <a:buChar char="•"/>
            </a:pPr>
            <a:r>
              <a:rPr lang="en-US" dirty="0">
                <a:latin typeface="Calibri" panose="020F0502020204030204" pitchFamily="34" charset="0"/>
                <a:ea typeface="Amazon Ember Display" panose="020F0603020204020204" pitchFamily="34" charset="0"/>
                <a:cs typeface="Amazon Ember Display" panose="020F0603020204020204" pitchFamily="34" charset="0"/>
              </a:rPr>
              <a:t>AWS Lambda function application component</a:t>
            </a:r>
          </a:p>
          <a:p>
            <a:pPr marL="171450" indent="-171450">
              <a:buFont typeface="Arial" panose="020B0604020202020204" pitchFamily="34" charset="0"/>
              <a:buChar char="•"/>
            </a:pPr>
            <a:r>
              <a:rPr lang="en-US" dirty="0">
                <a:latin typeface="Calibri" panose="020F0502020204030204" pitchFamily="34" charset="0"/>
                <a:ea typeface="Amazon Ember Display" panose="020F0603020204020204" pitchFamily="34" charset="0"/>
                <a:cs typeface="Amazon Ember Display" panose="020F0603020204020204" pitchFamily="34" charset="0"/>
              </a:rPr>
              <a:t>On-premises devices or computers</a:t>
            </a:r>
          </a:p>
        </p:txBody>
      </p:sp>
    </p:spTree>
    <p:extLst>
      <p:ext uri="{BB962C8B-B14F-4D97-AF65-F5344CB8AC3E}">
        <p14:creationId xmlns:p14="http://schemas.microsoft.com/office/powerpoint/2010/main" val="40101021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b="1">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a:t>
            </a:r>
            <a:r>
              <a:rPr lang="en-US" b="1" dirty="0">
                <a:solidFill>
                  <a:srgbClr val="000000"/>
                </a:solidFill>
                <a:latin typeface="Calibri" panose="020F0502020204030204" pitchFamily="34" charset="0"/>
                <a:ea typeface="Amazon Ember Display" panose="020F0603020204020204" pitchFamily="34" charset="0"/>
                <a:cs typeface="Amazon Ember Display" panose="020F0603020204020204" pitchFamily="34" charset="0"/>
              </a:rPr>
              <a:t>Student notes</a:t>
            </a:r>
          </a:p>
          <a:p>
            <a:r>
              <a:rPr lang="en-US" dirty="0">
                <a:latin typeface="Calibri" panose="020F0502020204030204" pitchFamily="34" charset="0"/>
                <a:ea typeface="Amazon Ember Display" panose="020F0603020204020204" pitchFamily="34" charset="0"/>
                <a:cs typeface="Amazon Ember Display" panose="020F0603020204020204" pitchFamily="34" charset="0"/>
              </a:rPr>
              <a:t>Alternatively, you could implement application components that invoke Amazon Bedrock APIs directly and design in additional architecture that frontends those. The depicted architecture includes a user interacting with the application frontend. The application frontend is connected to Amazon S3 and is also connected to Amazon API Gateway. Amazon API Gateway is connected to AWS Lambda. AWS Lambda is connected to Amazon Bedrock and Amazon Bedrock is connected to the foundation model. Arrows flow both ways from all components. </a:t>
            </a:r>
          </a:p>
          <a:p>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a:p>
            <a:r>
              <a:rPr lang="en-US" dirty="0">
                <a:latin typeface="Calibri" panose="020F0502020204030204" pitchFamily="34" charset="0"/>
                <a:ea typeface="Amazon Ember Display" panose="020F0603020204020204" pitchFamily="34" charset="0"/>
                <a:cs typeface="Amazon Ember Display" panose="020F0603020204020204" pitchFamily="34" charset="0"/>
              </a:rPr>
              <a:t>For this example, consider a serverless function hosted in Lambda that invokes a foundation model through an Amazon Bedrock API. You could deploy an Amazon API Gateway configured to use such Lambda functions as backends. Furthermore, you could have the application frontend hosted in mobile or web applications, potentially using an Amazon CloudFront distribution. The origin of the CloudFront distribution could be an Amazon Simple Storage Service (Amazon S3) bucket with static web content and the JavaScript files for the web application frontend. This is a common serverless application architecture that many AWS customers use. You can use more elaborate application architectures to meet your needs in which a foundation model (or models) accessed through Amazon Bedrock are only one component (or a few components) of your architecture.</a:t>
            </a:r>
            <a:endParaRPr lang="en-US" dirty="0">
              <a:latin typeface="Calibri" panose="020F0502020204030204" pitchFamily="34" charset="0"/>
            </a:endParaRPr>
          </a:p>
        </p:txBody>
      </p:sp>
    </p:spTree>
    <p:extLst>
      <p:ext uri="{BB962C8B-B14F-4D97-AF65-F5344CB8AC3E}">
        <p14:creationId xmlns:p14="http://schemas.microsoft.com/office/powerpoint/2010/main" val="30338700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a:solidFill>
                  <a:srgbClr val="000000"/>
                </a:solidFill>
                <a:latin typeface="Calibri" panose="020F0502020204030204" pitchFamily="34" charset="0"/>
              </a:rPr>
              <a:t>|</a:t>
            </a:r>
            <a:r>
              <a:rPr lang="en-US" b="1" dirty="0">
                <a:solidFill>
                  <a:srgbClr val="000000"/>
                </a:solidFill>
                <a:latin typeface="Calibri" panose="020F0502020204030204" pitchFamily="34" charset="0"/>
              </a:rPr>
              <a:t>Student notes</a:t>
            </a:r>
          </a:p>
          <a:p>
            <a:r>
              <a:rPr lang="en-US" dirty="0">
                <a:latin typeface="Calibri" panose="020F0502020204030204" pitchFamily="34" charset="0"/>
              </a:rPr>
              <a:t>You can use conversational interfaces, such as chatbots and virtual assistants, to enhance the user experience for customers. Chatbots use NLP and ML algorithms to understand and respond to user queries. You can use chatbots in a variety of applications, such as customer service, sales, and ecommerce, to provide quick and efficient responses to users. You can access chatbots through various channels, such as websites, social media platforms, and messaging apps. </a:t>
            </a:r>
          </a:p>
          <a:p>
            <a:endParaRPr lang="en-US" dirty="0">
              <a:solidFill>
                <a:srgbClr val="000000"/>
              </a:solidFill>
              <a:latin typeface="Calibri" panose="020F0502020204030204" pitchFamily="34" charset="0"/>
            </a:endParaRPr>
          </a:p>
          <a:p>
            <a:r>
              <a:rPr lang="en-US" dirty="0">
                <a:latin typeface="Calibri" panose="020F0502020204030204" pitchFamily="34" charset="0"/>
              </a:rPr>
              <a:t>This architecture includes the following steps:</a:t>
            </a:r>
          </a:p>
          <a:p>
            <a:pPr marL="228600" indent="-228600">
              <a:buFont typeface="+mj-lt"/>
              <a:buAutoNum type="arabicPeriod"/>
            </a:pPr>
            <a:r>
              <a:rPr lang="en-US" dirty="0">
                <a:latin typeface="Calibri" panose="020F0502020204030204" pitchFamily="34" charset="0"/>
              </a:rPr>
              <a:t>The user queries the chatbot using the application frontend. For example, “What is a good place for pizza in this city?” The frontend passes the request to Amazon API Gateway which sends it to an AWS Lambda function. </a:t>
            </a:r>
          </a:p>
          <a:p>
            <a:pPr marL="228600" indent="-228600">
              <a:buFont typeface="+mj-lt"/>
              <a:buAutoNum type="arabicPeriod"/>
            </a:pPr>
            <a:r>
              <a:rPr lang="en-US" dirty="0">
                <a:latin typeface="Calibri" panose="020F0502020204030204" pitchFamily="34" charset="0"/>
              </a:rPr>
              <a:t>The Lambda function consults the chat history (if there is any) from long-term memory. This can include information such as the user’s location or a prior conversation. The memory provides “The user is in Seattle.” The application component that queried that chat history (Lambda, in this example) passes this context along with the query to Amazon Bedrock so that the FM considers that context along with the question. </a:t>
            </a:r>
          </a:p>
          <a:p>
            <a:pPr marL="228600" indent="-228600">
              <a:buFont typeface="+mj-lt"/>
              <a:buAutoNum type="arabicPeriod"/>
            </a:pPr>
            <a:r>
              <a:rPr lang="en-US" dirty="0">
                <a:latin typeface="Calibri" panose="020F0502020204030204" pitchFamily="34" charset="0"/>
              </a:rPr>
              <a:t>The model then generates the response, “Try Serious Pie.”</a:t>
            </a:r>
          </a:p>
          <a:p>
            <a:pPr marL="228600" indent="-228600">
              <a:buFont typeface="+mj-lt"/>
              <a:buAutoNum type="arabicPeriod"/>
            </a:pPr>
            <a:r>
              <a:rPr lang="en-US" dirty="0">
                <a:latin typeface="Calibri" panose="020F0502020204030204" pitchFamily="34" charset="0"/>
              </a:rPr>
              <a:t>The model passes the response back to the user. In this example architecture, the model returns the response to Amazon Bedrock, which relays it back to the Lambda function, which relays the response back through API Gateway to the application frontend that presents the response to the user.</a:t>
            </a:r>
          </a:p>
          <a:p>
            <a:pPr marL="228600" indent="-228600">
              <a:buFont typeface="+mj-lt"/>
              <a:buAutoNum type="arabicPeriod"/>
            </a:pPr>
            <a:endParaRPr lang="en-US" dirty="0">
              <a:latin typeface="Calibri" panose="020F0502020204030204" pitchFamily="34" charset="0"/>
            </a:endParaRPr>
          </a:p>
          <a:p>
            <a:pPr marL="0" indent="0">
              <a:buFontTx/>
              <a:buNone/>
            </a:pPr>
            <a:r>
              <a:rPr lang="en-US" dirty="0">
                <a:latin typeface="Calibri" panose="020F0502020204030204" pitchFamily="34" charset="0"/>
              </a:rPr>
              <a:t>Distinguishing chat history as a separate application component from the foundation model is critical to designing effective application architectures when you need to include these types of memory or conversational behaviors.</a:t>
            </a:r>
          </a:p>
          <a:p>
            <a:pPr marL="0" indent="0">
              <a:buFontTx/>
              <a:buNone/>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b="1" i="0" kern="1200" dirty="0">
                <a:solidFill>
                  <a:schemeClr val="tx1"/>
                </a:solidFill>
                <a:effectLst/>
                <a:latin typeface="Calibri" panose="020F0502020204030204" pitchFamily="34" charset="0"/>
                <a:ea typeface="+mn-ea"/>
                <a:cs typeface="+mn-cs"/>
              </a:rPr>
              <a:t>Disclaimer</a:t>
            </a:r>
            <a:r>
              <a:rPr lang="en-US" b="0" i="0" kern="1200" dirty="0">
                <a:solidFill>
                  <a:schemeClr val="tx1"/>
                </a:solidFill>
                <a:effectLst/>
                <a:latin typeface="Calibri" panose="020F0502020204030204" pitchFamily="34" charset="0"/>
                <a:ea typeface="+mn-ea"/>
                <a:cs typeface="+mn-cs"/>
              </a:rPr>
              <a:t>: Hypothetical recommendations are included here for instructional purposes only and are not an endorsement of specific locations or events. </a:t>
            </a:r>
            <a:endParaRPr lang="en-US" dirty="0">
              <a:latin typeface="Calibri" panose="020F0502020204030204" pitchFamily="34" charset="0"/>
            </a:endParaRPr>
          </a:p>
          <a:p>
            <a:pPr marL="0" indent="0">
              <a:buFontTx/>
              <a:buNone/>
            </a:pPr>
            <a:endParaRPr lang="en-US" dirty="0">
              <a:latin typeface="Calibri" panose="020F0502020204030204" pitchFamily="34" charset="0"/>
            </a:endParaRPr>
          </a:p>
          <a:p>
            <a:endParaRPr lang="en-US" dirty="0"/>
          </a:p>
        </p:txBody>
      </p:sp>
    </p:spTree>
    <p:extLst>
      <p:ext uri="{BB962C8B-B14F-4D97-AF65-F5344CB8AC3E}">
        <p14:creationId xmlns:p14="http://schemas.microsoft.com/office/powerpoint/2010/main" val="19452592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241DC-B1C9-7B4A-944B-23D7E97AE9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DA293-F693-478A-4A07-D7DFD71C640B}"/>
              </a:ext>
            </a:extLst>
          </p:cNvPr>
          <p:cNvSpPr>
            <a:spLocks noGrp="1" noRot="1" noChangeAspect="1"/>
          </p:cNvSpPr>
          <p:nvPr>
            <p:ph type="sldImg"/>
          </p:nvPr>
        </p:nvSpPr>
        <p:spPr>
          <a:xfrm>
            <a:off x="1143000" y="635000"/>
            <a:ext cx="5486400" cy="3087688"/>
          </a:xfrm>
        </p:spPr>
      </p:sp>
      <p:sp>
        <p:nvSpPr>
          <p:cNvPr id="3" name="Notes Placeholder 2">
            <a:extLst>
              <a:ext uri="{FF2B5EF4-FFF2-40B4-BE49-F238E27FC236}">
                <a16:creationId xmlns:a16="http://schemas.microsoft.com/office/drawing/2014/main" id="{B5F82C30-C953-BEBC-1235-B57FAD7F6144}"/>
              </a:ext>
            </a:extLst>
          </p:cNvPr>
          <p:cNvSpPr>
            <a:spLocks noGrp="1"/>
          </p:cNvSpPr>
          <p:nvPr>
            <p:ph type="body" idx="1"/>
          </p:nvPr>
        </p:nvSpPr>
        <p:spPr>
          <a:xfrm>
            <a:off x="317500" y="3810000"/>
            <a:ext cx="7112000" cy="4773168"/>
          </a:xfrm>
        </p:spPr>
        <p:txBody>
          <a:bodyPr/>
          <a:lstStyle/>
          <a:p>
            <a:pPr marL="0" marR="0" lvl="0" indent="0" defTabSz="914400" rtl="0" eaLnBrk="1" fontAlgn="auto" latinLnBrk="0" hangingPunct="1">
              <a:buClrTx/>
              <a:buSzTx/>
              <a:buFontTx/>
              <a:buNone/>
              <a:tabLst/>
              <a:defRPr/>
            </a:pPr>
            <a:endParaRPr lang="en-US" dirty="0">
              <a:latin typeface="Calibri" panose="020F0502020204030204" pitchFamily="34" charset="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9089563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 The intent of this question is to see if the students remember the key elements of tokenization and embedding as illustrated using a transformer architecture process. Embedding is particularly important for memory and RAG components.</a:t>
            </a: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 If the input is a sentence, the tokens are words. Embedding then transforms the token sequence into a mathematical vector sequence. The vectors carry semantic and syntax information, represented as numbers, and their attributes are learned during the training process.</a:t>
            </a:r>
            <a:br>
              <a:rPr lang="en-US" dirty="0">
                <a:latin typeface="Calibri" panose="020F0502020204030204" pitchFamily="34" charset="0"/>
              </a:rPr>
            </a:br>
            <a:r>
              <a:rPr lang="en-US" dirty="0">
                <a:latin typeface="Calibri" panose="020F0502020204030204" pitchFamily="34" charset="0"/>
              </a:rPr>
              <a:t>|</a:t>
            </a:r>
          </a:p>
          <a:p>
            <a:pPr marL="0" marR="0" lvl="0" indent="0" defTabSz="914400" rtl="0" eaLnBrk="1" fontAlgn="auto" latinLnBrk="0" hangingPunct="1">
              <a:buClrTx/>
              <a:buSzTx/>
              <a:buFontTx/>
              <a:buNone/>
              <a:tabLst/>
              <a:defRPr/>
            </a:pPr>
            <a:r>
              <a:rPr lang="en-US" b="1" dirty="0">
                <a:latin typeface="Calibri" panose="020F0502020204030204" pitchFamily="34" charset="0"/>
              </a:rPr>
              <a:t>|Student 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8517035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A4443-0F5D-67F4-D5CD-37EC95055F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FC0F0C-7E86-D988-28BA-525BA083779F}"/>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F9A3B574-F71B-89F2-F645-CA7E21706FDE}"/>
              </a:ext>
            </a:extLst>
          </p:cNvPr>
          <p:cNvSpPr>
            <a:spLocks noGrp="1"/>
          </p:cNvSpPr>
          <p:nvPr>
            <p:ph type="body" idx="1"/>
          </p:nvPr>
        </p:nvSpPr>
        <p:spPr/>
        <p:txBody>
          <a:bodyPr/>
          <a:lstStyle/>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|Student notes</a:t>
            </a:r>
          </a:p>
          <a:p>
            <a:r>
              <a:rPr lang="en-US" b="0" i="0" kern="1200" dirty="0">
                <a:solidFill>
                  <a:schemeClr val="tx1"/>
                </a:solidFill>
                <a:effectLst/>
                <a:latin typeface="Calibri" panose="020F0502020204030204" pitchFamily="34" charset="0"/>
                <a:ea typeface="+mn-ea"/>
                <a:cs typeface="+mn-cs"/>
              </a:rPr>
              <a:t>A. Incorrect. Categorization is a classification task common in multiclass classification with machine learning.</a:t>
            </a:r>
          </a:p>
          <a:p>
            <a:r>
              <a:rPr lang="en-US" b="1" i="0" kern="1200" dirty="0">
                <a:solidFill>
                  <a:schemeClr val="tx1"/>
                </a:solidFill>
                <a:effectLst/>
                <a:latin typeface="Calibri" panose="020F0502020204030204" pitchFamily="34" charset="0"/>
                <a:ea typeface="+mn-ea"/>
                <a:cs typeface="+mn-cs"/>
              </a:rPr>
              <a:t>B. Correct. Embedding transforms the token sequence into a mathematical vector sequence. The vectors carry semantic and syntax information, represented as numbers, and their attributes are learned during the training process.</a:t>
            </a:r>
          </a:p>
          <a:p>
            <a:r>
              <a:rPr lang="en-US" b="0" i="0" kern="1200" dirty="0">
                <a:solidFill>
                  <a:schemeClr val="tx1"/>
                </a:solidFill>
                <a:effectLst/>
                <a:latin typeface="Calibri" panose="020F0502020204030204" pitchFamily="34" charset="0"/>
                <a:ea typeface="+mn-ea"/>
                <a:cs typeface="+mn-cs"/>
              </a:rPr>
              <a:t>C. Incorrect. Decoupling is the technique of reducing the dependencies between application components, which can help to enable horizontal scaling.</a:t>
            </a:r>
          </a:p>
          <a:p>
            <a:r>
              <a:rPr lang="en-US" b="0" i="0" kern="1200" dirty="0">
                <a:solidFill>
                  <a:schemeClr val="tx1"/>
                </a:solidFill>
                <a:effectLst/>
                <a:latin typeface="Calibri" panose="020F0502020204030204" pitchFamily="34" charset="0"/>
                <a:ea typeface="+mn-ea"/>
                <a:cs typeface="+mn-cs"/>
              </a:rPr>
              <a:t>D. Incorrect. Correlation is the strength between parameters during machine learning model training.</a:t>
            </a:r>
          </a:p>
          <a:p>
            <a:endParaRPr lang="en-US" dirty="0">
              <a:latin typeface="Calibri" panose="020F0502020204030204" pitchFamily="34" charset="0"/>
            </a:endParaRPr>
          </a:p>
          <a:p>
            <a:endParaRPr lang="en-US" dirty="0">
              <a:latin typeface="Calibri" panose="020F0502020204030204" pitchFamily="34" charset="0"/>
            </a:endParaRPr>
          </a:p>
          <a:p>
            <a:endParaRPr lang="en-US" dirty="0"/>
          </a:p>
        </p:txBody>
      </p:sp>
    </p:spTree>
    <p:extLst>
      <p:ext uri="{BB962C8B-B14F-4D97-AF65-F5344CB8AC3E}">
        <p14:creationId xmlns:p14="http://schemas.microsoft.com/office/powerpoint/2010/main" val="30093856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32AAE-D267-137A-B28F-AE88DDA8C8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B9972-A0CC-9A0C-5DA3-7037F3B6DBF8}"/>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D68822C3-7604-708E-6D5A-34BC35D5F2EC}"/>
              </a:ext>
            </a:extLst>
          </p:cNvPr>
          <p:cNvSpPr>
            <a:spLocks noGrp="1"/>
          </p:cNvSpPr>
          <p:nvPr>
            <p:ph type="body" idx="1"/>
          </p:nvPr>
        </p:nvSpPr>
        <p:spPr/>
        <p:txBody>
          <a:bodyPr/>
          <a:lstStyle/>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pPr marL="0" marR="0" lvl="0" indent="0" defTabSz="914400" rtl="0" eaLnBrk="1" fontAlgn="auto" latinLnBrk="0" hangingPunct="1">
              <a:buClrTx/>
              <a:buSzTx/>
              <a:buFontTx/>
              <a:buNone/>
              <a:tabLst/>
              <a:defRPr/>
            </a:pPr>
            <a:r>
              <a:rPr lang="en-US" b="1" dirty="0">
                <a:latin typeface="Calibri" panose="020F0502020204030204" pitchFamily="34" charset="0"/>
              </a:rPr>
              <a:t>|Student 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8073077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2C163-B4D5-3708-0D0C-78D4036C3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02430-8CF7-04DC-7979-6D8139EDA646}"/>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5A1683EB-0A6B-077A-31F2-BF8475F14CED}"/>
              </a:ext>
            </a:extLst>
          </p:cNvPr>
          <p:cNvSpPr>
            <a:spLocks noGrp="1"/>
          </p:cNvSpPr>
          <p:nvPr>
            <p:ph type="body" idx="1"/>
          </p:nvPr>
        </p:nvSpPr>
        <p:spPr/>
        <p:txBody>
          <a:bodyPr/>
          <a:lstStyle/>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|Student notes</a:t>
            </a:r>
          </a:p>
          <a:p>
            <a:r>
              <a:rPr lang="en-US" b="0" i="0" kern="1200" dirty="0">
                <a:solidFill>
                  <a:schemeClr val="tx1"/>
                </a:solidFill>
                <a:effectLst/>
                <a:latin typeface="Calibri" panose="020F0502020204030204" pitchFamily="34" charset="0"/>
                <a:ea typeface="+mn-ea"/>
                <a:cs typeface="+mn-cs"/>
              </a:rPr>
              <a:t>A. Incorrect. Examples of applications that boost productivity are Amazon Q products, such as Amazon Q Developer.</a:t>
            </a:r>
          </a:p>
          <a:p>
            <a:r>
              <a:rPr lang="en-US" b="1" i="0" kern="1200" dirty="0">
                <a:solidFill>
                  <a:schemeClr val="tx1"/>
                </a:solidFill>
                <a:effectLst/>
                <a:latin typeface="Calibri" panose="020F0502020204030204" pitchFamily="34" charset="0"/>
                <a:ea typeface="+mn-ea"/>
                <a:cs typeface="+mn-cs"/>
              </a:rPr>
              <a:t>B. Correct. Amazon Bedrock is a fully managed service that offers a choice of high-performing foundation models (FMs) from leading AI companies through a single API, along with a broad set of capabilities that you need to build generative AI applications with security, privacy, and responsible AI. Using Amazon Bedrock, you can experiment with and evaluate top FMs for your use case, privately customize them with your data using techniques such as fine-tuning and Retrieval Augmented Generation (RAG), and build agents that execute tasks using your enterprise systems and data sources.</a:t>
            </a:r>
          </a:p>
          <a:p>
            <a:r>
              <a:rPr lang="en-US" b="0" i="0" kern="1200" dirty="0">
                <a:solidFill>
                  <a:schemeClr val="tx1"/>
                </a:solidFill>
                <a:effectLst/>
                <a:latin typeface="Calibri" panose="020F0502020204030204" pitchFamily="34" charset="0"/>
                <a:ea typeface="+mn-ea"/>
                <a:cs typeface="+mn-cs"/>
              </a:rPr>
              <a:t>C. Incorrect. An example of a service that is categorized in the layer of infrastructure to build and train AI models is Amazon SageMaker AI.</a:t>
            </a:r>
          </a:p>
          <a:p>
            <a:r>
              <a:rPr lang="en-US" b="0" i="0" kern="1200" dirty="0">
                <a:solidFill>
                  <a:schemeClr val="tx1"/>
                </a:solidFill>
                <a:effectLst/>
                <a:latin typeface="Calibri" panose="020F0502020204030204" pitchFamily="34" charset="0"/>
                <a:ea typeface="+mn-ea"/>
                <a:cs typeface="+mn-cs"/>
              </a:rPr>
              <a:t>D. Incorrect. High-performance compute is a part of the layer of infrastructure to build and train AI models.</a:t>
            </a:r>
          </a:p>
          <a:p>
            <a:endParaRPr lang="en-US" dirty="0">
              <a:latin typeface="Calibri" panose="020F0502020204030204" pitchFamily="34" charset="0"/>
            </a:endParaRPr>
          </a:p>
          <a:p>
            <a:endParaRPr lang="en-US" dirty="0">
              <a:latin typeface="Calibri" panose="020F0502020204030204" pitchFamily="34" charset="0"/>
            </a:endParaRPr>
          </a:p>
          <a:p>
            <a:endParaRPr lang="en-US" dirty="0"/>
          </a:p>
        </p:txBody>
      </p:sp>
    </p:spTree>
    <p:extLst>
      <p:ext uri="{BB962C8B-B14F-4D97-AF65-F5344CB8AC3E}">
        <p14:creationId xmlns:p14="http://schemas.microsoft.com/office/powerpoint/2010/main" val="13219217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584CB-C544-030F-9317-3BCDBF79D3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A641AB-7298-3D5F-B46B-F71B57034C1E}"/>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86E1801B-09C4-870D-DA04-66CB2D0FC3C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4014656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BFB1F-92AF-0821-CB47-9DAB6F16E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8B2E50-F640-C4BB-A0C6-9DE47F5A61DA}"/>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4BF007F5-08E5-E092-97C0-3340B776E555}"/>
              </a:ext>
            </a:extLst>
          </p:cNvPr>
          <p:cNvSpPr>
            <a:spLocks noGrp="1"/>
          </p:cNvSpPr>
          <p:nvPr>
            <p:ph type="body" idx="1"/>
          </p:nvPr>
        </p:nvSpPr>
        <p:spPr/>
        <p:txBody>
          <a:bodyPr/>
          <a:lstStyle/>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|Student notes</a:t>
            </a:r>
          </a:p>
          <a:p>
            <a:r>
              <a:rPr lang="en-US" b="0" i="0" kern="1200" dirty="0">
                <a:solidFill>
                  <a:schemeClr val="tx1"/>
                </a:solidFill>
                <a:effectLst/>
                <a:latin typeface="Calibri" panose="020F0502020204030204" pitchFamily="34" charset="0"/>
                <a:ea typeface="+mn-ea"/>
                <a:cs typeface="+mn-cs"/>
              </a:rPr>
              <a:t>A. Incorrect. Enterprise datasets can be used to customize models using continued pre-training, fine-tuning, or distillation. They can also be used to hydrate vector stores to be used as knowledge bases for Retrieval Augmented Generation (RAG).</a:t>
            </a:r>
          </a:p>
          <a:p>
            <a:r>
              <a:rPr lang="en-US" b="0" i="0" kern="1200" dirty="0">
                <a:solidFill>
                  <a:schemeClr val="tx1"/>
                </a:solidFill>
                <a:effectLst/>
                <a:latin typeface="Calibri" panose="020F0502020204030204" pitchFamily="34" charset="0"/>
                <a:ea typeface="+mn-ea"/>
                <a:cs typeface="+mn-cs"/>
              </a:rPr>
              <a:t>B. Incorrect. Vector stores are used in Retrieval Augmented Generation (RAG) techniques and would not have the proper context to retrieve conversational history.</a:t>
            </a:r>
          </a:p>
          <a:p>
            <a:r>
              <a:rPr lang="en-US" b="1" i="0" kern="1200" dirty="0">
                <a:solidFill>
                  <a:schemeClr val="tx1"/>
                </a:solidFill>
                <a:effectLst/>
                <a:latin typeface="Calibri" panose="020F0502020204030204" pitchFamily="34" charset="0"/>
                <a:ea typeface="+mn-ea"/>
                <a:cs typeface="+mn-cs"/>
              </a:rPr>
              <a:t>C. Correct. Memory components can be used to make sure that applications can send prior conversational responses back to the foundation model in the prompts of subsequent interchanges.</a:t>
            </a:r>
          </a:p>
          <a:p>
            <a:r>
              <a:rPr lang="en-US" b="0" i="0" kern="1200" dirty="0">
                <a:solidFill>
                  <a:schemeClr val="tx1"/>
                </a:solidFill>
                <a:effectLst/>
                <a:latin typeface="Calibri" panose="020F0502020204030204" pitchFamily="34" charset="0"/>
                <a:ea typeface="+mn-ea"/>
                <a:cs typeface="+mn-cs"/>
              </a:rPr>
              <a:t>D. Incorrect. Agents can be used to offload work from your core application components.</a:t>
            </a:r>
          </a:p>
          <a:p>
            <a:endParaRPr lang="en-US" dirty="0">
              <a:latin typeface="Calibri" panose="020F0502020204030204" pitchFamily="34" charset="0"/>
            </a:endParaRPr>
          </a:p>
          <a:p>
            <a:endParaRPr lang="en-US" dirty="0">
              <a:latin typeface="Calibri" panose="020F0502020204030204" pitchFamily="34" charset="0"/>
            </a:endParaRPr>
          </a:p>
          <a:p>
            <a:endParaRPr lang="en-US" dirty="0"/>
          </a:p>
        </p:txBody>
      </p:sp>
    </p:spTree>
    <p:extLst>
      <p:ext uri="{BB962C8B-B14F-4D97-AF65-F5344CB8AC3E}">
        <p14:creationId xmlns:p14="http://schemas.microsoft.com/office/powerpoint/2010/main" val="10334393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D45CD-B086-623E-A708-B227BFFBEC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56B13-8975-18A8-7DE3-875BF072A811}"/>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85B7AC45-8070-F6C7-3DDF-54F84A96168A}"/>
              </a:ext>
            </a:extLst>
          </p:cNvPr>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a:t>
            </a:r>
          </a:p>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|Student notes</a:t>
            </a:r>
          </a:p>
        </p:txBody>
      </p:sp>
    </p:spTree>
    <p:extLst>
      <p:ext uri="{BB962C8B-B14F-4D97-AF65-F5344CB8AC3E}">
        <p14:creationId xmlns:p14="http://schemas.microsoft.com/office/powerpoint/2010/main" val="10164265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AD9A8-F244-7DAC-4F74-D5577DB3C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AE05D-5A94-92CA-A2ED-11EB573B7B00}"/>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AC0C427D-E606-3DA9-4637-CA9F32D54735}"/>
              </a:ext>
            </a:extLst>
          </p:cNvPr>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a:t>
            </a:r>
          </a:p>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|Student notes</a:t>
            </a:r>
          </a:p>
        </p:txBody>
      </p:sp>
    </p:spTree>
    <p:extLst>
      <p:ext uri="{BB962C8B-B14F-4D97-AF65-F5344CB8AC3E}">
        <p14:creationId xmlns:p14="http://schemas.microsoft.com/office/powerpoint/2010/main" val="31171013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18.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3.png"/><Relationship Id="rId4"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Instructor 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Copyright2">
            <a:extLst>
              <a:ext uri="{FF2B5EF4-FFF2-40B4-BE49-F238E27FC236}">
                <a16:creationId xmlns:a16="http://schemas.microsoft.com/office/drawing/2014/main" id="{713DA43C-C13A-438A-9FD1-0171666128E0}"/>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12065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Welcome">
            <a:extLst>
              <a:ext uri="{FF2B5EF4-FFF2-40B4-BE49-F238E27FC236}">
                <a16:creationId xmlns:a16="http://schemas.microsoft.com/office/drawing/2014/main" id="{9232F6EE-4B67-4345-A23C-59998C651704}"/>
              </a:ext>
            </a:extLst>
          </p:cNvPr>
          <p:cNvSpPr>
            <a:spLocks noGrp="1"/>
          </p:cNvSpPr>
          <p:nvPr>
            <p:ph type="body" idx="5" hasCustomPrompt="1"/>
          </p:nvPr>
        </p:nvSpPr>
        <p:spPr>
          <a:xfrm>
            <a:off x="1395765" y="587375"/>
            <a:ext cx="3110146" cy="480131"/>
          </a:xfrm>
          <a:noFill/>
        </p:spPr>
        <p:txBody>
          <a:bodyPr wrap="none" rtlCol="0">
            <a:noAutofit/>
          </a:bodyPr>
          <a:lstStyle>
            <a:lvl1pPr marL="0" indent="0" algn="ctr">
              <a:buNone/>
              <a:defRPr lang="en-US" dirty="0" smtClean="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0" indent="0">
              <a:buNone/>
              <a:defRPr lang="en-US" sz="1800" dirty="0" smtClean="0">
                <a:solidFill>
                  <a:schemeClr val="tx1"/>
                </a:solidFill>
                <a:latin typeface="+mn-lt"/>
                <a:ea typeface="+mn-ea"/>
                <a:cs typeface="+mn-cs"/>
              </a:defRPr>
            </a:lvl2pPr>
            <a:lvl3pPr marL="227012" indent="0">
              <a:buNone/>
              <a:defRPr lang="en-US" sz="1800" dirty="0" smtClean="0">
                <a:solidFill>
                  <a:schemeClr val="tx1"/>
                </a:solidFill>
                <a:latin typeface="+mn-lt"/>
                <a:ea typeface="+mn-ea"/>
                <a:cs typeface="+mn-cs"/>
              </a:defRPr>
            </a:lvl3pPr>
            <a:lvl4pPr marL="455612" indent="0">
              <a:buNone/>
              <a:defRPr lang="en-US" dirty="0" smtClean="0">
                <a:solidFill>
                  <a:schemeClr val="tx1"/>
                </a:solidFill>
                <a:latin typeface="+mn-lt"/>
                <a:ea typeface="+mn-ea"/>
                <a:cs typeface="+mn-cs"/>
              </a:defRPr>
            </a:lvl4pPr>
            <a:lvl5pPr marL="684212" indent="0">
              <a:buNone/>
              <a:defRPr lang="en-US" dirty="0">
                <a:solidFill>
                  <a:schemeClr val="tx1"/>
                </a:solidFill>
                <a:latin typeface="+mn-lt"/>
                <a:ea typeface="+mn-ea"/>
                <a:cs typeface="+mn-cs"/>
              </a:defRPr>
            </a:lvl5pPr>
          </a:lstStyle>
          <a:p>
            <a:pPr marL="0" lvl="0" algn="ctr"/>
            <a:r>
              <a:rPr lang="en-US" dirty="0"/>
              <a:t>Type: Welcome to</a:t>
            </a:r>
          </a:p>
        </p:txBody>
      </p:sp>
      <p:sp>
        <p:nvSpPr>
          <p:cNvPr id="9" name="Title"/>
          <p:cNvSpPr>
            <a:spLocks noGrp="1"/>
          </p:cNvSpPr>
          <p:nvPr>
            <p:ph type="title" idx="1" hasCustomPrompt="1"/>
          </p:nvPr>
        </p:nvSpPr>
        <p:spPr>
          <a:xfrm>
            <a:off x="228600" y="1179576"/>
            <a:ext cx="5440680" cy="3401568"/>
          </a:xfrm>
        </p:spPr>
        <p:txBody>
          <a:bodyPr anchor="t">
            <a:normAutofit/>
          </a:bodyPr>
          <a:lstStyle>
            <a:lvl1pPr algn="ctr">
              <a:defRPr sz="3600">
                <a:solidFill>
                  <a:schemeClr val="bg1"/>
                </a:solidFill>
                <a:latin typeface="Amazon Ember Display Heavy" panose="020F0803020204020204" pitchFamily="34" charset="0"/>
              </a:defRPr>
            </a:lvl1pPr>
          </a:lstStyle>
          <a:p>
            <a:r>
              <a:rPr lang="en-US" dirty="0"/>
              <a:t>Enter course title</a:t>
            </a:r>
          </a:p>
        </p:txBody>
      </p:sp>
      <p:sp>
        <p:nvSpPr>
          <p:cNvPr id="6" name="Begin">
            <a:extLst>
              <a:ext uri="{FF2B5EF4-FFF2-40B4-BE49-F238E27FC236}">
                <a16:creationId xmlns:a16="http://schemas.microsoft.com/office/drawing/2014/main" id="{4C9D10C3-7B9B-40BA-98BE-153026F5FC64}"/>
              </a:ext>
            </a:extLst>
          </p:cNvPr>
          <p:cNvSpPr>
            <a:spLocks noGrp="1"/>
          </p:cNvSpPr>
          <p:nvPr>
            <p:ph type="body" idx="6" hasCustomPrompt="1"/>
          </p:nvPr>
        </p:nvSpPr>
        <p:spPr>
          <a:xfrm>
            <a:off x="228600" y="4884381"/>
            <a:ext cx="5440680" cy="523220"/>
          </a:xfrm>
          <a:blipFill>
            <a:blip r:embed="rId4"/>
            <a:stretch>
              <a:fillRect/>
            </a:stretch>
          </a:blipFill>
        </p:spPr>
        <p:txBody>
          <a:bodyPr wrap="none" rtlCol="0">
            <a:noAutofit/>
          </a:bodyPr>
          <a:lstStyle>
            <a:lvl1pPr marL="0" indent="0">
              <a:buNone/>
              <a:defRPr lang="en-US" dirty="0" smtClean="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0" indent="0">
              <a:buNone/>
              <a:defRPr lang="en-US" sz="1800" dirty="0" smtClean="0">
                <a:solidFill>
                  <a:schemeClr val="tx1"/>
                </a:solidFill>
                <a:latin typeface="+mn-lt"/>
                <a:ea typeface="+mn-ea"/>
                <a:cs typeface="+mn-cs"/>
              </a:defRPr>
            </a:lvl2pPr>
            <a:lvl3pPr marL="227012" indent="0">
              <a:buNone/>
              <a:defRPr lang="en-US" sz="1800" dirty="0" smtClean="0">
                <a:solidFill>
                  <a:schemeClr val="tx1"/>
                </a:solidFill>
                <a:latin typeface="+mn-lt"/>
                <a:ea typeface="+mn-ea"/>
                <a:cs typeface="+mn-cs"/>
              </a:defRPr>
            </a:lvl3pPr>
            <a:lvl4pPr marL="455612" indent="0">
              <a:buNone/>
              <a:defRPr lang="en-US" dirty="0" smtClean="0">
                <a:solidFill>
                  <a:schemeClr val="tx1"/>
                </a:solidFill>
                <a:latin typeface="+mn-lt"/>
                <a:ea typeface="+mn-ea"/>
                <a:cs typeface="+mn-cs"/>
              </a:defRPr>
            </a:lvl4pPr>
            <a:lvl5pPr marL="684212" indent="0">
              <a:buNone/>
              <a:defRPr lang="en-US" dirty="0">
                <a:solidFill>
                  <a:schemeClr val="tx1"/>
                </a:solidFill>
                <a:latin typeface="+mn-lt"/>
                <a:ea typeface="+mn-ea"/>
                <a:cs typeface="+mn-cs"/>
              </a:defRPr>
            </a:lvl5pPr>
          </a:lstStyle>
          <a:p>
            <a:pPr marL="0" lvl="0" algn="ctr"/>
            <a:r>
              <a:rPr lang="en-US" dirty="0"/>
              <a:t>Type: This training will begin:</a:t>
            </a:r>
          </a:p>
        </p:txBody>
      </p:sp>
      <p:sp>
        <p:nvSpPr>
          <p:cNvPr id="2" name="TimeZone">
            <a:extLst>
              <a:ext uri="{FF2B5EF4-FFF2-40B4-BE49-F238E27FC236}">
                <a16:creationId xmlns:a16="http://schemas.microsoft.com/office/drawing/2014/main" id="{15FEBCEE-35B5-4CBC-BD60-FE197957D654}"/>
              </a:ext>
            </a:extLst>
          </p:cNvPr>
          <p:cNvSpPr>
            <a:spLocks noGrp="1"/>
          </p:cNvSpPr>
          <p:nvPr>
            <p:ph type="body" idx="2" hasCustomPrompt="1"/>
          </p:nvPr>
        </p:nvSpPr>
        <p:spPr>
          <a:xfrm>
            <a:off x="228600" y="5463827"/>
            <a:ext cx="5440680" cy="627245"/>
          </a:xfrm>
        </p:spPr>
        <p:txBody>
          <a:bodyPr anchor="t">
            <a:normAutofit/>
          </a:bodyPr>
          <a:lstStyle>
            <a:lvl1pPr marL="0" indent="0" algn="ctr">
              <a:buNone/>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course start time and time zone</a:t>
            </a:r>
          </a:p>
        </p:txBody>
      </p:sp>
      <p:sp>
        <p:nvSpPr>
          <p:cNvPr id="7" name="Instructor">
            <a:extLst>
              <a:ext uri="{FF2B5EF4-FFF2-40B4-BE49-F238E27FC236}">
                <a16:creationId xmlns:a16="http://schemas.microsoft.com/office/drawing/2014/main" id="{BB33D3C1-5E97-49DF-AE65-C137387749BA}"/>
              </a:ext>
            </a:extLst>
          </p:cNvPr>
          <p:cNvSpPr>
            <a:spLocks noGrp="1"/>
          </p:cNvSpPr>
          <p:nvPr>
            <p:ph type="body" idx="7" hasCustomPrompt="1"/>
          </p:nvPr>
        </p:nvSpPr>
        <p:spPr>
          <a:xfrm>
            <a:off x="7641186" y="381721"/>
            <a:ext cx="4263440" cy="523220"/>
          </a:xfrm>
          <a:blipFill>
            <a:blip r:embed="rId5"/>
            <a:stretch>
              <a:fillRect/>
            </a:stretch>
          </a:blipFill>
        </p:spPr>
        <p:txBody>
          <a:bodyPr wrap="none" rtlCol="0" anchor="ctr">
            <a:noAutofit/>
          </a:bodyPr>
          <a:lstStyle>
            <a:lvl1pPr marL="0" indent="0">
              <a:buNone/>
              <a:defRPr lang="en-US" dirty="0" smtClean="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a:r>
              <a:rPr lang="en-US" dirty="0"/>
              <a:t>Type: Your instructor is:</a:t>
            </a:r>
          </a:p>
        </p:txBody>
      </p:sp>
      <p:sp>
        <p:nvSpPr>
          <p:cNvPr id="22" name="Instructor Photo">
            <a:extLst>
              <a:ext uri="{FF2B5EF4-FFF2-40B4-BE49-F238E27FC236}">
                <a16:creationId xmlns:a16="http://schemas.microsoft.com/office/drawing/2014/main" id="{1271813C-5B30-4D24-8175-91D870333A95}"/>
              </a:ext>
              <a:ext uri="{C183D7F6-B498-43B3-948B-1728B52AA6E4}">
                <adec:decorative xmlns:adec="http://schemas.microsoft.com/office/drawing/2017/decorative" val="1"/>
              </a:ext>
            </a:extLst>
          </p:cNvPr>
          <p:cNvSpPr>
            <a:spLocks noGrp="1"/>
          </p:cNvSpPr>
          <p:nvPr>
            <p:ph idx="22" hasCustomPrompt="1"/>
          </p:nvPr>
        </p:nvSpPr>
        <p:spPr>
          <a:xfrm>
            <a:off x="6030786" y="440360"/>
            <a:ext cx="1584325" cy="1581912"/>
          </a:xfrm>
          <a:solidFill>
            <a:schemeClr val="bg1"/>
          </a:solidFill>
        </p:spPr>
        <p:txBody>
          <a:bodyPr>
            <a:normAutofit/>
          </a:bodyPr>
          <a:lstStyle>
            <a:lvl1pPr marL="0" indent="0" algn="ctr">
              <a:buNone/>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Instructor photo</a:t>
            </a:r>
          </a:p>
        </p:txBody>
      </p:sp>
      <p:sp>
        <p:nvSpPr>
          <p:cNvPr id="3" name="Instructor Information">
            <a:extLst>
              <a:ext uri="{FF2B5EF4-FFF2-40B4-BE49-F238E27FC236}">
                <a16:creationId xmlns:a16="http://schemas.microsoft.com/office/drawing/2014/main" id="{09913C86-F9D2-40F4-BFE6-F0C9EF282B5E}"/>
              </a:ext>
            </a:extLst>
          </p:cNvPr>
          <p:cNvSpPr>
            <a:spLocks noGrp="1"/>
          </p:cNvSpPr>
          <p:nvPr>
            <p:ph type="body" idx="3" hasCustomPrompt="1"/>
          </p:nvPr>
        </p:nvSpPr>
        <p:spPr>
          <a:xfrm>
            <a:off x="7641186" y="1002529"/>
            <a:ext cx="4261253" cy="1021776"/>
          </a:xfrm>
        </p:spPr>
        <p:txBody>
          <a:bodyPr anchor="t">
            <a:normAutofit/>
          </a:bodyPr>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instructor name</a:t>
            </a:r>
            <a:br>
              <a:rPr lang="en-US" dirty="0"/>
            </a:br>
            <a:r>
              <a:rPr lang="en-US" dirty="0"/>
              <a:t>Instructor email address</a:t>
            </a:r>
            <a:br>
              <a:rPr lang="en-US" dirty="0"/>
            </a:br>
            <a:r>
              <a:rPr lang="en-US" dirty="0"/>
              <a:t>Instructor title</a:t>
            </a:r>
          </a:p>
        </p:txBody>
      </p:sp>
      <p:sp>
        <p:nvSpPr>
          <p:cNvPr id="23" name="Certifications Photo">
            <a:extLst>
              <a:ext uri="{FF2B5EF4-FFF2-40B4-BE49-F238E27FC236}">
                <a16:creationId xmlns:a16="http://schemas.microsoft.com/office/drawing/2014/main" id="{5EC4E533-CE33-4590-A00C-A2DC85ACB3BF}"/>
              </a:ext>
              <a:ext uri="{C183D7F6-B498-43B3-948B-1728B52AA6E4}">
                <adec:decorative xmlns:adec="http://schemas.microsoft.com/office/drawing/2017/decorative" val="1"/>
              </a:ext>
            </a:extLst>
          </p:cNvPr>
          <p:cNvSpPr>
            <a:spLocks noGrp="1"/>
          </p:cNvSpPr>
          <p:nvPr>
            <p:ph idx="23" hasCustomPrompt="1"/>
          </p:nvPr>
        </p:nvSpPr>
        <p:spPr>
          <a:xfrm>
            <a:off x="6016915" y="2255896"/>
            <a:ext cx="5897880" cy="1581912"/>
          </a:xfrm>
          <a:solidFill>
            <a:schemeClr val="bg1"/>
          </a:solidFill>
        </p:spPr>
        <p:txBody>
          <a:bodyPr>
            <a:normAutofit/>
          </a:bodyPr>
          <a:lstStyle>
            <a:lvl1pPr marL="0" indent="0" algn="ctr">
              <a:buNone/>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Placeholder for instructor certification icon images</a:t>
            </a:r>
          </a:p>
        </p:txBody>
      </p:sp>
      <p:sp>
        <p:nvSpPr>
          <p:cNvPr id="8" name="Connect">
            <a:extLst>
              <a:ext uri="{FF2B5EF4-FFF2-40B4-BE49-F238E27FC236}">
                <a16:creationId xmlns:a16="http://schemas.microsoft.com/office/drawing/2014/main" id="{184A9DBC-1B09-48A1-9B47-4CDF5BCBF7AC}"/>
              </a:ext>
            </a:extLst>
          </p:cNvPr>
          <p:cNvSpPr>
            <a:spLocks noGrp="1"/>
          </p:cNvSpPr>
          <p:nvPr>
            <p:ph type="body" idx="8" hasCustomPrompt="1"/>
          </p:nvPr>
        </p:nvSpPr>
        <p:spPr>
          <a:xfrm>
            <a:off x="6016916" y="4172310"/>
            <a:ext cx="5897880" cy="587703"/>
          </a:xfrm>
          <a:blipFill>
            <a:blip r:embed="rId5"/>
            <a:stretch>
              <a:fillRect/>
            </a:stretch>
          </a:blipFill>
        </p:spPr>
        <p:txBody>
          <a:bodyPr wrap="none" rtlCol="0" anchor="ctr">
            <a:noAutofit/>
          </a:bodyPr>
          <a:lstStyle>
            <a:lvl1pPr marL="0" indent="0">
              <a:buNone/>
              <a:defRPr lang="en-US" dirty="0" smtClean="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a:r>
              <a:rPr lang="en-US" dirty="0"/>
              <a:t>Type: Important information</a:t>
            </a:r>
          </a:p>
        </p:txBody>
      </p:sp>
      <p:sp>
        <p:nvSpPr>
          <p:cNvPr id="4" name="Resources">
            <a:extLst>
              <a:ext uri="{FF2B5EF4-FFF2-40B4-BE49-F238E27FC236}">
                <a16:creationId xmlns:a16="http://schemas.microsoft.com/office/drawing/2014/main" id="{B7141889-281C-44C1-8554-B9EEA8D5FF40}"/>
              </a:ext>
            </a:extLst>
          </p:cNvPr>
          <p:cNvSpPr>
            <a:spLocks noGrp="1"/>
          </p:cNvSpPr>
          <p:nvPr>
            <p:ph type="body" idx="4" hasCustomPrompt="1"/>
          </p:nvPr>
        </p:nvSpPr>
        <p:spPr>
          <a:xfrm>
            <a:off x="6016915" y="4884381"/>
            <a:ext cx="5897881" cy="1533258"/>
          </a:xfrm>
        </p:spPr>
        <p:txBody>
          <a:bodyPr anchor="t">
            <a:normAutofit/>
          </a:bodyPr>
          <a:lstStyle>
            <a:lvl1pPr marL="0" indent="0" algn="l">
              <a:spcBef>
                <a:spcPts val="0"/>
              </a:spcBef>
              <a:spcAft>
                <a:spcPts val="0"/>
              </a:spcAft>
              <a:buNone/>
              <a:defRPr sz="180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information for </a:t>
            </a:r>
            <a:r>
              <a:rPr lang="en-US" dirty="0" err="1"/>
              <a:t>eVantage</a:t>
            </a:r>
            <a:r>
              <a:rPr lang="en-US" dirty="0"/>
              <a:t>, QwikLabs, or any other resources the student needs to have loaded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Copyright2">
            <a:extLst>
              <a:ext uri="{FF2B5EF4-FFF2-40B4-BE49-F238E27FC236}">
                <a16:creationId xmlns:a16="http://schemas.microsoft.com/office/drawing/2014/main" id="{7FE27268-B60F-47CF-ACCF-3D59C2F1E2CE}"/>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defRPr>
            </a:lvl1pPr>
          </a:lstStyle>
          <a:p>
            <a:fld id="{4037B1B0-0345-4E15-985A-6BECCDBE474F}" type="slidenum">
              <a:rPr lang="en-US" smtClean="0"/>
              <a:pPr/>
              <a:t>‹#›</a:t>
            </a:fld>
            <a:endParaRPr lang="en-US" dirty="0"/>
          </a:p>
        </p:txBody>
      </p:sp>
      <p:sp>
        <p:nvSpPr>
          <p:cNvPr id="5" name="Title"/>
          <p:cNvSpPr>
            <a:spLocks noGrp="1"/>
          </p:cNvSpPr>
          <p:nvPr>
            <p:ph type="title" idx="1" hasCustomPrompt="1"/>
          </p:nvPr>
        </p:nvSpPr>
        <p:spPr>
          <a:xfrm>
            <a:off x="457200" y="1051560"/>
            <a:ext cx="9144000" cy="1673352"/>
          </a:xfrm>
        </p:spPr>
        <p:txBody>
          <a:bodyPr anchor="b">
            <a:normAutofit/>
          </a:bodyPr>
          <a:lstStyle>
            <a:lvl1pPr algn="l">
              <a:defRPr sz="4800">
                <a:solidFill>
                  <a:schemeClr val="bg1"/>
                </a:solidFill>
                <a:latin typeface="Amazon Ember Display Heavy" panose="020F0803020204020204" pitchFamily="34" charset="0"/>
              </a:defRPr>
            </a:lvl1pPr>
          </a:lstStyle>
          <a:p>
            <a:r>
              <a:rPr lang="en-US" dirty="0"/>
              <a:t>Enter course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2772920"/>
            <a:ext cx="8229600" cy="1755648"/>
          </a:xfrm>
        </p:spPr>
        <p:txBody>
          <a:bodyPr>
            <a:normAutofit/>
          </a:bodyPr>
          <a:lstStyle>
            <a:lvl1pPr marL="0" indent="0" algn="l">
              <a:buNone/>
              <a:defRPr sz="32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3" name="Speaker name">
            <a:extLst>
              <a:ext uri="{FF2B5EF4-FFF2-40B4-BE49-F238E27FC236}">
                <a16:creationId xmlns:a16="http://schemas.microsoft.com/office/drawing/2014/main" id="{6F7020FE-ADDD-441E-A5FA-C6CEED50C04D}"/>
              </a:ext>
            </a:extLst>
          </p:cNvPr>
          <p:cNvSpPr>
            <a:spLocks noGrp="1"/>
          </p:cNvSpPr>
          <p:nvPr>
            <p:ph type="body" idx="3" hasCustomPrompt="1"/>
          </p:nvPr>
        </p:nvSpPr>
        <p:spPr>
          <a:xfrm>
            <a:off x="457200" y="5209027"/>
            <a:ext cx="3797302" cy="369332"/>
          </a:xfrm>
        </p:spPr>
        <p:txBody>
          <a:bodyPr wrap="square"/>
          <a:lstStyle>
            <a:lvl1pPr marL="0" indent="0">
              <a:spcAft>
                <a:spcPts val="0"/>
              </a:spcAft>
              <a:buNone/>
              <a:defRPr sz="2000" b="0" i="0" cap="none" spc="0" baseline="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 (pronouns)</a:t>
            </a:r>
          </a:p>
        </p:txBody>
      </p:sp>
      <p:sp>
        <p:nvSpPr>
          <p:cNvPr id="4" name="Speaker information">
            <a:extLst>
              <a:ext uri="{FF2B5EF4-FFF2-40B4-BE49-F238E27FC236}">
                <a16:creationId xmlns:a16="http://schemas.microsoft.com/office/drawing/2014/main" id="{644D3542-9FEA-4D1A-8F42-0AF8B115886F}"/>
              </a:ext>
            </a:extLst>
          </p:cNvPr>
          <p:cNvSpPr>
            <a:spLocks noGrp="1"/>
          </p:cNvSpPr>
          <p:nvPr>
            <p:ph type="body" idx="4" hasCustomPrompt="1"/>
          </p:nvPr>
        </p:nvSpPr>
        <p:spPr>
          <a:xfrm>
            <a:off x="457200" y="5621815"/>
            <a:ext cx="3797302" cy="823906"/>
          </a:xfrm>
        </p:spPr>
        <p:txBody>
          <a:bodyPr wrap="square"/>
          <a:lstStyle>
            <a:lvl1pPr marL="0" indent="0">
              <a:spcAft>
                <a:spcPts val="300"/>
              </a:spcAft>
              <a:buNone/>
              <a:defRPr sz="16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job title</a:t>
            </a:r>
            <a:br>
              <a:rPr lang="en-US" dirty="0"/>
            </a:br>
            <a:r>
              <a:rPr lang="en-US" dirty="0"/>
              <a:t>Speaker company</a:t>
            </a:r>
          </a:p>
        </p:txBody>
      </p:sp>
    </p:spTree>
    <p:extLst>
      <p:ext uri="{BB962C8B-B14F-4D97-AF65-F5344CB8AC3E}">
        <p14:creationId xmlns:p14="http://schemas.microsoft.com/office/powerpoint/2010/main" val="42848453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Copyright2">
            <a:extLst>
              <a:ext uri="{FF2B5EF4-FFF2-40B4-BE49-F238E27FC236}">
                <a16:creationId xmlns:a16="http://schemas.microsoft.com/office/drawing/2014/main" id="{94B54A1D-688B-487C-8117-0854CD90F14E}"/>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defRPr>
            </a:lvl1pPr>
          </a:lstStyle>
          <a:p>
            <a:fld id="{4037B1B0-0345-4E15-985A-6BECCDBE474F}" type="slidenum">
              <a:rPr lang="en-US" smtClean="0"/>
              <a:pPr/>
              <a:t>‹#›</a:t>
            </a:fld>
            <a:endParaRPr lang="en-US" dirty="0"/>
          </a:p>
        </p:txBody>
      </p:sp>
      <p:sp>
        <p:nvSpPr>
          <p:cNvPr id="5" name="Title"/>
          <p:cNvSpPr>
            <a:spLocks noGrp="1"/>
          </p:cNvSpPr>
          <p:nvPr>
            <p:ph type="title" idx="1" hasCustomPrompt="1"/>
          </p:nvPr>
        </p:nvSpPr>
        <p:spPr>
          <a:xfrm>
            <a:off x="457200" y="2503472"/>
            <a:ext cx="8946292" cy="1673352"/>
          </a:xfrm>
        </p:spPr>
        <p:txBody>
          <a:bodyPr anchor="b">
            <a:normAutofit/>
          </a:bodyPr>
          <a:lstStyle>
            <a:lvl1pPr algn="l">
              <a:defRPr sz="4400">
                <a:solidFill>
                  <a:schemeClr val="bg1"/>
                </a:solidFill>
                <a:latin typeface="Amazon Ember Display Heavy" panose="020F0803020204020204" pitchFamily="34" charset="0"/>
              </a:defRPr>
            </a:lvl1pPr>
          </a:lstStyle>
          <a:p>
            <a:r>
              <a:rPr lang="en-US" dirty="0"/>
              <a:t>Enter course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4224832"/>
            <a:ext cx="8946292" cy="995898"/>
          </a:xfrm>
        </p:spPr>
        <p:txBody>
          <a:bodyPr>
            <a:normAutofit/>
          </a:bodyPr>
          <a:lstStyle>
            <a:lvl1pPr marL="0" indent="0" algn="l">
              <a:buNone/>
              <a:defRPr sz="32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3" name="Speaker name">
            <a:extLst>
              <a:ext uri="{FF2B5EF4-FFF2-40B4-BE49-F238E27FC236}">
                <a16:creationId xmlns:a16="http://schemas.microsoft.com/office/drawing/2014/main" id="{6F7020FE-ADDD-441E-A5FA-C6CEED50C04D}"/>
              </a:ext>
            </a:extLst>
          </p:cNvPr>
          <p:cNvSpPr>
            <a:spLocks noGrp="1"/>
          </p:cNvSpPr>
          <p:nvPr>
            <p:ph type="body" idx="3" hasCustomPrompt="1"/>
          </p:nvPr>
        </p:nvSpPr>
        <p:spPr>
          <a:xfrm>
            <a:off x="457200" y="5209027"/>
            <a:ext cx="3797302" cy="369332"/>
          </a:xfrm>
        </p:spPr>
        <p:txBody>
          <a:bodyPr wrap="square"/>
          <a:lstStyle>
            <a:lvl1pPr marL="0" indent="0">
              <a:spcAft>
                <a:spcPts val="0"/>
              </a:spcAft>
              <a:buNone/>
              <a:defRPr sz="2000" b="0" i="0" cap="none" spc="0" baseline="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 (pronouns)</a:t>
            </a:r>
          </a:p>
        </p:txBody>
      </p:sp>
      <p:sp>
        <p:nvSpPr>
          <p:cNvPr id="4" name="Speaker information">
            <a:extLst>
              <a:ext uri="{FF2B5EF4-FFF2-40B4-BE49-F238E27FC236}">
                <a16:creationId xmlns:a16="http://schemas.microsoft.com/office/drawing/2014/main" id="{644D3542-9FEA-4D1A-8F42-0AF8B115886F}"/>
              </a:ext>
            </a:extLst>
          </p:cNvPr>
          <p:cNvSpPr>
            <a:spLocks noGrp="1"/>
          </p:cNvSpPr>
          <p:nvPr>
            <p:ph type="body" idx="4" hasCustomPrompt="1"/>
          </p:nvPr>
        </p:nvSpPr>
        <p:spPr>
          <a:xfrm>
            <a:off x="457200" y="5621815"/>
            <a:ext cx="3797302" cy="823906"/>
          </a:xfrm>
        </p:spPr>
        <p:txBody>
          <a:bodyPr wrap="square"/>
          <a:lstStyle>
            <a:lvl1pPr marL="0" indent="0">
              <a:spcAft>
                <a:spcPts val="300"/>
              </a:spcAft>
              <a:buNone/>
              <a:defRPr sz="16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job title</a:t>
            </a:r>
            <a:br>
              <a:rPr lang="en-US" dirty="0"/>
            </a:br>
            <a:r>
              <a:rPr lang="en-US" dirty="0"/>
              <a:t>Speaker company</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Copyright2">
            <a:extLst>
              <a:ext uri="{FF2B5EF4-FFF2-40B4-BE49-F238E27FC236}">
                <a16:creationId xmlns:a16="http://schemas.microsoft.com/office/drawing/2014/main" id="{275441AE-F217-456B-BA0D-AF945A80DC64}"/>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dirty="0"/>
          </a:p>
        </p:txBody>
      </p:sp>
      <p:sp>
        <p:nvSpPr>
          <p:cNvPr id="3" name="Title"/>
          <p:cNvSpPr>
            <a:spLocks noGrp="1"/>
          </p:cNvSpPr>
          <p:nvPr>
            <p:ph type="title" idx="1" hasCustomPrompt="1"/>
          </p:nvPr>
        </p:nvSpPr>
        <p:spPr>
          <a:xfrm>
            <a:off x="457200" y="2545492"/>
            <a:ext cx="6456405" cy="2446876"/>
          </a:xfrm>
        </p:spPr>
        <p:txBody>
          <a:bodyPr anchor="b"/>
          <a:lstStyle>
            <a:lvl1pPr algn="l">
              <a:defRPr sz="4400">
                <a:solidFill>
                  <a:schemeClr val="bg1"/>
                </a:solidFill>
                <a:latin typeface="Amazon Ember Display Heavy" panose="020F0803020204020204" pitchFamily="34" charset="0"/>
              </a:defRPr>
            </a:lvl1pPr>
          </a:lstStyle>
          <a:p>
            <a:r>
              <a:rPr lang="en-US" dirty="0"/>
              <a:t>Enter course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5040376"/>
            <a:ext cx="6456405" cy="995898"/>
          </a:xfrm>
        </p:spPr>
        <p:txBody>
          <a:bodyPr>
            <a:normAutofit/>
          </a:bodyPr>
          <a:lstStyle>
            <a:lvl1pPr marL="0" indent="0" algn="l">
              <a:buNone/>
              <a:defRPr sz="32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Copyright2">
            <a:extLst>
              <a:ext uri="{FF2B5EF4-FFF2-40B4-BE49-F238E27FC236}">
                <a16:creationId xmlns:a16="http://schemas.microsoft.com/office/drawing/2014/main" id="{C2C7FF94-29B3-4D35-B1DB-A27C4C5B07B6}"/>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dirty="0"/>
          </a:p>
        </p:txBody>
      </p:sp>
      <p:sp>
        <p:nvSpPr>
          <p:cNvPr id="3" name="Title"/>
          <p:cNvSpPr>
            <a:spLocks noGrp="1"/>
          </p:cNvSpPr>
          <p:nvPr>
            <p:ph type="title" idx="1" hasCustomPrompt="1"/>
          </p:nvPr>
        </p:nvSpPr>
        <p:spPr>
          <a:xfrm>
            <a:off x="457200" y="2545492"/>
            <a:ext cx="9144000" cy="2446876"/>
          </a:xfrm>
        </p:spPr>
        <p:txBody>
          <a:bodyPr anchor="b"/>
          <a:lstStyle>
            <a:lvl1pPr algn="l">
              <a:defRPr sz="4400">
                <a:solidFill>
                  <a:schemeClr val="bg1"/>
                </a:solidFill>
                <a:latin typeface="Amazon Ember Display Heavy" panose="020F0803020204020204" pitchFamily="34" charset="0"/>
              </a:defRPr>
            </a:lvl1pPr>
          </a:lstStyle>
          <a:p>
            <a:r>
              <a:rPr lang="en-US" dirty="0"/>
              <a:t>Enter course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subTitle" idx="2" hasCustomPrompt="1"/>
          </p:nvPr>
        </p:nvSpPr>
        <p:spPr>
          <a:xfrm>
            <a:off x="457200" y="5040376"/>
            <a:ext cx="9144000" cy="995898"/>
          </a:xfrm>
        </p:spPr>
        <p:txBody>
          <a:bodyPr>
            <a:normAutofit/>
          </a:bodyPr>
          <a:lstStyle>
            <a:lvl1pPr marL="0" indent="0" algn="l">
              <a:buNone/>
              <a:defRPr sz="32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Module Out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Copyright2">
            <a:extLst>
              <a:ext uri="{FF2B5EF4-FFF2-40B4-BE49-F238E27FC236}">
                <a16:creationId xmlns:a16="http://schemas.microsoft.com/office/drawing/2014/main" id="{0C0A58E9-9C64-4C1A-B055-B4E933247AC0}"/>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defRPr>
            </a:lvl1pPr>
          </a:lstStyle>
          <a:p>
            <a:fld id="{4037B1B0-0345-4E15-985A-6BECCDBE474F}" type="slidenum">
              <a:rPr lang="en-US" smtClean="0"/>
              <a:pPr/>
              <a:t>‹#›</a:t>
            </a:fld>
            <a:endParaRPr lang="en-US" dirty="0"/>
          </a:p>
        </p:txBody>
      </p:sp>
      <p:sp>
        <p:nvSpPr>
          <p:cNvPr id="4" name="Title"/>
          <p:cNvSpPr>
            <a:spLocks noGrp="1"/>
          </p:cNvSpPr>
          <p:nvPr>
            <p:ph type="title" idx="1" hasCustomPrompt="1"/>
          </p:nvPr>
        </p:nvSpPr>
        <p:spPr>
          <a:xfrm>
            <a:off x="365760" y="1541983"/>
            <a:ext cx="8481678" cy="1188720"/>
          </a:xfrm>
        </p:spPr>
        <p:txBody>
          <a:bodyPr anchor="b">
            <a:normAutofit/>
          </a:bodyPr>
          <a:lstStyle>
            <a:lvl1pPr algn="l">
              <a:defRPr sz="3600">
                <a:solidFill>
                  <a:schemeClr val="bg1"/>
                </a:solidFill>
                <a:latin typeface="Amazon Ember Display Heavy" panose="020F0803020204020204" pitchFamily="34" charset="0"/>
              </a:defRPr>
            </a:lvl1pPr>
          </a:lstStyle>
          <a:p>
            <a:r>
              <a:rPr lang="en-US" dirty="0"/>
              <a:t>Enter module/topic title</a:t>
            </a:r>
          </a:p>
        </p:txBody>
      </p:sp>
      <p:sp>
        <p:nvSpPr>
          <p:cNvPr id="2" name="Course Title">
            <a:extLst>
              <a:ext uri="{FF2B5EF4-FFF2-40B4-BE49-F238E27FC236}">
                <a16:creationId xmlns:a16="http://schemas.microsoft.com/office/drawing/2014/main" id="{3994D76F-ED98-46E1-ABB9-199672C46C02}"/>
              </a:ext>
            </a:extLst>
          </p:cNvPr>
          <p:cNvSpPr>
            <a:spLocks noGrp="1"/>
          </p:cNvSpPr>
          <p:nvPr>
            <p:ph type="body" idx="2" hasCustomPrompt="1"/>
          </p:nvPr>
        </p:nvSpPr>
        <p:spPr>
          <a:xfrm>
            <a:off x="365760" y="1123950"/>
            <a:ext cx="11634787" cy="388938"/>
          </a:xfrm>
        </p:spPr>
        <p:txBody>
          <a:bodyPr>
            <a:noAutofit/>
          </a:bodyPr>
          <a:lstStyle>
            <a:lvl1pPr marL="0" indent="0">
              <a:buNone/>
              <a:defRPr sz="2000">
                <a:solidFill>
                  <a:schemeClr val="bg1"/>
                </a:solidFill>
                <a:latin typeface="Amazon Ember Display" panose="020F0603020204020204" pitchFamily="34" charset="0"/>
              </a:defRPr>
            </a:lvl1pPr>
          </a:lstStyle>
          <a:p>
            <a:pPr lvl="0"/>
            <a:r>
              <a:rPr lang="en-US" dirty="0"/>
              <a:t>Enter course title</a:t>
            </a:r>
          </a:p>
        </p:txBody>
      </p:sp>
      <p:sp>
        <p:nvSpPr>
          <p:cNvPr id="3" name="Module Outline">
            <a:extLst>
              <a:ext uri="{FF2B5EF4-FFF2-40B4-BE49-F238E27FC236}">
                <a16:creationId xmlns:a16="http://schemas.microsoft.com/office/drawing/2014/main" id="{91A6C2FB-ED41-4361-926E-A4180B7A0A60}"/>
              </a:ext>
            </a:extLst>
          </p:cNvPr>
          <p:cNvSpPr>
            <a:spLocks noGrp="1"/>
          </p:cNvSpPr>
          <p:nvPr>
            <p:ph type="body" idx="3" hasCustomPrompt="1"/>
          </p:nvPr>
        </p:nvSpPr>
        <p:spPr>
          <a:xfrm>
            <a:off x="710514" y="2743200"/>
            <a:ext cx="8141118" cy="3657600"/>
          </a:xfrm>
        </p:spPr>
        <p:txBody>
          <a:bodyPr/>
          <a:lstStyle>
            <a:lvl1pPr marL="0" indent="0">
              <a:buNone/>
              <a:defRPr>
                <a:solidFill>
                  <a:schemeClr val="bg1"/>
                </a:solidFill>
                <a:latin typeface="Amazon Ember Display" panose="020F0603020204020204" pitchFamily="34" charset="0"/>
              </a:defRPr>
            </a:lvl1pPr>
          </a:lstStyle>
          <a:p>
            <a:pPr lvl="0"/>
            <a:r>
              <a:rPr lang="en-US" dirty="0"/>
              <a:t>Enter topic list</a:t>
            </a: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secHead" preserve="1">
  <p:cSld name="Module Outlin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Copyright2">
            <a:extLst>
              <a:ext uri="{FF2B5EF4-FFF2-40B4-BE49-F238E27FC236}">
                <a16:creationId xmlns:a16="http://schemas.microsoft.com/office/drawing/2014/main" id="{B8607AFE-BED2-4321-B88D-EF4DA8E6C0EB}"/>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defRPr>
            </a:lvl1pPr>
          </a:lstStyle>
          <a:p>
            <a:fld id="{4037B1B0-0345-4E15-985A-6BECCDBE474F}" type="slidenum">
              <a:rPr lang="en-US" smtClean="0"/>
              <a:pPr/>
              <a:t>‹#›</a:t>
            </a:fld>
            <a:endParaRPr lang="en-US" dirty="0"/>
          </a:p>
        </p:txBody>
      </p:sp>
      <p:sp>
        <p:nvSpPr>
          <p:cNvPr id="4" name="Title"/>
          <p:cNvSpPr>
            <a:spLocks noGrp="1"/>
          </p:cNvSpPr>
          <p:nvPr>
            <p:ph type="title" idx="1" hasCustomPrompt="1"/>
          </p:nvPr>
        </p:nvSpPr>
        <p:spPr>
          <a:xfrm>
            <a:off x="365760" y="1541983"/>
            <a:ext cx="8481678" cy="1188720"/>
          </a:xfrm>
        </p:spPr>
        <p:txBody>
          <a:bodyPr anchor="b">
            <a:normAutofit/>
          </a:bodyPr>
          <a:lstStyle>
            <a:lvl1pPr algn="l">
              <a:defRPr sz="3600">
                <a:solidFill>
                  <a:schemeClr val="bg1"/>
                </a:solidFill>
                <a:latin typeface="Amazon Ember Display Heavy" panose="020F0803020204020204" pitchFamily="34" charset="0"/>
              </a:defRPr>
            </a:lvl1pPr>
          </a:lstStyle>
          <a:p>
            <a:r>
              <a:rPr lang="en-US" dirty="0"/>
              <a:t>Enter module/topic title</a:t>
            </a:r>
          </a:p>
        </p:txBody>
      </p:sp>
      <p:sp>
        <p:nvSpPr>
          <p:cNvPr id="2" name="Course Title">
            <a:extLst>
              <a:ext uri="{FF2B5EF4-FFF2-40B4-BE49-F238E27FC236}">
                <a16:creationId xmlns:a16="http://schemas.microsoft.com/office/drawing/2014/main" id="{3994D76F-ED98-46E1-ABB9-199672C46C02}"/>
              </a:ext>
            </a:extLst>
          </p:cNvPr>
          <p:cNvSpPr>
            <a:spLocks noGrp="1"/>
          </p:cNvSpPr>
          <p:nvPr>
            <p:ph type="body" idx="2" hasCustomPrompt="1"/>
          </p:nvPr>
        </p:nvSpPr>
        <p:spPr>
          <a:xfrm>
            <a:off x="365760" y="1123950"/>
            <a:ext cx="11634787" cy="388938"/>
          </a:xfrm>
        </p:spPr>
        <p:txBody>
          <a:bodyPr>
            <a:noAutofit/>
          </a:bodyPr>
          <a:lstStyle>
            <a:lvl1pPr marL="0" indent="0">
              <a:buNone/>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course title</a:t>
            </a:r>
          </a:p>
        </p:txBody>
      </p:sp>
      <p:sp>
        <p:nvSpPr>
          <p:cNvPr id="3" name="Module Outline">
            <a:extLst>
              <a:ext uri="{FF2B5EF4-FFF2-40B4-BE49-F238E27FC236}">
                <a16:creationId xmlns:a16="http://schemas.microsoft.com/office/drawing/2014/main" id="{91A6C2FB-ED41-4361-926E-A4180B7A0A60}"/>
              </a:ext>
            </a:extLst>
          </p:cNvPr>
          <p:cNvSpPr>
            <a:spLocks noGrp="1"/>
          </p:cNvSpPr>
          <p:nvPr>
            <p:ph type="body" idx="3" hasCustomPrompt="1"/>
          </p:nvPr>
        </p:nvSpPr>
        <p:spPr>
          <a:xfrm>
            <a:off x="710514" y="2743200"/>
            <a:ext cx="8141118" cy="3657600"/>
          </a:xfrm>
        </p:spPr>
        <p:txBody>
          <a:bodyPr/>
          <a:lstStyle>
            <a:lvl1pPr marL="0" indent="0">
              <a:buNone/>
              <a:defRPr>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topic list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Copyright2">
            <a:extLst>
              <a:ext uri="{FF2B5EF4-FFF2-40B4-BE49-F238E27FC236}">
                <a16:creationId xmlns:a16="http://schemas.microsoft.com/office/drawing/2014/main" id="{240A461A-6721-4179-A13E-9EAE34900590}"/>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dirty="0"/>
          </a:p>
        </p:txBody>
      </p:sp>
      <p:sp>
        <p:nvSpPr>
          <p:cNvPr id="3" name="Title"/>
          <p:cNvSpPr>
            <a:spLocks noGrp="1"/>
          </p:cNvSpPr>
          <p:nvPr>
            <p:ph type="title" idx="1" hasCustomPrompt="1"/>
          </p:nvPr>
        </p:nvSpPr>
        <p:spPr>
          <a:xfrm>
            <a:off x="365760" y="1709738"/>
            <a:ext cx="9144000" cy="3609846"/>
          </a:xfrm>
        </p:spPr>
        <p:txBody>
          <a:bodyPr anchor="ctr"/>
          <a:lstStyle>
            <a:lvl1pPr algn="l">
              <a:defRPr sz="4000">
                <a:solidFill>
                  <a:schemeClr val="bg1"/>
                </a:solidFill>
                <a:latin typeface="Amazon Ember Display Heavy" panose="020F0803020204020204" pitchFamily="34" charset="0"/>
              </a:defRPr>
            </a:lvl1pPr>
          </a:lstStyle>
          <a:p>
            <a:r>
              <a:rPr lang="en-US" dirty="0"/>
              <a:t>Enter section title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365760" y="5319584"/>
            <a:ext cx="9144000" cy="770066"/>
          </a:xfrm>
        </p:spPr>
        <p:txBody>
          <a:bodyPr/>
          <a:lstStyle>
            <a:lvl1pPr marL="0" indent="0">
              <a:buNone/>
              <a:defRPr sz="2800">
                <a:solidFill>
                  <a:schemeClr val="bg2"/>
                </a:solidFill>
                <a:latin typeface="Amazon Ember Display"/>
              </a:defRPr>
            </a:lvl1pPr>
          </a:lstStyle>
          <a:p>
            <a:r>
              <a:rPr lang="en-US" dirty="0"/>
              <a:t>Attribution</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Topic Introdu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Copyright1">
            <a:extLst>
              <a:ext uri="{FF2B5EF4-FFF2-40B4-BE49-F238E27FC236}">
                <a16:creationId xmlns:a16="http://schemas.microsoft.com/office/drawing/2014/main" id="{E07CBAFD-E762-4EBD-A62B-DC892D06CF64}"/>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413500" y="65405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defRPr>
            </a:lvl1pPr>
          </a:lstStyle>
          <a:p>
            <a:fld id="{4037B1B0-0345-4E15-985A-6BECCDBE474F}" type="slidenum">
              <a:rPr lang="en-US" smtClean="0"/>
              <a:pPr/>
              <a:t>‹#›</a:t>
            </a:fld>
            <a:endParaRPr lang="en-US" dirty="0"/>
          </a:p>
        </p:txBody>
      </p:sp>
      <p:sp>
        <p:nvSpPr>
          <p:cNvPr id="4" name="Title"/>
          <p:cNvSpPr>
            <a:spLocks noGrp="1"/>
          </p:cNvSpPr>
          <p:nvPr>
            <p:ph type="title" idx="1" hasCustomPrompt="1"/>
          </p:nvPr>
        </p:nvSpPr>
        <p:spPr>
          <a:xfrm>
            <a:off x="243242" y="292099"/>
            <a:ext cx="4062057" cy="1866901"/>
          </a:xfrm>
        </p:spPr>
        <p:txBody>
          <a:bodyPr anchor="t"/>
          <a:lstStyle>
            <a:lvl1pPr algn="ctr">
              <a:defRPr sz="3600">
                <a:solidFill>
                  <a:schemeClr val="bg1"/>
                </a:solidFill>
                <a:latin typeface="Amazon Ember Display Heavy" panose="020F0803020204020204" pitchFamily="34" charset="0"/>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Amazon Ember Display" panose="020F0603020204020204" pitchFamily="34" charset="0"/>
              </a:defRPr>
            </a:lvl1pPr>
          </a:lstStyle>
          <a:p>
            <a:r>
              <a:rPr lang="en-US" dirty="0"/>
              <a:t>Click to add content</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defRPr sz="2800">
                <a:solidFill>
                  <a:srgbClr val="232F3E"/>
                </a:solidFill>
                <a:latin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Copyright2">
            <a:extLst>
              <a:ext uri="{FF2B5EF4-FFF2-40B4-BE49-F238E27FC236}">
                <a16:creationId xmlns:a16="http://schemas.microsoft.com/office/drawing/2014/main" id="{DDFC2A08-2949-4B0A-BBBD-33F1F167418A}"/>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dirty="0"/>
          </a:p>
        </p:txBody>
      </p:sp>
      <p:sp>
        <p:nvSpPr>
          <p:cNvPr id="3" name="Title"/>
          <p:cNvSpPr>
            <a:spLocks noGrp="1"/>
          </p:cNvSpPr>
          <p:nvPr>
            <p:ph type="title" idx="1" hasCustomPrompt="1"/>
          </p:nvPr>
        </p:nvSpPr>
        <p:spPr>
          <a:xfrm>
            <a:off x="457200" y="1256247"/>
            <a:ext cx="7998031" cy="4049824"/>
          </a:xfrm>
        </p:spPr>
        <p:txBody>
          <a:bodyPr anchor="ctr"/>
          <a:lstStyle>
            <a:lvl1pPr algn="l">
              <a:defRPr sz="4800">
                <a:solidFill>
                  <a:schemeClr val="bg1"/>
                </a:solidFill>
                <a:latin typeface="Amazon Ember Display Heavy" panose="020F0803020204020204" pitchFamily="34" charset="0"/>
              </a:defRPr>
            </a:lvl1pPr>
          </a:lstStyle>
          <a:p>
            <a:r>
              <a:rPr lang="en-US" dirty="0"/>
              <a:t>Thank you text</a:t>
            </a:r>
          </a:p>
        </p:txBody>
      </p:sp>
      <p:sp>
        <p:nvSpPr>
          <p:cNvPr id="2" name="Corrections text">
            <a:extLst>
              <a:ext uri="{FF2B5EF4-FFF2-40B4-BE49-F238E27FC236}">
                <a16:creationId xmlns:a16="http://schemas.microsoft.com/office/drawing/2014/main" id="{6A373FD5-C6D5-4BB3-B1C2-AF88C1A95E05}"/>
              </a:ext>
            </a:extLst>
          </p:cNvPr>
          <p:cNvSpPr>
            <a:spLocks noGrp="1"/>
          </p:cNvSpPr>
          <p:nvPr>
            <p:ph type="body" idx="2" hasCustomPrompt="1"/>
          </p:nvPr>
        </p:nvSpPr>
        <p:spPr>
          <a:xfrm>
            <a:off x="457200" y="5305425"/>
            <a:ext cx="7997825" cy="1141413"/>
          </a:xfrm>
        </p:spPr>
        <p:txBody>
          <a:bodyPr>
            <a:noAutofit/>
          </a:bodyPr>
          <a:lstStyle>
            <a:lvl1pPr marL="0" indent="0">
              <a:lnSpc>
                <a:spcPct val="100000"/>
              </a:lnSpc>
              <a:spcBef>
                <a:spcPts val="0"/>
              </a:spcBef>
              <a:spcAft>
                <a:spcPts val="0"/>
              </a:spcAft>
              <a:buClrTx/>
              <a:buSzTx/>
              <a:buFontTx/>
              <a:buNone/>
              <a:tabLst/>
              <a:defRPr sz="1800">
                <a:solidFill>
                  <a:schemeClr val="bg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pPr marL="0" indent="0">
              <a:lnSpc>
                <a:spcPct val="100000"/>
              </a:lnSpc>
              <a:spcBef>
                <a:spcPts val="0"/>
              </a:spcBef>
              <a:spcAft>
                <a:spcPts val="0"/>
              </a:spcAft>
              <a:buClrTx/>
              <a:buSzTx/>
              <a:buFontTx/>
              <a:buNone/>
              <a:tabLst/>
              <a:defRPr/>
            </a:pPr>
            <a:r>
              <a:rPr lang="en-US" sz="1800" dirty="0">
                <a:solidFill>
                  <a:srgbClr val="F1F3F3"/>
                </a:solidFill>
              </a:rPr>
              <a:t>Type: Corrections, feedback, or other questions? </a:t>
            </a:r>
            <a:br>
              <a:rPr lang="en-US" sz="1800" dirty="0">
                <a:solidFill>
                  <a:srgbClr val="F1F3F3"/>
                </a:solidFill>
              </a:rPr>
            </a:br>
            <a:r>
              <a:rPr lang="en-US" sz="1800" dirty="0">
                <a:solidFill>
                  <a:srgbClr val="F1F3F3"/>
                </a:solidFill>
              </a:rPr>
              <a:t>Contact us at </a:t>
            </a:r>
            <a:r>
              <a:rPr lang="en-US" sz="1800" u="sng" dirty="0">
                <a:solidFill>
                  <a:srgbClr val="F1F3F3"/>
                </a:solidFill>
              </a:rPr>
              <a:t>https://support.aws.amazon.com/#/contacts/aws-training</a:t>
            </a:r>
            <a:r>
              <a:rPr lang="en-US" sz="1800" dirty="0">
                <a:solidFill>
                  <a:srgbClr val="F1F3F3"/>
                </a:solidFill>
              </a:rPr>
              <a:t>. </a:t>
            </a:r>
            <a:br>
              <a:rPr lang="en-US" sz="1800" dirty="0">
                <a:solidFill>
                  <a:srgbClr val="F1F3F3"/>
                </a:solidFill>
              </a:rPr>
            </a:br>
            <a:r>
              <a:rPr lang="en-US" sz="1800" dirty="0">
                <a:solidFill>
                  <a:srgbClr val="F1F3F3"/>
                </a:solidFill>
              </a:rPr>
              <a:t>All trademarks are the property of their owners.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defRPr>
            </a:lvl1pPr>
          </a:lstStyle>
          <a:p>
            <a:fld id="{930176A1-BCF0-4712-97A6-6B495F55390B}" type="slidenum">
              <a:rPr lang="en-US" smtClean="0"/>
              <a:pPr/>
              <a:t>‹#›</a:t>
            </a:fld>
            <a:endParaRPr lang="en-US" dirty="0"/>
          </a:p>
        </p:txBody>
      </p:sp>
      <p:sp>
        <p:nvSpPr>
          <p:cNvPr id="2" name="Title"/>
          <p:cNvSpPr>
            <a:spLocks noGrp="1"/>
          </p:cNvSpPr>
          <p:nvPr>
            <p:ph type="title"/>
          </p:nvPr>
        </p:nvSpPr>
        <p:spPr>
          <a:xfrm>
            <a:off x="365760" y="299526"/>
            <a:ext cx="11466576" cy="731318"/>
          </a:xfrm>
        </p:spPr>
        <p:txBody>
          <a:bodyPr/>
          <a:lstStyle>
            <a:lvl1pPr>
              <a:defRPr>
                <a:solidFill>
                  <a:schemeClr val="tx2"/>
                </a:solidFill>
                <a:latin typeface="Amazon Ember Display Heavy" panose="020F0803020204020204" pitchFamily="34" charset="0"/>
              </a:defRPr>
            </a:lvl1pPr>
          </a:lstStyle>
          <a:p>
            <a:r>
              <a:rPr lang="en-US"/>
              <a:t>Click to edit Master title style</a:t>
            </a:r>
            <a:endParaRPr lang="en-US" dirty="0"/>
          </a:p>
        </p:txBody>
      </p:sp>
      <p:sp>
        <p:nvSpPr>
          <p:cNvPr id="3"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Autofit/>
          </a:bodyPr>
          <a:lstStyle>
            <a:lvl1pPr>
              <a:lnSpc>
                <a:spcPct val="100000"/>
              </a:lnSpc>
              <a:spcBef>
                <a:spcPts val="1000"/>
              </a:spcBef>
              <a:spcAft>
                <a:spcPts val="600"/>
              </a:spcAft>
              <a:defRPr>
                <a:solidFill>
                  <a:schemeClr val="tx1"/>
                </a:solidFill>
                <a:latin typeface="Amazon Ember Display" panose="020F0603020204020204" pitchFamily="34" charset="0"/>
              </a:defRPr>
            </a:lvl1pPr>
            <a:lvl2pPr marL="461963" indent="-228600">
              <a:lnSpc>
                <a:spcPct val="100000"/>
              </a:lnSpc>
              <a:spcBef>
                <a:spcPts val="500"/>
              </a:spcBef>
              <a:spcAft>
                <a:spcPts val="600"/>
              </a:spcAft>
              <a:defRPr>
                <a:solidFill>
                  <a:schemeClr val="tx1"/>
                </a:solidFill>
                <a:latin typeface="Amazon Ember Display" panose="020F0603020204020204" pitchFamily="34" charset="0"/>
              </a:defRPr>
            </a:lvl2pPr>
            <a:lvl3pPr marL="682625" indent="-228600">
              <a:lnSpc>
                <a:spcPct val="100000"/>
              </a:lnSpc>
              <a:spcBef>
                <a:spcPts val="500"/>
              </a:spcBef>
              <a:spcAft>
                <a:spcPts val="600"/>
              </a:spcAft>
              <a:defRPr>
                <a:solidFill>
                  <a:schemeClr val="tx1"/>
                </a:solidFill>
                <a:latin typeface="Amazon Ember Display" panose="020F0603020204020204" pitchFamily="34" charset="0"/>
              </a:defRPr>
            </a:lvl3pPr>
            <a:lvl4pPr marL="914400" indent="-228600">
              <a:lnSpc>
                <a:spcPct val="100000"/>
              </a:lnSpc>
              <a:spcBef>
                <a:spcPts val="500"/>
              </a:spcBef>
              <a:spcAft>
                <a:spcPts val="600"/>
              </a:spcAft>
              <a:defRPr>
                <a:solidFill>
                  <a:schemeClr val="tx1"/>
                </a:solidFill>
                <a:latin typeface="Amazon Ember Display" panose="020F0603020204020204" pitchFamily="34" charset="0"/>
              </a:defRPr>
            </a:lvl4pPr>
            <a:lvl5pPr marL="1146175" indent="-228600">
              <a:lnSpc>
                <a:spcPct val="100000"/>
              </a:lnSpc>
              <a:spcBef>
                <a:spcPts val="500"/>
              </a:spcBef>
              <a:spcAft>
                <a:spcPts val="600"/>
              </a:spcAft>
              <a:defRPr>
                <a:solidFill>
                  <a:schemeClr val="tx1"/>
                </a:solidFill>
                <a:latin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defRPr>
            </a:lvl1pPr>
          </a:lstStyle>
          <a:p>
            <a:fld id="{930176A1-BCF0-4712-97A6-6B495F55390B}" type="slidenum">
              <a:rPr lang="en-US" smtClean="0"/>
              <a:pPr/>
              <a:t>‹#›</a:t>
            </a:fld>
            <a:endParaRPr lang="en-US" dirty="0"/>
          </a:p>
        </p:txBody>
      </p:sp>
      <p:sp>
        <p:nvSpPr>
          <p:cNvPr id="3" name="Title"/>
          <p:cNvSpPr>
            <a:spLocks noGrp="1"/>
          </p:cNvSpPr>
          <p:nvPr>
            <p:ph type="title" idx="1" hasCustomPrompt="1"/>
          </p:nvPr>
        </p:nvSpPr>
        <p:spPr>
          <a:xfrm>
            <a:off x="365760" y="299526"/>
            <a:ext cx="11466576" cy="731318"/>
          </a:xfrm>
        </p:spPr>
        <p:txBody>
          <a:bodyPr/>
          <a:lstStyle/>
          <a:p>
            <a:r>
              <a:rPr lang="en-US" dirty="0"/>
              <a:t>Title and code</a:t>
            </a:r>
          </a:p>
        </p:txBody>
      </p:sp>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11466576" cy="5330952"/>
          </a:xfrm>
        </p:spPr>
        <p:txBody>
          <a:bodyPr>
            <a:noAutofit/>
          </a:bodyPr>
          <a:lstStyle>
            <a:lvl1pPr marL="0" indent="0">
              <a:spcBef>
                <a:spcPts val="0"/>
              </a:spcBef>
              <a:buNone/>
              <a:defRPr sz="1600">
                <a:solidFill>
                  <a:schemeClr val="tx2"/>
                </a:solidFill>
                <a:latin typeface="Lucida Console" panose="020B0609040504020204" pitchFamily="49" charset="0"/>
              </a:defRPr>
            </a:lvl1pPr>
          </a:lstStyle>
          <a:p>
            <a:pPr lvl="0"/>
            <a:r>
              <a:rPr lang="en-US" dirty="0"/>
              <a:t>; Syntax Test file for 68k Assembly code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ext Column, and Small Picture" type="picTx" preserve="1">
  <p:cSld name="Title, 2/3 Column, and Small Pi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3"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2/3 Column, and picture</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1000"/>
              </a:spcBef>
              <a:spcAft>
                <a:spcPts val="600"/>
              </a:spcAft>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Bef>
                <a:spcPts val="500"/>
              </a:spcBef>
              <a:spcAft>
                <a:spcPts val="600"/>
              </a:spcAft>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2625" indent="-228600">
              <a:lnSpc>
                <a:spcPct val="100000"/>
              </a:lnSpc>
              <a:spcBef>
                <a:spcPts val="500"/>
              </a:spcBef>
              <a:spcAft>
                <a:spcPts val="600"/>
              </a:spcAft>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Bef>
                <a:spcPts val="500"/>
              </a:spcBef>
              <a:spcAft>
                <a:spcPts val="600"/>
              </a:spcAft>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6175" indent="-228600">
              <a:lnSpc>
                <a:spcPct val="100000"/>
              </a:lnSpc>
              <a:spcBef>
                <a:spcPts val="500"/>
              </a:spcBef>
              <a:spcAft>
                <a:spcPts val="600"/>
              </a:spcAft>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Tree>
    <p:extLst>
      <p:ext uri="{BB962C8B-B14F-4D97-AF65-F5344CB8AC3E}">
        <p14:creationId xmlns:p14="http://schemas.microsoft.com/office/powerpoint/2010/main" val="41962270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310634-6D6F-45BA-96BC-E6E4225BB2B6}"/>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3" name="Title"/>
          <p:cNvSpPr>
            <a:spLocks noGrp="1"/>
          </p:cNvSpPr>
          <p:nvPr>
            <p:ph type="title" idx="1" hasCustomPrompt="1"/>
          </p:nvPr>
        </p:nvSpPr>
        <p:spPr>
          <a:xfrm>
            <a:off x="362712"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header, text, and picture</a:t>
            </a:r>
          </a:p>
        </p:txBody>
      </p:sp>
      <p:sp>
        <p:nvSpPr>
          <p:cNvPr id="12" name="Content 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blipFill>
            <a:blip r:embed="rId2"/>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7644384" cy="487375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Tree>
    <p:extLst>
      <p:ext uri="{BB962C8B-B14F-4D97-AF65-F5344CB8AC3E}">
        <p14:creationId xmlns:p14="http://schemas.microsoft.com/office/powerpoint/2010/main" val="14552540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Service Introduction Option 1">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6567437-E18D-4274-8EB3-54B9DE902BBD}"/>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 name="Divider H">
              <a:extLst>
                <a:ext uri="{FF2B5EF4-FFF2-40B4-BE49-F238E27FC236}">
                  <a16:creationId xmlns:a16="http://schemas.microsoft.com/office/drawing/2014/main" id="{50B9701F-77A8-41C6-92EB-864571F194D7}"/>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11" name="Divider V">
              <a:extLst>
                <a:ext uri="{FF2B5EF4-FFF2-40B4-BE49-F238E27FC236}">
                  <a16:creationId xmlns:a16="http://schemas.microsoft.com/office/drawing/2014/main" id="{39B7DF57-C231-4CAA-9959-A12A3D224023}"/>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845B9C66-42EC-414D-A8B0-97B2C6F57217}"/>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5"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Service introduction slide – Option 1</a:t>
            </a:r>
          </a:p>
        </p:txBody>
      </p:sp>
      <p:sp>
        <p:nvSpPr>
          <p:cNvPr id="3" name="Service Image">
            <a:extLst>
              <a:ext uri="{FF2B5EF4-FFF2-40B4-BE49-F238E27FC236}">
                <a16:creationId xmlns:a16="http://schemas.microsoft.com/office/drawing/2014/main" id="{E25EBCDC-6C07-4B35-82D5-0AC6628754E6}"/>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the icon to add a service icon</a:t>
            </a:r>
          </a:p>
        </p:txBody>
      </p:sp>
      <p:sp>
        <p:nvSpPr>
          <p:cNvPr id="4" name="Service name">
            <a:extLst>
              <a:ext uri="{FF2B5EF4-FFF2-40B4-BE49-F238E27FC236}">
                <a16:creationId xmlns:a16="http://schemas.microsoft.com/office/drawing/2014/main" id="{5EE453FC-29B3-4823-BA8D-E5D7343F2858}"/>
              </a:ext>
            </a:extLst>
          </p:cNvPr>
          <p:cNvSpPr>
            <a:spLocks noGrp="1"/>
          </p:cNvSpPr>
          <p:nvPr>
            <p:ph type="body" idx="4" hasCustomPrompt="1"/>
          </p:nvPr>
        </p:nvSpPr>
        <p:spPr>
          <a:xfrm>
            <a:off x="531884" y="4508261"/>
            <a:ext cx="2286001" cy="914400"/>
          </a:xfrm>
        </p:spPr>
        <p:txBody>
          <a:bodyPr>
            <a:noAutofit/>
          </a:bodyPr>
          <a:lstStyle>
            <a:lvl1pPr algn="ctr">
              <a:buNone/>
              <a:defRPr sz="200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service name</a:t>
            </a:r>
          </a:p>
        </p:txBody>
      </p:sp>
      <p:sp>
        <p:nvSpPr>
          <p:cNvPr id="2" name="Content">
            <a:extLst>
              <a:ext uri="{FF2B5EF4-FFF2-40B4-BE49-F238E27FC236}">
                <a16:creationId xmlns:a16="http://schemas.microsoft.com/office/drawing/2014/main" id="{951E617C-D9F7-4098-883E-6A048DBCF862}"/>
              </a:ext>
            </a:extLst>
          </p:cNvPr>
          <p:cNvSpPr>
            <a:spLocks noGrp="1"/>
          </p:cNvSpPr>
          <p:nvPr>
            <p:ph idx="2" hasCustomPrompt="1"/>
          </p:nvPr>
        </p:nvSpPr>
        <p:spPr>
          <a:xfrm>
            <a:off x="3118104" y="1097280"/>
            <a:ext cx="8714232" cy="5330952"/>
          </a:xfrm>
        </p:spPr>
        <p:txBody>
          <a:bodyPr anchor="ctr">
            <a:noAutofit/>
          </a:bodyPr>
          <a:lstStyle>
            <a:lvl1pPr>
              <a:lnSpc>
                <a:spcPct val="100000"/>
              </a:lnSpc>
              <a:spcAft>
                <a:spcPts val="600"/>
              </a:spcAft>
              <a:defRPr sz="32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4926688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rvice Introduction Option 2">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47407828-5EAD-4B51-9E63-A3BCA2C02C10}"/>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6" name="Divider H">
              <a:extLst>
                <a:ext uri="{FF2B5EF4-FFF2-40B4-BE49-F238E27FC236}">
                  <a16:creationId xmlns:a16="http://schemas.microsoft.com/office/drawing/2014/main" id="{86EB8EF7-E12A-4724-8CD0-BCD419CC1D72}"/>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Divider V">
              <a:extLst>
                <a:ext uri="{FF2B5EF4-FFF2-40B4-BE49-F238E27FC236}">
                  <a16:creationId xmlns:a16="http://schemas.microsoft.com/office/drawing/2014/main" id="{A98871DD-BA51-4D2E-B73C-B53E0040D847}"/>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1"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Service introduction slide – Option 2</a:t>
            </a:r>
          </a:p>
        </p:txBody>
      </p:sp>
      <p:sp>
        <p:nvSpPr>
          <p:cNvPr id="3" name="Service image">
            <a:extLst>
              <a:ext uri="{FF2B5EF4-FFF2-40B4-BE49-F238E27FC236}">
                <a16:creationId xmlns:a16="http://schemas.microsoft.com/office/drawing/2014/main" id="{A8750EE2-55D6-4668-9C14-21FA8D6643EA}"/>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the icon to add a service icon</a:t>
            </a:r>
          </a:p>
        </p:txBody>
      </p:sp>
      <p:sp>
        <p:nvSpPr>
          <p:cNvPr id="4" name="Service name">
            <a:extLst>
              <a:ext uri="{FF2B5EF4-FFF2-40B4-BE49-F238E27FC236}">
                <a16:creationId xmlns:a16="http://schemas.microsoft.com/office/drawing/2014/main" id="{ED5D782A-3E94-4C16-BD1E-13F939926C06}"/>
              </a:ext>
            </a:extLst>
          </p:cNvPr>
          <p:cNvSpPr>
            <a:spLocks noGrp="1"/>
          </p:cNvSpPr>
          <p:nvPr>
            <p:ph type="body" idx="4" hasCustomPrompt="1"/>
          </p:nvPr>
        </p:nvSpPr>
        <p:spPr>
          <a:xfrm>
            <a:off x="531884" y="4508261"/>
            <a:ext cx="2286001" cy="914400"/>
          </a:xfrm>
        </p:spPr>
        <p:txBody>
          <a:bodyPr>
            <a:noAutofit/>
          </a:bodyPr>
          <a:lstStyle>
            <a:lvl1pPr marL="0" indent="0" algn="ctr">
              <a:buNone/>
              <a:defRPr sz="200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service name</a:t>
            </a:r>
          </a:p>
        </p:txBody>
      </p:sp>
      <p:sp>
        <p:nvSpPr>
          <p:cNvPr id="2" name="Service description">
            <a:extLst>
              <a:ext uri="{FF2B5EF4-FFF2-40B4-BE49-F238E27FC236}">
                <a16:creationId xmlns:a16="http://schemas.microsoft.com/office/drawing/2014/main" id="{125C2183-0325-4A52-BF1F-38F8AAFA8B4A}"/>
              </a:ext>
            </a:extLst>
          </p:cNvPr>
          <p:cNvSpPr>
            <a:spLocks noGrp="1"/>
          </p:cNvSpPr>
          <p:nvPr>
            <p:ph type="body" idx="2" hasCustomPrompt="1"/>
          </p:nvPr>
        </p:nvSpPr>
        <p:spPr>
          <a:xfrm>
            <a:off x="3118104" y="1097280"/>
            <a:ext cx="8714232" cy="1655064"/>
          </a:xfrm>
        </p:spPr>
        <p:txBody>
          <a:bodyPr tIns="0" bIns="0">
            <a:noAutofit/>
          </a:bodyPr>
          <a:lstStyle>
            <a:lvl1pPr marL="0" indent="0">
              <a:lnSpc>
                <a:spcPct val="100000"/>
              </a:lnSpc>
              <a:spcBef>
                <a:spcPts val="0"/>
              </a:spcBef>
              <a:spcAft>
                <a:spcPts val="300"/>
              </a:spcAft>
              <a:buNone/>
              <a:defRPr sz="240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a:lvl2pPr>
          </a:lstStyle>
          <a:p>
            <a:pPr lvl="0"/>
            <a:r>
              <a:rPr lang="en-US" dirty="0"/>
              <a:t>Enter service description from our website.</a:t>
            </a:r>
          </a:p>
        </p:txBody>
      </p:sp>
      <p:sp>
        <p:nvSpPr>
          <p:cNvPr id="8" name="Service Benefit 1">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8" hasCustomPrompt="1"/>
          </p:nvPr>
        </p:nvSpPr>
        <p:spPr>
          <a:xfrm>
            <a:off x="3483864" y="2798064"/>
            <a:ext cx="2011680" cy="2011680"/>
          </a:xfrm>
        </p:spPr>
        <p:txBody>
          <a:bodyPr anchor="t">
            <a:noAutofit/>
          </a:bodyPr>
          <a:lstStyle>
            <a:lvl1pPr marL="0" indent="0" algn="ctr">
              <a:buNone/>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a service benefit image</a:t>
            </a:r>
          </a:p>
        </p:txBody>
      </p:sp>
      <p:sp>
        <p:nvSpPr>
          <p:cNvPr id="5" name="Benefit 1 Description">
            <a:extLst>
              <a:ext uri="{FF2B5EF4-FFF2-40B4-BE49-F238E27FC236}">
                <a16:creationId xmlns:a16="http://schemas.microsoft.com/office/drawing/2014/main" id="{CEBB69C5-28A4-4F99-A9FE-572F9D53CF4E}"/>
              </a:ext>
            </a:extLst>
          </p:cNvPr>
          <p:cNvSpPr>
            <a:spLocks noGrp="1"/>
          </p:cNvSpPr>
          <p:nvPr>
            <p:ph type="body" idx="5" hasCustomPrompt="1"/>
          </p:nvPr>
        </p:nvSpPr>
        <p:spPr>
          <a:xfrm>
            <a:off x="3118104" y="4846320"/>
            <a:ext cx="2743200" cy="1600200"/>
          </a:xfrm>
          <a:noFill/>
          <a:ln>
            <a:noFill/>
          </a:ln>
        </p:spPr>
        <p:txBody>
          <a:bodyPr lIns="91440" anchor="t">
            <a:noAutofit/>
          </a:bodyPr>
          <a:lstStyle>
            <a:lvl1pPr marL="60325" indent="0" algn="ctr">
              <a:spcBef>
                <a:spcPts val="0"/>
              </a:spcBef>
              <a:spcAft>
                <a:spcPts val="0"/>
              </a:spcAft>
              <a:buNone/>
              <a:defRPr sz="20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benefit description</a:t>
            </a:r>
          </a:p>
        </p:txBody>
      </p:sp>
      <p:sp>
        <p:nvSpPr>
          <p:cNvPr id="9" name="Service Benefit 2">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9" hasCustomPrompt="1"/>
          </p:nvPr>
        </p:nvSpPr>
        <p:spPr>
          <a:xfrm>
            <a:off x="6473952" y="2798064"/>
            <a:ext cx="2011680" cy="2011680"/>
          </a:xfrm>
        </p:spPr>
        <p:txBody>
          <a:bodyPr anchor="t">
            <a:noAutofit/>
          </a:bodyPr>
          <a:lstStyle>
            <a:lvl1pPr marL="0" indent="0" algn="ctr">
              <a:buNone/>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a service benefit image</a:t>
            </a:r>
          </a:p>
        </p:txBody>
      </p:sp>
      <p:sp>
        <p:nvSpPr>
          <p:cNvPr id="6" name="Benefit 2 Description">
            <a:extLst>
              <a:ext uri="{FF2B5EF4-FFF2-40B4-BE49-F238E27FC236}">
                <a16:creationId xmlns:a16="http://schemas.microsoft.com/office/drawing/2014/main" id="{04C41CFA-9BF9-474A-89A9-E22790A538E2}"/>
              </a:ext>
            </a:extLst>
          </p:cNvPr>
          <p:cNvSpPr>
            <a:spLocks noGrp="1"/>
          </p:cNvSpPr>
          <p:nvPr>
            <p:ph type="body" idx="6" hasCustomPrompt="1"/>
          </p:nvPr>
        </p:nvSpPr>
        <p:spPr>
          <a:xfrm>
            <a:off x="6108192" y="4846320"/>
            <a:ext cx="2743200" cy="1600200"/>
          </a:xfrm>
          <a:noFill/>
          <a:ln>
            <a:noFill/>
          </a:ln>
        </p:spPr>
        <p:txBody>
          <a:bodyPr lIns="91440" anchor="t">
            <a:noAutofit/>
          </a:bodyPr>
          <a:lstStyle>
            <a:lvl1pPr marL="60325" indent="0" algn="ctr">
              <a:spcBef>
                <a:spcPts val="0"/>
              </a:spcBef>
              <a:spcAft>
                <a:spcPts val="0"/>
              </a:spcAft>
              <a:buNone/>
              <a:defRPr sz="20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benefit description</a:t>
            </a:r>
          </a:p>
        </p:txBody>
      </p:sp>
      <p:sp>
        <p:nvSpPr>
          <p:cNvPr id="10" name="Service Benefit 3">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10" hasCustomPrompt="1"/>
          </p:nvPr>
        </p:nvSpPr>
        <p:spPr>
          <a:xfrm>
            <a:off x="9454896" y="2798064"/>
            <a:ext cx="2011680" cy="2011680"/>
          </a:xfrm>
        </p:spPr>
        <p:txBody>
          <a:bodyPr anchor="t">
            <a:noAutofit/>
          </a:bodyPr>
          <a:lstStyle>
            <a:lvl1pPr marL="0" indent="0" algn="ctr">
              <a:buNone/>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a service benefit image</a:t>
            </a:r>
          </a:p>
        </p:txBody>
      </p:sp>
      <p:sp>
        <p:nvSpPr>
          <p:cNvPr id="7" name="Benefit 3 Description">
            <a:extLst>
              <a:ext uri="{FF2B5EF4-FFF2-40B4-BE49-F238E27FC236}">
                <a16:creationId xmlns:a16="http://schemas.microsoft.com/office/drawing/2014/main" id="{CF01F87A-DBEF-4657-8500-6A751FF3BC24}"/>
              </a:ext>
            </a:extLst>
          </p:cNvPr>
          <p:cNvSpPr>
            <a:spLocks noGrp="1"/>
          </p:cNvSpPr>
          <p:nvPr>
            <p:ph type="body" idx="7" hasCustomPrompt="1"/>
          </p:nvPr>
        </p:nvSpPr>
        <p:spPr>
          <a:xfrm>
            <a:off x="9089136" y="4846320"/>
            <a:ext cx="2743200" cy="1600200"/>
          </a:xfrm>
          <a:noFill/>
          <a:ln>
            <a:noFill/>
          </a:ln>
        </p:spPr>
        <p:txBody>
          <a:bodyPr lIns="91440" anchor="t">
            <a:noAutofit/>
          </a:bodyPr>
          <a:lstStyle>
            <a:lvl1pPr marL="60325" indent="0" algn="ctr">
              <a:spcBef>
                <a:spcPts val="0"/>
              </a:spcBef>
              <a:spcAft>
                <a:spcPts val="0"/>
              </a:spcAft>
              <a:buNone/>
              <a:defRPr sz="20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benefit description</a:t>
            </a:r>
          </a:p>
        </p:txBody>
      </p:sp>
    </p:spTree>
    <p:extLst>
      <p:ext uri="{BB962C8B-B14F-4D97-AF65-F5344CB8AC3E}">
        <p14:creationId xmlns:p14="http://schemas.microsoft.com/office/powerpoint/2010/main" val="10893904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ColTx" preserve="1">
  <p:cSld name="Title and 2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and 2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22115917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ColTx" preserve="1">
  <p:cSld name="Title, Narrow, and Wide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436CF646-2D71-47F1-8550-51446EDEB819}"/>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narrow left, and wide right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65760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4187952" y="1097280"/>
            <a:ext cx="7644384" cy="533095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 or Click to add image</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11774608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ColTx" preserve="1">
  <p:cSld name="Title, Content, and Code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content, and code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de Right">
            <a:extLst>
              <a:ext uri="{FF2B5EF4-FFF2-40B4-BE49-F238E27FC236}">
                <a16:creationId xmlns:a16="http://schemas.microsoft.com/office/drawing/2014/main" id="{E8572E41-DF36-40C1-9453-10D94D9775B7}"/>
              </a:ext>
            </a:extLst>
          </p:cNvPr>
          <p:cNvSpPr>
            <a:spLocks noGrp="1"/>
          </p:cNvSpPr>
          <p:nvPr>
            <p:ph type="body" idx="3" hasCustomPrompt="1"/>
          </p:nvPr>
        </p:nvSpPr>
        <p:spPr>
          <a:xfrm>
            <a:off x="6163056" y="1097280"/>
            <a:ext cx="5669280" cy="5330952"/>
          </a:xfrm>
        </p:spPr>
        <p:txBody>
          <a:bodyPr>
            <a:noAutofit/>
          </a:bodyPr>
          <a:lstStyle>
            <a:lvl1pPr marL="0" indent="0">
              <a:spcBef>
                <a:spcPts val="0"/>
              </a:spcBef>
              <a:buNone/>
              <a:defRPr sz="1600">
                <a:solidFill>
                  <a:schemeClr val="tx2"/>
                </a:solidFill>
                <a:latin typeface="Lucida Console" panose="020B0609040504020204" pitchFamily="49" charset="0"/>
              </a:defRPr>
            </a:lvl1pPr>
          </a:lstStyle>
          <a:p>
            <a:pPr lvl="0"/>
            <a:r>
              <a:rPr lang="en-US" dirty="0"/>
              <a:t>; Syntax Test file for 68k Assembly code</a:t>
            </a:r>
          </a:p>
        </p:txBody>
      </p:sp>
    </p:spTree>
    <p:extLst>
      <p:ext uri="{BB962C8B-B14F-4D97-AF65-F5344CB8AC3E}">
        <p14:creationId xmlns:p14="http://schemas.microsoft.com/office/powerpoint/2010/main" val="22115917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 preserve="1">
  <p:cSld name="Title and 2 Code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25E540B6-8F1E-4977-BD60-59FB7D23F464}"/>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D1314593-B97F-4159-BF1C-7D08727B7989}"/>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and 2 code columns</a:t>
            </a:r>
          </a:p>
        </p:txBody>
      </p:sp>
      <p:sp>
        <p:nvSpPr>
          <p:cNvPr id="2" name="Code Left">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5669280" cy="5330952"/>
          </a:xfrm>
        </p:spPr>
        <p:txBody>
          <a:bodyPr>
            <a:noAutofit/>
          </a:bodyPr>
          <a:lstStyle>
            <a:lvl1pPr marL="0" indent="0">
              <a:spcBef>
                <a:spcPts val="0"/>
              </a:spcBef>
              <a:buNone/>
              <a:defRPr sz="1600">
                <a:solidFill>
                  <a:schemeClr val="tx2"/>
                </a:solidFill>
                <a:latin typeface="Lucida Console" panose="020B0609040504020204" pitchFamily="49" charset="0"/>
              </a:defRPr>
            </a:lvl1pPr>
          </a:lstStyle>
          <a:p>
            <a:pPr lvl="0"/>
            <a:r>
              <a:rPr lang="en-US" dirty="0"/>
              <a:t>; Syntax Test file for 68k Assembly code</a:t>
            </a:r>
          </a:p>
        </p:txBody>
      </p:sp>
      <p:sp>
        <p:nvSpPr>
          <p:cNvPr id="3" name="Code Right">
            <a:extLst>
              <a:ext uri="{FF2B5EF4-FFF2-40B4-BE49-F238E27FC236}">
                <a16:creationId xmlns:a16="http://schemas.microsoft.com/office/drawing/2014/main" id="{E8572E41-DF36-40C1-9453-10D94D9775B7}"/>
              </a:ext>
            </a:extLst>
          </p:cNvPr>
          <p:cNvSpPr>
            <a:spLocks noGrp="1"/>
          </p:cNvSpPr>
          <p:nvPr>
            <p:ph type="body" idx="3" hasCustomPrompt="1"/>
          </p:nvPr>
        </p:nvSpPr>
        <p:spPr>
          <a:xfrm>
            <a:off x="6163056" y="1097280"/>
            <a:ext cx="5669280" cy="5330952"/>
          </a:xfrm>
        </p:spPr>
        <p:txBody>
          <a:bodyPr>
            <a:noAutofit/>
          </a:bodyPr>
          <a:lstStyle>
            <a:lvl1pPr marL="0" indent="0">
              <a:spcBef>
                <a:spcPts val="0"/>
              </a:spcBef>
              <a:buNone/>
              <a:defRPr sz="1600">
                <a:solidFill>
                  <a:schemeClr val="tx2"/>
                </a:solidFill>
                <a:latin typeface="Lucida Console" panose="020B0609040504020204" pitchFamily="49" charset="0"/>
              </a:defRPr>
            </a:lvl1pPr>
          </a:lstStyle>
          <a:p>
            <a:pPr lvl="0"/>
            <a:r>
              <a:rPr lang="en-US" dirty="0"/>
              <a:t>; Syntax Test file for 68k Assembly code</a:t>
            </a:r>
          </a:p>
        </p:txBody>
      </p:sp>
    </p:spTree>
    <p:extLst>
      <p:ext uri="{BB962C8B-B14F-4D97-AF65-F5344CB8AC3E}">
        <p14:creationId xmlns:p14="http://schemas.microsoft.com/office/powerpoint/2010/main" val="36769996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Title, Header,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header, and 2 text columns</a:t>
            </a:r>
          </a:p>
        </p:txBody>
      </p:sp>
      <p:sp>
        <p:nvSpPr>
          <p:cNvPr id="12" name="Content Header">
            <a:extLst>
              <a:ext uri="{FF2B5EF4-FFF2-40B4-BE49-F238E27FC236}">
                <a16:creationId xmlns:a16="http://schemas.microsoft.com/office/drawing/2014/main" id="{D3D38857-ABB9-4328-9879-2061BA2AABDF}"/>
              </a:ext>
            </a:extLst>
          </p:cNvPr>
          <p:cNvSpPr>
            <a:spLocks noGrp="1"/>
          </p:cNvSpPr>
          <p:nvPr>
            <p:ph type="body" idx="12" hasCustomPrompt="1"/>
          </p:nvPr>
        </p:nvSpPr>
        <p:spPr>
          <a:xfrm>
            <a:off x="365760" y="1053311"/>
            <a:ext cx="11460480" cy="440329"/>
          </a:xfrm>
          <a:blipFill>
            <a:blip r:embed="rId2"/>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29422201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2 Headers,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Title"/>
          <p:cNvSpPr>
            <a:spLocks noGrp="1"/>
          </p:cNvSpPr>
          <p:nvPr>
            <p:ph type="title" idx="1" hasCustomPrompt="1"/>
          </p:nvPr>
        </p:nvSpPr>
        <p:spPr>
          <a:xfrm>
            <a:off x="365760" y="301752"/>
            <a:ext cx="11466576" cy="731318"/>
          </a:xfrm>
        </p:spPr>
        <p:txBody>
          <a:bodyPr/>
          <a:lstStyle>
            <a:lvl1pPr>
              <a:defRPr>
                <a:solidFill>
                  <a:schemeClr val="tx2"/>
                </a:solidFill>
                <a:latin typeface="Amazon Ember Display Heavy" panose="020F0803020204020204" pitchFamily="34" charset="0"/>
              </a:defRPr>
            </a:lvl1pPr>
          </a:lstStyle>
          <a:p>
            <a:r>
              <a:rPr lang="en-US" dirty="0"/>
              <a:t>Title, 2 headers, and 2 text columns</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5669280" cy="440329"/>
          </a:xfrm>
          <a:blipFill>
            <a:blip r:embed="rId2"/>
            <a:stretch>
              <a:fillRect/>
            </a:stretch>
          </a:blipFill>
          <a:ln>
            <a:noFill/>
          </a:ln>
        </p:spPr>
        <p:txBody>
          <a:bodyPr anchor="ctr">
            <a:no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 name="Body1 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600"/>
              </a:spcAft>
              <a:defRPr sz="2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1053311"/>
            <a:ext cx="5669280" cy="440329"/>
          </a:xfrm>
          <a:blipFill>
            <a:blip r:embed="rId3"/>
            <a:stretch>
              <a:fillRect/>
            </a:stretch>
          </a:blipFill>
        </p:spPr>
        <p:txBody>
          <a:bodyPr anchor="ctr">
            <a:no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600"/>
              </a:spcAft>
              <a:defRPr sz="2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19630830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Title, Header, Content, Full Height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3F8E55C-0C56-481E-96C0-45506B8577FA}"/>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3"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header, content, and full height picture</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1" y="1051560"/>
            <a:ext cx="5669279" cy="440329"/>
          </a:xfrm>
          <a:blipFill>
            <a:blip r:embed="rId2"/>
            <a:stretch>
              <a:fillRect/>
            </a:stretch>
          </a:blipFill>
          <a:ln>
            <a:noFill/>
          </a:ln>
        </p:spPr>
        <p:txBody>
          <a:bodyPr anchor="ctr">
            <a:no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 name="Content">
            <a:extLst>
              <a:ext uri="{FF2B5EF4-FFF2-40B4-BE49-F238E27FC236}">
                <a16:creationId xmlns:a16="http://schemas.microsoft.com/office/drawing/2014/main" id="{EEA0232A-1E36-4B66-8855-7774205AD335}"/>
              </a:ext>
            </a:extLst>
          </p:cNvPr>
          <p:cNvSpPr>
            <a:spLocks noGrp="1"/>
          </p:cNvSpPr>
          <p:nvPr>
            <p:ph idx="2" hasCustomPrompt="1"/>
          </p:nvPr>
        </p:nvSpPr>
        <p:spPr>
          <a:xfrm>
            <a:off x="365760" y="1554480"/>
            <a:ext cx="5669280" cy="488174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type="pic" idx="22" hasCustomPrompt="1"/>
          </p:nvPr>
        </p:nvSpPr>
        <p:spPr>
          <a:xfrm>
            <a:off x="6163056" y="1046819"/>
            <a:ext cx="5669280" cy="5398103"/>
          </a:xfrm>
        </p:spPr>
        <p:txBody>
          <a:bodyPr anchor="t">
            <a:noAutofit/>
          </a:bodyPr>
          <a:lstStyle>
            <a:lvl1pPr marL="0" indent="0" algn="ctr">
              <a:buNone/>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Tree>
    <p:extLst>
      <p:ext uri="{BB962C8B-B14F-4D97-AF65-F5344CB8AC3E}">
        <p14:creationId xmlns:p14="http://schemas.microsoft.com/office/powerpoint/2010/main" val="27953717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2BB9B5CB-6BB1-45BC-9AA7-38BB668B8A35}"/>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301752"/>
            <a:ext cx="11466576" cy="731318"/>
          </a:xfrm>
        </p:spPr>
        <p:txBody>
          <a:bodyPr/>
          <a:lstStyle>
            <a:lvl1pPr>
              <a:defRPr>
                <a:solidFill>
                  <a:schemeClr val="tx2"/>
                </a:solidFill>
                <a:latin typeface="Amazon Ember Display Heavy" panose="020F0803020204020204" pitchFamily="34" charset="0"/>
              </a:defRPr>
            </a:lvl1pPr>
          </a:lstStyle>
          <a:p>
            <a:r>
              <a:rPr lang="en-US" dirty="0"/>
              <a:t>Title, 2 pictures, 2 headers, and 2 text columns</a:t>
            </a:r>
          </a:p>
        </p:txBody>
      </p:sp>
      <p:sp>
        <p:nvSpPr>
          <p:cNvPr id="22" name="Picture Left">
            <a:extLst>
              <a:ext uri="{FF2B5EF4-FFF2-40B4-BE49-F238E27FC236}">
                <a16:creationId xmlns:a16="http://schemas.microsoft.com/office/drawing/2014/main" id="{D20A7D1A-2EBE-48DA-AE10-ADAE1FC9C413}"/>
              </a:ext>
              <a:ext uri="{C183D7F6-B498-43B3-948B-1728B52AA6E4}">
                <adec:decorative xmlns:adec="http://schemas.microsoft.com/office/drawing/2017/decorative" val="1"/>
              </a:ext>
            </a:extLst>
          </p:cNvPr>
          <p:cNvSpPr>
            <a:spLocks noGrp="1"/>
          </p:cNvSpPr>
          <p:nvPr>
            <p:ph type="pic" idx="22" hasCustomPrompt="1"/>
          </p:nvPr>
        </p:nvSpPr>
        <p:spPr>
          <a:xfrm>
            <a:off x="2057400"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2" name="Header Left">
            <a:extLst>
              <a:ext uri="{FF2B5EF4-FFF2-40B4-BE49-F238E27FC236}">
                <a16:creationId xmlns:a16="http://schemas.microsoft.com/office/drawing/2014/main" id="{C1580834-D282-4C2E-B552-F4E3E13297CB}"/>
              </a:ext>
            </a:extLst>
          </p:cNvPr>
          <p:cNvSpPr>
            <a:spLocks noGrp="1"/>
          </p:cNvSpPr>
          <p:nvPr>
            <p:ph type="body" idx="12" hasCustomPrompt="1"/>
          </p:nvPr>
        </p:nvSpPr>
        <p:spPr>
          <a:xfrm>
            <a:off x="365760" y="3438166"/>
            <a:ext cx="5669280" cy="440329"/>
          </a:xfrm>
          <a:blipFill>
            <a:blip r:embed="rId3"/>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3" name="Content Left">
            <a:extLst>
              <a:ext uri="{FF2B5EF4-FFF2-40B4-BE49-F238E27FC236}">
                <a16:creationId xmlns:a16="http://schemas.microsoft.com/office/drawing/2014/main" id="{5ACBD598-6775-4223-B2AB-B169A112E3FF}"/>
              </a:ext>
            </a:extLst>
          </p:cNvPr>
          <p:cNvSpPr>
            <a:spLocks noGrp="1"/>
          </p:cNvSpPr>
          <p:nvPr>
            <p:ph idx="3" hasCustomPrompt="1"/>
          </p:nvPr>
        </p:nvSpPr>
        <p:spPr>
          <a:xfrm>
            <a:off x="365760" y="3895344"/>
            <a:ext cx="5669280" cy="2551176"/>
          </a:xfrm>
        </p:spPr>
        <p:txBody>
          <a:bodyPr>
            <a:noAutofit/>
          </a:bodyPr>
          <a:lstStyle>
            <a:lvl1pPr>
              <a:lnSpc>
                <a:spcPct val="100000"/>
              </a:lnSpc>
              <a:spcAft>
                <a:spcPts val="600"/>
              </a:spcAft>
              <a:defRPr sz="24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Right">
            <a:extLst>
              <a:ext uri="{FF2B5EF4-FFF2-40B4-BE49-F238E27FC236}">
                <a16:creationId xmlns:a16="http://schemas.microsoft.com/office/drawing/2014/main" id="{0FC9A3C9-76CB-45ED-925D-DF04C6D528DC}"/>
              </a:ext>
              <a:ext uri="{C183D7F6-B498-43B3-948B-1728B52AA6E4}">
                <adec:decorative xmlns:adec="http://schemas.microsoft.com/office/drawing/2017/decorative" val="1"/>
              </a:ext>
            </a:extLst>
          </p:cNvPr>
          <p:cNvSpPr>
            <a:spLocks noGrp="1"/>
          </p:cNvSpPr>
          <p:nvPr>
            <p:ph type="pic" idx="23" hasCustomPrompt="1"/>
          </p:nvPr>
        </p:nvSpPr>
        <p:spPr>
          <a:xfrm>
            <a:off x="7891272"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3" name="Header Right">
            <a:extLst>
              <a:ext uri="{FF2B5EF4-FFF2-40B4-BE49-F238E27FC236}">
                <a16:creationId xmlns:a16="http://schemas.microsoft.com/office/drawing/2014/main" id="{8AD42DBE-FFA1-41B9-9A17-70DDB0EAE929}"/>
              </a:ext>
            </a:extLst>
          </p:cNvPr>
          <p:cNvSpPr>
            <a:spLocks noGrp="1"/>
          </p:cNvSpPr>
          <p:nvPr>
            <p:ph type="body" idx="13" hasCustomPrompt="1"/>
          </p:nvPr>
        </p:nvSpPr>
        <p:spPr>
          <a:xfrm>
            <a:off x="6163056" y="3438166"/>
            <a:ext cx="5669280" cy="440329"/>
          </a:xfrm>
          <a:blipFill>
            <a:blip r:embed="rId4"/>
            <a:stretch>
              <a:fillRect/>
            </a:stretch>
          </a:blipFill>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4" name="Content Right">
            <a:extLst>
              <a:ext uri="{FF2B5EF4-FFF2-40B4-BE49-F238E27FC236}">
                <a16:creationId xmlns:a16="http://schemas.microsoft.com/office/drawing/2014/main" id="{7F5B85B9-BABC-44F6-B2AE-99F02670D702}"/>
              </a:ext>
            </a:extLst>
          </p:cNvPr>
          <p:cNvSpPr>
            <a:spLocks noGrp="1"/>
          </p:cNvSpPr>
          <p:nvPr>
            <p:ph idx="4" hasCustomPrompt="1"/>
          </p:nvPr>
        </p:nvSpPr>
        <p:spPr>
          <a:xfrm>
            <a:off x="6163056" y="3895344"/>
            <a:ext cx="5669280" cy="2551176"/>
          </a:xfrm>
        </p:spPr>
        <p:txBody>
          <a:bodyPr>
            <a:noAutofit/>
          </a:bodyPr>
          <a:lstStyle>
            <a:lvl1pPr>
              <a:lnSpc>
                <a:spcPct val="100000"/>
              </a:lnSpc>
              <a:spcAft>
                <a:spcPts val="600"/>
              </a:spcAft>
              <a:defRPr sz="24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33727651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 preserve="1">
  <p:cSld name="Title and 3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7EE2A4FF-27FC-4124-82F8-941EBFCC0E4F}"/>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62D2B2A-D218-4356-AEF2-F7FF4059392D}"/>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5"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B0803020204020204" pitchFamily="34" charset="0"/>
              </a:defRPr>
            </a:lvl1pPr>
          </a:lstStyle>
          <a:p>
            <a:r>
              <a:rPr lang="en-US" dirty="0"/>
              <a:t>Title and 3 text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74904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Middle">
            <a:extLst>
              <a:ext uri="{FF2B5EF4-FFF2-40B4-BE49-F238E27FC236}">
                <a16:creationId xmlns:a16="http://schemas.microsoft.com/office/drawing/2014/main" id="{951E617C-D9F7-4098-883E-6A048DBCF862}"/>
              </a:ext>
            </a:extLst>
          </p:cNvPr>
          <p:cNvSpPr>
            <a:spLocks noGrp="1"/>
          </p:cNvSpPr>
          <p:nvPr>
            <p:ph idx="3" hasCustomPrompt="1"/>
          </p:nvPr>
        </p:nvSpPr>
        <p:spPr>
          <a:xfrm>
            <a:off x="4224528" y="1097280"/>
            <a:ext cx="374904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Right">
            <a:extLst>
              <a:ext uri="{FF2B5EF4-FFF2-40B4-BE49-F238E27FC236}">
                <a16:creationId xmlns:a16="http://schemas.microsoft.com/office/drawing/2014/main" id="{A8A7CEA5-195D-4DB0-B5A3-06CEEA93C108}"/>
              </a:ext>
            </a:extLst>
          </p:cNvPr>
          <p:cNvSpPr>
            <a:spLocks noGrp="1"/>
          </p:cNvSpPr>
          <p:nvPr>
            <p:ph idx="4" hasCustomPrompt="1"/>
          </p:nvPr>
        </p:nvSpPr>
        <p:spPr>
          <a:xfrm>
            <a:off x="8083296" y="1097280"/>
            <a:ext cx="374904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342301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3 Header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472F160-9C3B-4BD6-99BB-267BDD7DD312}"/>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5"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3 headers, and 3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3749040" cy="440329"/>
          </a:xfrm>
          <a:blipFill>
            <a:blip r:embed="rId2"/>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3749040" cy="48737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1053311"/>
            <a:ext cx="3749040" cy="440329"/>
          </a:xfrm>
          <a:blipFill>
            <a:blip r:embed="rId3"/>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idx="3" hasCustomPrompt="1"/>
          </p:nvPr>
        </p:nvSpPr>
        <p:spPr>
          <a:xfrm>
            <a:off x="4224528" y="1563624"/>
            <a:ext cx="3749040" cy="48737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8083296" y="1053311"/>
            <a:ext cx="3749040" cy="440329"/>
          </a:xfrm>
          <a:blipFill>
            <a:blip r:embed="rId4"/>
            <a:stretch>
              <a:fillRect/>
            </a:stretch>
          </a:blipFill>
          <a:ln>
            <a:noFill/>
          </a:ln>
        </p:spPr>
        <p:txBody>
          <a:bodyPr anchor="ctr">
            <a:no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4" name="Content Right">
            <a:extLst>
              <a:ext uri="{FF2B5EF4-FFF2-40B4-BE49-F238E27FC236}">
                <a16:creationId xmlns:a16="http://schemas.microsoft.com/office/drawing/2014/main" id="{92466994-EA21-45EA-9DC6-3C179254B3A8}"/>
              </a:ext>
            </a:extLst>
          </p:cNvPr>
          <p:cNvSpPr>
            <a:spLocks noGrp="1"/>
          </p:cNvSpPr>
          <p:nvPr>
            <p:ph idx="4" hasCustomPrompt="1"/>
          </p:nvPr>
        </p:nvSpPr>
        <p:spPr>
          <a:xfrm>
            <a:off x="8083296" y="1591056"/>
            <a:ext cx="3749040" cy="4843688"/>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26052548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3 Lg Pics, and 3 Header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07A34186-F2DF-4A02-80D8-2DCF8944E228}"/>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3 large pictures, and 3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22" hasCustomPrompt="1"/>
          </p:nvPr>
        </p:nvSpPr>
        <p:spPr>
          <a:xfrm>
            <a:off x="1097280" y="2286000"/>
            <a:ext cx="2286000" cy="2286000"/>
          </a:xfrm>
        </p:spPr>
        <p:txBody>
          <a:bodyPr anchor="t">
            <a:noAutofit/>
          </a:bodyPr>
          <a:lstStyle>
            <a:lvl1pPr marL="0" indent="0" algn="ctr">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2" name="Header Left">
            <a:extLst>
              <a:ext uri="{FF2B5EF4-FFF2-40B4-BE49-F238E27FC236}">
                <a16:creationId xmlns:a16="http://schemas.microsoft.com/office/drawing/2014/main" id="{CAEBE247-B86A-40E9-BFB3-9C8DA332F82C}"/>
              </a:ext>
            </a:extLst>
          </p:cNvPr>
          <p:cNvSpPr>
            <a:spLocks noGrp="1"/>
          </p:cNvSpPr>
          <p:nvPr>
            <p:ph type="body" idx="12" hasCustomPrompt="1"/>
          </p:nvPr>
        </p:nvSpPr>
        <p:spPr>
          <a:xfrm>
            <a:off x="365760" y="4778888"/>
            <a:ext cx="3749040" cy="440329"/>
          </a:xfrm>
          <a:blipFill>
            <a:blip r:embed="rId3"/>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4956048" y="2286000"/>
            <a:ext cx="2286000" cy="2286000"/>
          </a:xfrm>
        </p:spPr>
        <p:txBody>
          <a:bodyPr anchor="t">
            <a:noAutofit/>
          </a:bodyPr>
          <a:lstStyle>
            <a:lvl1pPr marL="0" indent="0" algn="ctr">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3" name="Content Header Middle">
            <a:extLst>
              <a:ext uri="{FF2B5EF4-FFF2-40B4-BE49-F238E27FC236}">
                <a16:creationId xmlns:a16="http://schemas.microsoft.com/office/drawing/2014/main" id="{77B333CB-3F0B-4E99-B8A7-A696126D4259}"/>
              </a:ext>
            </a:extLst>
          </p:cNvPr>
          <p:cNvSpPr>
            <a:spLocks noGrp="1"/>
          </p:cNvSpPr>
          <p:nvPr>
            <p:ph type="body" idx="13" hasCustomPrompt="1"/>
          </p:nvPr>
        </p:nvSpPr>
        <p:spPr>
          <a:xfrm>
            <a:off x="4224528" y="4778888"/>
            <a:ext cx="3749040" cy="440329"/>
          </a:xfrm>
          <a:blipFill>
            <a:blip r:embed="rId4"/>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24" hasCustomPrompt="1"/>
          </p:nvPr>
        </p:nvSpPr>
        <p:spPr>
          <a:xfrm>
            <a:off x="8814816" y="2286000"/>
            <a:ext cx="2286000" cy="2286000"/>
          </a:xfrm>
        </p:spPr>
        <p:txBody>
          <a:bodyPr anchor="t">
            <a:noAutofit/>
          </a:bodyPr>
          <a:lstStyle>
            <a:lvl1pPr marL="0" indent="0" algn="ctr">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4" name="Content Header Right">
            <a:extLst>
              <a:ext uri="{FF2B5EF4-FFF2-40B4-BE49-F238E27FC236}">
                <a16:creationId xmlns:a16="http://schemas.microsoft.com/office/drawing/2014/main" id="{0E574CD9-FEC9-43EB-8904-0B37F3621FAB}"/>
              </a:ext>
            </a:extLst>
          </p:cNvPr>
          <p:cNvSpPr>
            <a:spLocks noGrp="1"/>
          </p:cNvSpPr>
          <p:nvPr>
            <p:ph type="body" idx="14" hasCustomPrompt="1"/>
          </p:nvPr>
        </p:nvSpPr>
        <p:spPr>
          <a:xfrm>
            <a:off x="8083296" y="4778888"/>
            <a:ext cx="3749040" cy="440329"/>
          </a:xfrm>
          <a:blipFill>
            <a:blip r:embed="rId5"/>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Tree>
    <p:extLst>
      <p:ext uri="{BB962C8B-B14F-4D97-AF65-F5344CB8AC3E}">
        <p14:creationId xmlns:p14="http://schemas.microsoft.com/office/powerpoint/2010/main" val="24983274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3 Pictures, and 3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6FD66F17-7724-455C-B925-81DD7A5F769A}"/>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3 picture,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60325" indent="0" algn="ctr">
              <a:lnSpc>
                <a:spcPct val="100000"/>
              </a:lnSpc>
              <a:spcBef>
                <a:spcPts val="0"/>
              </a:spcBef>
              <a:spcAft>
                <a:spcPts val="0"/>
              </a:spcAft>
              <a:buNone/>
              <a:defRPr sz="24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60325" indent="0" algn="ctr">
              <a:lnSpc>
                <a:spcPct val="100000"/>
              </a:lnSpc>
              <a:spcBef>
                <a:spcPts val="0"/>
              </a:spcBef>
              <a:spcAft>
                <a:spcPts val="0"/>
              </a:spcAft>
              <a:buNone/>
              <a:defRPr sz="24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60325" indent="0" algn="ctr">
              <a:lnSpc>
                <a:spcPct val="100000"/>
              </a:lnSpc>
              <a:spcBef>
                <a:spcPts val="0"/>
              </a:spcBef>
              <a:spcAft>
                <a:spcPts val="0"/>
              </a:spcAft>
              <a:buNone/>
              <a:defRPr sz="24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extLst>
      <p:ext uri="{BB962C8B-B14F-4D97-AF65-F5344CB8AC3E}">
        <p14:creationId xmlns:p14="http://schemas.microsoft.com/office/powerpoint/2010/main" val="28211159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Header, 3 Pictures, and 3 Text Label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D3BCD03-2F61-469D-A4B4-1B61BB21D364}"/>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6"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header, 3 picture, and 3 labels</a:t>
            </a:r>
          </a:p>
        </p:txBody>
      </p:sp>
      <p:sp>
        <p:nvSpPr>
          <p:cNvPr id="2" name="Description">
            <a:extLst>
              <a:ext uri="{FF2B5EF4-FFF2-40B4-BE49-F238E27FC236}">
                <a16:creationId xmlns:a16="http://schemas.microsoft.com/office/drawing/2014/main" id="{125C2183-0325-4A52-BF1F-38F8AAFA8B4A}"/>
              </a:ext>
            </a:extLst>
          </p:cNvPr>
          <p:cNvSpPr>
            <a:spLocks noGrp="1"/>
          </p:cNvSpPr>
          <p:nvPr>
            <p:ph type="body" idx="2"/>
          </p:nvPr>
        </p:nvSpPr>
        <p:spPr>
          <a:xfrm>
            <a:off x="365125" y="1084263"/>
            <a:ext cx="11466576" cy="1158011"/>
          </a:xfrm>
        </p:spPr>
        <p:txBody>
          <a:bodyPr/>
          <a:lstStyle>
            <a:lvl1pPr marL="0" indent="0">
              <a:buNone/>
              <a:defRPr>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a:lvl2pPr>
          </a:lstStyle>
          <a:p>
            <a:pPr lvl="0"/>
            <a:r>
              <a:rPr lang="en-US"/>
              <a:t>Edit Master text styles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60325" indent="0" algn="ctr">
              <a:lnSpc>
                <a:spcPct val="100000"/>
              </a:lnSpc>
              <a:spcBef>
                <a:spcPts val="0"/>
              </a:spcBef>
              <a:spcAft>
                <a:spcPts val="0"/>
              </a:spcAft>
              <a:buNone/>
              <a:defRPr sz="24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60325" indent="0" algn="ctr">
              <a:lnSpc>
                <a:spcPct val="100000"/>
              </a:lnSpc>
              <a:spcBef>
                <a:spcPts val="0"/>
              </a:spcBef>
              <a:spcAft>
                <a:spcPts val="0"/>
              </a:spcAft>
              <a:buNone/>
              <a:defRPr sz="24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60325" indent="0" algn="ctr">
              <a:lnSpc>
                <a:spcPct val="100000"/>
              </a:lnSpc>
              <a:spcBef>
                <a:spcPts val="0"/>
              </a:spcBef>
              <a:spcAft>
                <a:spcPts val="0"/>
              </a:spcAft>
              <a:buNone/>
              <a:defRPr sz="24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extLst>
      <p:ext uri="{BB962C8B-B14F-4D97-AF65-F5344CB8AC3E}">
        <p14:creationId xmlns:p14="http://schemas.microsoft.com/office/powerpoint/2010/main" val="23764582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3 Pics, and 3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8C81323-B9A7-416C-ADF9-5BE9CC234E80}"/>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dirty="0"/>
          </a:p>
        </p:txBody>
      </p:sp>
      <p:sp>
        <p:nvSpPr>
          <p:cNvPr id="5"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3 pictures,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429000"/>
            <a:ext cx="3749040" cy="299923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3" hasCustomPrompt="1"/>
          </p:nvPr>
        </p:nvSpPr>
        <p:spPr>
          <a:xfrm>
            <a:off x="4956048"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6"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429000"/>
            <a:ext cx="3749040" cy="299923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429000"/>
            <a:ext cx="3749040" cy="299923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18015941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3 Pics, 3 Headers, and 3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747EDC26-917A-4143-823B-A7407C3FC37D}"/>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5" name="Title"/>
          <p:cNvSpPr>
            <a:spLocks noGrp="1"/>
          </p:cNvSpPr>
          <p:nvPr>
            <p:ph type="title" idx="1" hasCustomPrompt="1"/>
          </p:nvPr>
        </p:nvSpPr>
        <p:spPr>
          <a:xfrm>
            <a:off x="365761"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3 pictures , 3 headers,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7CAFE5D0-24F9-49CE-8B3F-60C582E907E3}"/>
              </a:ext>
            </a:extLst>
          </p:cNvPr>
          <p:cNvSpPr>
            <a:spLocks noGrp="1"/>
          </p:cNvSpPr>
          <p:nvPr>
            <p:ph type="body" idx="12" hasCustomPrompt="1"/>
          </p:nvPr>
        </p:nvSpPr>
        <p:spPr>
          <a:xfrm>
            <a:off x="365760" y="3425809"/>
            <a:ext cx="3749040" cy="440329"/>
          </a:xfrm>
          <a:blipFill>
            <a:blip r:embed="rId3"/>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61963"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3" name="Content Header Middle">
            <a:extLst>
              <a:ext uri="{FF2B5EF4-FFF2-40B4-BE49-F238E27FC236}">
                <a16:creationId xmlns:a16="http://schemas.microsoft.com/office/drawing/2014/main" id="{7CFF0D1C-83B8-4355-84CD-6B5E7BF6F1EA}"/>
              </a:ext>
            </a:extLst>
          </p:cNvPr>
          <p:cNvSpPr>
            <a:spLocks noGrp="1"/>
          </p:cNvSpPr>
          <p:nvPr>
            <p:ph type="body" idx="13" hasCustomPrompt="1"/>
          </p:nvPr>
        </p:nvSpPr>
        <p:spPr>
          <a:xfrm>
            <a:off x="4224528" y="3425809"/>
            <a:ext cx="3749040" cy="440329"/>
          </a:xfrm>
          <a:blipFill>
            <a:blip r:embed="rId4"/>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61963"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4" name="Content Header Right">
            <a:extLst>
              <a:ext uri="{FF2B5EF4-FFF2-40B4-BE49-F238E27FC236}">
                <a16:creationId xmlns:a16="http://schemas.microsoft.com/office/drawing/2014/main" id="{6DC7C89C-D131-4979-A9E0-35579F9B7F6D}"/>
              </a:ext>
            </a:extLst>
          </p:cNvPr>
          <p:cNvSpPr>
            <a:spLocks noGrp="1"/>
          </p:cNvSpPr>
          <p:nvPr>
            <p:ph type="body" idx="14" hasCustomPrompt="1"/>
          </p:nvPr>
        </p:nvSpPr>
        <p:spPr>
          <a:xfrm>
            <a:off x="8083296" y="3425809"/>
            <a:ext cx="3749040" cy="440329"/>
          </a:xfrm>
          <a:blipFill>
            <a:blip r:embed="rId5"/>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61963"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23742960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Title, 3 images, and 3 tex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4A7FD274-6B14-4547-8F81-35EB1030AF5A}"/>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5"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3 images, and 3 text</a:t>
            </a:r>
          </a:p>
        </p:txBody>
      </p:sp>
      <p:sp>
        <p:nvSpPr>
          <p:cNvPr id="22" name="Picture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429768" y="1243584"/>
            <a:ext cx="1554480" cy="1554480"/>
          </a:xfrm>
        </p:spPr>
        <p:txBody>
          <a:bodyPr anchor="t">
            <a:noAutofit/>
          </a:bodyPr>
          <a:lstStyle>
            <a:lvl1pPr marL="0" indent="0" algn="ctr">
              <a:buNone/>
              <a:defRPr sz="1800">
                <a:solidFill>
                  <a:srgbClr val="232F3E"/>
                </a:solidFill>
                <a:latin typeface="Amazon Ember Display" panose="020F0603020204020204" pitchFamily="34" charset="0"/>
              </a:defRPr>
            </a:lvl1pPr>
          </a:lstStyle>
          <a:p>
            <a:r>
              <a:rPr lang="en-US" dirty="0"/>
              <a:t>Click icon to add image</a:t>
            </a:r>
          </a:p>
        </p:txBody>
      </p:sp>
      <p:sp>
        <p:nvSpPr>
          <p:cNvPr id="2" name="Conten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3" y="1147406"/>
            <a:ext cx="9781197"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429768" y="3008376"/>
            <a:ext cx="1554480" cy="1554480"/>
          </a:xfrm>
        </p:spPr>
        <p:txBody>
          <a:bodyPr anchor="t">
            <a:noAutofit/>
          </a:bodyPr>
          <a:lstStyle>
            <a:lvl1pPr marL="0" indent="0" algn="ctr">
              <a:buNone/>
              <a:defRPr sz="1800">
                <a:solidFill>
                  <a:srgbClr val="232F3E"/>
                </a:solidFill>
                <a:latin typeface="Amazon Ember Display" panose="020F0603020204020204" pitchFamily="34" charset="0"/>
              </a:defRPr>
            </a:lvl1pPr>
          </a:lstStyle>
          <a:p>
            <a:r>
              <a:rPr lang="en-US" dirty="0"/>
              <a:t>Click icon to add image</a:t>
            </a:r>
          </a:p>
        </p:txBody>
      </p:sp>
      <p:sp>
        <p:nvSpPr>
          <p:cNvPr id="3" name="Conten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3" y="2917504"/>
            <a:ext cx="9781197"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429768" y="4773168"/>
            <a:ext cx="1554480" cy="1554480"/>
          </a:xfrm>
        </p:spPr>
        <p:txBody>
          <a:bodyPr anchor="t">
            <a:noAutofit/>
          </a:bodyPr>
          <a:lstStyle>
            <a:lvl1pPr marL="0" indent="0" algn="ctr">
              <a:buNone/>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4" name="Conten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3" y="4684674"/>
            <a:ext cx="9781197"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extLst>
      <p:ext uri="{BB962C8B-B14F-4D97-AF65-F5344CB8AC3E}">
        <p14:creationId xmlns:p14="http://schemas.microsoft.com/office/powerpoint/2010/main" val="15528414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Acronym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75453ED-071C-4C2B-B7E5-A670D111A549}"/>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4"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Acronym Slide</a:t>
            </a:r>
          </a:p>
        </p:txBody>
      </p:sp>
      <p:sp>
        <p:nvSpPr>
          <p:cNvPr id="8" name="Acronym Left Top">
            <a:extLst>
              <a:ext uri="{FF2B5EF4-FFF2-40B4-BE49-F238E27FC236}">
                <a16:creationId xmlns:a16="http://schemas.microsoft.com/office/drawing/2014/main" id="{BFBAFEAE-54DC-4352-A240-FBA7A523B7F4}"/>
              </a:ext>
            </a:extLst>
          </p:cNvPr>
          <p:cNvSpPr>
            <a:spLocks noGrp="1"/>
          </p:cNvSpPr>
          <p:nvPr>
            <p:ph type="body" idx="8" hasCustomPrompt="1"/>
          </p:nvPr>
        </p:nvSpPr>
        <p:spPr>
          <a:xfrm>
            <a:off x="353060" y="1096962"/>
            <a:ext cx="1828800" cy="1737359"/>
          </a:xfrm>
        </p:spPr>
        <p:txBody>
          <a:bodyPr lIns="0" tIns="0" rIns="0" bIns="0" anchor="ctr">
            <a:norm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ABR</a:t>
            </a:r>
          </a:p>
        </p:txBody>
      </p:sp>
      <p:sp>
        <p:nvSpPr>
          <p:cNvPr id="2" name="Content Lef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194163" y="1096963"/>
            <a:ext cx="3840480" cy="1737360"/>
          </a:xfrm>
        </p:spPr>
        <p:txBody>
          <a:bodyPr anchor="ctr">
            <a:noAutofit/>
          </a:bodyPr>
          <a:lstStyle>
            <a:lvl1pPr marL="0" indent="0">
              <a:lnSpc>
                <a:spcPct val="100000"/>
              </a:lnSpc>
              <a:spcBef>
                <a:spcPts val="30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9" name="Acronym Left Middle">
            <a:extLst>
              <a:ext uri="{FF2B5EF4-FFF2-40B4-BE49-F238E27FC236}">
                <a16:creationId xmlns:a16="http://schemas.microsoft.com/office/drawing/2014/main" id="{DF521447-4E72-4F87-B8F3-0A9998B3AC50}"/>
              </a:ext>
            </a:extLst>
          </p:cNvPr>
          <p:cNvSpPr>
            <a:spLocks noGrp="1"/>
          </p:cNvSpPr>
          <p:nvPr>
            <p:ph type="body" idx="9" hasCustomPrompt="1"/>
          </p:nvPr>
        </p:nvSpPr>
        <p:spPr>
          <a:xfrm>
            <a:off x="353060" y="2889346"/>
            <a:ext cx="1828800" cy="1737358"/>
          </a:xfrm>
        </p:spPr>
        <p:txBody>
          <a:bodyPr lIns="0" tIns="0" rIns="0" bIns="0" anchor="ctr">
            <a:norm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ABR</a:t>
            </a:r>
          </a:p>
        </p:txBody>
      </p:sp>
      <p:sp>
        <p:nvSpPr>
          <p:cNvPr id="3" name="Content Lef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194163" y="2889346"/>
            <a:ext cx="3840480" cy="1737360"/>
          </a:xfrm>
        </p:spPr>
        <p:txBody>
          <a:bodyPr anchor="ctr">
            <a:noAutofit/>
          </a:bodyPr>
          <a:lstStyle>
            <a:lvl1pPr marL="0" indent="0">
              <a:lnSpc>
                <a:spcPct val="100000"/>
              </a:lnSpc>
              <a:spcBef>
                <a:spcPts val="30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0" name="Acronym Left Bottom">
            <a:extLst>
              <a:ext uri="{FF2B5EF4-FFF2-40B4-BE49-F238E27FC236}">
                <a16:creationId xmlns:a16="http://schemas.microsoft.com/office/drawing/2014/main" id="{1A869D27-DAC1-4525-9F52-0E454C69A2CC}"/>
              </a:ext>
            </a:extLst>
          </p:cNvPr>
          <p:cNvSpPr>
            <a:spLocks noGrp="1"/>
          </p:cNvSpPr>
          <p:nvPr>
            <p:ph type="body" idx="10" hasCustomPrompt="1"/>
          </p:nvPr>
        </p:nvSpPr>
        <p:spPr>
          <a:xfrm>
            <a:off x="353060" y="4681728"/>
            <a:ext cx="1828800" cy="1737358"/>
          </a:xfrm>
        </p:spPr>
        <p:txBody>
          <a:bodyPr lIns="0" tIns="0" rIns="0" bIns="0" anchor="ctr">
            <a:norm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ABR</a:t>
            </a:r>
          </a:p>
        </p:txBody>
      </p:sp>
      <p:sp>
        <p:nvSpPr>
          <p:cNvPr id="4" name="Content Lef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194163" y="4681728"/>
            <a:ext cx="3840480" cy="1737360"/>
          </a:xfrm>
        </p:spPr>
        <p:txBody>
          <a:bodyPr anchor="ctr">
            <a:noAutofit/>
          </a:bodyPr>
          <a:lstStyle>
            <a:lvl1pPr marL="0" indent="0">
              <a:lnSpc>
                <a:spcPct val="100000"/>
              </a:lnSpc>
              <a:spcBef>
                <a:spcPts val="30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1" name="Acronym Right Top">
            <a:extLst>
              <a:ext uri="{FF2B5EF4-FFF2-40B4-BE49-F238E27FC236}">
                <a16:creationId xmlns:a16="http://schemas.microsoft.com/office/drawing/2014/main" id="{9837C0E6-DDD2-4E65-9314-88432234A7B2}"/>
              </a:ext>
            </a:extLst>
          </p:cNvPr>
          <p:cNvSpPr>
            <a:spLocks noGrp="1"/>
          </p:cNvSpPr>
          <p:nvPr>
            <p:ph type="body" idx="11" hasCustomPrompt="1"/>
          </p:nvPr>
        </p:nvSpPr>
        <p:spPr>
          <a:xfrm>
            <a:off x="6162412" y="1096962"/>
            <a:ext cx="1828800" cy="1737359"/>
          </a:xfrm>
        </p:spPr>
        <p:txBody>
          <a:bodyPr lIns="0" tIns="0" rIns="0" bIns="0" anchor="ctr">
            <a:norm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ABR</a:t>
            </a:r>
          </a:p>
        </p:txBody>
      </p:sp>
      <p:sp>
        <p:nvSpPr>
          <p:cNvPr id="5" name="Content Right Top">
            <a:extLst>
              <a:ext uri="{FF2B5EF4-FFF2-40B4-BE49-F238E27FC236}">
                <a16:creationId xmlns:a16="http://schemas.microsoft.com/office/drawing/2014/main" id="{90BB8441-20A6-4797-B4CD-C5446F55BFC4}"/>
              </a:ext>
            </a:extLst>
          </p:cNvPr>
          <p:cNvSpPr>
            <a:spLocks noGrp="1"/>
          </p:cNvSpPr>
          <p:nvPr>
            <p:ph type="body" idx="5" hasCustomPrompt="1"/>
          </p:nvPr>
        </p:nvSpPr>
        <p:spPr>
          <a:xfrm>
            <a:off x="7991878" y="1096963"/>
            <a:ext cx="3840480" cy="1737360"/>
          </a:xfrm>
        </p:spPr>
        <p:txBody>
          <a:bodyPr anchor="ctr">
            <a:noAutofit/>
          </a:bodyPr>
          <a:lstStyle>
            <a:lvl1pPr marL="0" indent="0" algn="l" defTabSz="914400" rtl="0" eaLnBrk="1" latinLnBrk="0" hangingPunct="1">
              <a:lnSpc>
                <a:spcPct val="100000"/>
              </a:lnSpc>
              <a:spcBef>
                <a:spcPts val="300"/>
              </a:spcBef>
              <a:spcAft>
                <a:spcPts val="0"/>
              </a:spcAft>
              <a:buFont typeface="Amazon Ember Display"/>
              <a:buNone/>
              <a:defRPr lang="en-US" sz="2000" kern="120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2" name="Acronym Right Middle">
            <a:extLst>
              <a:ext uri="{FF2B5EF4-FFF2-40B4-BE49-F238E27FC236}">
                <a16:creationId xmlns:a16="http://schemas.microsoft.com/office/drawing/2014/main" id="{92570328-F506-4FC2-AE2B-53186B9CA0BF}"/>
              </a:ext>
            </a:extLst>
          </p:cNvPr>
          <p:cNvSpPr>
            <a:spLocks noGrp="1"/>
          </p:cNvSpPr>
          <p:nvPr>
            <p:ph type="body" idx="12" hasCustomPrompt="1"/>
          </p:nvPr>
        </p:nvSpPr>
        <p:spPr>
          <a:xfrm>
            <a:off x="6162412" y="2889346"/>
            <a:ext cx="1828800" cy="1737358"/>
          </a:xfrm>
        </p:spPr>
        <p:txBody>
          <a:bodyPr lIns="0" tIns="0" rIns="0" bIns="0" anchor="ctr">
            <a:norm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ABR</a:t>
            </a:r>
          </a:p>
        </p:txBody>
      </p:sp>
      <p:sp>
        <p:nvSpPr>
          <p:cNvPr id="6" name="Content Right Middle">
            <a:extLst>
              <a:ext uri="{FF2B5EF4-FFF2-40B4-BE49-F238E27FC236}">
                <a16:creationId xmlns:a16="http://schemas.microsoft.com/office/drawing/2014/main" id="{0FAE0B8A-BC98-4464-9C65-3A47B0A5EACB}"/>
              </a:ext>
            </a:extLst>
          </p:cNvPr>
          <p:cNvSpPr>
            <a:spLocks noGrp="1"/>
          </p:cNvSpPr>
          <p:nvPr>
            <p:ph type="body" idx="6" hasCustomPrompt="1"/>
          </p:nvPr>
        </p:nvSpPr>
        <p:spPr>
          <a:xfrm>
            <a:off x="7991878" y="2889346"/>
            <a:ext cx="3840480" cy="1737360"/>
          </a:xfrm>
        </p:spPr>
        <p:txBody>
          <a:bodyPr anchor="ctr">
            <a:noAutofit/>
          </a:bodyPr>
          <a:lstStyle>
            <a:lvl1pPr marL="0" indent="0">
              <a:lnSpc>
                <a:spcPct val="100000"/>
              </a:lnSpc>
              <a:spcBef>
                <a:spcPts val="30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3" name="Acronym Right Bottom">
            <a:extLst>
              <a:ext uri="{FF2B5EF4-FFF2-40B4-BE49-F238E27FC236}">
                <a16:creationId xmlns:a16="http://schemas.microsoft.com/office/drawing/2014/main" id="{724B4804-F3F3-4B62-A0EC-A77D95C244CD}"/>
              </a:ext>
            </a:extLst>
          </p:cNvPr>
          <p:cNvSpPr>
            <a:spLocks noGrp="1"/>
          </p:cNvSpPr>
          <p:nvPr>
            <p:ph type="body" idx="13" hasCustomPrompt="1"/>
          </p:nvPr>
        </p:nvSpPr>
        <p:spPr>
          <a:xfrm>
            <a:off x="6162412" y="4681728"/>
            <a:ext cx="1828800" cy="1737358"/>
          </a:xfrm>
        </p:spPr>
        <p:txBody>
          <a:bodyPr lIns="0" tIns="0" rIns="0" bIns="0" anchor="ctr">
            <a:norm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ABR</a:t>
            </a:r>
          </a:p>
        </p:txBody>
      </p:sp>
      <p:sp>
        <p:nvSpPr>
          <p:cNvPr id="7" name="Content Right Bottom">
            <a:extLst>
              <a:ext uri="{FF2B5EF4-FFF2-40B4-BE49-F238E27FC236}">
                <a16:creationId xmlns:a16="http://schemas.microsoft.com/office/drawing/2014/main" id="{30387F87-E08F-4DED-BCEC-437402769732}"/>
              </a:ext>
            </a:extLst>
          </p:cNvPr>
          <p:cNvSpPr>
            <a:spLocks noGrp="1"/>
          </p:cNvSpPr>
          <p:nvPr>
            <p:ph type="body" idx="7" hasCustomPrompt="1"/>
          </p:nvPr>
        </p:nvSpPr>
        <p:spPr>
          <a:xfrm>
            <a:off x="7991878" y="4681728"/>
            <a:ext cx="3840480" cy="1737360"/>
          </a:xfrm>
        </p:spPr>
        <p:txBody>
          <a:bodyPr anchor="ctr">
            <a:noAutofit/>
          </a:bodyPr>
          <a:lstStyle>
            <a:lvl1pPr marL="0" indent="0">
              <a:lnSpc>
                <a:spcPct val="100000"/>
              </a:lnSpc>
              <a:spcBef>
                <a:spcPts val="30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Tree>
    <p:extLst>
      <p:ext uri="{BB962C8B-B14F-4D97-AF65-F5344CB8AC3E}">
        <p14:creationId xmlns:p14="http://schemas.microsoft.com/office/powerpoint/2010/main" val="14426554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6 images, and 6 tex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8CEDAC6-2953-4473-BCFC-2357BFF28452}"/>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8"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6 images, and 6 text boxes</a:t>
            </a:r>
          </a:p>
        </p:txBody>
      </p:sp>
      <p:sp>
        <p:nvSpPr>
          <p:cNvPr id="22" name="Picture L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429768" y="124358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2" name="Content L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106824" y="1147406"/>
            <a:ext cx="3941806"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5613" indent="0">
              <a:lnSpc>
                <a:spcPct val="100000"/>
              </a:lnSpc>
              <a:spcAft>
                <a:spcPts val="60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p:txBody>
      </p:sp>
      <p:sp>
        <p:nvSpPr>
          <p:cNvPr id="23" name="Picture L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429768" y="300837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3" name="Content L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106824" y="2917504"/>
            <a:ext cx="3941806"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5613" indent="0">
              <a:lnSpc>
                <a:spcPct val="100000"/>
              </a:lnSpc>
              <a:spcAft>
                <a:spcPts val="60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p:txBody>
      </p:sp>
      <p:sp>
        <p:nvSpPr>
          <p:cNvPr id="24" name="Picture L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429768" y="4773168"/>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4" name="Content L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106824" y="4684674"/>
            <a:ext cx="3941806"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5613" indent="0">
              <a:lnSpc>
                <a:spcPct val="100000"/>
              </a:lnSpc>
              <a:spcAft>
                <a:spcPts val="60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p:txBody>
      </p:sp>
      <p:sp>
        <p:nvSpPr>
          <p:cNvPr id="25" name="Picture R Top">
            <a:extLst>
              <a:ext uri="{FF2B5EF4-FFF2-40B4-BE49-F238E27FC236}">
                <a16:creationId xmlns:a16="http://schemas.microsoft.com/office/drawing/2014/main" id="{2537EBA4-2DD0-426E-A66E-7F0CC3C9A863}"/>
              </a:ext>
              <a:ext uri="{C183D7F6-B498-43B3-948B-1728B52AA6E4}">
                <adec:decorative xmlns:adec="http://schemas.microsoft.com/office/drawing/2017/decorative" val="1"/>
              </a:ext>
            </a:extLst>
          </p:cNvPr>
          <p:cNvSpPr>
            <a:spLocks noGrp="1"/>
          </p:cNvSpPr>
          <p:nvPr>
            <p:ph type="pic" idx="25" hasCustomPrompt="1"/>
          </p:nvPr>
        </p:nvSpPr>
        <p:spPr>
          <a:xfrm>
            <a:off x="6236208" y="124358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5" name="Content R Top">
            <a:extLst>
              <a:ext uri="{FF2B5EF4-FFF2-40B4-BE49-F238E27FC236}">
                <a16:creationId xmlns:a16="http://schemas.microsoft.com/office/drawing/2014/main" id="{3124324C-4E3B-473E-85DD-0988B7B4CD52}"/>
              </a:ext>
            </a:extLst>
          </p:cNvPr>
          <p:cNvSpPr>
            <a:spLocks noGrp="1"/>
          </p:cNvSpPr>
          <p:nvPr>
            <p:ph type="body" idx="5" hasCustomPrompt="1"/>
          </p:nvPr>
        </p:nvSpPr>
        <p:spPr>
          <a:xfrm>
            <a:off x="7884436" y="1147406"/>
            <a:ext cx="3941806"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5613" indent="0">
              <a:lnSpc>
                <a:spcPct val="100000"/>
              </a:lnSpc>
              <a:spcAft>
                <a:spcPts val="60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p:txBody>
      </p:sp>
      <p:sp>
        <p:nvSpPr>
          <p:cNvPr id="26" name="Picture R Middle">
            <a:extLst>
              <a:ext uri="{FF2B5EF4-FFF2-40B4-BE49-F238E27FC236}">
                <a16:creationId xmlns:a16="http://schemas.microsoft.com/office/drawing/2014/main" id="{C2DF48EF-CB9B-4DEC-A978-BD4C5E8A371A}"/>
              </a:ext>
              <a:ext uri="{C183D7F6-B498-43B3-948B-1728B52AA6E4}">
                <adec:decorative xmlns:adec="http://schemas.microsoft.com/office/drawing/2017/decorative" val="1"/>
              </a:ext>
            </a:extLst>
          </p:cNvPr>
          <p:cNvSpPr>
            <a:spLocks noGrp="1"/>
          </p:cNvSpPr>
          <p:nvPr>
            <p:ph type="pic" idx="26" hasCustomPrompt="1"/>
          </p:nvPr>
        </p:nvSpPr>
        <p:spPr>
          <a:xfrm>
            <a:off x="6236208" y="300837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6" name="Content R Middle">
            <a:extLst>
              <a:ext uri="{FF2B5EF4-FFF2-40B4-BE49-F238E27FC236}">
                <a16:creationId xmlns:a16="http://schemas.microsoft.com/office/drawing/2014/main" id="{823555B5-F2D8-4708-8578-06784CA9E686}"/>
              </a:ext>
            </a:extLst>
          </p:cNvPr>
          <p:cNvSpPr>
            <a:spLocks noGrp="1"/>
          </p:cNvSpPr>
          <p:nvPr>
            <p:ph type="body" idx="6" hasCustomPrompt="1"/>
          </p:nvPr>
        </p:nvSpPr>
        <p:spPr>
          <a:xfrm>
            <a:off x="7884436" y="2917504"/>
            <a:ext cx="3941806"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5613" indent="0">
              <a:lnSpc>
                <a:spcPct val="100000"/>
              </a:lnSpc>
              <a:spcAft>
                <a:spcPts val="60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p:txBody>
      </p:sp>
      <p:sp>
        <p:nvSpPr>
          <p:cNvPr id="27" name="Picture R Bottom">
            <a:extLst>
              <a:ext uri="{FF2B5EF4-FFF2-40B4-BE49-F238E27FC236}">
                <a16:creationId xmlns:a16="http://schemas.microsoft.com/office/drawing/2014/main" id="{F1E0B4C9-22CB-4378-B9DD-C97CC3CC37D3}"/>
              </a:ext>
              <a:ext uri="{C183D7F6-B498-43B3-948B-1728B52AA6E4}">
                <adec:decorative xmlns:adec="http://schemas.microsoft.com/office/drawing/2017/decorative" val="1"/>
              </a:ext>
            </a:extLst>
          </p:cNvPr>
          <p:cNvSpPr>
            <a:spLocks noGrp="1"/>
          </p:cNvSpPr>
          <p:nvPr>
            <p:ph type="pic" idx="27" hasCustomPrompt="1"/>
          </p:nvPr>
        </p:nvSpPr>
        <p:spPr>
          <a:xfrm>
            <a:off x="6236208" y="4773168"/>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7" name="Content R Bottom">
            <a:extLst>
              <a:ext uri="{FF2B5EF4-FFF2-40B4-BE49-F238E27FC236}">
                <a16:creationId xmlns:a16="http://schemas.microsoft.com/office/drawing/2014/main" id="{B8A01145-54CF-4ED7-86C7-2C5968A8E4E9}"/>
              </a:ext>
            </a:extLst>
          </p:cNvPr>
          <p:cNvSpPr>
            <a:spLocks noGrp="1"/>
          </p:cNvSpPr>
          <p:nvPr>
            <p:ph type="body" idx="7" hasCustomPrompt="1"/>
          </p:nvPr>
        </p:nvSpPr>
        <p:spPr>
          <a:xfrm>
            <a:off x="7884436" y="4684674"/>
            <a:ext cx="3941806"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5613" indent="0">
              <a:lnSpc>
                <a:spcPct val="100000"/>
              </a:lnSpc>
              <a:spcAft>
                <a:spcPts val="60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p:txBody>
      </p:sp>
    </p:spTree>
    <p:extLst>
      <p:ext uri="{BB962C8B-B14F-4D97-AF65-F5344CB8AC3E}">
        <p14:creationId xmlns:p14="http://schemas.microsoft.com/office/powerpoint/2010/main" val="14035492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and 4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A5B3212-A91F-4308-A973-316F80A6A0B3}"/>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5FE023F-03C4-484F-A300-E408B4FEB8E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6"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4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278892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Center Left">
            <a:extLst>
              <a:ext uri="{FF2B5EF4-FFF2-40B4-BE49-F238E27FC236}">
                <a16:creationId xmlns:a16="http://schemas.microsoft.com/office/drawing/2014/main" id="{951E617C-D9F7-4098-883E-6A048DBCF862}"/>
              </a:ext>
            </a:extLst>
          </p:cNvPr>
          <p:cNvSpPr>
            <a:spLocks noGrp="1"/>
          </p:cNvSpPr>
          <p:nvPr>
            <p:ph idx="3" hasCustomPrompt="1"/>
          </p:nvPr>
        </p:nvSpPr>
        <p:spPr>
          <a:xfrm>
            <a:off x="3258312" y="1097280"/>
            <a:ext cx="278892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Center Right">
            <a:extLst>
              <a:ext uri="{FF2B5EF4-FFF2-40B4-BE49-F238E27FC236}">
                <a16:creationId xmlns:a16="http://schemas.microsoft.com/office/drawing/2014/main" id="{A8A7CEA5-195D-4DB0-B5A3-06CEEA93C108}"/>
              </a:ext>
            </a:extLst>
          </p:cNvPr>
          <p:cNvSpPr>
            <a:spLocks noGrp="1"/>
          </p:cNvSpPr>
          <p:nvPr>
            <p:ph idx="4" hasCustomPrompt="1"/>
          </p:nvPr>
        </p:nvSpPr>
        <p:spPr>
          <a:xfrm>
            <a:off x="6150864" y="1097280"/>
            <a:ext cx="278892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Right">
            <a:extLst>
              <a:ext uri="{FF2B5EF4-FFF2-40B4-BE49-F238E27FC236}">
                <a16:creationId xmlns:a16="http://schemas.microsoft.com/office/drawing/2014/main" id="{BC11431A-8924-465C-98E0-6E4655C69AA7}"/>
              </a:ext>
            </a:extLst>
          </p:cNvPr>
          <p:cNvSpPr>
            <a:spLocks noGrp="1"/>
          </p:cNvSpPr>
          <p:nvPr>
            <p:ph idx="5" hasCustomPrompt="1"/>
          </p:nvPr>
        </p:nvSpPr>
        <p:spPr>
          <a:xfrm>
            <a:off x="9043416" y="1097280"/>
            <a:ext cx="278892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5515076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reserve="1">
  <p:cSld name="Title, 4 Header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01112C1-CB8D-4535-B2A1-5048E573106F}"/>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6"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4 headers, and 4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1560"/>
            <a:ext cx="2788920" cy="440329"/>
          </a:xfrm>
          <a:blipFill>
            <a:blip r:embed="rId2"/>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2788920" cy="4882896"/>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4408" y="1051560"/>
            <a:ext cx="2788920" cy="440329"/>
          </a:xfrm>
          <a:blipFill>
            <a:blip r:embed="rId3"/>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Center Left">
            <a:extLst>
              <a:ext uri="{FF2B5EF4-FFF2-40B4-BE49-F238E27FC236}">
                <a16:creationId xmlns:a16="http://schemas.microsoft.com/office/drawing/2014/main" id="{7F5B85B9-BABC-44F6-B2AE-99F02670D702}"/>
              </a:ext>
            </a:extLst>
          </p:cNvPr>
          <p:cNvSpPr>
            <a:spLocks noGrp="1"/>
          </p:cNvSpPr>
          <p:nvPr>
            <p:ph type="body" idx="3" hasCustomPrompt="1"/>
          </p:nvPr>
        </p:nvSpPr>
        <p:spPr>
          <a:xfrm>
            <a:off x="3264408" y="1563624"/>
            <a:ext cx="2788920" cy="4882896"/>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Cent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6163056" y="1051560"/>
            <a:ext cx="2788920" cy="440329"/>
          </a:xfrm>
          <a:blipFill>
            <a:blip r:embed="rId4"/>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6163056" y="1563624"/>
            <a:ext cx="2788920" cy="4882896"/>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5" name="Content Header Right">
            <a:extLst>
              <a:ext uri="{FF2B5EF4-FFF2-40B4-BE49-F238E27FC236}">
                <a16:creationId xmlns:a16="http://schemas.microsoft.com/office/drawing/2014/main" id="{ED932AC6-C3A8-487A-A17E-48D0C368204C}"/>
              </a:ext>
            </a:extLst>
          </p:cNvPr>
          <p:cNvSpPr>
            <a:spLocks noGrp="1"/>
          </p:cNvSpPr>
          <p:nvPr>
            <p:ph type="body" idx="15" hasCustomPrompt="1"/>
          </p:nvPr>
        </p:nvSpPr>
        <p:spPr>
          <a:xfrm>
            <a:off x="9061704" y="1051560"/>
            <a:ext cx="2788920" cy="440329"/>
          </a:xfrm>
          <a:blipFill>
            <a:blip r:embed="rId5"/>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7CF59EA0-9039-4A19-8197-DA073A0DB52B}"/>
              </a:ext>
            </a:extLst>
          </p:cNvPr>
          <p:cNvSpPr>
            <a:spLocks noGrp="1"/>
          </p:cNvSpPr>
          <p:nvPr>
            <p:ph type="body" idx="5" hasCustomPrompt="1"/>
          </p:nvPr>
        </p:nvSpPr>
        <p:spPr>
          <a:xfrm>
            <a:off x="9061704" y="1563624"/>
            <a:ext cx="2788920" cy="4882896"/>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12395580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Header, 4 Lg Pics, and 4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59FB098F-E843-4BDC-8C23-7C327B2DE964}"/>
              </a:ext>
              <a:ext uri="{C183D7F6-B498-43B3-948B-1728B52AA6E4}">
                <adec:decorative xmlns:adec="http://schemas.microsoft.com/office/drawing/2017/decorative" val="1"/>
              </a:ext>
            </a:extLst>
          </p:cNvPr>
          <p:cNvPicPr preferRelativeResize="0">
            <a:picLocks/>
          </p:cNvPicPr>
          <p:nvPr/>
        </p:nvPicPr>
        <p:blipFill rotWithShape="1">
          <a:blip r:embed="rId2">
            <a:extLst>
              <a:ext uri="{28A0092B-C50C-407E-A947-70E740481C1C}">
                <a14:useLocalDpi xmlns:a14="http://schemas.microsoft.com/office/drawing/2010/main" val="0"/>
              </a:ext>
            </a:extLst>
          </a:blip>
          <a:srcRect t="70015" r="1112" b="19988"/>
          <a:stretch/>
        </p:blipFill>
        <p:spPr>
          <a:xfrm>
            <a:off x="365760" y="1037751"/>
            <a:ext cx="11466576" cy="45719"/>
          </a:xfrm>
          <a:prstGeom prst="rect">
            <a:avLst/>
          </a:prstGeom>
        </p:spPr>
      </p:pic>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7"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header, 4 large pictures, and 4 </a:t>
            </a:r>
            <a:r>
              <a:rPr lang="en-US" dirty="0" err="1"/>
              <a:t>labels</a:t>
            </a:r>
            <a:endParaRPr lang="en-US" dirty="0"/>
          </a:p>
        </p:txBody>
      </p:sp>
      <p:sp>
        <p:nvSpPr>
          <p:cNvPr id="2" name="Content Top">
            <a:extLst>
              <a:ext uri="{FF2B5EF4-FFF2-40B4-BE49-F238E27FC236}">
                <a16:creationId xmlns:a16="http://schemas.microsoft.com/office/drawing/2014/main" id="{CEBB69C5-28A4-4F99-A9FE-572F9D53CF4E}"/>
              </a:ext>
            </a:extLst>
          </p:cNvPr>
          <p:cNvSpPr>
            <a:spLocks noGrp="1"/>
          </p:cNvSpPr>
          <p:nvPr>
            <p:ph type="body" idx="2" hasCustomPrompt="1"/>
          </p:nvPr>
        </p:nvSpPr>
        <p:spPr>
          <a:xfrm>
            <a:off x="365760" y="1046879"/>
            <a:ext cx="11466576" cy="1099688"/>
          </a:xfrm>
          <a:noFill/>
          <a:ln>
            <a:noFill/>
          </a:ln>
        </p:spPr>
        <p:txBody>
          <a:bodyPr lIns="91440" anchor="ctr">
            <a:noAutofit/>
          </a:bodyPr>
          <a:lstStyle>
            <a:lvl1pPr marL="60325" indent="0">
              <a:lnSpc>
                <a:spcPct val="100000"/>
              </a:lnSpc>
              <a:spcBef>
                <a:spcPts val="0"/>
              </a:spcBef>
              <a:spcAft>
                <a:spcPts val="0"/>
              </a:spcAft>
              <a:buNone/>
              <a:defRPr sz="28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848655" y="2269331"/>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3" name="Content Left">
            <a:extLst>
              <a:ext uri="{FF2B5EF4-FFF2-40B4-BE49-F238E27FC236}">
                <a16:creationId xmlns:a16="http://schemas.microsoft.com/office/drawing/2014/main" id="{5ACBD598-6775-4223-B2AB-B169A112E3FF}"/>
              </a:ext>
            </a:extLst>
          </p:cNvPr>
          <p:cNvSpPr>
            <a:spLocks noGrp="1"/>
          </p:cNvSpPr>
          <p:nvPr>
            <p:ph type="body" idx="3" hasCustomPrompt="1"/>
          </p:nvPr>
        </p:nvSpPr>
        <p:spPr>
          <a:xfrm>
            <a:off x="365760" y="4638120"/>
            <a:ext cx="2788920" cy="1808400"/>
          </a:xfrm>
        </p:spPr>
        <p:txBody>
          <a:bodyPr lIns="91440">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747303" y="2269331"/>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4" name="Content Center Left">
            <a:extLst>
              <a:ext uri="{FF2B5EF4-FFF2-40B4-BE49-F238E27FC236}">
                <a16:creationId xmlns:a16="http://schemas.microsoft.com/office/drawing/2014/main" id="{7F5B85B9-BABC-44F6-B2AE-99F02670D702}"/>
              </a:ext>
            </a:extLst>
          </p:cNvPr>
          <p:cNvSpPr>
            <a:spLocks noGrp="1"/>
          </p:cNvSpPr>
          <p:nvPr>
            <p:ph type="body" idx="4" hasCustomPrompt="1"/>
          </p:nvPr>
        </p:nvSpPr>
        <p:spPr>
          <a:xfrm>
            <a:off x="3264408" y="4638120"/>
            <a:ext cx="2788920" cy="1808400"/>
          </a:xfrm>
        </p:spPr>
        <p:txBody>
          <a:bodyPr lIns="91440">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645951" y="2269331"/>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5" name="Content Center Right">
            <a:extLst>
              <a:ext uri="{FF2B5EF4-FFF2-40B4-BE49-F238E27FC236}">
                <a16:creationId xmlns:a16="http://schemas.microsoft.com/office/drawing/2014/main" id="{FD28CF85-103D-4AC7-BF7A-D32715F9433A}"/>
              </a:ext>
            </a:extLst>
          </p:cNvPr>
          <p:cNvSpPr>
            <a:spLocks noGrp="1"/>
          </p:cNvSpPr>
          <p:nvPr>
            <p:ph type="body" idx="5" hasCustomPrompt="1"/>
          </p:nvPr>
        </p:nvSpPr>
        <p:spPr>
          <a:xfrm>
            <a:off x="6163056" y="4638120"/>
            <a:ext cx="2788920" cy="1808400"/>
          </a:xfrm>
        </p:spPr>
        <p:txBody>
          <a:bodyPr lIns="91440">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5" name="Picture Right">
            <a:extLst>
              <a:ext uri="{FF2B5EF4-FFF2-40B4-BE49-F238E27FC236}">
                <a16:creationId xmlns:a16="http://schemas.microsoft.com/office/drawing/2014/main" id="{3225055C-7E4D-4C57-84DA-4F32CFEE666E}"/>
              </a:ext>
            </a:extLst>
          </p:cNvPr>
          <p:cNvSpPr>
            <a:spLocks noGrp="1"/>
          </p:cNvSpPr>
          <p:nvPr>
            <p:ph type="pic" idx="25" hasCustomPrompt="1"/>
          </p:nvPr>
        </p:nvSpPr>
        <p:spPr>
          <a:xfrm>
            <a:off x="9544599" y="2269331"/>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6" name="Content Right">
            <a:extLst>
              <a:ext uri="{FF2B5EF4-FFF2-40B4-BE49-F238E27FC236}">
                <a16:creationId xmlns:a16="http://schemas.microsoft.com/office/drawing/2014/main" id="{528A167E-DBEB-4BD8-B32A-B1DBF78AA248}"/>
              </a:ext>
            </a:extLst>
          </p:cNvPr>
          <p:cNvSpPr>
            <a:spLocks noGrp="1"/>
          </p:cNvSpPr>
          <p:nvPr>
            <p:ph type="body" idx="6" hasCustomPrompt="1"/>
          </p:nvPr>
        </p:nvSpPr>
        <p:spPr>
          <a:xfrm>
            <a:off x="9043416" y="4638120"/>
            <a:ext cx="2788920" cy="1808400"/>
          </a:xfrm>
        </p:spPr>
        <p:txBody>
          <a:bodyPr lIns="91440">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Tree>
    <p:extLst>
      <p:ext uri="{BB962C8B-B14F-4D97-AF65-F5344CB8AC3E}">
        <p14:creationId xmlns:p14="http://schemas.microsoft.com/office/powerpoint/2010/main" val="17125798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4 Lg Pics, 4 Headers, and 4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B4D28540-5567-49EC-BB23-4B27A199DFB1}"/>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dirty="0"/>
          </a:p>
        </p:txBody>
      </p:sp>
      <p:sp>
        <p:nvSpPr>
          <p:cNvPr id="6"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4 pictures, 4 headers, and 4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17220"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2" name="Content Header Left">
            <a:extLst>
              <a:ext uri="{FF2B5EF4-FFF2-40B4-BE49-F238E27FC236}">
                <a16:creationId xmlns:a16="http://schemas.microsoft.com/office/drawing/2014/main" id="{E25E5BD8-62FD-4C26-93EC-4F7DEEEE84F4}"/>
              </a:ext>
            </a:extLst>
          </p:cNvPr>
          <p:cNvSpPr>
            <a:spLocks noGrp="1"/>
          </p:cNvSpPr>
          <p:nvPr>
            <p:ph type="body" idx="12" hasCustomPrompt="1"/>
          </p:nvPr>
        </p:nvSpPr>
        <p:spPr>
          <a:xfrm>
            <a:off x="365760" y="3442603"/>
            <a:ext cx="2788920" cy="440329"/>
          </a:xfrm>
          <a:blipFill>
            <a:blip r:embed="rId3"/>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915505"/>
            <a:ext cx="2788920" cy="2519238"/>
          </a:xfrm>
        </p:spPr>
        <p:txBody>
          <a:bodyPr lIns="91440">
            <a:noAutofit/>
          </a:bodyPr>
          <a:lstStyle>
            <a:lvl1pPr marL="173038" indent="-173038">
              <a:lnSpc>
                <a:spcPct val="100000"/>
              </a:lnSpc>
              <a:spcAft>
                <a:spcPts val="300"/>
              </a:spcAft>
              <a:buFont typeface="Amazon Ember Display" panose="020B0604020202020204" pitchFamily="34" charset="0"/>
              <a:buChar char="•"/>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01638" indent="-169863">
              <a:lnSpc>
                <a:spcPct val="100000"/>
              </a:lnSpc>
              <a:spcAft>
                <a:spcPts val="300"/>
              </a:spcAft>
              <a:defRPr sz="200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30238" indent="-173038">
              <a:lnSpc>
                <a:spcPct val="100000"/>
              </a:lnSpc>
              <a:spcAft>
                <a:spcPts val="300"/>
              </a:spcAft>
              <a:defRPr sz="180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12820"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3" name="Content Header Center Left">
            <a:extLst>
              <a:ext uri="{FF2B5EF4-FFF2-40B4-BE49-F238E27FC236}">
                <a16:creationId xmlns:a16="http://schemas.microsoft.com/office/drawing/2014/main" id="{9A442DF1-3D43-417E-A82B-92C67BCF72CE}"/>
              </a:ext>
            </a:extLst>
          </p:cNvPr>
          <p:cNvSpPr>
            <a:spLocks noGrp="1"/>
          </p:cNvSpPr>
          <p:nvPr>
            <p:ph type="body" idx="13" hasCustomPrompt="1"/>
          </p:nvPr>
        </p:nvSpPr>
        <p:spPr>
          <a:xfrm>
            <a:off x="3264408" y="3442603"/>
            <a:ext cx="2788920" cy="440329"/>
          </a:xfrm>
          <a:blipFill>
            <a:blip r:embed="rId4"/>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Left Center">
            <a:extLst>
              <a:ext uri="{FF2B5EF4-FFF2-40B4-BE49-F238E27FC236}">
                <a16:creationId xmlns:a16="http://schemas.microsoft.com/office/drawing/2014/main" id="{8F2CF915-F007-4E72-A31F-37CC3AA65001}"/>
              </a:ext>
            </a:extLst>
          </p:cNvPr>
          <p:cNvSpPr>
            <a:spLocks noGrp="1"/>
          </p:cNvSpPr>
          <p:nvPr>
            <p:ph type="body" idx="3" hasCustomPrompt="1"/>
          </p:nvPr>
        </p:nvSpPr>
        <p:spPr>
          <a:xfrm>
            <a:off x="3261360" y="3915505"/>
            <a:ext cx="2788920" cy="2519238"/>
          </a:xfrm>
        </p:spPr>
        <p:txBody>
          <a:bodyPr lIns="91440">
            <a:noAutofit/>
          </a:bodyPr>
          <a:lstStyle>
            <a:lvl1pPr marL="173038" indent="-173038">
              <a:lnSpc>
                <a:spcPct val="100000"/>
              </a:lnSpc>
              <a:spcAft>
                <a:spcPts val="300"/>
              </a:spcAft>
              <a:buFont typeface="Amazon Ember Display" panose="020B0604020202020204" pitchFamily="34" charset="0"/>
              <a:buChar char="•"/>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01638" indent="-169863">
              <a:lnSpc>
                <a:spcPct val="100000"/>
              </a:lnSpc>
              <a:spcAft>
                <a:spcPts val="300"/>
              </a:spcAft>
              <a:defRPr sz="200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30238" indent="-173038">
              <a:lnSpc>
                <a:spcPct val="100000"/>
              </a:lnSpc>
              <a:spcAft>
                <a:spcPts val="300"/>
              </a:spcAft>
              <a:defRPr sz="180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14516"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4" name="Content Header Center Right">
            <a:extLst>
              <a:ext uri="{FF2B5EF4-FFF2-40B4-BE49-F238E27FC236}">
                <a16:creationId xmlns:a16="http://schemas.microsoft.com/office/drawing/2014/main" id="{260667CC-1169-451D-8760-77376982F8B4}"/>
              </a:ext>
            </a:extLst>
          </p:cNvPr>
          <p:cNvSpPr>
            <a:spLocks noGrp="1"/>
          </p:cNvSpPr>
          <p:nvPr>
            <p:ph type="body" idx="14" hasCustomPrompt="1"/>
          </p:nvPr>
        </p:nvSpPr>
        <p:spPr>
          <a:xfrm>
            <a:off x="6163056" y="3442603"/>
            <a:ext cx="2788920" cy="440329"/>
          </a:xfrm>
          <a:blipFill>
            <a:blip r:embed="rId5"/>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6C78D37F-DE17-4FBA-A995-39FC21020DD5}"/>
              </a:ext>
            </a:extLst>
          </p:cNvPr>
          <p:cNvSpPr>
            <a:spLocks noGrp="1"/>
          </p:cNvSpPr>
          <p:nvPr>
            <p:ph type="body" idx="4" hasCustomPrompt="1"/>
          </p:nvPr>
        </p:nvSpPr>
        <p:spPr>
          <a:xfrm>
            <a:off x="6163057" y="3915505"/>
            <a:ext cx="2788920" cy="2519238"/>
          </a:xfrm>
        </p:spPr>
        <p:txBody>
          <a:bodyPr lIns="91440">
            <a:noAutofit/>
          </a:bodyPr>
          <a:lstStyle>
            <a:lvl1pPr marL="173038" indent="-173038">
              <a:lnSpc>
                <a:spcPct val="100000"/>
              </a:lnSpc>
              <a:spcAft>
                <a:spcPts val="300"/>
              </a:spcAft>
              <a:buFont typeface="Amazon Ember Display" panose="020B0604020202020204" pitchFamily="34" charset="0"/>
              <a:buChar char="•"/>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01638" indent="-169863">
              <a:lnSpc>
                <a:spcPct val="100000"/>
              </a:lnSpc>
              <a:spcAft>
                <a:spcPts val="300"/>
              </a:spcAft>
              <a:defRPr sz="200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30238" indent="-173038">
              <a:lnSpc>
                <a:spcPct val="100000"/>
              </a:lnSpc>
              <a:spcAft>
                <a:spcPts val="300"/>
              </a:spcAft>
              <a:defRPr sz="180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5" name="Picture Right">
            <a:extLst>
              <a:ext uri="{FF2B5EF4-FFF2-40B4-BE49-F238E27FC236}">
                <a16:creationId xmlns:a16="http://schemas.microsoft.com/office/drawing/2014/main" id="{3225055C-7E4D-4C57-84DA-4F32CFEE666E}"/>
              </a:ext>
            </a:extLst>
          </p:cNvPr>
          <p:cNvSpPr>
            <a:spLocks noGrp="1"/>
          </p:cNvSpPr>
          <p:nvPr>
            <p:ph type="pic" idx="25" hasCustomPrompt="1"/>
          </p:nvPr>
        </p:nvSpPr>
        <p:spPr>
          <a:xfrm>
            <a:off x="9294876"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5" name="Content Header Right">
            <a:extLst>
              <a:ext uri="{FF2B5EF4-FFF2-40B4-BE49-F238E27FC236}">
                <a16:creationId xmlns:a16="http://schemas.microsoft.com/office/drawing/2014/main" id="{018188E2-6822-47CF-B05C-AA3DCD30E09A}"/>
              </a:ext>
            </a:extLst>
          </p:cNvPr>
          <p:cNvSpPr>
            <a:spLocks noGrp="1"/>
          </p:cNvSpPr>
          <p:nvPr>
            <p:ph type="subTitle" idx="15" hasCustomPrompt="1"/>
          </p:nvPr>
        </p:nvSpPr>
        <p:spPr>
          <a:xfrm>
            <a:off x="9061704" y="3442603"/>
            <a:ext cx="2788920" cy="440329"/>
          </a:xfrm>
          <a:blipFill>
            <a:blip r:embed="rId6"/>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27E7417F-ED15-4B52-BEED-6B9D37EE656E}"/>
              </a:ext>
            </a:extLst>
          </p:cNvPr>
          <p:cNvSpPr>
            <a:spLocks noGrp="1"/>
          </p:cNvSpPr>
          <p:nvPr>
            <p:ph type="body" idx="5" hasCustomPrompt="1"/>
          </p:nvPr>
        </p:nvSpPr>
        <p:spPr>
          <a:xfrm>
            <a:off x="9043416" y="3915505"/>
            <a:ext cx="2788920" cy="2519238"/>
          </a:xfrm>
        </p:spPr>
        <p:txBody>
          <a:bodyPr lIns="91440">
            <a:noAutofit/>
          </a:bodyPr>
          <a:lstStyle>
            <a:lvl1pPr marL="173038" indent="-173038">
              <a:lnSpc>
                <a:spcPct val="100000"/>
              </a:lnSpc>
              <a:spcAft>
                <a:spcPts val="300"/>
              </a:spcAft>
              <a:buFont typeface="Amazon Ember Display" panose="020B0604020202020204" pitchFamily="34" charset="0"/>
              <a:buChar char="•"/>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01638" indent="-169863">
              <a:lnSpc>
                <a:spcPct val="100000"/>
              </a:lnSpc>
              <a:spcAft>
                <a:spcPts val="300"/>
              </a:spcAft>
              <a:defRPr sz="200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30238" indent="-173038">
              <a:lnSpc>
                <a:spcPct val="100000"/>
              </a:lnSpc>
              <a:spcAft>
                <a:spcPts val="300"/>
              </a:spcAft>
              <a:defRPr sz="180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a:defRPr/>
            </a:lvl4pPr>
            <a:lvl5pPr>
              <a:defRPr/>
            </a:lvl5pPr>
          </a:lstStyle>
          <a:p>
            <a:pPr lvl="0"/>
            <a:r>
              <a:rPr lang="en-US" dirty="0"/>
              <a:t>Add content text</a:t>
            </a:r>
          </a:p>
          <a:p>
            <a:pPr lvl="1"/>
            <a:r>
              <a:rPr lang="en-US" dirty="0"/>
              <a:t>Second level</a:t>
            </a:r>
          </a:p>
          <a:p>
            <a:pPr lvl="2"/>
            <a:r>
              <a:rPr lang="en-US" dirty="0"/>
              <a:t>Third level</a:t>
            </a:r>
          </a:p>
        </p:txBody>
      </p:sp>
    </p:spTree>
    <p:extLst>
      <p:ext uri="{BB962C8B-B14F-4D97-AF65-F5344CB8AC3E}">
        <p14:creationId xmlns:p14="http://schemas.microsoft.com/office/powerpoint/2010/main" val="10195691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Title, 4 Sm Pics, 4 Headers, and 4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B776EBEE-87DA-49C8-A876-AA9E9DCA162E}"/>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61D9C16A-E9FD-4A2D-A4D2-A79A6CA8EB58}"/>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6" name="Title"/>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panose="020F0803020204020204" pitchFamily="34" charset="0"/>
              </a:defRPr>
            </a:lvl1pPr>
          </a:lstStyle>
          <a:p>
            <a:r>
              <a:rPr lang="en-US" dirty="0"/>
              <a:t>Title, 4 small pictures, 4 headers, and 4 text fields</a:t>
            </a:r>
          </a:p>
        </p:txBody>
      </p:sp>
      <p:sp>
        <p:nvSpPr>
          <p:cNvPr id="22" name="Picture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845820" y="1051560"/>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2" name="Content Header Left">
            <a:extLst>
              <a:ext uri="{FF2B5EF4-FFF2-40B4-BE49-F238E27FC236}">
                <a16:creationId xmlns:a16="http://schemas.microsoft.com/office/drawing/2014/main" id="{68ACB2DB-9EE0-4267-A5CA-50F1BBFFFA22}"/>
              </a:ext>
            </a:extLst>
          </p:cNvPr>
          <p:cNvSpPr>
            <a:spLocks noGrp="1"/>
          </p:cNvSpPr>
          <p:nvPr>
            <p:ph type="body" idx="12" hasCustomPrompt="1"/>
          </p:nvPr>
        </p:nvSpPr>
        <p:spPr>
          <a:xfrm>
            <a:off x="365760" y="2948320"/>
            <a:ext cx="2788920" cy="440329"/>
          </a:xfrm>
          <a:blipFill>
            <a:blip r:embed="rId3"/>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65760" y="3429000"/>
            <a:ext cx="2788920" cy="3005742"/>
          </a:xfrm>
        </p:spPr>
        <p:txBody>
          <a:bodyPr lIns="91440">
            <a:noAutofit/>
          </a:bodyPr>
          <a:lstStyle>
            <a:lvl1pPr marL="0" indent="0">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3" name="Picture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738372" y="1051560"/>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3" name="Content Header Center Left">
            <a:extLst>
              <a:ext uri="{FF2B5EF4-FFF2-40B4-BE49-F238E27FC236}">
                <a16:creationId xmlns:a16="http://schemas.microsoft.com/office/drawing/2014/main" id="{E815E159-1B4E-49D0-B2ED-19097487D83E}"/>
              </a:ext>
            </a:extLst>
          </p:cNvPr>
          <p:cNvSpPr>
            <a:spLocks noGrp="1"/>
          </p:cNvSpPr>
          <p:nvPr>
            <p:ph type="body" idx="13" hasCustomPrompt="1"/>
          </p:nvPr>
        </p:nvSpPr>
        <p:spPr>
          <a:xfrm>
            <a:off x="3264408" y="2948320"/>
            <a:ext cx="2788920" cy="440329"/>
          </a:xfrm>
          <a:blipFill>
            <a:blip r:embed="rId4"/>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58312" y="3429000"/>
            <a:ext cx="2788920" cy="3005742"/>
          </a:xfrm>
        </p:spPr>
        <p:txBody>
          <a:bodyPr lIns="91440">
            <a:noAutofit/>
          </a:bodyPr>
          <a:lstStyle>
            <a:lvl1pPr marL="0" indent="0">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4" name="Picture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630924" y="1051560"/>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4" name="Content Header Center Right">
            <a:extLst>
              <a:ext uri="{FF2B5EF4-FFF2-40B4-BE49-F238E27FC236}">
                <a16:creationId xmlns:a16="http://schemas.microsoft.com/office/drawing/2014/main" id="{1B7C447B-84A7-4522-90FF-55D459E52C8E}"/>
              </a:ext>
            </a:extLst>
          </p:cNvPr>
          <p:cNvSpPr>
            <a:spLocks noGrp="1"/>
          </p:cNvSpPr>
          <p:nvPr>
            <p:ph type="body" idx="14" hasCustomPrompt="1"/>
          </p:nvPr>
        </p:nvSpPr>
        <p:spPr>
          <a:xfrm>
            <a:off x="6163056" y="2948320"/>
            <a:ext cx="2788920" cy="440329"/>
          </a:xfrm>
          <a:blipFill>
            <a:blip r:embed="rId5"/>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50864" y="3429000"/>
            <a:ext cx="2788920" cy="3005742"/>
          </a:xfrm>
        </p:spPr>
        <p:txBody>
          <a:bodyPr lIns="91440">
            <a:noAutofit/>
          </a:bodyPr>
          <a:lstStyle>
            <a:lvl1pPr marL="0" indent="0">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5" name="Picture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23476" y="1051560"/>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5" name="Content Header Right">
            <a:extLst>
              <a:ext uri="{FF2B5EF4-FFF2-40B4-BE49-F238E27FC236}">
                <a16:creationId xmlns:a16="http://schemas.microsoft.com/office/drawing/2014/main" id="{9E85099F-BBF6-4F09-A30C-38DBA95A8548}"/>
              </a:ext>
            </a:extLst>
          </p:cNvPr>
          <p:cNvSpPr>
            <a:spLocks noGrp="1"/>
          </p:cNvSpPr>
          <p:nvPr>
            <p:ph type="body" idx="15" hasCustomPrompt="1"/>
          </p:nvPr>
        </p:nvSpPr>
        <p:spPr>
          <a:xfrm>
            <a:off x="9061704" y="2948320"/>
            <a:ext cx="2788920" cy="440329"/>
          </a:xfrm>
          <a:blipFill>
            <a:blip r:embed="rId6"/>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43416" y="3429000"/>
            <a:ext cx="2788920" cy="3005742"/>
          </a:xfrm>
        </p:spPr>
        <p:txBody>
          <a:bodyPr lIns="91440">
            <a:noAutofit/>
          </a:bodyPr>
          <a:lstStyle>
            <a:lvl1pPr marL="0" indent="0">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Tree>
    <p:extLst>
      <p:ext uri="{BB962C8B-B14F-4D97-AF65-F5344CB8AC3E}">
        <p14:creationId xmlns:p14="http://schemas.microsoft.com/office/powerpoint/2010/main" val="17301162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Title, 4 Lg Pics,and 4 Header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6D00736-4E44-4617-83F3-B5A93F28ED82}"/>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4 large pictures, and 4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365760" y="1835333"/>
            <a:ext cx="2788920" cy="283464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2" name="Content Header Left">
            <a:extLst>
              <a:ext uri="{FF2B5EF4-FFF2-40B4-BE49-F238E27FC236}">
                <a16:creationId xmlns:a16="http://schemas.microsoft.com/office/drawing/2014/main" id="{2B2D3480-322B-4C0B-94D7-C59E6AFF5565}"/>
              </a:ext>
            </a:extLst>
          </p:cNvPr>
          <p:cNvSpPr>
            <a:spLocks noGrp="1"/>
          </p:cNvSpPr>
          <p:nvPr>
            <p:ph type="body" idx="12" hasCustomPrompt="1"/>
          </p:nvPr>
        </p:nvSpPr>
        <p:spPr>
          <a:xfrm>
            <a:off x="365760" y="4715349"/>
            <a:ext cx="2788920" cy="440329"/>
          </a:xfrm>
          <a:blipFill>
            <a:blip r:embed="rId3"/>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258312" y="1835333"/>
            <a:ext cx="2788920" cy="283464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3" name="Content Header Center Left">
            <a:extLst>
              <a:ext uri="{FF2B5EF4-FFF2-40B4-BE49-F238E27FC236}">
                <a16:creationId xmlns:a16="http://schemas.microsoft.com/office/drawing/2014/main" id="{B6A71433-CC61-4650-BF2B-86CC1BE6EEEC}"/>
              </a:ext>
            </a:extLst>
          </p:cNvPr>
          <p:cNvSpPr>
            <a:spLocks noGrp="1"/>
          </p:cNvSpPr>
          <p:nvPr>
            <p:ph type="body" idx="13" hasCustomPrompt="1"/>
          </p:nvPr>
        </p:nvSpPr>
        <p:spPr>
          <a:xfrm>
            <a:off x="3264408" y="4715349"/>
            <a:ext cx="2788920" cy="440329"/>
          </a:xfrm>
          <a:blipFill>
            <a:blip r:embed="rId4"/>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150864" y="1835333"/>
            <a:ext cx="2788920" cy="283464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4" name="Content Header Center Right">
            <a:extLst>
              <a:ext uri="{FF2B5EF4-FFF2-40B4-BE49-F238E27FC236}">
                <a16:creationId xmlns:a16="http://schemas.microsoft.com/office/drawing/2014/main" id="{0F4BEAEB-FC7A-4187-A498-787B770D759A}"/>
              </a:ext>
            </a:extLst>
          </p:cNvPr>
          <p:cNvSpPr>
            <a:spLocks noGrp="1"/>
          </p:cNvSpPr>
          <p:nvPr>
            <p:ph type="body" idx="14" hasCustomPrompt="1"/>
          </p:nvPr>
        </p:nvSpPr>
        <p:spPr>
          <a:xfrm>
            <a:off x="6163056" y="4715349"/>
            <a:ext cx="2788920" cy="440329"/>
          </a:xfrm>
          <a:blipFill>
            <a:blip r:embed="rId5"/>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5" name="Picture Right">
            <a:extLst>
              <a:ext uri="{FF2B5EF4-FFF2-40B4-BE49-F238E27FC236}">
                <a16:creationId xmlns:a16="http://schemas.microsoft.com/office/drawing/2014/main" id="{3225055C-7E4D-4C57-84DA-4F32CFEE666E}"/>
              </a:ext>
            </a:extLst>
          </p:cNvPr>
          <p:cNvSpPr>
            <a:spLocks noGrp="1"/>
          </p:cNvSpPr>
          <p:nvPr>
            <p:ph type="pic" idx="25" hasCustomPrompt="1"/>
          </p:nvPr>
        </p:nvSpPr>
        <p:spPr>
          <a:xfrm>
            <a:off x="9043416" y="1835333"/>
            <a:ext cx="2788920" cy="283464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5" name="Content Header Right">
            <a:extLst>
              <a:ext uri="{FF2B5EF4-FFF2-40B4-BE49-F238E27FC236}">
                <a16:creationId xmlns:a16="http://schemas.microsoft.com/office/drawing/2014/main" id="{A00A0E08-1A3F-49FF-A344-ECCFEE35A8F7}"/>
              </a:ext>
            </a:extLst>
          </p:cNvPr>
          <p:cNvSpPr>
            <a:spLocks noGrp="1"/>
          </p:cNvSpPr>
          <p:nvPr>
            <p:ph type="body" idx="15" hasCustomPrompt="1"/>
          </p:nvPr>
        </p:nvSpPr>
        <p:spPr>
          <a:xfrm>
            <a:off x="9061704" y="4715349"/>
            <a:ext cx="2788920" cy="440329"/>
          </a:xfrm>
          <a:blipFill>
            <a:blip r:embed="rId6"/>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extLst>
      <p:ext uri="{BB962C8B-B14F-4D97-AF65-F5344CB8AC3E}">
        <p14:creationId xmlns:p14="http://schemas.microsoft.com/office/powerpoint/2010/main" val="42627270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Title, 6 Pics, and 6 Text Box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5E62986-2CB5-4C74-BFA0-36B722DD633C}"/>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36A79036-863F-433F-8D16-845BBBCE412D}"/>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dirty="0"/>
          </a:p>
        </p:txBody>
      </p:sp>
      <p:sp>
        <p:nvSpPr>
          <p:cNvPr id="8" name="Title"/>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panose="020F0803020204020204" pitchFamily="34" charset="0"/>
              </a:defRPr>
            </a:lvl1pPr>
          </a:lstStyle>
          <a:p>
            <a:r>
              <a:rPr lang="en-US" dirty="0"/>
              <a:t>1 text box, 6 Images, and 6 text boxes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1516380" y="1211176"/>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830580" y="3056649"/>
            <a:ext cx="3200400" cy="570859"/>
          </a:xfrm>
        </p:spPr>
        <p:txBody>
          <a:bodyPr lIns="45720" anchor="ctr">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3" name="Picture Top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5181600" y="1211176"/>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3" name="Content Top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4495800" y="3056649"/>
            <a:ext cx="3200400" cy="570859"/>
          </a:xfrm>
        </p:spPr>
        <p:txBody>
          <a:bodyPr lIns="45720" anchor="ctr">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4" name="Picture Top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8852916" y="1211176"/>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4" name="Content Top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8167116" y="3056649"/>
            <a:ext cx="3200400" cy="570859"/>
          </a:xfrm>
        </p:spPr>
        <p:txBody>
          <a:bodyPr lIns="45720" anchor="ctr">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5" name="Picture Bottom Lef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1516380" y="3866132"/>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5" name="Content Bottom Lef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830580" y="5704771"/>
            <a:ext cx="3200400" cy="570859"/>
          </a:xfrm>
        </p:spPr>
        <p:txBody>
          <a:bodyPr lIns="45720" anchor="ctr">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6" name="Picture Bottom Center">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5181600" y="3866132"/>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6" name="Content Bottom Center">
            <a:extLst>
              <a:ext uri="{FF2B5EF4-FFF2-40B4-BE49-F238E27FC236}">
                <a16:creationId xmlns:a16="http://schemas.microsoft.com/office/drawing/2014/main" id="{4D93D3AB-1EE8-404D-9F8C-ED6967836914}"/>
              </a:ext>
            </a:extLst>
          </p:cNvPr>
          <p:cNvSpPr>
            <a:spLocks noGrp="1"/>
          </p:cNvSpPr>
          <p:nvPr>
            <p:ph type="body" idx="6" hasCustomPrompt="1"/>
          </p:nvPr>
        </p:nvSpPr>
        <p:spPr>
          <a:xfrm>
            <a:off x="4495800" y="5704771"/>
            <a:ext cx="3200400" cy="570859"/>
          </a:xfrm>
        </p:spPr>
        <p:txBody>
          <a:bodyPr lIns="45720" anchor="ctr">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7" name="Picture Bottom Right">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8852916" y="3866132"/>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7" name="Content Bottom Right">
            <a:extLst>
              <a:ext uri="{FF2B5EF4-FFF2-40B4-BE49-F238E27FC236}">
                <a16:creationId xmlns:a16="http://schemas.microsoft.com/office/drawing/2014/main" id="{E00DC7A1-D213-4110-B8F7-671693ED3BA2}"/>
              </a:ext>
            </a:extLst>
          </p:cNvPr>
          <p:cNvSpPr>
            <a:spLocks noGrp="1"/>
          </p:cNvSpPr>
          <p:nvPr>
            <p:ph type="body" idx="7" hasCustomPrompt="1"/>
          </p:nvPr>
        </p:nvSpPr>
        <p:spPr>
          <a:xfrm>
            <a:off x="8167116" y="5704771"/>
            <a:ext cx="3200400" cy="570859"/>
          </a:xfrm>
        </p:spPr>
        <p:txBody>
          <a:bodyPr lIns="45720" anchor="ctr">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Tree>
    <p:extLst>
      <p:ext uri="{BB962C8B-B14F-4D97-AF65-F5344CB8AC3E}">
        <p14:creationId xmlns:p14="http://schemas.microsoft.com/office/powerpoint/2010/main" val="21495068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Title and 8 pictur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6549563-E04B-4657-8321-4C6934FCD322}"/>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E705BC3-4D3C-4BF3-801C-BFF823D8CAA1}"/>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dirty="0"/>
          </a:p>
        </p:txBody>
      </p:sp>
      <p:sp>
        <p:nvSpPr>
          <p:cNvPr id="2"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and 8 pictures</a:t>
            </a:r>
          </a:p>
        </p:txBody>
      </p:sp>
      <p:sp>
        <p:nvSpPr>
          <p:cNvPr id="22" name="Picture 1">
            <a:extLst>
              <a:ext uri="{FF2B5EF4-FFF2-40B4-BE49-F238E27FC236}">
                <a16:creationId xmlns:a16="http://schemas.microsoft.com/office/drawing/2014/main" id="{01E0569B-0304-4CF2-95FE-74EEAC9AEC38}"/>
              </a:ext>
            </a:extLst>
          </p:cNvPr>
          <p:cNvSpPr>
            <a:spLocks noGrp="1"/>
          </p:cNvSpPr>
          <p:nvPr>
            <p:ph type="pic" idx="22" hasCustomPrompt="1"/>
          </p:nvPr>
        </p:nvSpPr>
        <p:spPr>
          <a:xfrm>
            <a:off x="640080" y="1162264"/>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23" name="Picture 2">
            <a:extLst>
              <a:ext uri="{FF2B5EF4-FFF2-40B4-BE49-F238E27FC236}">
                <a16:creationId xmlns:a16="http://schemas.microsoft.com/office/drawing/2014/main" id="{4E39BCC2-7E6B-49A6-88A7-4389D0876599}"/>
              </a:ext>
            </a:extLst>
          </p:cNvPr>
          <p:cNvSpPr>
            <a:spLocks noGrp="1"/>
          </p:cNvSpPr>
          <p:nvPr>
            <p:ph type="pic" idx="23" hasCustomPrompt="1"/>
          </p:nvPr>
        </p:nvSpPr>
        <p:spPr>
          <a:xfrm>
            <a:off x="3517392" y="1162264"/>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24" name="Picture 3">
            <a:extLst>
              <a:ext uri="{FF2B5EF4-FFF2-40B4-BE49-F238E27FC236}">
                <a16:creationId xmlns:a16="http://schemas.microsoft.com/office/drawing/2014/main" id="{292A7B23-5883-4A03-AA9E-D7887267A0B5}"/>
              </a:ext>
            </a:extLst>
          </p:cNvPr>
          <p:cNvSpPr>
            <a:spLocks noGrp="1"/>
          </p:cNvSpPr>
          <p:nvPr>
            <p:ph type="pic" idx="24" hasCustomPrompt="1"/>
          </p:nvPr>
        </p:nvSpPr>
        <p:spPr>
          <a:xfrm>
            <a:off x="6394704" y="1162264"/>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25" name="Picture 4">
            <a:extLst>
              <a:ext uri="{FF2B5EF4-FFF2-40B4-BE49-F238E27FC236}">
                <a16:creationId xmlns:a16="http://schemas.microsoft.com/office/drawing/2014/main" id="{871FBC72-3D16-49CE-BD02-AD416196D37A}"/>
              </a:ext>
            </a:extLst>
          </p:cNvPr>
          <p:cNvSpPr>
            <a:spLocks noGrp="1"/>
          </p:cNvSpPr>
          <p:nvPr>
            <p:ph type="pic" idx="25" hasCustomPrompt="1"/>
          </p:nvPr>
        </p:nvSpPr>
        <p:spPr>
          <a:xfrm>
            <a:off x="9272016" y="1162264"/>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26" name="Picture 5">
            <a:extLst>
              <a:ext uri="{FF2B5EF4-FFF2-40B4-BE49-F238E27FC236}">
                <a16:creationId xmlns:a16="http://schemas.microsoft.com/office/drawing/2014/main" id="{CCC335E7-FA18-44DB-ACBC-F2DABE9FB384}"/>
              </a:ext>
            </a:extLst>
          </p:cNvPr>
          <p:cNvSpPr>
            <a:spLocks noGrp="1"/>
          </p:cNvSpPr>
          <p:nvPr>
            <p:ph type="pic" idx="26" hasCustomPrompt="1"/>
          </p:nvPr>
        </p:nvSpPr>
        <p:spPr>
          <a:xfrm>
            <a:off x="640080" y="3873273"/>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27" name="Picture 6">
            <a:extLst>
              <a:ext uri="{FF2B5EF4-FFF2-40B4-BE49-F238E27FC236}">
                <a16:creationId xmlns:a16="http://schemas.microsoft.com/office/drawing/2014/main" id="{BB740650-61A2-4FDC-8700-54D96F01FF5A}"/>
              </a:ext>
            </a:extLst>
          </p:cNvPr>
          <p:cNvSpPr>
            <a:spLocks noGrp="1"/>
          </p:cNvSpPr>
          <p:nvPr>
            <p:ph type="pic" idx="27" hasCustomPrompt="1"/>
          </p:nvPr>
        </p:nvSpPr>
        <p:spPr>
          <a:xfrm>
            <a:off x="3517392" y="3873273"/>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28" name="Picture 7">
            <a:extLst>
              <a:ext uri="{FF2B5EF4-FFF2-40B4-BE49-F238E27FC236}">
                <a16:creationId xmlns:a16="http://schemas.microsoft.com/office/drawing/2014/main" id="{CA951A10-B648-4F4E-87FD-97FD8FEB4106}"/>
              </a:ext>
            </a:extLst>
          </p:cNvPr>
          <p:cNvSpPr>
            <a:spLocks noGrp="1"/>
          </p:cNvSpPr>
          <p:nvPr>
            <p:ph type="pic" idx="28" hasCustomPrompt="1"/>
          </p:nvPr>
        </p:nvSpPr>
        <p:spPr>
          <a:xfrm>
            <a:off x="6394704" y="3873273"/>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29" name="Picture 8">
            <a:extLst>
              <a:ext uri="{FF2B5EF4-FFF2-40B4-BE49-F238E27FC236}">
                <a16:creationId xmlns:a16="http://schemas.microsoft.com/office/drawing/2014/main" id="{1F4C4007-9EA0-4D1F-938D-A38B105119E9}"/>
              </a:ext>
            </a:extLst>
          </p:cNvPr>
          <p:cNvSpPr>
            <a:spLocks noGrp="1"/>
          </p:cNvSpPr>
          <p:nvPr>
            <p:ph type="pic" idx="29" hasCustomPrompt="1"/>
          </p:nvPr>
        </p:nvSpPr>
        <p:spPr>
          <a:xfrm>
            <a:off x="9272016" y="3873273"/>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Tree>
    <p:extLst>
      <p:ext uri="{BB962C8B-B14F-4D97-AF65-F5344CB8AC3E}">
        <p14:creationId xmlns:p14="http://schemas.microsoft.com/office/powerpoint/2010/main" val="37028777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8 Sm Pics, and 8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D6BA6E7-5899-45FE-A720-127BD53EEDD5}"/>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panose="020F0803020204020204" pitchFamily="34" charset="0"/>
              </a:defRPr>
            </a:lvl1pPr>
          </a:lstStyle>
          <a:p>
            <a:r>
              <a:rPr lang="en-US" dirty="0"/>
              <a:t>Title, 8 pictures,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27294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976540"/>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27294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976540"/>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27294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976540"/>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27294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976540"/>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Lst>
          </p:cNvPr>
          <p:cNvSpPr>
            <a:spLocks noGrp="1"/>
          </p:cNvSpPr>
          <p:nvPr>
            <p:ph type="body" idx="16" hasCustomPrompt="1"/>
          </p:nvPr>
        </p:nvSpPr>
        <p:spPr>
          <a:xfrm>
            <a:off x="388620" y="5518174"/>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29" hasCustomPrompt="1"/>
          </p:nvPr>
        </p:nvSpPr>
        <p:spPr>
          <a:xfrm>
            <a:off x="9592056"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Tree>
    <p:extLst>
      <p:ext uri="{BB962C8B-B14F-4D97-AF65-F5344CB8AC3E}">
        <p14:creationId xmlns:p14="http://schemas.microsoft.com/office/powerpoint/2010/main" val="22827148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Title, 8 Sm Pics, 8 Headers, and 8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987C7E22-9002-48C2-9498-CFDECD00E891}"/>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0" name="Title"/>
          <p:cNvSpPr>
            <a:spLocks noGrp="1"/>
          </p:cNvSpPr>
          <p:nvPr>
            <p:ph type="title" idx="1" hasCustomPrompt="1"/>
          </p:nvPr>
        </p:nvSpPr>
        <p:spPr>
          <a:xfrm>
            <a:off x="365760" y="301752"/>
            <a:ext cx="11466576" cy="731520"/>
          </a:xfrm>
        </p:spPr>
        <p:txBody>
          <a:bodyPr/>
          <a:lstStyle>
            <a:lvl1pPr>
              <a:defRPr>
                <a:solidFill>
                  <a:schemeClr val="tx2"/>
                </a:solidFill>
                <a:latin typeface="Amazon Ember Display Heavy" panose="020F0803020204020204" pitchFamily="34" charset="0"/>
              </a:defRPr>
            </a:lvl1pPr>
          </a:lstStyle>
          <a:p>
            <a:r>
              <a:rPr lang="en-US" dirty="0"/>
              <a:t>Title, 8 pictures, 8 headers,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11252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816120"/>
            <a:ext cx="2788920" cy="301752"/>
          </a:xfrm>
          <a:blipFill>
            <a:blip r:embed="rId3"/>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88620" y="3181880"/>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11252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816120"/>
            <a:ext cx="2788920" cy="301752"/>
          </a:xfrm>
          <a:blipFill>
            <a:blip r:embed="rId4"/>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3" name="Content Top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65932" y="3181880"/>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11252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816120"/>
            <a:ext cx="2788920" cy="301752"/>
          </a:xfrm>
          <a:blipFill>
            <a:blip r:embed="rId5"/>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4" name="Content Top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43244" y="3181880"/>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11252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14460" y="2816120"/>
            <a:ext cx="2788920" cy="301752"/>
          </a:xfrm>
          <a:blipFill>
            <a:blip r:embed="rId6"/>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5" name="Content Top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20556" y="3181880"/>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6" name="Header Bottom Left">
            <a:extLst>
              <a:ext uri="{FF2B5EF4-FFF2-40B4-BE49-F238E27FC236}">
                <a16:creationId xmlns:a16="http://schemas.microsoft.com/office/drawing/2014/main" id="{B5D4E086-E9F4-4E9F-9256-672579A065DB}"/>
              </a:ext>
            </a:extLst>
          </p:cNvPr>
          <p:cNvSpPr>
            <a:spLocks noGrp="1"/>
          </p:cNvSpPr>
          <p:nvPr>
            <p:ph type="body" idx="16" hasCustomPrompt="1"/>
          </p:nvPr>
        </p:nvSpPr>
        <p:spPr>
          <a:xfrm>
            <a:off x="386565" y="5514019"/>
            <a:ext cx="2788920" cy="301752"/>
          </a:xfrm>
          <a:blipFill>
            <a:blip r:embed="rId3"/>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6" name="Content Bottom Left">
            <a:extLst>
              <a:ext uri="{FF2B5EF4-FFF2-40B4-BE49-F238E27FC236}">
                <a16:creationId xmlns:a16="http://schemas.microsoft.com/office/drawing/2014/main" id="{4D93D3AB-1EE8-404D-9F8C-ED6967836914}"/>
              </a:ext>
            </a:extLst>
          </p:cNvPr>
          <p:cNvSpPr>
            <a:spLocks noGrp="1"/>
          </p:cNvSpPr>
          <p:nvPr>
            <p:ph type="body" idx="6" hasCustomPrompt="1"/>
          </p:nvPr>
        </p:nvSpPr>
        <p:spPr>
          <a:xfrm>
            <a:off x="388620" y="5864908"/>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7" name="Header Bottom Left Center">
            <a:extLst>
              <a:ext uri="{FF2B5EF4-FFF2-40B4-BE49-F238E27FC236}">
                <a16:creationId xmlns:a16="http://schemas.microsoft.com/office/drawing/2014/main" id="{290395DC-C987-4AD4-9A04-67CD87E5AA93}"/>
              </a:ext>
            </a:extLst>
          </p:cNvPr>
          <p:cNvSpPr>
            <a:spLocks noGrp="1"/>
          </p:cNvSpPr>
          <p:nvPr>
            <p:ph type="body" idx="17" hasCustomPrompt="1"/>
          </p:nvPr>
        </p:nvSpPr>
        <p:spPr>
          <a:xfrm>
            <a:off x="3263877" y="5514019"/>
            <a:ext cx="2788920" cy="301752"/>
          </a:xfrm>
          <a:blipFill>
            <a:blip r:embed="rId4"/>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7" name="Content Bottom Left Center">
            <a:extLst>
              <a:ext uri="{FF2B5EF4-FFF2-40B4-BE49-F238E27FC236}">
                <a16:creationId xmlns:a16="http://schemas.microsoft.com/office/drawing/2014/main" id="{E00DC7A1-D213-4110-B8F7-671693ED3BA2}"/>
              </a:ext>
            </a:extLst>
          </p:cNvPr>
          <p:cNvSpPr>
            <a:spLocks noGrp="1"/>
          </p:cNvSpPr>
          <p:nvPr>
            <p:ph type="body" idx="7" hasCustomPrompt="1"/>
          </p:nvPr>
        </p:nvSpPr>
        <p:spPr>
          <a:xfrm>
            <a:off x="3265932" y="5864908"/>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8" name="Header Bottom Center Right">
            <a:extLst>
              <a:ext uri="{FF2B5EF4-FFF2-40B4-BE49-F238E27FC236}">
                <a16:creationId xmlns:a16="http://schemas.microsoft.com/office/drawing/2014/main" id="{5F3A12BB-BA62-43F3-9A1F-CCEB5DD2157A}"/>
              </a:ext>
            </a:extLst>
          </p:cNvPr>
          <p:cNvSpPr>
            <a:spLocks noGrp="1"/>
          </p:cNvSpPr>
          <p:nvPr>
            <p:ph type="body" idx="18" hasCustomPrompt="1"/>
          </p:nvPr>
        </p:nvSpPr>
        <p:spPr>
          <a:xfrm>
            <a:off x="6141189" y="5514019"/>
            <a:ext cx="2788920" cy="301752"/>
          </a:xfrm>
          <a:blipFill>
            <a:blip r:embed="rId5"/>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8" name="Content Bottom Center Right">
            <a:extLst>
              <a:ext uri="{FF2B5EF4-FFF2-40B4-BE49-F238E27FC236}">
                <a16:creationId xmlns:a16="http://schemas.microsoft.com/office/drawing/2014/main" id="{9B368858-C97D-421E-8EFA-7300741447EE}"/>
              </a:ext>
            </a:extLst>
          </p:cNvPr>
          <p:cNvSpPr>
            <a:spLocks noGrp="1"/>
          </p:cNvSpPr>
          <p:nvPr>
            <p:ph type="body" idx="8" hasCustomPrompt="1"/>
          </p:nvPr>
        </p:nvSpPr>
        <p:spPr>
          <a:xfrm>
            <a:off x="6143244" y="5864908"/>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29" hasCustomPrompt="1"/>
          </p:nvPr>
        </p:nvSpPr>
        <p:spPr>
          <a:xfrm>
            <a:off x="9592056"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9" name="Header Top Right">
            <a:extLst>
              <a:ext uri="{FF2B5EF4-FFF2-40B4-BE49-F238E27FC236}">
                <a16:creationId xmlns:a16="http://schemas.microsoft.com/office/drawing/2014/main" id="{4703075C-9061-4291-8F10-C3C6CD25B004}"/>
              </a:ext>
            </a:extLst>
          </p:cNvPr>
          <p:cNvSpPr>
            <a:spLocks noGrp="1"/>
          </p:cNvSpPr>
          <p:nvPr>
            <p:ph type="body" idx="19" hasCustomPrompt="1"/>
          </p:nvPr>
        </p:nvSpPr>
        <p:spPr>
          <a:xfrm>
            <a:off x="9012405" y="5514019"/>
            <a:ext cx="2788920" cy="301752"/>
          </a:xfrm>
          <a:blipFill>
            <a:blip r:embed="rId6"/>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9" name="Content Bottom Right">
            <a:extLst>
              <a:ext uri="{FF2B5EF4-FFF2-40B4-BE49-F238E27FC236}">
                <a16:creationId xmlns:a16="http://schemas.microsoft.com/office/drawing/2014/main" id="{FD06B556-F6DC-4CCE-8B02-F0089954096F}"/>
              </a:ext>
            </a:extLst>
          </p:cNvPr>
          <p:cNvSpPr>
            <a:spLocks noGrp="1"/>
          </p:cNvSpPr>
          <p:nvPr>
            <p:ph type="body" idx="9" hasCustomPrompt="1"/>
          </p:nvPr>
        </p:nvSpPr>
        <p:spPr>
          <a:xfrm>
            <a:off x="9020556" y="5864908"/>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Tree>
    <p:extLst>
      <p:ext uri="{BB962C8B-B14F-4D97-AF65-F5344CB8AC3E}">
        <p14:creationId xmlns:p14="http://schemas.microsoft.com/office/powerpoint/2010/main" val="38200037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x" preserve="1">
  <p:cSld name="Title Only">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panose="020F0803020204020204" pitchFamily="34" charset="0"/>
              </a:defRPr>
            </a:lvl1pPr>
          </a:lstStyle>
          <a:p>
            <a:r>
              <a:rPr lang="en-US" dirty="0"/>
              <a:t>Title only layout</a:t>
            </a:r>
          </a:p>
        </p:txBody>
      </p:sp>
    </p:spTree>
    <p:extLst>
      <p:ext uri="{BB962C8B-B14F-4D97-AF65-F5344CB8AC3E}">
        <p14:creationId xmlns:p14="http://schemas.microsoft.com/office/powerpoint/2010/main" val="21463824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Title Only Blank">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05A6DC6-12AE-4044-A010-638B96074F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panose="020F0803020204020204" pitchFamily="34" charset="0"/>
              </a:defRPr>
            </a:lvl1pPr>
          </a:lstStyle>
          <a:p>
            <a:r>
              <a:rPr lang="en-US" dirty="0"/>
              <a:t>Title only blank layout</a:t>
            </a:r>
          </a:p>
        </p:txBody>
      </p:sp>
    </p:spTree>
    <p:extLst>
      <p:ext uri="{BB962C8B-B14F-4D97-AF65-F5344CB8AC3E}">
        <p14:creationId xmlns:p14="http://schemas.microsoft.com/office/powerpoint/2010/main" val="2204621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x" preserve="1">
  <p:cSld name="Small Title and Archite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5D396EB3-B009-41EC-883D-783B45B40002}"/>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578317"/>
            <a:ext cx="11484864" cy="45720"/>
          </a:xfrm>
          <a:prstGeom prst="rect">
            <a:avLst/>
          </a:prstGeom>
        </p:spPr>
      </p:pic>
      <p:sp>
        <p:nvSpPr>
          <p:cNvPr id="97" name="Slide Number">
            <a:extLst>
              <a:ext uri="{FF2B5EF4-FFF2-40B4-BE49-F238E27FC236}">
                <a16:creationId xmlns:a16="http://schemas.microsoft.com/office/drawing/2014/main" id="{26FB18C2-E834-48CB-9414-9609DFCFF50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299526"/>
            <a:ext cx="11466576" cy="289591"/>
          </a:xfrm>
        </p:spPr>
        <p:txBody>
          <a:bodyPr>
            <a:normAutofit/>
          </a:bodyPr>
          <a:lstStyle>
            <a:lvl1pPr>
              <a:defRPr sz="1600">
                <a:solidFill>
                  <a:srgbClr val="232F3E"/>
                </a:solidFill>
                <a:latin typeface="Amazon Ember Display Heavy"/>
              </a:defRPr>
            </a:lvl1pPr>
          </a:lstStyle>
          <a:p>
            <a:r>
              <a:rPr lang="en-US" dirty="0"/>
              <a:t>Architecture layout</a:t>
            </a:r>
          </a:p>
        </p:txBody>
      </p:sp>
    </p:spTree>
    <p:extLst>
      <p:ext uri="{BB962C8B-B14F-4D97-AF65-F5344CB8AC3E}">
        <p14:creationId xmlns:p14="http://schemas.microsoft.com/office/powerpoint/2010/main" val="2836688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Title and Full Bleed Image">
    <p:bg>
      <p:bgPr>
        <a:solidFill>
          <a:schemeClr val="bg1"/>
        </a:solidFill>
        <a:effectLst/>
      </p:bgPr>
    </p:bg>
    <p:spTree>
      <p:nvGrpSpPr>
        <p:cNvPr id="1" name=""/>
        <p:cNvGrpSpPr/>
        <p:nvPr/>
      </p:nvGrpSpPr>
      <p:grpSpPr>
        <a:xfrm>
          <a:off x="0" y="0"/>
          <a:ext cx="0" cy="0"/>
          <a:chOff x="0" y="0"/>
          <a:chExt cx="0" cy="0"/>
        </a:xfrm>
      </p:grpSpPr>
      <p:pic>
        <p:nvPicPr>
          <p:cNvPr id="4" name="Copyright2">
            <a:extLst>
              <a:ext uri="{FF2B5EF4-FFF2-40B4-BE49-F238E27FC236}">
                <a16:creationId xmlns:a16="http://schemas.microsoft.com/office/drawing/2014/main" id="{EBF47189-781E-42BA-A7A0-E35D5E9CF0B8}"/>
              </a:ext>
              <a:ext uri="{C183D7F6-B498-43B3-948B-1728B52AA6E4}">
                <adec:decorative xmlns:adec="http://schemas.microsoft.com/office/drawing/2017/decorative" val="1"/>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A4932735-622B-4285-A776-740EAD7E422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0" y="154244"/>
            <a:ext cx="12192000" cy="289591"/>
          </a:xfrm>
        </p:spPr>
        <p:txBody>
          <a:bodyPr>
            <a:normAutofit/>
          </a:bodyPr>
          <a:lstStyle>
            <a:lvl1pPr marL="228600">
              <a:defRPr sz="1600">
                <a:solidFill>
                  <a:srgbClr val="232F3E"/>
                </a:solidFill>
                <a:latin typeface="Amazon Ember Display Heavy"/>
              </a:defRPr>
            </a:lvl1pPr>
          </a:lstStyle>
          <a:p>
            <a:r>
              <a:rPr lang="en-US" dirty="0"/>
              <a:t>Full Image layout</a:t>
            </a:r>
          </a:p>
        </p:txBody>
      </p:sp>
      <p:sp>
        <p:nvSpPr>
          <p:cNvPr id="22" name="Picture">
            <a:extLst>
              <a:ext uri="{FF2B5EF4-FFF2-40B4-BE49-F238E27FC236}">
                <a16:creationId xmlns:a16="http://schemas.microsoft.com/office/drawing/2014/main" id="{3725AF1B-6140-4505-81CD-922F8227415C}"/>
              </a:ext>
            </a:extLst>
          </p:cNvPr>
          <p:cNvSpPr>
            <a:spLocks noGrp="1"/>
          </p:cNvSpPr>
          <p:nvPr>
            <p:ph type="pic" idx="22" hasCustomPrompt="1"/>
          </p:nvPr>
        </p:nvSpPr>
        <p:spPr>
          <a:xfrm>
            <a:off x="0" y="444499"/>
            <a:ext cx="12192000" cy="5979265"/>
          </a:xfrm>
        </p:spPr>
        <p:txBody>
          <a:bodyPr anchor="ctr">
            <a:noAutofit/>
          </a:bodyPr>
          <a:lstStyle>
            <a:lvl1pPr marL="0" indent="0" algn="ctr">
              <a:buNone/>
              <a:defRPr sz="3600">
                <a:solidFill>
                  <a:srgbClr val="232F3E"/>
                </a:solidFill>
              </a:defRPr>
            </a:lvl1pPr>
          </a:lstStyle>
          <a:p>
            <a:r>
              <a:rPr lang="en-US" dirty="0"/>
              <a:t>Click icon to add image</a:t>
            </a:r>
          </a:p>
        </p:txBody>
      </p:sp>
    </p:spTree>
    <p:extLst>
      <p:ext uri="{BB962C8B-B14F-4D97-AF65-F5344CB8AC3E}">
        <p14:creationId xmlns:p14="http://schemas.microsoft.com/office/powerpoint/2010/main" val="38911964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KC-Vertical-Ques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2" name="Copyright2">
            <a:extLst>
              <a:ext uri="{FF2B5EF4-FFF2-40B4-BE49-F238E27FC236}">
                <a16:creationId xmlns:a16="http://schemas.microsoft.com/office/drawing/2014/main" id="{B5600B03-ACA2-484B-BCAE-9EEE726F9A6A}"/>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63" name="Slide Number">
            <a:extLst>
              <a:ext uri="{FF2B5EF4-FFF2-40B4-BE49-F238E27FC236}">
                <a16:creationId xmlns:a16="http://schemas.microsoft.com/office/drawing/2014/main" id="{D5112803-3E8E-4011-972E-DF64EAB29F44}"/>
              </a:ext>
            </a:extLst>
          </p:cNvPr>
          <p:cNvSpPr>
            <a:spLocks noGrp="1"/>
          </p:cNvSpPr>
          <p:nvPr>
            <p:ph type="sldNum" idx="97"/>
          </p:nvPr>
        </p:nvSpPr>
        <p:spPr>
          <a:xfrm>
            <a:off x="11466576" y="6446520"/>
            <a:ext cx="484632" cy="228600"/>
          </a:xfrm>
          <a:prstGeom prst="rect">
            <a:avLst/>
          </a:prstGeom>
        </p:spPr>
        <p:txBody>
          <a:bodyPr vert="horz" lIns="0" tIns="0" rIns="0" bIns="0" rtlCol="0" anchor="ctr"/>
          <a:lstStyle>
            <a:lvl1pPr algn="r">
              <a:defRPr sz="1200">
                <a:solidFill>
                  <a:srgbClr val="F1F3F3"/>
                </a:solidFill>
                <a:latin typeface="Amazon Ember Display"/>
              </a:defRPr>
            </a:lvl1pPr>
          </a:lstStyle>
          <a:p>
            <a:fld id="{4037B1B0-0345-4E15-985A-6BECCDBE474F}" type="slidenum">
              <a:rPr lang="en-US" smtClean="0"/>
              <a:pPr/>
              <a:t>‹#›</a:t>
            </a:fld>
            <a:endParaRPr lang="en-US" dirty="0"/>
          </a:p>
        </p:txBody>
      </p:sp>
      <p:sp>
        <p:nvSpPr>
          <p:cNvPr id="45" name="Question Number">
            <a:extLst>
              <a:ext uri="{FF2B5EF4-FFF2-40B4-BE49-F238E27FC236}">
                <a16:creationId xmlns:a16="http://schemas.microsoft.com/office/drawing/2014/main" id="{D1784952-F60A-4B7E-ABD8-BD15B1685AF4}"/>
              </a:ext>
            </a:extLst>
          </p:cNvPr>
          <p:cNvSpPr>
            <a:spLocks noGrp="1"/>
          </p:cNvSpPr>
          <p:nvPr>
            <p:ph type="title" idx="1" hasCustomPrompt="1"/>
          </p:nvPr>
        </p:nvSpPr>
        <p:spPr>
          <a:xfrm>
            <a:off x="365760" y="299526"/>
            <a:ext cx="11466576" cy="731318"/>
          </a:xfrm>
        </p:spPr>
        <p:txBody>
          <a:bodyPr/>
          <a:lstStyle>
            <a:lvl1pPr>
              <a:defRPr>
                <a:solidFill>
                  <a:srgbClr val="F1F3F3"/>
                </a:solidFill>
                <a:latin typeface="Amazon Ember Display Heavy" panose="020F0803020204020204" pitchFamily="34" charset="0"/>
              </a:defRPr>
            </a:lvl1pPr>
          </a:lstStyle>
          <a:p>
            <a:r>
              <a:rPr lang="en-US" dirty="0"/>
              <a:t>Question and Responses</a:t>
            </a:r>
          </a:p>
        </p:txBody>
      </p:sp>
      <p:sp>
        <p:nvSpPr>
          <p:cNvPr id="46" name="Question">
            <a:extLst>
              <a:ext uri="{FF2B5EF4-FFF2-40B4-BE49-F238E27FC236}">
                <a16:creationId xmlns:a16="http://schemas.microsoft.com/office/drawing/2014/main" id="{EF9BAD93-9F40-4572-B25A-4CC38F51FD6C}"/>
              </a:ext>
            </a:extLst>
          </p:cNvPr>
          <p:cNvSpPr>
            <a:spLocks noGrp="1"/>
          </p:cNvSpPr>
          <p:nvPr>
            <p:ph type="body" idx="2" hasCustomPrompt="1"/>
          </p:nvPr>
        </p:nvSpPr>
        <p:spPr>
          <a:xfrm>
            <a:off x="365760" y="1039813"/>
            <a:ext cx="4162425" cy="5407025"/>
          </a:xfrm>
          <a:noFill/>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4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47" name="Choice Header">
            <a:extLst>
              <a:ext uri="{FF2B5EF4-FFF2-40B4-BE49-F238E27FC236}">
                <a16:creationId xmlns:a16="http://schemas.microsoft.com/office/drawing/2014/main" id="{779E1314-09F2-4672-9752-BF31E8DA223A}"/>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Choice</a:t>
            </a:r>
          </a:p>
        </p:txBody>
      </p:sp>
      <p:sp>
        <p:nvSpPr>
          <p:cNvPr id="48" name="Response Header">
            <a:extLst>
              <a:ext uri="{FF2B5EF4-FFF2-40B4-BE49-F238E27FC236}">
                <a16:creationId xmlns:a16="http://schemas.microsoft.com/office/drawing/2014/main" id="{87AE781D-2EF4-43D2-B3D5-CEF0A4110DD5}"/>
              </a:ext>
            </a:extLst>
          </p:cNvPr>
          <p:cNvSpPr>
            <a:spLocks noGrp="1"/>
          </p:cNvSpPr>
          <p:nvPr>
            <p:ph type="body" idx="12" hasCustomPrompt="1"/>
          </p:nvPr>
        </p:nvSpPr>
        <p:spPr>
          <a:xfrm>
            <a:off x="5445124" y="1039813"/>
            <a:ext cx="6707251" cy="315912"/>
          </a:xfrm>
          <a:noFill/>
          <a:ln>
            <a:noFill/>
          </a:ln>
        </p:spPr>
        <p:txBody>
          <a:bodyPr lIns="91440" rIns="0">
            <a:noAutofit/>
          </a:bodyPr>
          <a:lstStyle>
            <a:lvl1pPr marL="0" indent="0" algn="l">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Response</a:t>
            </a:r>
          </a:p>
        </p:txBody>
      </p:sp>
      <p:sp>
        <p:nvSpPr>
          <p:cNvPr id="49" name="First Resp #">
            <a:extLst>
              <a:ext uri="{FF2B5EF4-FFF2-40B4-BE49-F238E27FC236}">
                <a16:creationId xmlns:a16="http://schemas.microsoft.com/office/drawing/2014/main" id="{A87593DF-749C-4D89-9407-11E0A97B111B}"/>
              </a:ext>
            </a:extLst>
          </p:cNvPr>
          <p:cNvSpPr>
            <a:spLocks noGrp="1"/>
          </p:cNvSpPr>
          <p:nvPr>
            <p:ph type="body" idx="3" hasCustomPrompt="1"/>
          </p:nvPr>
        </p:nvSpPr>
        <p:spPr>
          <a:xfrm>
            <a:off x="4530343" y="1344168"/>
            <a:ext cx="914781"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50" name="First Resp Text">
            <a:extLst>
              <a:ext uri="{FF2B5EF4-FFF2-40B4-BE49-F238E27FC236}">
                <a16:creationId xmlns:a16="http://schemas.microsoft.com/office/drawing/2014/main" id="{4E38A9B3-352B-47B0-8FED-EB7E6828454F}"/>
              </a:ext>
            </a:extLst>
          </p:cNvPr>
          <p:cNvSpPr>
            <a:spLocks noGrp="1"/>
          </p:cNvSpPr>
          <p:nvPr>
            <p:ph type="body" idx="4" hasCustomPrompt="1"/>
          </p:nvPr>
        </p:nvSpPr>
        <p:spPr>
          <a:xfrm>
            <a:off x="5431536" y="1344168"/>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1" name="Second Resp #">
            <a:extLst>
              <a:ext uri="{FF2B5EF4-FFF2-40B4-BE49-F238E27FC236}">
                <a16:creationId xmlns:a16="http://schemas.microsoft.com/office/drawing/2014/main" id="{45C2A400-516D-48B9-B908-77AA9A4A7220}"/>
              </a:ext>
            </a:extLst>
          </p:cNvPr>
          <p:cNvSpPr>
            <a:spLocks noGrp="1"/>
          </p:cNvSpPr>
          <p:nvPr>
            <p:ph type="body" idx="5" hasCustomPrompt="1"/>
          </p:nvPr>
        </p:nvSpPr>
        <p:spPr>
          <a:xfrm>
            <a:off x="4526280" y="2194560"/>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52" name="Second Resp Text">
            <a:extLst>
              <a:ext uri="{FF2B5EF4-FFF2-40B4-BE49-F238E27FC236}">
                <a16:creationId xmlns:a16="http://schemas.microsoft.com/office/drawing/2014/main" id="{0773821E-3057-4D46-8FF7-99062A303B6D}"/>
              </a:ext>
            </a:extLst>
          </p:cNvPr>
          <p:cNvSpPr>
            <a:spLocks noGrp="1"/>
          </p:cNvSpPr>
          <p:nvPr>
            <p:ph type="body" idx="6" hasCustomPrompt="1"/>
          </p:nvPr>
        </p:nvSpPr>
        <p:spPr>
          <a:xfrm>
            <a:off x="5431536" y="2194560"/>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3" name="Third Resp #">
            <a:extLst>
              <a:ext uri="{FF2B5EF4-FFF2-40B4-BE49-F238E27FC236}">
                <a16:creationId xmlns:a16="http://schemas.microsoft.com/office/drawing/2014/main" id="{72BC93C1-FE18-4643-A302-1F36B6E24EFD}"/>
              </a:ext>
            </a:extLst>
          </p:cNvPr>
          <p:cNvSpPr>
            <a:spLocks noGrp="1"/>
          </p:cNvSpPr>
          <p:nvPr>
            <p:ph type="body" idx="7" hasCustomPrompt="1"/>
          </p:nvPr>
        </p:nvSpPr>
        <p:spPr>
          <a:xfrm>
            <a:off x="4526280" y="3035808"/>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54" name="Third Resp Text">
            <a:extLst>
              <a:ext uri="{FF2B5EF4-FFF2-40B4-BE49-F238E27FC236}">
                <a16:creationId xmlns:a16="http://schemas.microsoft.com/office/drawing/2014/main" id="{7C35FA71-1A6E-4CF7-983C-44AEE75CDF29}"/>
              </a:ext>
            </a:extLst>
          </p:cNvPr>
          <p:cNvSpPr>
            <a:spLocks noGrp="1"/>
          </p:cNvSpPr>
          <p:nvPr>
            <p:ph type="body" idx="8" hasCustomPrompt="1"/>
          </p:nvPr>
        </p:nvSpPr>
        <p:spPr>
          <a:xfrm>
            <a:off x="5431536" y="3035808"/>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6" name="Fourth Resp #">
            <a:extLst>
              <a:ext uri="{FF2B5EF4-FFF2-40B4-BE49-F238E27FC236}">
                <a16:creationId xmlns:a16="http://schemas.microsoft.com/office/drawing/2014/main" id="{0E2121C3-4443-43CD-8D3B-465B45E5DABF}"/>
              </a:ext>
            </a:extLst>
          </p:cNvPr>
          <p:cNvSpPr>
            <a:spLocks noGrp="1"/>
          </p:cNvSpPr>
          <p:nvPr>
            <p:ph type="body" idx="9" hasCustomPrompt="1"/>
          </p:nvPr>
        </p:nvSpPr>
        <p:spPr>
          <a:xfrm>
            <a:off x="4526280" y="3877056"/>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57" name="Fourth Resp Text">
            <a:extLst>
              <a:ext uri="{FF2B5EF4-FFF2-40B4-BE49-F238E27FC236}">
                <a16:creationId xmlns:a16="http://schemas.microsoft.com/office/drawing/2014/main" id="{F5EDFE4B-6443-4776-A26D-335B03D2E7BA}"/>
              </a:ext>
            </a:extLst>
          </p:cNvPr>
          <p:cNvSpPr>
            <a:spLocks noGrp="1"/>
          </p:cNvSpPr>
          <p:nvPr>
            <p:ph type="body" idx="10" hasCustomPrompt="1"/>
          </p:nvPr>
        </p:nvSpPr>
        <p:spPr>
          <a:xfrm>
            <a:off x="5431536" y="3877056"/>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8" name="Fifth Resp #">
            <a:extLst>
              <a:ext uri="{FF2B5EF4-FFF2-40B4-BE49-F238E27FC236}">
                <a16:creationId xmlns:a16="http://schemas.microsoft.com/office/drawing/2014/main" id="{6501B8B8-FA63-4F22-9690-B414797E8E99}"/>
              </a:ext>
            </a:extLst>
          </p:cNvPr>
          <p:cNvSpPr>
            <a:spLocks noGrp="1"/>
          </p:cNvSpPr>
          <p:nvPr>
            <p:ph type="body" idx="98" hasCustomPrompt="1"/>
          </p:nvPr>
        </p:nvSpPr>
        <p:spPr>
          <a:xfrm>
            <a:off x="4526280" y="4727448"/>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60" name="Fifth Resp Text">
            <a:extLst>
              <a:ext uri="{FF2B5EF4-FFF2-40B4-BE49-F238E27FC236}">
                <a16:creationId xmlns:a16="http://schemas.microsoft.com/office/drawing/2014/main" id="{278BA6BE-5A40-4B1C-8024-DF17EA6FE795}"/>
              </a:ext>
            </a:extLst>
          </p:cNvPr>
          <p:cNvSpPr>
            <a:spLocks noGrp="1"/>
          </p:cNvSpPr>
          <p:nvPr>
            <p:ph type="body" idx="14" hasCustomPrompt="1"/>
          </p:nvPr>
        </p:nvSpPr>
        <p:spPr>
          <a:xfrm>
            <a:off x="5431536" y="4727448"/>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61" name="Sixth Resp #">
            <a:extLst>
              <a:ext uri="{FF2B5EF4-FFF2-40B4-BE49-F238E27FC236}">
                <a16:creationId xmlns:a16="http://schemas.microsoft.com/office/drawing/2014/main" id="{81DC07A2-6127-4CB8-915D-52558824724D}"/>
              </a:ext>
            </a:extLst>
          </p:cNvPr>
          <p:cNvSpPr>
            <a:spLocks noGrp="1"/>
          </p:cNvSpPr>
          <p:nvPr>
            <p:ph type="body" idx="15" hasCustomPrompt="1"/>
          </p:nvPr>
        </p:nvSpPr>
        <p:spPr>
          <a:xfrm>
            <a:off x="4526280" y="5568696"/>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62" name="Sixth Resp Text">
            <a:extLst>
              <a:ext uri="{FF2B5EF4-FFF2-40B4-BE49-F238E27FC236}">
                <a16:creationId xmlns:a16="http://schemas.microsoft.com/office/drawing/2014/main" id="{754BEFAB-FB88-4DD9-9802-72275E897B6F}"/>
              </a:ext>
            </a:extLst>
          </p:cNvPr>
          <p:cNvSpPr>
            <a:spLocks noGrp="1"/>
          </p:cNvSpPr>
          <p:nvPr>
            <p:ph type="body" idx="16" hasCustomPrompt="1"/>
          </p:nvPr>
        </p:nvSpPr>
        <p:spPr>
          <a:xfrm>
            <a:off x="5431536" y="5568696"/>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extLst>
      <p:ext uri="{BB962C8B-B14F-4D97-AF65-F5344CB8AC3E}">
        <p14:creationId xmlns:p14="http://schemas.microsoft.com/office/powerpoint/2010/main" val="19940113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KC-Vertical-Ques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Copyright2">
            <a:extLst>
              <a:ext uri="{FF2B5EF4-FFF2-40B4-BE49-F238E27FC236}">
                <a16:creationId xmlns:a16="http://schemas.microsoft.com/office/drawing/2014/main" id="{5D4923A0-1C61-47FC-A1D5-F18C3A6A83AD}"/>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3" name="Question Number"/>
          <p:cNvSpPr>
            <a:spLocks noGrp="1"/>
          </p:cNvSpPr>
          <p:nvPr>
            <p:ph type="title" idx="1" hasCustomPrompt="1"/>
          </p:nvPr>
        </p:nvSpPr>
        <p:spPr>
          <a:xfrm>
            <a:off x="365760" y="299526"/>
            <a:ext cx="11466576" cy="731318"/>
          </a:xfrm>
        </p:spPr>
        <p:txBody>
          <a:bodyPr/>
          <a:lstStyle>
            <a:lvl1pPr>
              <a:defRPr>
                <a:solidFill>
                  <a:srgbClr val="F1F3F3"/>
                </a:solidFill>
                <a:latin typeface="Amazon Ember Display Heavy" panose="020F0803020204020204" pitchFamily="34" charset="0"/>
              </a:defRPr>
            </a:lvl1pPr>
          </a:lstStyle>
          <a:p>
            <a:r>
              <a:rPr lang="en-US" dirty="0"/>
              <a:t>Question and Responses</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39813"/>
            <a:ext cx="4162425" cy="5407025"/>
          </a:xfrm>
          <a:noFill/>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4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4" y="1039813"/>
            <a:ext cx="6707251" cy="315912"/>
          </a:xfrm>
          <a:noFill/>
          <a:ln>
            <a:noFill/>
          </a:ln>
        </p:spPr>
        <p:txBody>
          <a:bodyPr lIns="91440" rIns="0">
            <a:noAutofit/>
          </a:bodyPr>
          <a:lstStyle>
            <a:lvl1pPr marL="0" indent="0" algn="l">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7" name="Fifth Resp #">
            <a:extLst>
              <a:ext uri="{FF2B5EF4-FFF2-40B4-BE49-F238E27FC236}">
                <a16:creationId xmlns:a16="http://schemas.microsoft.com/office/drawing/2014/main" id="{B6D2D170-961D-4140-B087-C6CFDF7BBD75}"/>
              </a:ext>
            </a:extLst>
          </p:cNvPr>
          <p:cNvSpPr>
            <a:spLocks noGrp="1"/>
          </p:cNvSpPr>
          <p:nvPr>
            <p:ph type="body" idx="11" hasCustomPrompt="1"/>
          </p:nvPr>
        </p:nvSpPr>
        <p:spPr>
          <a:xfrm>
            <a:off x="4526280" y="4727448"/>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4" name="Fifth Resp Text">
            <a:extLst>
              <a:ext uri="{FF2B5EF4-FFF2-40B4-BE49-F238E27FC236}">
                <a16:creationId xmlns:a16="http://schemas.microsoft.com/office/drawing/2014/main" id="{B428E384-92E9-495A-9CAE-E33E3164F939}"/>
              </a:ext>
            </a:extLst>
          </p:cNvPr>
          <p:cNvSpPr>
            <a:spLocks noGrp="1"/>
          </p:cNvSpPr>
          <p:nvPr>
            <p:ph type="body" idx="14" hasCustomPrompt="1"/>
          </p:nvPr>
        </p:nvSpPr>
        <p:spPr>
          <a:xfrm>
            <a:off x="5431536" y="4727448"/>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DC41B7B5-B438-4885-90AE-758ABF2CA9F9}"/>
              </a:ext>
            </a:extLst>
          </p:cNvPr>
          <p:cNvSpPr>
            <a:spLocks noGrp="1"/>
          </p:cNvSpPr>
          <p:nvPr>
            <p:ph type="body" idx="15" hasCustomPrompt="1"/>
          </p:nvPr>
        </p:nvSpPr>
        <p:spPr>
          <a:xfrm>
            <a:off x="4526280" y="5568696"/>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6" name="Sixth Resp Text">
            <a:extLst>
              <a:ext uri="{FF2B5EF4-FFF2-40B4-BE49-F238E27FC236}">
                <a16:creationId xmlns:a16="http://schemas.microsoft.com/office/drawing/2014/main" id="{09F72B28-4CF6-4FD1-BA4A-5A98215324E2}"/>
              </a:ext>
            </a:extLst>
          </p:cNvPr>
          <p:cNvSpPr>
            <a:spLocks noGrp="1"/>
          </p:cNvSpPr>
          <p:nvPr>
            <p:ph type="body" idx="16" hasCustomPrompt="1"/>
          </p:nvPr>
        </p:nvSpPr>
        <p:spPr>
          <a:xfrm>
            <a:off x="5431536" y="5568696"/>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extLst>
      <p:ext uri="{BB962C8B-B14F-4D97-AF65-F5344CB8AC3E}">
        <p14:creationId xmlns:p14="http://schemas.microsoft.com/office/powerpoint/2010/main" val="19940113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KC-Vertical-Answ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Copyright2">
            <a:extLst>
              <a:ext uri="{FF2B5EF4-FFF2-40B4-BE49-F238E27FC236}">
                <a16:creationId xmlns:a16="http://schemas.microsoft.com/office/drawing/2014/main" id="{56624EC0-1C90-4759-9F50-47AFA8AF2503}"/>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7919E744-E8A9-4BBA-9A46-E3C8187BE86A}"/>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Answer"/>
          <p:cNvSpPr>
            <a:spLocks noGrp="1"/>
          </p:cNvSpPr>
          <p:nvPr>
            <p:ph type="title" idx="1" hasCustomPrompt="1"/>
          </p:nvPr>
        </p:nvSpPr>
        <p:spPr>
          <a:xfrm>
            <a:off x="365760" y="301752"/>
            <a:ext cx="11466576" cy="731520"/>
          </a:xfrm>
        </p:spPr>
        <p:txBody>
          <a:bodyPr/>
          <a:lstStyle>
            <a:lvl1pPr>
              <a:defRPr>
                <a:solidFill>
                  <a:srgbClr val="F1F3F3"/>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59" y="1042416"/>
            <a:ext cx="4160520" cy="5404104"/>
          </a:xfrm>
        </p:spPr>
        <p:txBody>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1" name="AnswerHeader">
            <a:extLst>
              <a:ext uri="{FF2B5EF4-FFF2-40B4-BE49-F238E27FC236}">
                <a16:creationId xmlns:a16="http://schemas.microsoft.com/office/drawing/2014/main" id="{7C8472BF-3681-4E98-B87B-5FA7A5C19359}"/>
              </a:ext>
            </a:extLst>
          </p:cNvPr>
          <p:cNvSpPr>
            <a:spLocks noGrp="1"/>
          </p:cNvSpPr>
          <p:nvPr>
            <p:ph type="body" idx="11" hasCustomPrompt="1"/>
          </p:nvPr>
        </p:nvSpPr>
        <p:spPr>
          <a:xfrm>
            <a:off x="4580888" y="1020685"/>
            <a:ext cx="7611111" cy="329367"/>
          </a:xfrm>
          <a:noFill/>
        </p:spPr>
        <p:txBody>
          <a:bodyPr lIns="91440">
            <a:noAutofit/>
          </a:bodyPr>
          <a:lstStyle>
            <a:lvl1pPr marL="0" indent="0">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0794" y="1361829"/>
            <a:ext cx="6723145" cy="5014146"/>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extLst>
      <p:ext uri="{BB962C8B-B14F-4D97-AF65-F5344CB8AC3E}">
        <p14:creationId xmlns:p14="http://schemas.microsoft.com/office/powerpoint/2010/main" val="20874567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KC-Vert-Ans-Op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Copyright2">
            <a:extLst>
              <a:ext uri="{FF2B5EF4-FFF2-40B4-BE49-F238E27FC236}">
                <a16:creationId xmlns:a16="http://schemas.microsoft.com/office/drawing/2014/main" id="{639E50AC-0FDC-4413-96B5-68A7631CC97E}"/>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Answer"/>
          <p:cNvSpPr>
            <a:spLocks noGrp="1"/>
          </p:cNvSpPr>
          <p:nvPr>
            <p:ph type="title" idx="1" hasCustomPrompt="1"/>
          </p:nvPr>
        </p:nvSpPr>
        <p:spPr>
          <a:xfrm>
            <a:off x="365760" y="301752"/>
            <a:ext cx="11664790" cy="731520"/>
          </a:xfrm>
        </p:spPr>
        <p:txBody>
          <a:bodyPr/>
          <a:lstStyle>
            <a:lvl1pPr>
              <a:defRPr>
                <a:solidFill>
                  <a:schemeClr val="bg1"/>
                </a:solidFill>
                <a:latin typeface="Amazon Ember Display Heavy"/>
              </a:defRPr>
            </a:lvl1pPr>
          </a:lstStyle>
          <a:p>
            <a:r>
              <a:rPr lang="en-US" dirty="0"/>
              <a:t>Answer and explanation – Option 2</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1" name="AnswerHeader">
            <a:extLst>
              <a:ext uri="{FF2B5EF4-FFF2-40B4-BE49-F238E27FC236}">
                <a16:creationId xmlns:a16="http://schemas.microsoft.com/office/drawing/2014/main" id="{7C8472BF-3681-4E98-B87B-5FA7A5C19359}"/>
              </a:ext>
            </a:extLst>
          </p:cNvPr>
          <p:cNvSpPr>
            <a:spLocks noGrp="1"/>
          </p:cNvSpPr>
          <p:nvPr>
            <p:ph type="body" idx="11" hasCustomPrompt="1"/>
          </p:nvPr>
        </p:nvSpPr>
        <p:spPr>
          <a:xfrm>
            <a:off x="4580889" y="1020685"/>
            <a:ext cx="7263140" cy="329367"/>
          </a:xfrm>
          <a:noFill/>
        </p:spPr>
        <p:txBody>
          <a:bodyPr lIns="91440">
            <a:noAutofit/>
          </a:bodyPr>
          <a:lstStyle>
            <a:lvl1pPr marL="0" indent="0">
              <a:buNone/>
              <a:defRPr sz="2000" b="1">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6973" y="1365381"/>
            <a:ext cx="6462584" cy="5010594"/>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extLst>
      <p:ext uri="{BB962C8B-B14F-4D97-AF65-F5344CB8AC3E}">
        <p14:creationId xmlns:p14="http://schemas.microsoft.com/office/powerpoint/2010/main" val="40579309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cSld name="QA-Horizont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Copyright2">
            <a:extLst>
              <a:ext uri="{FF2B5EF4-FFF2-40B4-BE49-F238E27FC236}">
                <a16:creationId xmlns:a16="http://schemas.microsoft.com/office/drawing/2014/main" id="{4D89A09E-927B-4A31-AFB3-078BF04E47A8}"/>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3A540A4D-7B1F-4055-BDC7-7451D12F0E31}"/>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0" name="Knowledge Check"/>
          <p:cNvSpPr>
            <a:spLocks noGrp="1"/>
          </p:cNvSpPr>
          <p:nvPr>
            <p:ph type="title" idx="1" hasCustomPrompt="1"/>
          </p:nvPr>
        </p:nvSpPr>
        <p:spPr>
          <a:xfrm>
            <a:off x="365760" y="179881"/>
            <a:ext cx="11466576" cy="825473"/>
          </a:xfrm>
        </p:spPr>
        <p:txBody>
          <a:bodyPr/>
          <a:lstStyle>
            <a:lvl1pPr>
              <a:defRPr>
                <a:solidFill>
                  <a:srgbClr val="F1F3F3"/>
                </a:solidFill>
                <a:latin typeface="Amazon Ember Display Heavy" panose="020F0803020204020204" pitchFamily="34" charset="0"/>
              </a:defRPr>
            </a:lvl1pPr>
          </a:lstStyle>
          <a:p>
            <a:r>
              <a:rPr lang="en-US" dirty="0"/>
              <a:t>Knowledge check</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1" y="1185497"/>
            <a:ext cx="5285738"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498" y="1197807"/>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365760" y="2526456"/>
            <a:ext cx="5285738"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365760" y="3883100"/>
            <a:ext cx="5285738"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365759" y="5239557"/>
            <a:ext cx="5285738"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Tree>
    <p:extLst>
      <p:ext uri="{BB962C8B-B14F-4D97-AF65-F5344CB8AC3E}">
        <p14:creationId xmlns:p14="http://schemas.microsoft.com/office/powerpoint/2010/main" val="142307754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QA-Horz-Op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Copyright2">
            <a:extLst>
              <a:ext uri="{FF2B5EF4-FFF2-40B4-BE49-F238E27FC236}">
                <a16:creationId xmlns:a16="http://schemas.microsoft.com/office/drawing/2014/main" id="{489D1757-D2AD-451F-9203-C27B0612821B}"/>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0" name="Knowledge check"/>
          <p:cNvSpPr>
            <a:spLocks noGrp="1"/>
          </p:cNvSpPr>
          <p:nvPr>
            <p:ph type="title" idx="1" hasCustomPrompt="1"/>
          </p:nvPr>
        </p:nvSpPr>
        <p:spPr>
          <a:xfrm>
            <a:off x="365760" y="179881"/>
            <a:ext cx="11466576" cy="825473"/>
          </a:xfrm>
        </p:spPr>
        <p:txBody>
          <a:bodyPr/>
          <a:lstStyle>
            <a:lvl1pPr>
              <a:defRPr>
                <a:solidFill>
                  <a:schemeClr val="bg1"/>
                </a:solidFill>
                <a:latin typeface="Amazon Ember Display Heavy"/>
              </a:defRPr>
            </a:lvl1pPr>
          </a:lstStyle>
          <a:p>
            <a:r>
              <a:rPr lang="en-US" dirty="0"/>
              <a:t>Knowledge check – Option 2</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185497"/>
            <a:ext cx="5285739"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365759" y="2526456"/>
            <a:ext cx="5285739"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365759" y="3883100"/>
            <a:ext cx="5285739"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365758" y="5239557"/>
            <a:ext cx="5285739"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Tree>
    <p:extLst>
      <p:ext uri="{BB962C8B-B14F-4D97-AF65-F5344CB8AC3E}">
        <p14:creationId xmlns:p14="http://schemas.microsoft.com/office/powerpoint/2010/main" val="6496667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KC-Horizontal-Ques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Copyright2">
            <a:extLst>
              <a:ext uri="{FF2B5EF4-FFF2-40B4-BE49-F238E27FC236}">
                <a16:creationId xmlns:a16="http://schemas.microsoft.com/office/drawing/2014/main" id="{E2D44F6B-73CB-43D4-9DC6-D7F3739FE811}"/>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4CAF8C10-F4D8-45A7-8490-441C53244D17}"/>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7" name="Question Number"/>
          <p:cNvSpPr>
            <a:spLocks noGrp="1"/>
          </p:cNvSpPr>
          <p:nvPr>
            <p:ph type="title" idx="1" hasCustomPrompt="1"/>
          </p:nvPr>
        </p:nvSpPr>
        <p:spPr>
          <a:xfrm>
            <a:off x="365760" y="179881"/>
            <a:ext cx="11757389" cy="498849"/>
          </a:xfrm>
        </p:spPr>
        <p:txBody>
          <a:bodyPr/>
          <a:lstStyle>
            <a:lvl1pPr>
              <a:defRPr>
                <a:solidFill>
                  <a:schemeClr val="bg1"/>
                </a:solidFill>
                <a:latin typeface="Amazon Ember Display Heavy" panose="020F0803020204020204" pitchFamily="34" charset="0"/>
              </a:defRPr>
            </a:lvl1pPr>
          </a:lstStyle>
          <a:p>
            <a:r>
              <a:rPr lang="en-US" dirty="0"/>
              <a:t>Question and Responses</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365760" y="697780"/>
            <a:ext cx="11757390" cy="1328883"/>
          </a:xfrm>
          <a:noFill/>
        </p:spPr>
        <p:txBody>
          <a:bodyPr lIns="91440" tIns="0" rIns="18288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1233250" cy="317500"/>
          </a:xfrm>
          <a:noFill/>
          <a:ln>
            <a:noFill/>
          </a:ln>
        </p:spPr>
        <p:txBody>
          <a:bodyPr lIns="91440" rIns="0">
            <a:noAutofit/>
          </a:bodyPr>
          <a:lstStyle>
            <a:lvl1pPr marL="0" indent="0" algn="l">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extLst>
      <p:ext uri="{BB962C8B-B14F-4D97-AF65-F5344CB8AC3E}">
        <p14:creationId xmlns:p14="http://schemas.microsoft.com/office/powerpoint/2010/main" val="5899602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KC-Horizontal-Ques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Copyright2">
            <a:extLst>
              <a:ext uri="{FF2B5EF4-FFF2-40B4-BE49-F238E27FC236}">
                <a16:creationId xmlns:a16="http://schemas.microsoft.com/office/drawing/2014/main" id="{E3DE1CE6-F644-4E9D-8EB5-6E6A8490042F}"/>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4CAF8C10-F4D8-45A7-8490-441C53244D17}"/>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7" name="Question Number"/>
          <p:cNvSpPr>
            <a:spLocks noGrp="1"/>
          </p:cNvSpPr>
          <p:nvPr>
            <p:ph type="title" idx="1" hasCustomPrompt="1"/>
          </p:nvPr>
        </p:nvSpPr>
        <p:spPr>
          <a:xfrm>
            <a:off x="365760" y="179881"/>
            <a:ext cx="11757389" cy="498849"/>
          </a:xfrm>
        </p:spPr>
        <p:txBody>
          <a:bodyPr/>
          <a:lstStyle>
            <a:lvl1pPr>
              <a:defRPr>
                <a:solidFill>
                  <a:schemeClr val="bg1"/>
                </a:solidFill>
                <a:latin typeface="Amazon Ember Display Heavy" panose="020F0803020204020204" pitchFamily="34" charset="0"/>
              </a:defRPr>
            </a:lvl1pPr>
          </a:lstStyle>
          <a:p>
            <a:r>
              <a:rPr lang="en-US" dirty="0"/>
              <a:t>Question and Responses</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365760" y="697780"/>
            <a:ext cx="11757390" cy="1328883"/>
          </a:xfrm>
          <a:noFill/>
        </p:spPr>
        <p:txBody>
          <a:bodyPr lIns="91440" tIns="0" rIns="18288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1233250" cy="317500"/>
          </a:xfrm>
          <a:noFill/>
          <a:ln>
            <a:noFill/>
          </a:ln>
        </p:spPr>
        <p:txBody>
          <a:bodyPr lIns="91440" rIns="0">
            <a:noAutofit/>
          </a:bodyPr>
          <a:lstStyle>
            <a:lvl1pPr marL="0" indent="0" algn="l">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extLst>
      <p:ext uri="{BB962C8B-B14F-4D97-AF65-F5344CB8AC3E}">
        <p14:creationId xmlns:p14="http://schemas.microsoft.com/office/powerpoint/2010/main" val="58996020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KC-Horizontal-Answ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Copyright2">
            <a:extLst>
              <a:ext uri="{FF2B5EF4-FFF2-40B4-BE49-F238E27FC236}">
                <a16:creationId xmlns:a16="http://schemas.microsoft.com/office/drawing/2014/main" id="{CF1C92D9-F71A-4A3C-8FE0-570CBAAE9C0B}"/>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4" name="Answer Number"/>
          <p:cNvSpPr>
            <a:spLocks noGrp="1"/>
          </p:cNvSpPr>
          <p:nvPr>
            <p:ph type="title" idx="1" hasCustomPrompt="1"/>
          </p:nvPr>
        </p:nvSpPr>
        <p:spPr>
          <a:xfrm>
            <a:off x="365760" y="179881"/>
            <a:ext cx="11771597" cy="498849"/>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365760" y="697781"/>
            <a:ext cx="11771597" cy="1325880"/>
          </a:xfrm>
          <a:noFill/>
        </p:spPr>
        <p:txBody>
          <a:bodyPr lIns="9144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Answer Header">
            <a:extLst>
              <a:ext uri="{FF2B5EF4-FFF2-40B4-BE49-F238E27FC236}">
                <a16:creationId xmlns:a16="http://schemas.microsoft.com/office/drawing/2014/main" id="{4CF18732-63A0-43A6-B5E9-C4F74190ED76}"/>
              </a:ext>
            </a:extLst>
          </p:cNvPr>
          <p:cNvSpPr>
            <a:spLocks noGrp="1"/>
          </p:cNvSpPr>
          <p:nvPr>
            <p:ph type="body" idx="11" hasCustomPrompt="1"/>
          </p:nvPr>
        </p:nvSpPr>
        <p:spPr>
          <a:xfrm>
            <a:off x="0" y="2043300"/>
            <a:ext cx="12192000" cy="312702"/>
          </a:xfrm>
          <a:noFill/>
          <a:ln>
            <a:noFill/>
          </a:ln>
        </p:spPr>
        <p:txBody>
          <a:bodyPr lIns="228600">
            <a:noAutofit/>
          </a:bodyPr>
          <a:lstStyle>
            <a:lvl1pPr marL="0" indent="0">
              <a:buNone/>
              <a:defRPr sz="2000">
                <a:solidFill>
                  <a:srgbClr val="F1F1F3"/>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solidFill>
            <a:schemeClr val="bg1"/>
          </a:solidFill>
          <a:ln>
            <a:noFill/>
          </a:ln>
        </p:spPr>
        <p:txBody>
          <a:bodyPr lIns="228600">
            <a:noAutofit/>
          </a:bodyPr>
          <a:lstStyle>
            <a:lvl1pPr marL="0" indent="0">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extLst>
      <p:ext uri="{BB962C8B-B14F-4D97-AF65-F5344CB8AC3E}">
        <p14:creationId xmlns:p14="http://schemas.microsoft.com/office/powerpoint/2010/main" val="29793897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KC-Horz-Ans-Op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Copyright2">
            <a:extLst>
              <a:ext uri="{FF2B5EF4-FFF2-40B4-BE49-F238E27FC236}">
                <a16:creationId xmlns:a16="http://schemas.microsoft.com/office/drawing/2014/main" id="{6418B30C-6B4A-4E3D-985B-8934C2FB18A7}"/>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ED596AB2-A27E-4CAB-B6E0-353909D02FB1}"/>
              </a:ext>
            </a:extLst>
          </p:cNvPr>
          <p:cNvSpPr>
            <a:spLocks noGrp="1"/>
          </p:cNvSpPr>
          <p:nvPr>
            <p:ph type="sldNum" idx="97"/>
          </p:nvPr>
        </p:nvSpPr>
        <p:spPr>
          <a:xfrm>
            <a:off x="11347704" y="6446520"/>
            <a:ext cx="484632" cy="228600"/>
          </a:xfrm>
        </p:spPr>
        <p:txBody>
          <a:bodyPr/>
          <a:lstStyle>
            <a:lvl1pPr>
              <a:defRPr>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Answer Number"/>
          <p:cNvSpPr>
            <a:spLocks noGrp="1"/>
          </p:cNvSpPr>
          <p:nvPr>
            <p:ph type="title" idx="1" hasCustomPrompt="1"/>
          </p:nvPr>
        </p:nvSpPr>
        <p:spPr>
          <a:xfrm>
            <a:off x="365760" y="179881"/>
            <a:ext cx="11771597" cy="498849"/>
          </a:xfrm>
        </p:spPr>
        <p:txBody>
          <a:bodyPr/>
          <a:lstStyle>
            <a:lvl1pPr>
              <a:defRPr>
                <a:solidFill>
                  <a:schemeClr val="bg1"/>
                </a:solidFill>
                <a:latin typeface="Amazon Ember Display Heavy"/>
              </a:defRPr>
            </a:lvl1pPr>
          </a:lstStyle>
          <a:p>
            <a:r>
              <a:rPr lang="en-US" dirty="0"/>
              <a:t>Answer and explanation – Option 1 </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365760" y="697781"/>
            <a:ext cx="11819172" cy="1325880"/>
          </a:xfrm>
          <a:noFill/>
        </p:spPr>
        <p:txBody>
          <a:bodyPr lIns="9144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 4 responses can only have 1 correct response; 5 responses must have 2 correct responses; 6 responses must have 3 correct responses.</a:t>
            </a:r>
          </a:p>
        </p:txBody>
      </p:sp>
      <p:sp>
        <p:nvSpPr>
          <p:cNvPr id="11" name="Answer Header">
            <a:extLst>
              <a:ext uri="{FF2B5EF4-FFF2-40B4-BE49-F238E27FC236}">
                <a16:creationId xmlns:a16="http://schemas.microsoft.com/office/drawing/2014/main" id="{4CF18732-63A0-43A6-B5E9-C4F74190ED76}"/>
              </a:ext>
            </a:extLst>
          </p:cNvPr>
          <p:cNvSpPr>
            <a:spLocks noGrp="1"/>
          </p:cNvSpPr>
          <p:nvPr>
            <p:ph type="body" idx="11" hasCustomPrompt="1"/>
          </p:nvPr>
        </p:nvSpPr>
        <p:spPr>
          <a:xfrm>
            <a:off x="0" y="2043300"/>
            <a:ext cx="12192000" cy="312702"/>
          </a:xfrm>
          <a:noFill/>
          <a:ln>
            <a:noFill/>
          </a:ln>
        </p:spPr>
        <p:txBody>
          <a:bodyPr lIns="228600">
            <a:noAutofit/>
          </a:bodyPr>
          <a:lstStyle>
            <a:lvl1pPr marL="0" indent="0">
              <a:buNone/>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solidFill>
            <a:schemeClr val="bg1"/>
          </a:solidFill>
          <a:ln>
            <a:noFill/>
          </a:ln>
        </p:spPr>
        <p:txBody>
          <a:bodyPr lIns="91440" tIns="91440" rIns="182880" bIns="0" anchor="t"/>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extLst>
      <p:ext uri="{BB962C8B-B14F-4D97-AF65-F5344CB8AC3E}">
        <p14:creationId xmlns:p14="http://schemas.microsoft.com/office/powerpoint/2010/main" val="83600065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x" preserve="1">
  <p:cSld name="Title and Vertical Tex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4367E5F6-DCA7-4FF7-A05C-EEBE6326C728}"/>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DCF8F5D-C71E-4E90-8FF1-79EC1779773B}"/>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3"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vertical text layout (international) </a:t>
            </a:r>
          </a:p>
        </p:txBody>
      </p:sp>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1033070"/>
            <a:ext cx="11466576" cy="5389244"/>
          </a:xfrm>
        </p:spPr>
        <p:txBody>
          <a:bodyPr vert="eaVert">
            <a:noAutofit/>
          </a:bodyPr>
          <a:lstStyle>
            <a:lvl1pPr>
              <a:lnSpc>
                <a:spcPct val="100000"/>
              </a:lnSpc>
              <a:spcAft>
                <a:spcPts val="0"/>
              </a:spcAft>
              <a:defRPr sz="2400">
                <a:solidFill>
                  <a:srgbClr val="232F3E"/>
                </a:solidFill>
              </a:defRPr>
            </a:lvl1pPr>
            <a:lvl2pPr marL="461963"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37431754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 preserve="1">
  <p:cSld name="Vertical 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A666032-E924-4402-8485-DDD5D20112FD}"/>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rot="5400000">
            <a:off x="7636951" y="3348031"/>
            <a:ext cx="6126480" cy="45720"/>
          </a:xfrm>
          <a:prstGeom prst="rect">
            <a:avLst/>
          </a:prstGeom>
        </p:spPr>
      </p:pic>
      <p:sp>
        <p:nvSpPr>
          <p:cNvPr id="97" name="Slide Number">
            <a:extLst>
              <a:ext uri="{FF2B5EF4-FFF2-40B4-BE49-F238E27FC236}">
                <a16:creationId xmlns:a16="http://schemas.microsoft.com/office/drawing/2014/main" id="{62931EA5-40B0-4775-AC8C-735FB207C77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3" name="Title"/>
          <p:cNvSpPr>
            <a:spLocks noGrp="1"/>
          </p:cNvSpPr>
          <p:nvPr>
            <p:ph type="title" idx="1" hasCustomPrompt="1"/>
          </p:nvPr>
        </p:nvSpPr>
        <p:spPr>
          <a:xfrm rot="5400000">
            <a:off x="8202716" y="2805126"/>
            <a:ext cx="6127095" cy="1132145"/>
          </a:xfrm>
        </p:spPr>
        <p:txBody>
          <a:bodyPr/>
          <a:lstStyle>
            <a:lvl1pPr marL="0" marR="0" indent="0" algn="l" defTabSz="914400" rtl="0" eaLnBrk="1" fontAlgn="auto" latinLnBrk="0" hangingPunct="1">
              <a:spcBef>
                <a:spcPct val="0"/>
              </a:spcBef>
              <a:spcAft>
                <a:spcPts val="0"/>
              </a:spcAft>
              <a:buClrTx/>
              <a:buSzTx/>
              <a:buFontTx/>
              <a:buNone/>
              <a:tabLst/>
              <a:defRPr>
                <a:solidFill>
                  <a:srgbClr val="232F3E"/>
                </a:solidFill>
                <a:latin typeface="Amazon Ember Display Heavy"/>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Vertical title and text layout (international) </a:t>
            </a:r>
          </a:p>
        </p:txBody>
      </p:sp>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307649"/>
            <a:ext cx="10298328" cy="6127095"/>
          </a:xfrm>
        </p:spPr>
        <p:txBody>
          <a:bodyPr vert="eaVert">
            <a:noAutofit/>
          </a:bodyPr>
          <a:lstStyle>
            <a:lvl1pPr>
              <a:lnSpc>
                <a:spcPct val="100000"/>
              </a:lnSpc>
              <a:spcAft>
                <a:spcPts val="0"/>
              </a:spcAft>
              <a:defRPr sz="2400">
                <a:solidFill>
                  <a:srgbClr val="232F3E"/>
                </a:solidFill>
              </a:defRPr>
            </a:lvl1pPr>
            <a:lvl2pPr marL="461963"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15863142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564E-12A4-425C-A283-B8B235FFF7C3}"/>
              </a:ext>
            </a:extLst>
          </p:cNvPr>
          <p:cNvSpPr>
            <a:spLocks noGrp="1"/>
          </p:cNvSpPr>
          <p:nvPr>
            <p:ph type="title" hasCustomPrompt="1"/>
          </p:nvPr>
        </p:nvSpPr>
        <p:spPr>
          <a:xfrm>
            <a:off x="365760" y="301751"/>
            <a:ext cx="6613109" cy="6235683"/>
          </a:xfrm>
        </p:spPr>
        <p:txBody>
          <a:bodyPr/>
          <a:lstStyle>
            <a:lvl1pPr algn="ctr">
              <a:defRPr>
                <a:solidFill>
                  <a:schemeClr val="bg1"/>
                </a:solidFill>
              </a:defRPr>
            </a:lvl1pPr>
          </a:lstStyle>
          <a:p>
            <a:r>
              <a:rPr lang="en-US" dirty="0"/>
              <a:t>Any slides that appear following this one are NOT approved for production use.</a:t>
            </a:r>
            <a:br>
              <a:rPr lang="en-US"/>
            </a:br>
            <a:br>
              <a:rPr lang="en-US"/>
            </a:br>
            <a:r>
              <a:rPr lang="en-US"/>
              <a:t>-----------</a:t>
            </a:r>
            <a:br>
              <a:rPr lang="en-US"/>
            </a:br>
            <a:br>
              <a:rPr lang="en-US"/>
            </a:br>
            <a:r>
              <a:rPr lang="en-US"/>
              <a:t>Please </a:t>
            </a:r>
            <a:r>
              <a:rPr lang="en-US" dirty="0"/>
              <a:t>be sure to remove them before you </a:t>
            </a:r>
            <a:r>
              <a:rPr lang="en-US"/>
              <a:t>publish this deck.</a:t>
            </a:r>
            <a:endParaRPr lang="en-US" dirty="0"/>
          </a:p>
        </p:txBody>
      </p:sp>
      <p:sp>
        <p:nvSpPr>
          <p:cNvPr id="3" name="Slide Number Placeholder 2">
            <a:extLst>
              <a:ext uri="{FF2B5EF4-FFF2-40B4-BE49-F238E27FC236}">
                <a16:creationId xmlns:a16="http://schemas.microsoft.com/office/drawing/2014/main" id="{664A4F83-86A8-4C1D-A1E6-8D3A1610F4E7}"/>
              </a:ext>
            </a:extLst>
          </p:cNvPr>
          <p:cNvSpPr>
            <a:spLocks noGrp="1"/>
          </p:cNvSpPr>
          <p:nvPr>
            <p:ph type="sldNum" idx="10"/>
          </p:nvPr>
        </p:nvSpPr>
        <p:spPr/>
        <p:txBody>
          <a:bodyPr/>
          <a:lstStyle/>
          <a:p>
            <a:fld id="{4037B1B0-0345-4E15-985A-6BECCDBE474F}" type="slidenum">
              <a:rPr lang="en-US" smtClean="0"/>
              <a:pPr/>
              <a:t>‹#›</a:t>
            </a:fld>
            <a:endParaRPr lang="en-US" dirty="0"/>
          </a:p>
        </p:txBody>
      </p:sp>
      <p:sp>
        <p:nvSpPr>
          <p:cNvPr id="4" name="Octagon 3">
            <a:extLst>
              <a:ext uri="{FF2B5EF4-FFF2-40B4-BE49-F238E27FC236}">
                <a16:creationId xmlns:a16="http://schemas.microsoft.com/office/drawing/2014/main" id="{A956A5A2-BB71-417D-9961-66F664368EAB}"/>
              </a:ext>
            </a:extLst>
          </p:cNvPr>
          <p:cNvSpPr/>
          <p:nvPr userDrawn="1"/>
        </p:nvSpPr>
        <p:spPr>
          <a:xfrm>
            <a:off x="7348648" y="978647"/>
            <a:ext cx="4360244" cy="4360244"/>
          </a:xfrm>
          <a:prstGeom prst="octag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dirty="0"/>
              <a:t>STOP</a:t>
            </a:r>
          </a:p>
        </p:txBody>
      </p:sp>
    </p:spTree>
    <p:custDataLst>
      <p:tags r:id="rId1"/>
    </p:custDataLst>
    <p:extLst>
      <p:ext uri="{BB962C8B-B14F-4D97-AF65-F5344CB8AC3E}">
        <p14:creationId xmlns:p14="http://schemas.microsoft.com/office/powerpoint/2010/main" val="23902210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2.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Copyright1">
            <a:extLst>
              <a:ext uri="{FF2B5EF4-FFF2-40B4-BE49-F238E27FC236}">
                <a16:creationId xmlns:a16="http://schemas.microsoft.com/office/drawing/2014/main" id="{E0006DC6-63AA-4B8C-AB80-1B4437783577}"/>
              </a:ext>
              <a:ext uri="{C183D7F6-B498-43B3-948B-1728B52AA6E4}">
                <adec:decorative xmlns:adec="http://schemas.microsoft.com/office/drawing/2017/decorative" val="1"/>
              </a:ext>
            </a:extLst>
          </p:cNvPr>
          <p:cNvPicPr>
            <a:picLocks/>
          </p:cNvPicPr>
          <p:nvPr userDrawn="1"/>
        </p:nvPicPr>
        <p:blipFill>
          <a:blip r:embed="rId63">
            <a:extLst>
              <a:ext uri="{28A0092B-C50C-407E-A947-70E740481C1C}">
                <a14:useLocalDpi xmlns:a14="http://schemas.microsoft.com/office/drawing/2010/main" val="0"/>
              </a:ext>
            </a:extLst>
          </a:blip>
          <a:stretch>
            <a:fillRect/>
          </a:stretch>
        </p:blipFill>
        <p:spPr>
          <a:xfrm>
            <a:off x="4305300" y="6540500"/>
            <a:ext cx="3556000" cy="165100"/>
          </a:xfrm>
          <a:prstGeom prst="rect">
            <a:avLst/>
          </a:prstGeom>
        </p:spPr>
      </p:pic>
      <p:sp>
        <p:nvSpPr>
          <p:cNvPr id="97" name="Slide Number">
            <a:extLst>
              <a:ext uri="{FF2B5EF4-FFF2-40B4-BE49-F238E27FC236}">
                <a16:creationId xmlns:a16="http://schemas.microsoft.com/office/drawing/2014/main" id="{A07A00D0-EC0A-44D2-9309-40C08E7F67D5}"/>
              </a:ext>
            </a:extLst>
          </p:cNvPr>
          <p:cNvSpPr>
            <a:spLocks noGrp="1"/>
          </p:cNvSpPr>
          <p:nvPr>
            <p:ph type="sldNum" idx="97"/>
          </p:nvPr>
        </p:nvSpPr>
        <p:spPr>
          <a:xfrm>
            <a:off x="11466576" y="6446520"/>
            <a:ext cx="484632" cy="228600"/>
          </a:xfrm>
          <a:prstGeom prst="rect">
            <a:avLst/>
          </a:prstGeom>
        </p:spPr>
        <p:txBody>
          <a:bodyPr vert="horz" lIns="0" tIns="0" rIns="0" bIns="0" rtlCol="0" anchor="ctr"/>
          <a:lstStyle>
            <a:lvl1pPr algn="r">
              <a:defRPr sz="1200">
                <a:solidFill>
                  <a:srgbClr val="232F3E"/>
                </a:solidFill>
                <a:latin typeface="Amazon Ember Display"/>
              </a:defRPr>
            </a:lvl1pPr>
          </a:lstStyle>
          <a:p>
            <a:fld id="{4037B1B0-0345-4E15-985A-6BECCDBE474F}" type="slidenum">
              <a:rPr lang="en-US" smtClean="0"/>
              <a:pPr/>
              <a:t>‹#›</a:t>
            </a:fld>
            <a:endParaRPr lang="en-US" dirty="0"/>
          </a:p>
        </p:txBody>
      </p:sp>
      <p:pic>
        <p:nvPicPr>
          <p:cNvPr id="96" name="AWS Logo">
            <a:extLst>
              <a:ext uri="{FF2B5EF4-FFF2-40B4-BE49-F238E27FC236}">
                <a16:creationId xmlns:a16="http://schemas.microsoft.com/office/drawing/2014/main" id="{9E7E1626-AACF-488B-8999-ACEC2A595C0B}"/>
              </a:ext>
              <a:ext uri="{C183D7F6-B498-43B3-948B-1728B52AA6E4}">
                <adec:decorative xmlns:adec="http://schemas.microsoft.com/office/drawing/2017/decorative" val="1"/>
              </a:ext>
            </a:extLst>
          </p:cNvPr>
          <p:cNvPicPr>
            <a:picLocks noChangeAspect="1"/>
          </p:cNvPicPr>
          <p:nvPr/>
        </p:nvPicPr>
        <p:blipFill>
          <a:blip r:embed="rId64"/>
          <a:stretch>
            <a:fillRect/>
          </a:stretch>
        </p:blipFill>
        <p:spPr>
          <a:xfrm>
            <a:off x="243599" y="6445721"/>
            <a:ext cx="366979" cy="219456"/>
          </a:xfrm>
          <a:prstGeom prst="rect">
            <a:avLst/>
          </a:prstGeom>
        </p:spPr>
      </p:pic>
      <p:sp>
        <p:nvSpPr>
          <p:cNvPr id="2" name="Title Placeholder 1"/>
          <p:cNvSpPr>
            <a:spLocks noGrp="1"/>
          </p:cNvSpPr>
          <p:nvPr>
            <p:ph type="title"/>
          </p:nvPr>
        </p:nvSpPr>
        <p:spPr>
          <a:xfrm>
            <a:off x="365760" y="299526"/>
            <a:ext cx="11466576" cy="731318"/>
          </a:xfrm>
          <a:prstGeom prst="rect">
            <a:avLst/>
          </a:prstGeom>
        </p:spPr>
        <p:txBody>
          <a:bodyPr vert="horz" lIns="91440" tIns="45720" rIns="91440" bIns="45720" rtlCol="0" anchor="ctr">
            <a:normAutofit/>
          </a:bodyPr>
          <a:lstStyle>
            <a:lvl1pPr algn="l">
              <a:defRPr sz="3600">
                <a:solidFill>
                  <a:schemeClr val="tx2"/>
                </a:solidFill>
                <a:latin typeface="Amazon Ember Display Heavy" panose="020F0803020204020204" pitchFamily="34" charset="0"/>
              </a:defRPr>
            </a:lvl1pPr>
          </a:lstStyle>
          <a:p>
            <a:r>
              <a:rPr lang="en-US" dirty="0"/>
              <a:t>Title and text column</a:t>
            </a:r>
          </a:p>
        </p:txBody>
      </p:sp>
      <p:sp>
        <p:nvSpPr>
          <p:cNvPr id="3" name="Text Placeholder 2"/>
          <p:cNvSpPr>
            <a:spLocks noGrp="1"/>
          </p:cNvSpPr>
          <p:nvPr>
            <p:ph type="body" idx="1"/>
          </p:nvPr>
        </p:nvSpPr>
        <p:spPr>
          <a:xfrm>
            <a:off x="365760" y="1097280"/>
            <a:ext cx="11466576" cy="5330952"/>
          </a:xfrm>
          <a:prstGeom prst="rect">
            <a:avLst/>
          </a:prstGeom>
        </p:spPr>
        <p:txBody>
          <a:bodyPr vert="horz" lIns="91440" tIns="45720" rIns="91440" bIns="45720" rtlCol="0">
            <a:normAutofit/>
          </a:body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31" r:id="rId6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5.xml"/><Relationship Id="rId4" Type="http://schemas.openxmlformats.org/officeDocument/2006/relationships/comments" Target="../comments/comment1.xml"/></Relationships>
</file>

<file path=ppt/slides/_rels/slide5.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svg"/><Relationship Id="rId3" Type="http://schemas.openxmlformats.org/officeDocument/2006/relationships/notesSlide" Target="../notesSlides/notesSlide5.xml"/><Relationship Id="rId7" Type="http://schemas.openxmlformats.org/officeDocument/2006/relationships/image" Target="../media/image37.svg"/><Relationship Id="rId12" Type="http://schemas.openxmlformats.org/officeDocument/2006/relationships/image" Target="../media/image42.png"/><Relationship Id="rId2" Type="http://schemas.openxmlformats.org/officeDocument/2006/relationships/slideLayout" Target="../slideLayouts/slideLayout14.xml"/><Relationship Id="rId1" Type="http://schemas.openxmlformats.org/officeDocument/2006/relationships/tags" Target="../tags/tag6.xml"/><Relationship Id="rId6" Type="http://schemas.openxmlformats.org/officeDocument/2006/relationships/image" Target="../media/image36.png"/><Relationship Id="rId11" Type="http://schemas.openxmlformats.org/officeDocument/2006/relationships/image" Target="../media/image41.svg"/><Relationship Id="rId5" Type="http://schemas.openxmlformats.org/officeDocument/2006/relationships/image" Target="../media/image35.sv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sv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8.xml"/><Relationship Id="rId1" Type="http://schemas.openxmlformats.org/officeDocument/2006/relationships/tags" Target="../tags/tag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50.svg"/><Relationship Id="rId2" Type="http://schemas.openxmlformats.org/officeDocument/2006/relationships/slideLayout" Target="../slideLayouts/slideLayout45.xml"/><Relationship Id="rId1" Type="http://schemas.openxmlformats.org/officeDocument/2006/relationships/tags" Target="../tags/tag8.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s/_rels/slide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notesSlide" Target="../notesSlides/notesSlide8.xml"/><Relationship Id="rId7" Type="http://schemas.openxmlformats.org/officeDocument/2006/relationships/image" Target="../media/image54.svg"/><Relationship Id="rId2" Type="http://schemas.openxmlformats.org/officeDocument/2006/relationships/slideLayout" Target="../slideLayouts/slideLayout18.xml"/><Relationship Id="rId1" Type="http://schemas.openxmlformats.org/officeDocument/2006/relationships/tags" Target="../tags/tag9.xml"/><Relationship Id="rId6" Type="http://schemas.openxmlformats.org/officeDocument/2006/relationships/image" Target="../media/image53.png"/><Relationship Id="rId11" Type="http://schemas.openxmlformats.org/officeDocument/2006/relationships/image" Target="../media/image50.svg"/><Relationship Id="rId5" Type="http://schemas.openxmlformats.org/officeDocument/2006/relationships/image" Target="../media/image52.svg"/><Relationship Id="rId10" Type="http://schemas.openxmlformats.org/officeDocument/2006/relationships/image" Target="../media/image49.png"/><Relationship Id="rId4" Type="http://schemas.openxmlformats.org/officeDocument/2006/relationships/image" Target="../media/image51.png"/><Relationship Id="rId9" Type="http://schemas.openxmlformats.org/officeDocument/2006/relationships/image" Target="../media/image56.sv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61.svg"/><Relationship Id="rId18" Type="http://schemas.openxmlformats.org/officeDocument/2006/relationships/image" Target="../media/image49.png"/><Relationship Id="rId3" Type="http://schemas.openxmlformats.org/officeDocument/2006/relationships/notesSlide" Target="../notesSlides/notesSlide10.xml"/><Relationship Id="rId7" Type="http://schemas.openxmlformats.org/officeDocument/2006/relationships/image" Target="../media/image58.svg"/><Relationship Id="rId12" Type="http://schemas.openxmlformats.org/officeDocument/2006/relationships/image" Target="../media/image51.png"/><Relationship Id="rId17" Type="http://schemas.openxmlformats.org/officeDocument/2006/relationships/image" Target="../media/image63.svg"/><Relationship Id="rId2" Type="http://schemas.openxmlformats.org/officeDocument/2006/relationships/slideLayout" Target="../slideLayouts/slideLayout22.xml"/><Relationship Id="rId16" Type="http://schemas.openxmlformats.org/officeDocument/2006/relationships/image" Target="../media/image55.png"/><Relationship Id="rId1" Type="http://schemas.openxmlformats.org/officeDocument/2006/relationships/tags" Target="../tags/tag11.xml"/><Relationship Id="rId6" Type="http://schemas.openxmlformats.org/officeDocument/2006/relationships/image" Target="../media/image36.png"/><Relationship Id="rId11" Type="http://schemas.openxmlformats.org/officeDocument/2006/relationships/image" Target="../media/image60.svg"/><Relationship Id="rId5" Type="http://schemas.openxmlformats.org/officeDocument/2006/relationships/image" Target="../media/image57.svg"/><Relationship Id="rId15" Type="http://schemas.openxmlformats.org/officeDocument/2006/relationships/image" Target="../media/image62.svg"/><Relationship Id="rId10" Type="http://schemas.openxmlformats.org/officeDocument/2006/relationships/image" Target="../media/image40.png"/><Relationship Id="rId19" Type="http://schemas.openxmlformats.org/officeDocument/2006/relationships/image" Target="../media/image50.svg"/><Relationship Id="rId4" Type="http://schemas.openxmlformats.org/officeDocument/2006/relationships/image" Target="../media/image34.png"/><Relationship Id="rId9" Type="http://schemas.openxmlformats.org/officeDocument/2006/relationships/image" Target="../media/image59.svg"/><Relationship Id="rId14" Type="http://schemas.openxmlformats.org/officeDocument/2006/relationships/image" Target="../media/image53.png"/></Relationships>
</file>

<file path=ppt/slides/_rels/slide11.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svg"/><Relationship Id="rId18" Type="http://schemas.openxmlformats.org/officeDocument/2006/relationships/image" Target="../media/image78.png"/><Relationship Id="rId3" Type="http://schemas.openxmlformats.org/officeDocument/2006/relationships/notesSlide" Target="../notesSlides/notesSlide11.xml"/><Relationship Id="rId7" Type="http://schemas.openxmlformats.org/officeDocument/2006/relationships/image" Target="../media/image67.svg"/><Relationship Id="rId12" Type="http://schemas.openxmlformats.org/officeDocument/2006/relationships/image" Target="../media/image72.png"/><Relationship Id="rId17" Type="http://schemas.openxmlformats.org/officeDocument/2006/relationships/image" Target="../media/image77.svg"/><Relationship Id="rId2" Type="http://schemas.openxmlformats.org/officeDocument/2006/relationships/slideLayout" Target="../slideLayouts/slideLayout45.xml"/><Relationship Id="rId16" Type="http://schemas.openxmlformats.org/officeDocument/2006/relationships/image" Target="../media/image76.png"/><Relationship Id="rId1" Type="http://schemas.openxmlformats.org/officeDocument/2006/relationships/tags" Target="../tags/tag12.xml"/><Relationship Id="rId6" Type="http://schemas.openxmlformats.org/officeDocument/2006/relationships/image" Target="../media/image66.png"/><Relationship Id="rId11" Type="http://schemas.openxmlformats.org/officeDocument/2006/relationships/image" Target="../media/image71.svg"/><Relationship Id="rId5" Type="http://schemas.openxmlformats.org/officeDocument/2006/relationships/image" Target="../media/image65.svg"/><Relationship Id="rId15" Type="http://schemas.openxmlformats.org/officeDocument/2006/relationships/image" Target="../media/image75.svg"/><Relationship Id="rId10" Type="http://schemas.openxmlformats.org/officeDocument/2006/relationships/image" Target="../media/image70.png"/><Relationship Id="rId19" Type="http://schemas.openxmlformats.org/officeDocument/2006/relationships/image" Target="../media/image79.svg"/><Relationship Id="rId4" Type="http://schemas.openxmlformats.org/officeDocument/2006/relationships/image" Target="../media/image64.png"/><Relationship Id="rId9" Type="http://schemas.openxmlformats.org/officeDocument/2006/relationships/image" Target="../media/image69.svg"/><Relationship Id="rId14" Type="http://schemas.openxmlformats.org/officeDocument/2006/relationships/image" Target="../media/image74.png"/></Relationships>
</file>

<file path=ppt/slides/_rels/slide12.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notesSlide" Target="../notesSlides/notesSlide12.xml"/><Relationship Id="rId7" Type="http://schemas.openxmlformats.org/officeDocument/2006/relationships/image" Target="../media/image83.svg"/><Relationship Id="rId2" Type="http://schemas.openxmlformats.org/officeDocument/2006/relationships/slideLayout" Target="../slideLayouts/slideLayout45.xml"/><Relationship Id="rId1" Type="http://schemas.openxmlformats.org/officeDocument/2006/relationships/tags" Target="../tags/tag13.xml"/><Relationship Id="rId6" Type="http://schemas.openxmlformats.org/officeDocument/2006/relationships/image" Target="../media/image82.png"/><Relationship Id="rId11" Type="http://schemas.openxmlformats.org/officeDocument/2006/relationships/image" Target="../media/image87.svg"/><Relationship Id="rId5" Type="http://schemas.openxmlformats.org/officeDocument/2006/relationships/image" Target="../media/image81.sv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svg"/></Relationships>
</file>

<file path=ppt/slides/_rels/slide13.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notesSlide" Target="../notesSlides/notesSlide13.xml"/><Relationship Id="rId7" Type="http://schemas.openxmlformats.org/officeDocument/2006/relationships/image" Target="../media/image91.svg"/><Relationship Id="rId2" Type="http://schemas.openxmlformats.org/officeDocument/2006/relationships/slideLayout" Target="../slideLayouts/slideLayout40.xml"/><Relationship Id="rId1" Type="http://schemas.openxmlformats.org/officeDocument/2006/relationships/tags" Target="../tags/tag14.xml"/><Relationship Id="rId6" Type="http://schemas.openxmlformats.org/officeDocument/2006/relationships/image" Target="../media/image90.png"/><Relationship Id="rId11" Type="http://schemas.openxmlformats.org/officeDocument/2006/relationships/image" Target="../media/image95.svg"/><Relationship Id="rId5" Type="http://schemas.openxmlformats.org/officeDocument/2006/relationships/image" Target="../media/image89.svg"/><Relationship Id="rId10" Type="http://schemas.openxmlformats.org/officeDocument/2006/relationships/image" Target="../media/image94.png"/><Relationship Id="rId4" Type="http://schemas.openxmlformats.org/officeDocument/2006/relationships/image" Target="../media/image88.png"/><Relationship Id="rId9" Type="http://schemas.openxmlformats.org/officeDocument/2006/relationships/image" Target="../media/image93.sv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8" Type="http://schemas.openxmlformats.org/officeDocument/2006/relationships/image" Target="../media/image101.svg"/><Relationship Id="rId13" Type="http://schemas.openxmlformats.org/officeDocument/2006/relationships/image" Target="../media/image106.png"/><Relationship Id="rId18" Type="http://schemas.openxmlformats.org/officeDocument/2006/relationships/image" Target="../media/image111.svg"/><Relationship Id="rId3" Type="http://schemas.openxmlformats.org/officeDocument/2006/relationships/image" Target="../media/image96.png"/><Relationship Id="rId21" Type="http://schemas.openxmlformats.org/officeDocument/2006/relationships/image" Target="../media/image113.svg"/><Relationship Id="rId7" Type="http://schemas.openxmlformats.org/officeDocument/2006/relationships/image" Target="../media/image100.png"/><Relationship Id="rId12" Type="http://schemas.openxmlformats.org/officeDocument/2006/relationships/image" Target="../media/image105.svg"/><Relationship Id="rId17" Type="http://schemas.openxmlformats.org/officeDocument/2006/relationships/image" Target="../media/image110.png"/><Relationship Id="rId2" Type="http://schemas.openxmlformats.org/officeDocument/2006/relationships/notesSlide" Target="../notesSlides/notesSlide15.xml"/><Relationship Id="rId16" Type="http://schemas.openxmlformats.org/officeDocument/2006/relationships/image" Target="../media/image109.svg"/><Relationship Id="rId20" Type="http://schemas.openxmlformats.org/officeDocument/2006/relationships/image" Target="../media/image112.png"/><Relationship Id="rId1" Type="http://schemas.openxmlformats.org/officeDocument/2006/relationships/slideLayout" Target="../slideLayouts/slideLayout44.xml"/><Relationship Id="rId6" Type="http://schemas.openxmlformats.org/officeDocument/2006/relationships/image" Target="../media/image99.svg"/><Relationship Id="rId11" Type="http://schemas.openxmlformats.org/officeDocument/2006/relationships/image" Target="../media/image104.png"/><Relationship Id="rId5" Type="http://schemas.openxmlformats.org/officeDocument/2006/relationships/image" Target="../media/image98.png"/><Relationship Id="rId15" Type="http://schemas.openxmlformats.org/officeDocument/2006/relationships/image" Target="../media/image108.png"/><Relationship Id="rId23" Type="http://schemas.openxmlformats.org/officeDocument/2006/relationships/image" Target="../media/image115.svg"/><Relationship Id="rId10" Type="http://schemas.openxmlformats.org/officeDocument/2006/relationships/image" Target="../media/image103.svg"/><Relationship Id="rId19" Type="http://schemas.openxmlformats.org/officeDocument/2006/relationships/image" Target="../media/image27.png"/><Relationship Id="rId4" Type="http://schemas.openxmlformats.org/officeDocument/2006/relationships/image" Target="../media/image97.svg"/><Relationship Id="rId9" Type="http://schemas.openxmlformats.org/officeDocument/2006/relationships/image" Target="../media/image102.png"/><Relationship Id="rId14" Type="http://schemas.openxmlformats.org/officeDocument/2006/relationships/image" Target="../media/image107.svg"/><Relationship Id="rId22" Type="http://schemas.openxmlformats.org/officeDocument/2006/relationships/image" Target="../media/image114.png"/></Relationships>
</file>

<file path=ppt/slides/_rels/slide16.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svg"/><Relationship Id="rId3" Type="http://schemas.openxmlformats.org/officeDocument/2006/relationships/notesSlide" Target="../notesSlides/notesSlide16.xml"/><Relationship Id="rId7" Type="http://schemas.openxmlformats.org/officeDocument/2006/relationships/image" Target="../media/image119.svg"/><Relationship Id="rId12" Type="http://schemas.openxmlformats.org/officeDocument/2006/relationships/image" Target="../media/image124.png"/><Relationship Id="rId2" Type="http://schemas.openxmlformats.org/officeDocument/2006/relationships/slideLayout" Target="../slideLayouts/slideLayout45.xml"/><Relationship Id="rId1" Type="http://schemas.openxmlformats.org/officeDocument/2006/relationships/tags" Target="../tags/tag16.xml"/><Relationship Id="rId6" Type="http://schemas.openxmlformats.org/officeDocument/2006/relationships/image" Target="../media/image118.png"/><Relationship Id="rId11" Type="http://schemas.openxmlformats.org/officeDocument/2006/relationships/image" Target="../media/image123.svg"/><Relationship Id="rId5" Type="http://schemas.openxmlformats.org/officeDocument/2006/relationships/image" Target="../media/image117.svg"/><Relationship Id="rId15" Type="http://schemas.openxmlformats.org/officeDocument/2006/relationships/image" Target="../media/image127.png"/><Relationship Id="rId10" Type="http://schemas.openxmlformats.org/officeDocument/2006/relationships/image" Target="../media/image122.png"/><Relationship Id="rId4" Type="http://schemas.openxmlformats.org/officeDocument/2006/relationships/image" Target="../media/image116.png"/><Relationship Id="rId9" Type="http://schemas.openxmlformats.org/officeDocument/2006/relationships/image" Target="../media/image121.svg"/><Relationship Id="rId14" Type="http://schemas.openxmlformats.org/officeDocument/2006/relationships/image" Target="../media/image12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0.xml"/><Relationship Id="rId1" Type="http://schemas.openxmlformats.org/officeDocument/2006/relationships/tags" Target="../tags/tag17.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4.xml"/><Relationship Id="rId1" Type="http://schemas.openxmlformats.org/officeDocument/2006/relationships/tags" Target="../tags/tag18.xml"/><Relationship Id="rId5" Type="http://schemas.openxmlformats.org/officeDocument/2006/relationships/image" Target="../media/image132.png"/><Relationship Id="rId4" Type="http://schemas.openxmlformats.org/officeDocument/2006/relationships/image" Target="../media/image13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9.xml"/><Relationship Id="rId1" Type="http://schemas.openxmlformats.org/officeDocument/2006/relationships/tags" Target="../tags/tag19.xml"/><Relationship Id="rId4" Type="http://schemas.openxmlformats.org/officeDocument/2006/relationships/image" Target="../media/image13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8" Type="http://schemas.openxmlformats.org/officeDocument/2006/relationships/image" Target="../media/image137.svg"/><Relationship Id="rId3" Type="http://schemas.openxmlformats.org/officeDocument/2006/relationships/image" Target="../media/image53.png"/><Relationship Id="rId7" Type="http://schemas.openxmlformats.org/officeDocument/2006/relationships/image" Target="../media/image136.png"/><Relationship Id="rId2" Type="http://schemas.openxmlformats.org/officeDocument/2006/relationships/notesSlide" Target="../notesSlides/notesSlide22.xml"/><Relationship Id="rId1" Type="http://schemas.openxmlformats.org/officeDocument/2006/relationships/slideLayout" Target="../slideLayouts/slideLayout22.xml"/><Relationship Id="rId6" Type="http://schemas.openxmlformats.org/officeDocument/2006/relationships/image" Target="../media/image135.svg"/><Relationship Id="rId5" Type="http://schemas.openxmlformats.org/officeDocument/2006/relationships/image" Target="../media/image134.png"/><Relationship Id="rId4" Type="http://schemas.openxmlformats.org/officeDocument/2006/relationships/image" Target="../media/image62.svg"/><Relationship Id="rId9" Type="http://schemas.openxmlformats.org/officeDocument/2006/relationships/comments" Target="../comments/comment2.xml"/></Relationships>
</file>

<file path=ppt/slides/_rels/slide23.xml.rels><?xml version="1.0" encoding="UTF-8" standalone="yes"?>
<Relationships xmlns="http://schemas.openxmlformats.org/package/2006/relationships"><Relationship Id="rId8" Type="http://schemas.openxmlformats.org/officeDocument/2006/relationships/image" Target="../media/image135.svg"/><Relationship Id="rId13" Type="http://schemas.openxmlformats.org/officeDocument/2006/relationships/image" Target="../media/image141.svg"/><Relationship Id="rId18" Type="http://schemas.openxmlformats.org/officeDocument/2006/relationships/image" Target="../media/image146.png"/><Relationship Id="rId3" Type="http://schemas.openxmlformats.org/officeDocument/2006/relationships/image" Target="../media/image53.png"/><Relationship Id="rId21" Type="http://schemas.openxmlformats.org/officeDocument/2006/relationships/image" Target="../media/image149.svg"/><Relationship Id="rId7" Type="http://schemas.openxmlformats.org/officeDocument/2006/relationships/image" Target="../media/image134.png"/><Relationship Id="rId12" Type="http://schemas.openxmlformats.org/officeDocument/2006/relationships/image" Target="../media/image140.png"/><Relationship Id="rId17" Type="http://schemas.openxmlformats.org/officeDocument/2006/relationships/image" Target="../media/image145.svg"/><Relationship Id="rId2" Type="http://schemas.openxmlformats.org/officeDocument/2006/relationships/notesSlide" Target="../notesSlides/notesSlide23.xml"/><Relationship Id="rId16" Type="http://schemas.openxmlformats.org/officeDocument/2006/relationships/image" Target="../media/image144.png"/><Relationship Id="rId20" Type="http://schemas.openxmlformats.org/officeDocument/2006/relationships/image" Target="../media/image148.png"/><Relationship Id="rId1" Type="http://schemas.openxmlformats.org/officeDocument/2006/relationships/slideLayout" Target="../slideLayouts/slideLayout22.xml"/><Relationship Id="rId6" Type="http://schemas.openxmlformats.org/officeDocument/2006/relationships/image" Target="../media/image137.svg"/><Relationship Id="rId11" Type="http://schemas.openxmlformats.org/officeDocument/2006/relationships/image" Target="../media/image139.svg"/><Relationship Id="rId5" Type="http://schemas.openxmlformats.org/officeDocument/2006/relationships/image" Target="../media/image136.png"/><Relationship Id="rId15" Type="http://schemas.openxmlformats.org/officeDocument/2006/relationships/image" Target="../media/image143.svg"/><Relationship Id="rId10" Type="http://schemas.openxmlformats.org/officeDocument/2006/relationships/image" Target="../media/image138.png"/><Relationship Id="rId19" Type="http://schemas.openxmlformats.org/officeDocument/2006/relationships/image" Target="../media/image147.svg"/><Relationship Id="rId4" Type="http://schemas.openxmlformats.org/officeDocument/2006/relationships/image" Target="../media/image62.svg"/><Relationship Id="rId9" Type="http://schemas.openxmlformats.org/officeDocument/2006/relationships/image" Target="../media/image15.png"/><Relationship Id="rId14" Type="http://schemas.openxmlformats.org/officeDocument/2006/relationships/image" Target="../media/image142.png"/><Relationship Id="rId22" Type="http://schemas.openxmlformats.org/officeDocument/2006/relationships/comments" Target="../comments/comment3.xml"/></Relationships>
</file>

<file path=ppt/slides/_rels/slide24.xml.rels><?xml version="1.0" encoding="UTF-8" standalone="yes"?>
<Relationships xmlns="http://schemas.openxmlformats.org/package/2006/relationships"><Relationship Id="rId8" Type="http://schemas.openxmlformats.org/officeDocument/2006/relationships/image" Target="../media/image121.svg"/><Relationship Id="rId3" Type="http://schemas.openxmlformats.org/officeDocument/2006/relationships/image" Target="../media/image53.png"/><Relationship Id="rId7" Type="http://schemas.openxmlformats.org/officeDocument/2006/relationships/image" Target="../media/image120.png"/><Relationship Id="rId2" Type="http://schemas.openxmlformats.org/officeDocument/2006/relationships/notesSlide" Target="../notesSlides/notesSlide24.xml"/><Relationship Id="rId1" Type="http://schemas.openxmlformats.org/officeDocument/2006/relationships/slideLayout" Target="../slideLayouts/slideLayout11.xml"/><Relationship Id="rId6" Type="http://schemas.openxmlformats.org/officeDocument/2006/relationships/image" Target="../media/image135.svg"/><Relationship Id="rId5" Type="http://schemas.openxmlformats.org/officeDocument/2006/relationships/image" Target="../media/image134.png"/><Relationship Id="rId10" Type="http://schemas.openxmlformats.org/officeDocument/2006/relationships/image" Target="../media/image137.svg"/><Relationship Id="rId4" Type="http://schemas.openxmlformats.org/officeDocument/2006/relationships/image" Target="../media/image62.svg"/><Relationship Id="rId9" Type="http://schemas.openxmlformats.org/officeDocument/2006/relationships/image" Target="../media/image136.png"/></Relationships>
</file>

<file path=ppt/slides/_rels/slide25.xml.rels><?xml version="1.0" encoding="UTF-8" standalone="yes"?>
<Relationships xmlns="http://schemas.openxmlformats.org/package/2006/relationships"><Relationship Id="rId8" Type="http://schemas.openxmlformats.org/officeDocument/2006/relationships/image" Target="../media/image151.svg"/><Relationship Id="rId13" Type="http://schemas.openxmlformats.org/officeDocument/2006/relationships/image" Target="../media/image120.png"/><Relationship Id="rId3" Type="http://schemas.openxmlformats.org/officeDocument/2006/relationships/image" Target="../media/image53.png"/><Relationship Id="rId7" Type="http://schemas.openxmlformats.org/officeDocument/2006/relationships/image" Target="../media/image150.png"/><Relationship Id="rId12" Type="http://schemas.openxmlformats.org/officeDocument/2006/relationships/image" Target="../media/image155.svg"/><Relationship Id="rId17" Type="http://schemas.openxmlformats.org/officeDocument/2006/relationships/comments" Target="../comments/comment4.xml"/><Relationship Id="rId2" Type="http://schemas.openxmlformats.org/officeDocument/2006/relationships/notesSlide" Target="../notesSlides/notesSlide25.xml"/><Relationship Id="rId16" Type="http://schemas.openxmlformats.org/officeDocument/2006/relationships/image" Target="../media/image137.svg"/><Relationship Id="rId1" Type="http://schemas.openxmlformats.org/officeDocument/2006/relationships/slideLayout" Target="../slideLayouts/slideLayout45.xml"/><Relationship Id="rId6" Type="http://schemas.openxmlformats.org/officeDocument/2006/relationships/image" Target="../media/image135.svg"/><Relationship Id="rId11" Type="http://schemas.openxmlformats.org/officeDocument/2006/relationships/image" Target="../media/image154.png"/><Relationship Id="rId5" Type="http://schemas.openxmlformats.org/officeDocument/2006/relationships/image" Target="../media/image134.png"/><Relationship Id="rId15" Type="http://schemas.openxmlformats.org/officeDocument/2006/relationships/image" Target="../media/image136.png"/><Relationship Id="rId10" Type="http://schemas.openxmlformats.org/officeDocument/2006/relationships/image" Target="../media/image153.svg"/><Relationship Id="rId4" Type="http://schemas.openxmlformats.org/officeDocument/2006/relationships/image" Target="../media/image62.svg"/><Relationship Id="rId9" Type="http://schemas.openxmlformats.org/officeDocument/2006/relationships/image" Target="../media/image152.png"/><Relationship Id="rId14" Type="http://schemas.openxmlformats.org/officeDocument/2006/relationships/image" Target="../media/image121.svg"/></Relationships>
</file>

<file path=ppt/slides/_rels/slide26.xml.rels><?xml version="1.0" encoding="UTF-8" standalone="yes"?>
<Relationships xmlns="http://schemas.openxmlformats.org/package/2006/relationships"><Relationship Id="rId8" Type="http://schemas.openxmlformats.org/officeDocument/2006/relationships/image" Target="../media/image159.svg"/><Relationship Id="rId13" Type="http://schemas.openxmlformats.org/officeDocument/2006/relationships/image" Target="../media/image154.png"/><Relationship Id="rId18" Type="http://schemas.openxmlformats.org/officeDocument/2006/relationships/image" Target="../media/image137.svg"/><Relationship Id="rId3" Type="http://schemas.openxmlformats.org/officeDocument/2006/relationships/image" Target="../media/image156.png"/><Relationship Id="rId7" Type="http://schemas.openxmlformats.org/officeDocument/2006/relationships/image" Target="../media/image158.png"/><Relationship Id="rId12" Type="http://schemas.openxmlformats.org/officeDocument/2006/relationships/image" Target="../media/image153.svg"/><Relationship Id="rId17" Type="http://schemas.openxmlformats.org/officeDocument/2006/relationships/image" Target="../media/image136.png"/><Relationship Id="rId2" Type="http://schemas.openxmlformats.org/officeDocument/2006/relationships/notesSlide" Target="../notesSlides/notesSlide26.xml"/><Relationship Id="rId16" Type="http://schemas.openxmlformats.org/officeDocument/2006/relationships/image" Target="../media/image121.svg"/><Relationship Id="rId1" Type="http://schemas.openxmlformats.org/officeDocument/2006/relationships/slideLayout" Target="../slideLayouts/slideLayout11.xml"/><Relationship Id="rId6" Type="http://schemas.openxmlformats.org/officeDocument/2006/relationships/image" Target="../media/image62.svg"/><Relationship Id="rId11" Type="http://schemas.openxmlformats.org/officeDocument/2006/relationships/image" Target="../media/image152.png"/><Relationship Id="rId5" Type="http://schemas.openxmlformats.org/officeDocument/2006/relationships/image" Target="../media/image53.png"/><Relationship Id="rId15" Type="http://schemas.openxmlformats.org/officeDocument/2006/relationships/image" Target="../media/image120.png"/><Relationship Id="rId10" Type="http://schemas.openxmlformats.org/officeDocument/2006/relationships/image" Target="../media/image151.svg"/><Relationship Id="rId4" Type="http://schemas.openxmlformats.org/officeDocument/2006/relationships/image" Target="../media/image157.svg"/><Relationship Id="rId9" Type="http://schemas.openxmlformats.org/officeDocument/2006/relationships/image" Target="../media/image150.png"/><Relationship Id="rId14" Type="http://schemas.openxmlformats.org/officeDocument/2006/relationships/image" Target="../media/image155.sv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9.xml"/></Relationships>
</file>

<file path=ppt/slides/_rels/slide32.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notesSlide" Target="../notesSlides/notesSlide32.xml"/><Relationship Id="rId1" Type="http://schemas.openxmlformats.org/officeDocument/2006/relationships/slideLayout" Target="../slideLayouts/slideLayout4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9.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9.xml"/><Relationship Id="rId1" Type="http://schemas.openxmlformats.org/officeDocument/2006/relationships/tags" Target="../tags/tag22.xml"/><Relationship Id="rId4" Type="http://schemas.openxmlformats.org/officeDocument/2006/relationships/image" Target="../media/image160.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B24AB-96EB-8539-167D-295302AEAD1C}"/>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6CE2E751-E1BD-E242-8536-67E63BCCC5BA}"/>
              </a:ext>
            </a:extLst>
          </p:cNvPr>
          <p:cNvSpPr>
            <a:spLocks noGrp="1"/>
          </p:cNvSpPr>
          <p:nvPr>
            <p:ph type="sldNum" idx="97"/>
          </p:nvPr>
        </p:nvSpPr>
        <p:spPr/>
        <p:txBody>
          <a:bodyPr/>
          <a:lstStyle/>
          <a:p>
            <a:fld id="{4037B1B0-0345-4E15-985A-6BECCDBE474F}" type="slidenum">
              <a:rPr lang="en-US" smtClean="0"/>
              <a:pPr/>
              <a:t>1</a:t>
            </a:fld>
            <a:endParaRPr lang="en-US" dirty="0"/>
          </a:p>
        </p:txBody>
      </p:sp>
      <p:sp>
        <p:nvSpPr>
          <p:cNvPr id="12" name="Title">
            <a:extLst>
              <a:ext uri="{FF2B5EF4-FFF2-40B4-BE49-F238E27FC236}">
                <a16:creationId xmlns:a16="http://schemas.microsoft.com/office/drawing/2014/main" id="{DB8C499D-B8F8-F85C-CD12-92581883A8AD}"/>
              </a:ext>
            </a:extLst>
          </p:cNvPr>
          <p:cNvSpPr>
            <a:spLocks noGrp="1"/>
          </p:cNvSpPr>
          <p:nvPr>
            <p:ph type="title" idx="1"/>
          </p:nvPr>
        </p:nvSpPr>
        <p:spPr>
          <a:xfrm>
            <a:off x="457200" y="1051560"/>
            <a:ext cx="9699674" cy="1673352"/>
          </a:xfrm>
        </p:spPr>
        <p:txBody>
          <a:bodyPr>
            <a:normAutofit fontScale="90000"/>
          </a:bodyPr>
          <a:lstStyle/>
          <a:p>
            <a:r>
              <a:rPr lang="en-US" dirty="0"/>
              <a:t>Module 1: Exploring Components of Generative AI Applications on AWS</a:t>
            </a:r>
          </a:p>
        </p:txBody>
      </p:sp>
      <p:sp>
        <p:nvSpPr>
          <p:cNvPr id="8" name="Text Placeholder 7">
            <a:extLst>
              <a:ext uri="{FF2B5EF4-FFF2-40B4-BE49-F238E27FC236}">
                <a16:creationId xmlns:a16="http://schemas.microsoft.com/office/drawing/2014/main" id="{A1C94E11-FDFB-55F4-FCD4-BCC0C79DBFE4}"/>
              </a:ext>
            </a:extLst>
          </p:cNvPr>
          <p:cNvSpPr>
            <a:spLocks noGrp="1"/>
          </p:cNvSpPr>
          <p:nvPr>
            <p:ph type="body" idx="2"/>
          </p:nvPr>
        </p:nvSpPr>
        <p:spPr>
          <a:xfrm>
            <a:off x="457200" y="2772920"/>
            <a:ext cx="8229600" cy="1755648"/>
          </a:xfrm>
        </p:spPr>
        <p:txBody>
          <a:bodyPr/>
          <a:lstStyle/>
          <a:p>
            <a:r>
              <a:rPr lang="en-US" dirty="0"/>
              <a:t>Developing Generative AI Applications on AWS</a:t>
            </a:r>
          </a:p>
        </p:txBody>
      </p:sp>
    </p:spTree>
    <p:custDataLst>
      <p:tags r:id="rId1"/>
    </p:custDataLst>
    <p:extLst>
      <p:ext uri="{BB962C8B-B14F-4D97-AF65-F5344CB8AC3E}">
        <p14:creationId xmlns:p14="http://schemas.microsoft.com/office/powerpoint/2010/main" val="3835239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34778D7-63D3-452F-A405-AD3F01541EC7}"/>
              </a:ext>
            </a:extLst>
          </p:cNvPr>
          <p:cNvSpPr>
            <a:spLocks noGrp="1"/>
          </p:cNvSpPr>
          <p:nvPr>
            <p:ph type="title" idx="1"/>
          </p:nvPr>
        </p:nvSpPr>
        <p:spPr/>
        <p:txBody>
          <a:bodyPr/>
          <a:lstStyle/>
          <a:p>
            <a:r>
              <a:rPr lang="en-US" dirty="0"/>
              <a:t>Agenda</a:t>
            </a:r>
          </a:p>
        </p:txBody>
      </p:sp>
      <p:sp>
        <p:nvSpPr>
          <p:cNvPr id="3" name="SlideNumber">
            <a:extLst>
              <a:ext uri="{FF2B5EF4-FFF2-40B4-BE49-F238E27FC236}">
                <a16:creationId xmlns:a16="http://schemas.microsoft.com/office/drawing/2014/main" id="{B144ED7B-39F4-4157-A2E3-46C695368923}"/>
              </a:ext>
            </a:extLst>
          </p:cNvPr>
          <p:cNvSpPr>
            <a:spLocks noGrp="1"/>
          </p:cNvSpPr>
          <p:nvPr>
            <p:ph type="sldNum" idx="97"/>
          </p:nvPr>
        </p:nvSpPr>
        <p:spPr/>
        <p:txBody>
          <a:bodyPr/>
          <a:lstStyle/>
          <a:p>
            <a:fld id="{930176A1-BCF0-4712-97A6-6B495F55390B}" type="slidenum">
              <a:rPr lang="en-US" smtClean="0"/>
              <a:pPr/>
              <a:t>2</a:t>
            </a:fld>
            <a:endParaRPr lang="en-US" dirty="0"/>
          </a:p>
        </p:txBody>
      </p:sp>
      <p:sp>
        <p:nvSpPr>
          <p:cNvPr id="5" name="Text Placeholder 4">
            <a:extLst>
              <a:ext uri="{FF2B5EF4-FFF2-40B4-BE49-F238E27FC236}">
                <a16:creationId xmlns:a16="http://schemas.microsoft.com/office/drawing/2014/main" id="{1231383F-6643-4BFB-9EA9-9F9DB69745D0}"/>
              </a:ext>
            </a:extLst>
          </p:cNvPr>
          <p:cNvSpPr>
            <a:spLocks noGrp="1"/>
          </p:cNvSpPr>
          <p:nvPr>
            <p:ph type="body" idx="3"/>
          </p:nvPr>
        </p:nvSpPr>
        <p:spPr/>
        <p:txBody>
          <a:bodyPr>
            <a:normAutofit/>
          </a:bodyPr>
          <a:lstStyle/>
          <a:p>
            <a:pPr marL="457200" indent="-457200">
              <a:buFont typeface="Arial" panose="020B0604020202020204" pitchFamily="34" charset="0"/>
              <a:buChar char="•"/>
            </a:pPr>
            <a:r>
              <a:rPr lang="en-US" dirty="0"/>
              <a:t>Topic A: Understanding generative AI concepts</a:t>
            </a:r>
          </a:p>
          <a:p>
            <a:pPr marL="457200" indent="-457200">
              <a:buFont typeface="Arial" panose="020B0604020202020204" pitchFamily="34" charset="0"/>
              <a:buChar char="•"/>
            </a:pPr>
            <a:r>
              <a:rPr lang="en-US" dirty="0"/>
              <a:t>Topic B: Identifying AWS generative AI stack components</a:t>
            </a:r>
          </a:p>
          <a:p>
            <a:pPr marL="457200" indent="-457200">
              <a:buFont typeface="Arial" panose="020B0604020202020204" pitchFamily="34" charset="0"/>
              <a:buChar char="•"/>
            </a:pPr>
            <a:r>
              <a:rPr lang="en-US" dirty="0"/>
              <a:t>Topic C: Designing generative AI application components</a:t>
            </a:r>
          </a:p>
        </p:txBody>
      </p:sp>
    </p:spTree>
    <p:custDataLst>
      <p:tags r:id="rId1"/>
    </p:custDataLst>
    <p:extLst>
      <p:ext uri="{BB962C8B-B14F-4D97-AF65-F5344CB8AC3E}">
        <p14:creationId xmlns:p14="http://schemas.microsoft.com/office/powerpoint/2010/main" val="2732181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0B753BB-1249-4265-B576-E26E5188F90A}"/>
              </a:ext>
            </a:extLst>
          </p:cNvPr>
          <p:cNvSpPr>
            <a:spLocks noGrp="1"/>
          </p:cNvSpPr>
          <p:nvPr>
            <p:ph type="title" idx="1"/>
          </p:nvPr>
        </p:nvSpPr>
        <p:spPr/>
        <p:txBody>
          <a:bodyPr/>
          <a:lstStyle/>
          <a:p>
            <a:r>
              <a:rPr lang="en-US" dirty="0"/>
              <a:t>Topic A: Understanding generative AI concepts</a:t>
            </a:r>
          </a:p>
        </p:txBody>
      </p:sp>
      <p:sp>
        <p:nvSpPr>
          <p:cNvPr id="8" name="SlideNumber">
            <a:extLst>
              <a:ext uri="{FF2B5EF4-FFF2-40B4-BE49-F238E27FC236}">
                <a16:creationId xmlns:a16="http://schemas.microsoft.com/office/drawing/2014/main" id="{088A4FFF-1E86-4803-93E5-82F6E8285362}"/>
              </a:ext>
            </a:extLst>
          </p:cNvPr>
          <p:cNvSpPr>
            <a:spLocks noGrp="1"/>
          </p:cNvSpPr>
          <p:nvPr>
            <p:ph type="sldNum" idx="97"/>
          </p:nvPr>
        </p:nvSpPr>
        <p:spPr/>
        <p:txBody>
          <a:bodyPr/>
          <a:lstStyle/>
          <a:p>
            <a:fld id="{4037B1B0-0345-4E15-985A-6BECCDBE474F}" type="slidenum">
              <a:rPr lang="en-US" smtClean="0"/>
              <a:pPr/>
              <a:t>3</a:t>
            </a:fld>
            <a:endParaRPr lang="en-US" dirty="0"/>
          </a:p>
        </p:txBody>
      </p:sp>
    </p:spTree>
    <p:custDataLst>
      <p:tags r:id="rId1"/>
    </p:custDataLst>
    <p:extLst>
      <p:ext uri="{BB962C8B-B14F-4D97-AF65-F5344CB8AC3E}">
        <p14:creationId xmlns:p14="http://schemas.microsoft.com/office/powerpoint/2010/main" val="3876850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9D4ADC7-845C-8C99-D46C-E1C5DCC9AC9D}"/>
              </a:ext>
            </a:extLst>
          </p:cNvPr>
          <p:cNvSpPr>
            <a:spLocks noGrp="1"/>
          </p:cNvSpPr>
          <p:nvPr>
            <p:ph type="title"/>
          </p:nvPr>
        </p:nvSpPr>
        <p:spPr/>
        <p:txBody>
          <a:bodyPr>
            <a:normAutofit/>
          </a:bodyPr>
          <a:lstStyle/>
          <a:p>
            <a:r>
              <a:rPr lang="en-US" sz="3200" dirty="0">
                <a:solidFill>
                  <a:srgbClr val="232F3E"/>
                </a:solidFill>
              </a:rPr>
              <a:t>Generative AI is a branch of machine learning</a:t>
            </a:r>
            <a:endParaRPr lang="en-US" sz="3100" dirty="0"/>
          </a:p>
        </p:txBody>
      </p:sp>
      <p:sp>
        <p:nvSpPr>
          <p:cNvPr id="4" name="SlideNumber">
            <a:extLst>
              <a:ext uri="{FF2B5EF4-FFF2-40B4-BE49-F238E27FC236}">
                <a16:creationId xmlns:a16="http://schemas.microsoft.com/office/drawing/2014/main" id="{4594057B-2B2C-4680-82D5-46262634AB13}"/>
              </a:ext>
            </a:extLst>
          </p:cNvPr>
          <p:cNvSpPr>
            <a:spLocks noGrp="1"/>
          </p:cNvSpPr>
          <p:nvPr>
            <p:ph type="sldNum" idx="97"/>
          </p:nvPr>
        </p:nvSpPr>
        <p:spPr/>
        <p:txBody>
          <a:bodyPr/>
          <a:lstStyle/>
          <a:p>
            <a:fld id="{930176A1-BCF0-4712-97A6-6B495F55390B}" type="slidenum">
              <a:rPr lang="en-US" smtClean="0"/>
              <a:pPr/>
              <a:t>4</a:t>
            </a:fld>
            <a:endParaRPr lang="en-US" dirty="0"/>
          </a:p>
        </p:txBody>
      </p:sp>
      <p:grpSp>
        <p:nvGrpSpPr>
          <p:cNvPr id="8" name="Group 7">
            <a:extLst>
              <a:ext uri="{FF2B5EF4-FFF2-40B4-BE49-F238E27FC236}">
                <a16:creationId xmlns:a16="http://schemas.microsoft.com/office/drawing/2014/main" id="{10F61507-1FCF-3CDC-CA82-F3DECDE701EC}"/>
              </a:ext>
              <a:ext uri="{C183D7F6-B498-43B3-948B-1728B52AA6E4}">
                <adec:decorative xmlns:adec="http://schemas.microsoft.com/office/drawing/2017/decorative" val="0"/>
              </a:ext>
            </a:extLst>
          </p:cNvPr>
          <p:cNvGrpSpPr/>
          <p:nvPr/>
        </p:nvGrpSpPr>
        <p:grpSpPr>
          <a:xfrm>
            <a:off x="3726504" y="1369185"/>
            <a:ext cx="4738991" cy="4738993"/>
            <a:chOff x="3726505" y="1632019"/>
            <a:chExt cx="4738991" cy="4738993"/>
          </a:xfrm>
        </p:grpSpPr>
        <p:sp>
          <p:nvSpPr>
            <p:cNvPr id="29" name="Oval 28">
              <a:extLst>
                <a:ext uri="{FF2B5EF4-FFF2-40B4-BE49-F238E27FC236}">
                  <a16:creationId xmlns:a16="http://schemas.microsoft.com/office/drawing/2014/main" id="{B42E8E72-DAE4-200C-0EAC-0C01451CB0A6}"/>
                </a:ext>
                <a:ext uri="{C183D7F6-B498-43B3-948B-1728B52AA6E4}">
                  <adec:decorative xmlns:adec="http://schemas.microsoft.com/office/drawing/2017/decorative" val="1"/>
                </a:ext>
              </a:extLst>
            </p:cNvPr>
            <p:cNvSpPr/>
            <p:nvPr/>
          </p:nvSpPr>
          <p:spPr>
            <a:xfrm>
              <a:off x="3726505" y="1632019"/>
              <a:ext cx="4738991" cy="4738991"/>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0" name="TextBox 29">
              <a:extLst>
                <a:ext uri="{FF2B5EF4-FFF2-40B4-BE49-F238E27FC236}">
                  <a16:creationId xmlns:a16="http://schemas.microsoft.com/office/drawing/2014/main" id="{7FAC6DD3-EF6A-9E07-04AC-65C985C6DCE7}"/>
                </a:ext>
              </a:extLst>
            </p:cNvPr>
            <p:cNvSpPr txBox="1"/>
            <p:nvPr/>
          </p:nvSpPr>
          <p:spPr>
            <a:xfrm>
              <a:off x="5114402" y="1892465"/>
              <a:ext cx="1963196" cy="584775"/>
            </a:xfrm>
            <a:prstGeom prst="rect">
              <a:avLst/>
            </a:prstGeom>
            <a:noFill/>
            <a:ln>
              <a:noFill/>
            </a:ln>
          </p:spPr>
          <p:txBody>
            <a:bodyPr wrap="square" lIns="0" rIns="0" rtlCol="0">
              <a:spAutoFit/>
            </a:bodyPr>
            <a:lstStyle/>
            <a:p>
              <a:pPr algn="ctr"/>
              <a:r>
                <a:rPr lang="en-US" sz="1600" dirty="0">
                  <a:solidFill>
                    <a:schemeClr val="bg1"/>
                  </a:solidFill>
                </a:rPr>
                <a:t>Artificial intelligence (AI)</a:t>
              </a:r>
            </a:p>
          </p:txBody>
        </p:sp>
        <p:sp>
          <p:nvSpPr>
            <p:cNvPr id="31" name="Oval 30">
              <a:extLst>
                <a:ext uri="{FF2B5EF4-FFF2-40B4-BE49-F238E27FC236}">
                  <a16:creationId xmlns:a16="http://schemas.microsoft.com/office/drawing/2014/main" id="{A9986222-D0FC-BC62-D5A0-9DF83E1DBCDF}"/>
                </a:ext>
                <a:ext uri="{C183D7F6-B498-43B3-948B-1728B52AA6E4}">
                  <adec:decorative xmlns:adec="http://schemas.microsoft.com/office/drawing/2017/decorative" val="1"/>
                </a:ext>
              </a:extLst>
            </p:cNvPr>
            <p:cNvSpPr/>
            <p:nvPr/>
          </p:nvSpPr>
          <p:spPr>
            <a:xfrm>
              <a:off x="4188303" y="2533174"/>
              <a:ext cx="3815394" cy="3836194"/>
            </a:xfrm>
            <a:prstGeom prst="ellipse">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32" name="TextBox 31">
              <a:extLst>
                <a:ext uri="{FF2B5EF4-FFF2-40B4-BE49-F238E27FC236}">
                  <a16:creationId xmlns:a16="http://schemas.microsoft.com/office/drawing/2014/main" id="{0C8F42B8-98B1-8FED-C61E-7288D9B04E5A}"/>
                </a:ext>
              </a:extLst>
            </p:cNvPr>
            <p:cNvSpPr txBox="1"/>
            <p:nvPr/>
          </p:nvSpPr>
          <p:spPr>
            <a:xfrm>
              <a:off x="5220554" y="2835115"/>
              <a:ext cx="1750893" cy="584775"/>
            </a:xfrm>
            <a:prstGeom prst="rect">
              <a:avLst/>
            </a:prstGeom>
            <a:noFill/>
            <a:ln>
              <a:noFill/>
            </a:ln>
          </p:spPr>
          <p:txBody>
            <a:bodyPr wrap="square" lIns="0" rIns="0" rtlCol="0">
              <a:spAutoFit/>
            </a:bodyPr>
            <a:lstStyle/>
            <a:p>
              <a:pPr algn="ctr"/>
              <a:r>
                <a:rPr lang="en-US" sz="1600" dirty="0">
                  <a:solidFill>
                    <a:sysClr val="windowText" lastClr="000000"/>
                  </a:solidFill>
                </a:rPr>
                <a:t>Machine learning (ML)</a:t>
              </a:r>
            </a:p>
          </p:txBody>
        </p:sp>
        <p:sp>
          <p:nvSpPr>
            <p:cNvPr id="33" name="Oval 32">
              <a:extLst>
                <a:ext uri="{FF2B5EF4-FFF2-40B4-BE49-F238E27FC236}">
                  <a16:creationId xmlns:a16="http://schemas.microsoft.com/office/drawing/2014/main" id="{F0AF21A7-C5D3-BB85-11FE-0F430595A08B}"/>
                </a:ext>
                <a:ext uri="{C183D7F6-B498-43B3-948B-1728B52AA6E4}">
                  <adec:decorative xmlns:adec="http://schemas.microsoft.com/office/drawing/2017/decorative" val="1"/>
                </a:ext>
              </a:extLst>
            </p:cNvPr>
            <p:cNvSpPr/>
            <p:nvPr/>
          </p:nvSpPr>
          <p:spPr>
            <a:xfrm>
              <a:off x="4601327" y="3479895"/>
              <a:ext cx="2989347" cy="2883850"/>
            </a:xfrm>
            <a:prstGeom prst="ellipse">
              <a:avLst/>
            </a:prstGeom>
            <a:solidFill>
              <a:schemeClr val="bg2"/>
            </a:solidFill>
            <a:ln>
              <a:solidFill>
                <a:srgbClr val="33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34" name="TextBox 33">
              <a:extLst>
                <a:ext uri="{FF2B5EF4-FFF2-40B4-BE49-F238E27FC236}">
                  <a16:creationId xmlns:a16="http://schemas.microsoft.com/office/drawing/2014/main" id="{97A18689-6D4A-A342-DA51-5B7235320475}"/>
                </a:ext>
              </a:extLst>
            </p:cNvPr>
            <p:cNvSpPr txBox="1"/>
            <p:nvPr/>
          </p:nvSpPr>
          <p:spPr>
            <a:xfrm>
              <a:off x="5334636" y="3771126"/>
              <a:ext cx="1522728" cy="584775"/>
            </a:xfrm>
            <a:prstGeom prst="rect">
              <a:avLst/>
            </a:prstGeom>
            <a:noFill/>
            <a:ln>
              <a:noFill/>
            </a:ln>
          </p:spPr>
          <p:txBody>
            <a:bodyPr wrap="square" lIns="0" rIns="0" rtlCol="0">
              <a:spAutoFit/>
            </a:bodyPr>
            <a:lstStyle/>
            <a:p>
              <a:pPr algn="ctr"/>
              <a:r>
                <a:rPr lang="en-US" sz="1600" dirty="0"/>
                <a:t>Deep learning (DL)</a:t>
              </a:r>
            </a:p>
          </p:txBody>
        </p:sp>
        <p:sp>
          <p:nvSpPr>
            <p:cNvPr id="35" name="Oval 34">
              <a:extLst>
                <a:ext uri="{FF2B5EF4-FFF2-40B4-BE49-F238E27FC236}">
                  <a16:creationId xmlns:a16="http://schemas.microsoft.com/office/drawing/2014/main" id="{768447F9-F1B3-C55B-A49E-2187C7B406C8}"/>
                </a:ext>
                <a:ext uri="{C183D7F6-B498-43B3-948B-1728B52AA6E4}">
                  <adec:decorative xmlns:adec="http://schemas.microsoft.com/office/drawing/2017/decorative" val="1"/>
                </a:ext>
              </a:extLst>
            </p:cNvPr>
            <p:cNvSpPr/>
            <p:nvPr/>
          </p:nvSpPr>
          <p:spPr>
            <a:xfrm>
              <a:off x="5135373" y="4422545"/>
              <a:ext cx="1921255" cy="1948467"/>
            </a:xfrm>
            <a:prstGeom prst="ellipse">
              <a:avLst/>
            </a:prstGeom>
            <a:solidFill>
              <a:schemeClr val="accent6"/>
            </a:solidFill>
            <a:ln>
              <a:solidFill>
                <a:srgbClr val="33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36" name="TextBox 35">
              <a:extLst>
                <a:ext uri="{FF2B5EF4-FFF2-40B4-BE49-F238E27FC236}">
                  <a16:creationId xmlns:a16="http://schemas.microsoft.com/office/drawing/2014/main" id="{3AE98E42-AC54-E6ED-EB92-5F4FB885BD98}"/>
                </a:ext>
              </a:extLst>
            </p:cNvPr>
            <p:cNvSpPr txBox="1"/>
            <p:nvPr/>
          </p:nvSpPr>
          <p:spPr>
            <a:xfrm>
              <a:off x="5334636" y="5151283"/>
              <a:ext cx="1522729" cy="338554"/>
            </a:xfrm>
            <a:prstGeom prst="rect">
              <a:avLst/>
            </a:prstGeom>
            <a:noFill/>
            <a:ln>
              <a:noFill/>
            </a:ln>
          </p:spPr>
          <p:txBody>
            <a:bodyPr wrap="square" lIns="0" rIns="0" rtlCol="0">
              <a:spAutoFit/>
            </a:bodyPr>
            <a:lstStyle/>
            <a:p>
              <a:pPr algn="ctr"/>
              <a:r>
                <a:rPr lang="en-US" sz="1600" dirty="0">
                  <a:solidFill>
                    <a:schemeClr val="bg1"/>
                  </a:solidFill>
                </a:rPr>
                <a:t>Generative AI</a:t>
              </a:r>
            </a:p>
          </p:txBody>
        </p:sp>
      </p:grpSp>
    </p:spTree>
    <p:custDataLst>
      <p:tags r:id="rId1"/>
    </p:custDataLst>
    <p:extLst>
      <p:ext uri="{BB962C8B-B14F-4D97-AF65-F5344CB8AC3E}">
        <p14:creationId xmlns:p14="http://schemas.microsoft.com/office/powerpoint/2010/main" val="942485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A3A64918-463D-4785-958D-EBD99C6DEA2D}"/>
              </a:ext>
            </a:extLst>
          </p:cNvPr>
          <p:cNvSpPr>
            <a:spLocks noGrp="1"/>
          </p:cNvSpPr>
          <p:nvPr>
            <p:ph type="title" idx="1"/>
          </p:nvPr>
        </p:nvSpPr>
        <p:spPr/>
        <p:txBody>
          <a:bodyPr/>
          <a:lstStyle/>
          <a:p>
            <a:r>
              <a:rPr lang="en-US" dirty="0"/>
              <a:t>Generative AI uses foundation models</a:t>
            </a:r>
          </a:p>
        </p:txBody>
      </p:sp>
      <p:sp>
        <p:nvSpPr>
          <p:cNvPr id="7" name="SlideNumber">
            <a:extLst>
              <a:ext uri="{FF2B5EF4-FFF2-40B4-BE49-F238E27FC236}">
                <a16:creationId xmlns:a16="http://schemas.microsoft.com/office/drawing/2014/main" id="{28E71B2C-88BB-46D8-8A22-9DE26FD64718}"/>
              </a:ext>
            </a:extLst>
          </p:cNvPr>
          <p:cNvSpPr>
            <a:spLocks noGrp="1"/>
          </p:cNvSpPr>
          <p:nvPr>
            <p:ph type="sldNum" idx="97"/>
          </p:nvPr>
        </p:nvSpPr>
        <p:spPr/>
        <p:txBody>
          <a:bodyPr/>
          <a:lstStyle/>
          <a:p>
            <a:fld id="{930176A1-BCF0-4712-97A6-6B495F55390B}" type="slidenum">
              <a:rPr lang="en-US" smtClean="0"/>
              <a:pPr/>
              <a:t>5</a:t>
            </a:fld>
            <a:endParaRPr lang="en-US" dirty="0"/>
          </a:p>
        </p:txBody>
      </p:sp>
      <p:sp>
        <p:nvSpPr>
          <p:cNvPr id="15" name="Text Placeholder 14">
            <a:extLst>
              <a:ext uri="{FF2B5EF4-FFF2-40B4-BE49-F238E27FC236}">
                <a16:creationId xmlns:a16="http://schemas.microsoft.com/office/drawing/2014/main" id="{E56CEB94-E5DD-2B9A-3CF6-C5A0648E6BE8}"/>
              </a:ext>
            </a:extLst>
          </p:cNvPr>
          <p:cNvSpPr>
            <a:spLocks noGrp="1"/>
          </p:cNvSpPr>
          <p:nvPr>
            <p:ph type="body" idx="12"/>
          </p:nvPr>
        </p:nvSpPr>
        <p:spPr/>
        <p:txBody>
          <a:bodyPr/>
          <a:lstStyle/>
          <a:p>
            <a:r>
              <a:rPr lang="en-US" dirty="0">
                <a:latin typeface="+mn-lt"/>
              </a:rPr>
              <a:t>Foundation models (FMs)</a:t>
            </a:r>
          </a:p>
        </p:txBody>
      </p:sp>
      <p:sp>
        <p:nvSpPr>
          <p:cNvPr id="6" name="Content Placeholder 5">
            <a:extLst>
              <a:ext uri="{FF2B5EF4-FFF2-40B4-BE49-F238E27FC236}">
                <a16:creationId xmlns:a16="http://schemas.microsoft.com/office/drawing/2014/main" id="{F4832EDB-D8BF-4DFE-AE88-4C0F196141D3}"/>
              </a:ext>
            </a:extLst>
          </p:cNvPr>
          <p:cNvSpPr>
            <a:spLocks noGrp="1"/>
          </p:cNvSpPr>
          <p:nvPr>
            <p:ph idx="2"/>
          </p:nvPr>
        </p:nvSpPr>
        <p:spPr>
          <a:xfrm>
            <a:off x="365760" y="1563624"/>
            <a:ext cx="11460480" cy="4873752"/>
          </a:xfrm>
        </p:spPr>
        <p:txBody>
          <a:bodyPr rIns="0"/>
          <a:lstStyle/>
          <a:p>
            <a:r>
              <a:rPr lang="en-US" sz="2400" dirty="0">
                <a:latin typeface="+mn-lt"/>
                <a:ea typeface="Amazon Ember Display" panose="020F0603020204020204" pitchFamily="34" charset="0"/>
                <a:cs typeface="Amazon Ember Display" panose="020F0603020204020204" pitchFamily="34" charset="0"/>
              </a:rPr>
              <a:t>Are pre-trained on a broad spectrum of generalized and unlabeled data</a:t>
            </a:r>
          </a:p>
          <a:p>
            <a:r>
              <a:rPr lang="en-US" sz="2400" dirty="0">
                <a:latin typeface="+mn-lt"/>
                <a:ea typeface="Amazon Ember Display" panose="020F0603020204020204" pitchFamily="34" charset="0"/>
                <a:cs typeface="Amazon Ember Display" panose="020F0603020204020204" pitchFamily="34" charset="0"/>
              </a:rPr>
              <a:t>Perform a variety of tasks including understanding, transforming, and generating content</a:t>
            </a:r>
          </a:p>
          <a:p>
            <a:r>
              <a:rPr lang="en-US" sz="2400" dirty="0">
                <a:latin typeface="+mn-lt"/>
                <a:ea typeface="Amazon Ember Display" panose="020F0603020204020204" pitchFamily="34" charset="0"/>
                <a:cs typeface="Amazon Ember Display" panose="020F0603020204020204" pitchFamily="34" charset="0"/>
              </a:rPr>
              <a:t>Support the following modalities:</a:t>
            </a:r>
          </a:p>
          <a:p>
            <a:pPr lvl="1"/>
            <a:r>
              <a:rPr lang="en-US" dirty="0">
                <a:latin typeface="+mn-lt"/>
              </a:rPr>
              <a:t>Text</a:t>
            </a:r>
          </a:p>
          <a:p>
            <a:pPr lvl="1"/>
            <a:r>
              <a:rPr lang="en-US" dirty="0">
                <a:latin typeface="+mn-lt"/>
              </a:rPr>
              <a:t>Images</a:t>
            </a:r>
          </a:p>
          <a:p>
            <a:pPr lvl="1"/>
            <a:r>
              <a:rPr lang="en-US" dirty="0">
                <a:latin typeface="+mn-lt"/>
              </a:rPr>
              <a:t>Code</a:t>
            </a:r>
          </a:p>
          <a:p>
            <a:pPr lvl="1"/>
            <a:r>
              <a:rPr lang="en-US" dirty="0">
                <a:latin typeface="+mn-lt"/>
              </a:rPr>
              <a:t>Audio </a:t>
            </a:r>
          </a:p>
          <a:p>
            <a:pPr lvl="1"/>
            <a:r>
              <a:rPr lang="en-US" dirty="0">
                <a:latin typeface="+mn-lt"/>
              </a:rPr>
              <a:t>Videos</a:t>
            </a:r>
          </a:p>
        </p:txBody>
      </p:sp>
      <p:grpSp>
        <p:nvGrpSpPr>
          <p:cNvPr id="16" name="Group 15">
            <a:extLst>
              <a:ext uri="{FF2B5EF4-FFF2-40B4-BE49-F238E27FC236}">
                <a16:creationId xmlns:a16="http://schemas.microsoft.com/office/drawing/2014/main" id="{EF01BA8E-4AB1-816C-091A-8874739E1282}"/>
              </a:ext>
            </a:extLst>
          </p:cNvPr>
          <p:cNvGrpSpPr/>
          <p:nvPr/>
        </p:nvGrpSpPr>
        <p:grpSpPr>
          <a:xfrm>
            <a:off x="4418455" y="3429000"/>
            <a:ext cx="7249680" cy="2801171"/>
            <a:chOff x="4105238" y="3003518"/>
            <a:chExt cx="7249680" cy="2801171"/>
          </a:xfrm>
        </p:grpSpPr>
        <p:sp>
          <p:nvSpPr>
            <p:cNvPr id="14" name="Rectangle 13">
              <a:extLst>
                <a:ext uri="{FF2B5EF4-FFF2-40B4-BE49-F238E27FC236}">
                  <a16:creationId xmlns:a16="http://schemas.microsoft.com/office/drawing/2014/main" id="{6B73D1DB-C49D-C261-E8E6-61BC8A9299D4}"/>
                </a:ext>
              </a:extLst>
            </p:cNvPr>
            <p:cNvSpPr/>
            <p:nvPr/>
          </p:nvSpPr>
          <p:spPr>
            <a:xfrm>
              <a:off x="4105238" y="5373802"/>
              <a:ext cx="3526928" cy="430887"/>
            </a:xfrm>
            <a:prstGeom prst="rect">
              <a:avLst/>
            </a:prstGeom>
          </p:spPr>
          <p:txBody>
            <a:bodyPr wrap="none">
              <a:spAutoFit/>
            </a:bodyPr>
            <a:lstStyle/>
            <a:p>
              <a:r>
                <a:rPr lang="en-US" sz="2200" b="1" dirty="0">
                  <a:solidFill>
                    <a:srgbClr val="232F3E"/>
                  </a:solidFill>
                </a:rPr>
                <a:t>Multimodal training data</a:t>
              </a:r>
            </a:p>
          </p:txBody>
        </p:sp>
        <p:pic>
          <p:nvPicPr>
            <p:cNvPr id="2" name="Graphic 1">
              <a:extLst>
                <a:ext uri="{FF2B5EF4-FFF2-40B4-BE49-F238E27FC236}">
                  <a16:creationId xmlns:a16="http://schemas.microsoft.com/office/drawing/2014/main" id="{07F3C5C9-92B8-7CDC-12CA-D8787972F47A}"/>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10600" y="4125911"/>
              <a:ext cx="1258102" cy="1258102"/>
            </a:xfrm>
            <a:prstGeom prst="rect">
              <a:avLst/>
            </a:prstGeom>
          </p:spPr>
        </p:pic>
        <p:pic>
          <p:nvPicPr>
            <p:cNvPr id="3" name="Graphic 2">
              <a:extLst>
                <a:ext uri="{FF2B5EF4-FFF2-40B4-BE49-F238E27FC236}">
                  <a16:creationId xmlns:a16="http://schemas.microsoft.com/office/drawing/2014/main" id="{18AB8730-3AD3-EBD8-7FFB-67D1FC91E159}"/>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72838" y="3225187"/>
              <a:ext cx="1866735" cy="1866735"/>
            </a:xfrm>
            <a:prstGeom prst="rect">
              <a:avLst/>
            </a:prstGeom>
          </p:spPr>
        </p:pic>
        <p:pic>
          <p:nvPicPr>
            <p:cNvPr id="4" name="Graphic 3">
              <a:extLst>
                <a:ext uri="{FF2B5EF4-FFF2-40B4-BE49-F238E27FC236}">
                  <a16:creationId xmlns:a16="http://schemas.microsoft.com/office/drawing/2014/main" id="{DBC90530-F707-6F9D-B45F-FD573A427EE8}"/>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319133" y="3010865"/>
              <a:ext cx="1258103" cy="1258103"/>
            </a:xfrm>
            <a:prstGeom prst="rect">
              <a:avLst/>
            </a:prstGeom>
          </p:spPr>
        </p:pic>
        <p:pic>
          <p:nvPicPr>
            <p:cNvPr id="8" name="Graphic 7">
              <a:extLst>
                <a:ext uri="{FF2B5EF4-FFF2-40B4-BE49-F238E27FC236}">
                  <a16:creationId xmlns:a16="http://schemas.microsoft.com/office/drawing/2014/main" id="{EFCCB91D-1767-8FA5-F195-8802D273628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224640" y="4302611"/>
              <a:ext cx="1256050" cy="1256050"/>
            </a:xfrm>
            <a:prstGeom prst="rect">
              <a:avLst/>
            </a:prstGeom>
          </p:spPr>
        </p:pic>
        <p:sp>
          <p:nvSpPr>
            <p:cNvPr id="11" name="Rectangle 10">
              <a:extLst>
                <a:ext uri="{FF2B5EF4-FFF2-40B4-BE49-F238E27FC236}">
                  <a16:creationId xmlns:a16="http://schemas.microsoft.com/office/drawing/2014/main" id="{04C485D8-CE2D-DFEA-8140-77D90E81175B}"/>
                </a:ext>
              </a:extLst>
            </p:cNvPr>
            <p:cNvSpPr/>
            <p:nvPr/>
          </p:nvSpPr>
          <p:spPr>
            <a:xfrm>
              <a:off x="7120431" y="4020731"/>
              <a:ext cx="1960158" cy="430887"/>
            </a:xfrm>
            <a:prstGeom prst="rect">
              <a:avLst/>
            </a:prstGeom>
          </p:spPr>
          <p:txBody>
            <a:bodyPr wrap="square">
              <a:spAutoFit/>
            </a:bodyPr>
            <a:lstStyle/>
            <a:p>
              <a:r>
                <a:rPr lang="en-US" sz="2200" b="1" dirty="0">
                  <a:solidFill>
                    <a:srgbClr val="232F3E"/>
                  </a:solidFill>
                </a:rPr>
                <a:t>Pre-training</a:t>
              </a:r>
            </a:p>
          </p:txBody>
        </p:sp>
        <p:cxnSp>
          <p:nvCxnSpPr>
            <p:cNvPr id="10" name="Straight Arrow Connector 9">
              <a:extLst>
                <a:ext uri="{FF2B5EF4-FFF2-40B4-BE49-F238E27FC236}">
                  <a16:creationId xmlns:a16="http://schemas.microsoft.com/office/drawing/2014/main" id="{6D04855C-C890-5DDC-A265-890E71B745D4}"/>
                </a:ext>
                <a:ext uri="{C183D7F6-B498-43B3-948B-1728B52AA6E4}">
                  <adec:decorative xmlns:adec="http://schemas.microsoft.com/office/drawing/2017/decorative" val="1"/>
                </a:ext>
              </a:extLst>
            </p:cNvPr>
            <p:cNvCxnSpPr>
              <a:cxnSpLocks/>
            </p:cNvCxnSpPr>
            <p:nvPr/>
          </p:nvCxnSpPr>
          <p:spPr>
            <a:xfrm>
              <a:off x="7096976" y="3982111"/>
              <a:ext cx="1814648" cy="0"/>
            </a:xfrm>
            <a:prstGeom prst="straightConnector1">
              <a:avLst/>
            </a:prstGeom>
            <a:ln w="44450" cmpd="sng">
              <a:solidFill>
                <a:srgbClr val="232F3E"/>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2FD05C9-2410-8BCA-F7F9-C0658D719D96}"/>
                </a:ext>
              </a:extLst>
            </p:cNvPr>
            <p:cNvSpPr/>
            <p:nvPr/>
          </p:nvSpPr>
          <p:spPr>
            <a:xfrm>
              <a:off x="8727275" y="4930636"/>
              <a:ext cx="2627643" cy="769441"/>
            </a:xfrm>
            <a:prstGeom prst="rect">
              <a:avLst/>
            </a:prstGeom>
          </p:spPr>
          <p:txBody>
            <a:bodyPr wrap="none">
              <a:spAutoFit/>
            </a:bodyPr>
            <a:lstStyle/>
            <a:p>
              <a:pPr algn="ctr"/>
              <a:r>
                <a:rPr lang="en-US" sz="2200" b="1" dirty="0">
                  <a:solidFill>
                    <a:srgbClr val="232F3E"/>
                  </a:solidFill>
                </a:rPr>
                <a:t>Foundation model</a:t>
              </a:r>
              <a:br>
                <a:rPr lang="en-US" sz="2200" b="1" dirty="0">
                  <a:solidFill>
                    <a:srgbClr val="232F3E"/>
                  </a:solidFill>
                </a:rPr>
              </a:br>
              <a:r>
                <a:rPr lang="en-US" sz="2200" b="1" dirty="0">
                  <a:solidFill>
                    <a:srgbClr val="232F3E"/>
                  </a:solidFill>
                </a:rPr>
                <a:t>(FM)</a:t>
              </a:r>
            </a:p>
          </p:txBody>
        </p:sp>
        <p:pic>
          <p:nvPicPr>
            <p:cNvPr id="9" name="Graphic 8">
              <a:extLst>
                <a:ext uri="{FF2B5EF4-FFF2-40B4-BE49-F238E27FC236}">
                  <a16:creationId xmlns:a16="http://schemas.microsoft.com/office/drawing/2014/main" id="{15C8E620-CB6D-C655-A28D-BE5396ABD697}"/>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23884" y="3003518"/>
              <a:ext cx="2034425" cy="2034425"/>
            </a:xfrm>
            <a:prstGeom prst="rect">
              <a:avLst/>
            </a:prstGeom>
          </p:spPr>
        </p:pic>
      </p:grpSp>
    </p:spTree>
    <p:custDataLst>
      <p:tags r:id="rId1"/>
    </p:custDataLst>
    <p:extLst>
      <p:ext uri="{BB962C8B-B14F-4D97-AF65-F5344CB8AC3E}">
        <p14:creationId xmlns:p14="http://schemas.microsoft.com/office/powerpoint/2010/main" val="1929982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0E83A228-8E7D-B223-79A3-2E2462BDC3F7}"/>
              </a:ext>
            </a:extLst>
          </p:cNvPr>
          <p:cNvSpPr>
            <a:spLocks noGrp="1"/>
          </p:cNvSpPr>
          <p:nvPr>
            <p:ph type="sldNum" idx="97"/>
          </p:nvPr>
        </p:nvSpPr>
        <p:spPr/>
        <p:txBody>
          <a:bodyPr/>
          <a:lstStyle/>
          <a:p>
            <a:fld id="{930176A1-BCF0-4712-97A6-6B495F55390B}" type="slidenum">
              <a:rPr lang="en-US" smtClean="0"/>
              <a:pPr/>
              <a:t>6</a:t>
            </a:fld>
            <a:endParaRPr lang="en-US" dirty="0"/>
          </a:p>
        </p:txBody>
      </p:sp>
      <p:sp>
        <p:nvSpPr>
          <p:cNvPr id="2" name="Title">
            <a:extLst>
              <a:ext uri="{FF2B5EF4-FFF2-40B4-BE49-F238E27FC236}">
                <a16:creationId xmlns:a16="http://schemas.microsoft.com/office/drawing/2014/main" id="{C3D737C3-E62F-C50A-C304-11454573B145}"/>
              </a:ext>
            </a:extLst>
          </p:cNvPr>
          <p:cNvSpPr>
            <a:spLocks noGrp="1"/>
          </p:cNvSpPr>
          <p:nvPr>
            <p:ph type="title" idx="1"/>
          </p:nvPr>
        </p:nvSpPr>
        <p:spPr/>
        <p:txBody>
          <a:bodyPr>
            <a:normAutofit/>
          </a:bodyPr>
          <a:lstStyle/>
          <a:p>
            <a:r>
              <a:rPr lang="en-US"/>
              <a:t>Pre-training a foundation model</a:t>
            </a:r>
            <a:endParaRPr lang="en-US" dirty="0"/>
          </a:p>
        </p:txBody>
      </p:sp>
      <p:pic>
        <p:nvPicPr>
          <p:cNvPr id="42" name="Picture Placeholder 41">
            <a:extLst>
              <a:ext uri="{FF2B5EF4-FFF2-40B4-BE49-F238E27FC236}">
                <a16:creationId xmlns:a16="http://schemas.microsoft.com/office/drawing/2014/main" id="{B4675648-AD3A-6C6E-886C-D0A248364168}"/>
              </a:ext>
            </a:extLst>
          </p:cNvPr>
          <p:cNvPicPr>
            <a:picLocks noGrp="1" noChangeAspect="1"/>
          </p:cNvPicPr>
          <p:nvPr>
            <p:ph type="pic" idx="22"/>
          </p:nvPr>
        </p:nvPicPr>
        <p:blipFill rotWithShape="1">
          <a:blip r:embed="rId4"/>
          <a:srcRect l="-12500" r="-12500"/>
          <a:stretch>
            <a:fillRect/>
          </a:stretch>
        </p:blipFill>
        <p:spPr>
          <a:prstGeom prst="rect">
            <a:avLst/>
          </a:prstGeom>
        </p:spPr>
      </p:pic>
      <p:sp>
        <p:nvSpPr>
          <p:cNvPr id="12" name="Text Placeholder 11">
            <a:extLst>
              <a:ext uri="{FF2B5EF4-FFF2-40B4-BE49-F238E27FC236}">
                <a16:creationId xmlns:a16="http://schemas.microsoft.com/office/drawing/2014/main" id="{D3F85B25-0592-16FC-CF51-A269FD2DCE87}"/>
              </a:ext>
            </a:extLst>
          </p:cNvPr>
          <p:cNvSpPr>
            <a:spLocks noGrp="1"/>
          </p:cNvSpPr>
          <p:nvPr>
            <p:ph type="body" idx="3"/>
          </p:nvPr>
        </p:nvSpPr>
        <p:spPr/>
        <p:txBody>
          <a:bodyPr/>
          <a:lstStyle/>
          <a:p>
            <a:r>
              <a:rPr lang="en-US">
                <a:solidFill>
                  <a:srgbClr val="232F3E"/>
                </a:solidFill>
                <a:latin typeface="Amazon Ember Display"/>
              </a:rPr>
              <a:t>Large amount of unlabeled data</a:t>
            </a:r>
          </a:p>
          <a:p>
            <a:endParaRPr lang="en-US" dirty="0"/>
          </a:p>
        </p:txBody>
      </p:sp>
      <p:pic>
        <p:nvPicPr>
          <p:cNvPr id="44" name="Picture Placeholder 43">
            <a:extLst>
              <a:ext uri="{FF2B5EF4-FFF2-40B4-BE49-F238E27FC236}">
                <a16:creationId xmlns:a16="http://schemas.microsoft.com/office/drawing/2014/main" id="{740AAAB1-278F-28C5-EE13-98B0EE27CE4C}"/>
              </a:ext>
            </a:extLst>
          </p:cNvPr>
          <p:cNvPicPr>
            <a:picLocks noGrp="1" noChangeAspect="1"/>
          </p:cNvPicPr>
          <p:nvPr>
            <p:ph type="pic" idx="23"/>
          </p:nvPr>
        </p:nvPicPr>
        <p:blipFill>
          <a:blip r:embed="rId5"/>
          <a:srcRect l="120" r="120"/>
          <a:stretch>
            <a:fillRect/>
          </a:stretch>
        </p:blipFill>
        <p:spPr>
          <a:prstGeom prst="rect">
            <a:avLst/>
          </a:prstGeom>
        </p:spPr>
      </p:pic>
      <p:sp>
        <p:nvSpPr>
          <p:cNvPr id="13" name="Text Placeholder 12">
            <a:extLst>
              <a:ext uri="{FF2B5EF4-FFF2-40B4-BE49-F238E27FC236}">
                <a16:creationId xmlns:a16="http://schemas.microsoft.com/office/drawing/2014/main" id="{6BCB6E0F-E42D-EE9A-C481-2508C9E813AD}"/>
              </a:ext>
            </a:extLst>
          </p:cNvPr>
          <p:cNvSpPr>
            <a:spLocks noGrp="1"/>
          </p:cNvSpPr>
          <p:nvPr>
            <p:ph type="body" idx="4"/>
          </p:nvPr>
        </p:nvSpPr>
        <p:spPr/>
        <p:txBody>
          <a:bodyPr/>
          <a:lstStyle/>
          <a:p>
            <a:r>
              <a:rPr lang="en-US">
                <a:solidFill>
                  <a:srgbClr val="232F3E"/>
                </a:solidFill>
                <a:latin typeface="Amazon Ember Display"/>
              </a:rPr>
              <a:t>Training algorithm</a:t>
            </a:r>
            <a:endParaRPr lang="en-US" dirty="0">
              <a:solidFill>
                <a:srgbClr val="232F3E"/>
              </a:solidFill>
              <a:latin typeface="Amazon Ember Display"/>
            </a:endParaRPr>
          </a:p>
        </p:txBody>
      </p:sp>
      <p:pic>
        <p:nvPicPr>
          <p:cNvPr id="43" name="Picture Placeholder 42">
            <a:extLst>
              <a:ext uri="{FF2B5EF4-FFF2-40B4-BE49-F238E27FC236}">
                <a16:creationId xmlns:a16="http://schemas.microsoft.com/office/drawing/2014/main" id="{83656328-D0DC-8345-0B71-ABC14F92489B}"/>
              </a:ext>
            </a:extLst>
          </p:cNvPr>
          <p:cNvPicPr>
            <a:picLocks noGrp="1" noChangeAspect="1"/>
          </p:cNvPicPr>
          <p:nvPr>
            <p:ph type="pic" idx="24"/>
          </p:nvPr>
        </p:nvPicPr>
        <p:blipFill>
          <a:blip r:embed="rId6"/>
          <a:srcRect l="112" r="112"/>
          <a:stretch>
            <a:fillRect/>
          </a:stretch>
        </p:blipFill>
        <p:spPr>
          <a:prstGeom prst="rect">
            <a:avLst/>
          </a:prstGeom>
        </p:spPr>
      </p:pic>
      <p:sp>
        <p:nvSpPr>
          <p:cNvPr id="14" name="Text Placeholder 13">
            <a:extLst>
              <a:ext uri="{FF2B5EF4-FFF2-40B4-BE49-F238E27FC236}">
                <a16:creationId xmlns:a16="http://schemas.microsoft.com/office/drawing/2014/main" id="{E9A79025-ECFB-33EB-6894-91C3FEE39D33}"/>
              </a:ext>
            </a:extLst>
          </p:cNvPr>
          <p:cNvSpPr>
            <a:spLocks noGrp="1"/>
          </p:cNvSpPr>
          <p:nvPr>
            <p:ph type="body" idx="5"/>
          </p:nvPr>
        </p:nvSpPr>
        <p:spPr/>
        <p:txBody>
          <a:bodyPr/>
          <a:lstStyle/>
          <a:p>
            <a:r>
              <a:rPr lang="en-US">
                <a:solidFill>
                  <a:srgbClr val="232F3E"/>
                </a:solidFill>
                <a:latin typeface="Amazon Ember Display"/>
              </a:rPr>
              <a:t>Foundation model</a:t>
            </a:r>
          </a:p>
          <a:p>
            <a:endParaRPr lang="en-US" dirty="0"/>
          </a:p>
        </p:txBody>
      </p:sp>
      <p:cxnSp>
        <p:nvCxnSpPr>
          <p:cNvPr id="24" name="Straight Arrow Connector 23">
            <a:extLst>
              <a:ext uri="{FF2B5EF4-FFF2-40B4-BE49-F238E27FC236}">
                <a16:creationId xmlns:a16="http://schemas.microsoft.com/office/drawing/2014/main" id="{D73B11BE-99AD-E34A-E9D3-F40E2E9BF7B5}"/>
              </a:ext>
            </a:extLst>
          </p:cNvPr>
          <p:cNvCxnSpPr>
            <a:cxnSpLocks/>
          </p:cNvCxnSpPr>
          <p:nvPr/>
        </p:nvCxnSpPr>
        <p:spPr>
          <a:xfrm>
            <a:off x="7338914" y="3429000"/>
            <a:ext cx="1232175"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4B524FD-939B-6468-7871-5DA66412CAFD}"/>
              </a:ext>
            </a:extLst>
          </p:cNvPr>
          <p:cNvCxnSpPr>
            <a:cxnSpLocks/>
          </p:cNvCxnSpPr>
          <p:nvPr/>
        </p:nvCxnSpPr>
        <p:spPr>
          <a:xfrm>
            <a:off x="3473732" y="3429000"/>
            <a:ext cx="1232175"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930002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3ADD8-51F6-E111-CB6A-C62BE8ACEC37}"/>
            </a:ext>
          </a:extLst>
        </p:cNvPr>
        <p:cNvGrpSpPr/>
        <p:nvPr/>
      </p:nvGrpSpPr>
      <p:grpSpPr>
        <a:xfrm>
          <a:off x="0" y="0"/>
          <a:ext cx="0" cy="0"/>
          <a:chOff x="0" y="0"/>
          <a:chExt cx="0" cy="0"/>
        </a:xfrm>
      </p:grpSpPr>
      <p:sp>
        <p:nvSpPr>
          <p:cNvPr id="15" name="Slide Number">
            <a:extLst>
              <a:ext uri="{FF2B5EF4-FFF2-40B4-BE49-F238E27FC236}">
                <a16:creationId xmlns:a16="http://schemas.microsoft.com/office/drawing/2014/main" id="{B779A85D-CF6A-C157-D222-E03325A05117}"/>
              </a:ext>
            </a:extLst>
          </p:cNvPr>
          <p:cNvSpPr>
            <a:spLocks noGrp="1"/>
          </p:cNvSpPr>
          <p:nvPr>
            <p:ph type="sldNum" idx="97"/>
          </p:nvPr>
        </p:nvSpPr>
        <p:spPr/>
        <p:txBody>
          <a:bodyPr/>
          <a:lstStyle/>
          <a:p>
            <a:fld id="{930176A1-BCF0-4712-97A6-6B495F55390B}" type="slidenum">
              <a:rPr lang="en-US" smtClean="0"/>
              <a:pPr/>
              <a:t>7</a:t>
            </a:fld>
            <a:endParaRPr lang="en-US" dirty="0"/>
          </a:p>
        </p:txBody>
      </p:sp>
      <p:sp>
        <p:nvSpPr>
          <p:cNvPr id="5" name="Title">
            <a:extLst>
              <a:ext uri="{FF2B5EF4-FFF2-40B4-BE49-F238E27FC236}">
                <a16:creationId xmlns:a16="http://schemas.microsoft.com/office/drawing/2014/main" id="{359DA7FE-82CC-49F6-B153-91DADD2B1A28}"/>
              </a:ext>
            </a:extLst>
          </p:cNvPr>
          <p:cNvSpPr>
            <a:spLocks noGrp="1"/>
          </p:cNvSpPr>
          <p:nvPr>
            <p:ph type="title" idx="1"/>
          </p:nvPr>
        </p:nvSpPr>
        <p:spPr/>
        <p:txBody>
          <a:bodyPr>
            <a:normAutofit/>
          </a:bodyPr>
          <a:lstStyle/>
          <a:p>
            <a:r>
              <a:rPr lang="en-US" dirty="0"/>
              <a:t>How a foundation model completes a sentence</a:t>
            </a:r>
          </a:p>
        </p:txBody>
      </p:sp>
      <p:sp>
        <p:nvSpPr>
          <p:cNvPr id="4" name="TextBox 3">
            <a:extLst>
              <a:ext uri="{FF2B5EF4-FFF2-40B4-BE49-F238E27FC236}">
                <a16:creationId xmlns:a16="http://schemas.microsoft.com/office/drawing/2014/main" id="{48C34DFA-BB49-E611-7C1F-30BEB094DC16}"/>
              </a:ext>
            </a:extLst>
          </p:cNvPr>
          <p:cNvSpPr txBox="1"/>
          <p:nvPr/>
        </p:nvSpPr>
        <p:spPr>
          <a:xfrm>
            <a:off x="543448" y="1554635"/>
            <a:ext cx="6668813" cy="584775"/>
          </a:xfrm>
          <a:prstGeom prst="rect">
            <a:avLst/>
          </a:prstGeom>
          <a:noFill/>
          <a:ln w="38100">
            <a:solidFill>
              <a:schemeClr val="accent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32F3E"/>
                </a:solidFill>
                <a:effectLst/>
                <a:uLnTx/>
                <a:uFillTx/>
                <a:latin typeface="Amazon Ember Display"/>
                <a:ea typeface="+mn-ea"/>
                <a:cs typeface="+mn-cs"/>
              </a:rPr>
              <a:t>A puppy is to dog as kitten is to…</a:t>
            </a:r>
            <a:endParaRPr kumimoji="0" lang="en-US" sz="32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2" name="Rectangle 1">
            <a:extLst>
              <a:ext uri="{FF2B5EF4-FFF2-40B4-BE49-F238E27FC236}">
                <a16:creationId xmlns:a16="http://schemas.microsoft.com/office/drawing/2014/main" id="{EB301EF5-16E4-AFE5-31AC-DBBD8803FFBC}"/>
              </a:ext>
            </a:extLst>
          </p:cNvPr>
          <p:cNvSpPr/>
          <p:nvPr/>
        </p:nvSpPr>
        <p:spPr>
          <a:xfrm>
            <a:off x="437950" y="3657635"/>
            <a:ext cx="1183337" cy="430887"/>
          </a:xfrm>
          <a:prstGeom prst="rect">
            <a:avLst/>
          </a:prstGeom>
          <a:effectLst>
            <a:outerShdw blurRad="63500" dist="37357" dir="2700000" sx="0" sy="0" rotWithShape="0">
              <a:scrgbClr r="0" g="0" b="0"/>
            </a:outerShdw>
            <a:reflection endPos="0" dir="5400000" sy="-100000" algn="bl" rotWithShape="0"/>
          </a:effectLst>
        </p:spPr>
        <p:txBody>
          <a:bodyPr wrap="none">
            <a:spAutoFit/>
          </a:bodyPr>
          <a:lstStyle/>
          <a:p>
            <a:r>
              <a:rPr lang="en-US" sz="2200" b="1" dirty="0">
                <a:solidFill>
                  <a:srgbClr val="232F3E"/>
                </a:solidFill>
              </a:rPr>
              <a:t>Prompt</a:t>
            </a:r>
          </a:p>
        </p:txBody>
      </p:sp>
      <p:grpSp>
        <p:nvGrpSpPr>
          <p:cNvPr id="22" name="Group 21">
            <a:extLst>
              <a:ext uri="{FF2B5EF4-FFF2-40B4-BE49-F238E27FC236}">
                <a16:creationId xmlns:a16="http://schemas.microsoft.com/office/drawing/2014/main" id="{EA9C3697-41CB-6071-6E77-99A276A6CA7C}"/>
              </a:ext>
              <a:ext uri="{C183D7F6-B498-43B3-948B-1728B52AA6E4}">
                <adec:decorative xmlns:adec="http://schemas.microsoft.com/office/drawing/2017/decorative" val="1"/>
              </a:ext>
            </a:extLst>
          </p:cNvPr>
          <p:cNvGrpSpPr/>
          <p:nvPr/>
        </p:nvGrpSpPr>
        <p:grpSpPr>
          <a:xfrm>
            <a:off x="1553942" y="3016312"/>
            <a:ext cx="450140" cy="526579"/>
            <a:chOff x="2342738" y="816210"/>
            <a:chExt cx="450140" cy="526579"/>
          </a:xfrm>
        </p:grpSpPr>
        <p:sp>
          <p:nvSpPr>
            <p:cNvPr id="23" name="Right Arrow 22">
              <a:extLst>
                <a:ext uri="{FF2B5EF4-FFF2-40B4-BE49-F238E27FC236}">
                  <a16:creationId xmlns:a16="http://schemas.microsoft.com/office/drawing/2014/main" id="{40D9D73E-A36F-BFF5-D5D4-E7C285B13B15}"/>
                </a:ext>
              </a:extLst>
            </p:cNvPr>
            <p:cNvSpPr/>
            <p:nvPr/>
          </p:nvSpPr>
          <p:spPr>
            <a:xfrm>
              <a:off x="2342738" y="816210"/>
              <a:ext cx="450140" cy="526579"/>
            </a:xfrm>
            <a:prstGeom prst="rightArrow">
              <a:avLst>
                <a:gd name="adj1" fmla="val 60000"/>
                <a:gd name="adj2" fmla="val 50000"/>
              </a:avLst>
            </a:prstGeom>
            <a:solidFill>
              <a:srgbClr val="232F3E"/>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dirty="0"/>
            </a:p>
          </p:txBody>
        </p:sp>
        <p:sp>
          <p:nvSpPr>
            <p:cNvPr id="24" name="Right Arrow 4">
              <a:extLst>
                <a:ext uri="{FF2B5EF4-FFF2-40B4-BE49-F238E27FC236}">
                  <a16:creationId xmlns:a16="http://schemas.microsoft.com/office/drawing/2014/main" id="{245E44E5-4809-FD01-49A7-407D12675FAF}"/>
                </a:ext>
              </a:extLst>
            </p:cNvPr>
            <p:cNvSpPr txBox="1"/>
            <p:nvPr/>
          </p:nvSpPr>
          <p:spPr>
            <a:xfrm>
              <a:off x="2342738" y="921526"/>
              <a:ext cx="315098" cy="31594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44550" rtl="0">
                <a:lnSpc>
                  <a:spcPct val="90000"/>
                </a:lnSpc>
                <a:spcBef>
                  <a:spcPct val="0"/>
                </a:spcBef>
                <a:spcAft>
                  <a:spcPct val="35000"/>
                </a:spcAft>
                <a:buNone/>
              </a:pPr>
              <a:endParaRPr lang="en-US" sz="1900" kern="1200" dirty="0">
                <a:solidFill>
                  <a:schemeClr val="accent6">
                    <a:lumMod val="90000"/>
                    <a:lumOff val="10000"/>
                  </a:schemeClr>
                </a:solidFill>
              </a:endParaRPr>
            </a:p>
          </p:txBody>
        </p:sp>
      </p:grpSp>
      <p:sp>
        <p:nvSpPr>
          <p:cNvPr id="10" name="Freeform 9">
            <a:extLst>
              <a:ext uri="{FF2B5EF4-FFF2-40B4-BE49-F238E27FC236}">
                <a16:creationId xmlns:a16="http://schemas.microsoft.com/office/drawing/2014/main" id="{AB4F6241-FA7D-DBB9-2434-54D9B4EAE27D}"/>
              </a:ext>
            </a:extLst>
          </p:cNvPr>
          <p:cNvSpPr/>
          <p:nvPr/>
        </p:nvSpPr>
        <p:spPr>
          <a:xfrm>
            <a:off x="2169230" y="2655554"/>
            <a:ext cx="2123304" cy="1273982"/>
          </a:xfrm>
          <a:custGeom>
            <a:avLst/>
            <a:gdLst>
              <a:gd name="connsiteX0" fmla="*/ 0 w 2123304"/>
              <a:gd name="connsiteY0" fmla="*/ 127398 h 1273982"/>
              <a:gd name="connsiteX1" fmla="*/ 127398 w 2123304"/>
              <a:gd name="connsiteY1" fmla="*/ 0 h 1273982"/>
              <a:gd name="connsiteX2" fmla="*/ 1995906 w 2123304"/>
              <a:gd name="connsiteY2" fmla="*/ 0 h 1273982"/>
              <a:gd name="connsiteX3" fmla="*/ 2123304 w 2123304"/>
              <a:gd name="connsiteY3" fmla="*/ 127398 h 1273982"/>
              <a:gd name="connsiteX4" fmla="*/ 2123304 w 2123304"/>
              <a:gd name="connsiteY4" fmla="*/ 1146584 h 1273982"/>
              <a:gd name="connsiteX5" fmla="*/ 1995906 w 2123304"/>
              <a:gd name="connsiteY5" fmla="*/ 1273982 h 1273982"/>
              <a:gd name="connsiteX6" fmla="*/ 127398 w 2123304"/>
              <a:gd name="connsiteY6" fmla="*/ 1273982 h 1273982"/>
              <a:gd name="connsiteX7" fmla="*/ 0 w 2123304"/>
              <a:gd name="connsiteY7" fmla="*/ 1146584 h 1273982"/>
              <a:gd name="connsiteX8" fmla="*/ 0 w 2123304"/>
              <a:gd name="connsiteY8" fmla="*/ 127398 h 1273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3304" h="1273982">
                <a:moveTo>
                  <a:pt x="0" y="127398"/>
                </a:moveTo>
                <a:cubicBezTo>
                  <a:pt x="0" y="57038"/>
                  <a:pt x="57038" y="0"/>
                  <a:pt x="127398" y="0"/>
                </a:cubicBezTo>
                <a:lnTo>
                  <a:pt x="1995906" y="0"/>
                </a:lnTo>
                <a:cubicBezTo>
                  <a:pt x="2066266" y="0"/>
                  <a:pt x="2123304" y="57038"/>
                  <a:pt x="2123304" y="127398"/>
                </a:cubicBezTo>
                <a:lnTo>
                  <a:pt x="2123304" y="1146584"/>
                </a:lnTo>
                <a:cubicBezTo>
                  <a:pt x="2123304" y="1216944"/>
                  <a:pt x="2066266" y="1273982"/>
                  <a:pt x="1995906" y="1273982"/>
                </a:cubicBezTo>
                <a:lnTo>
                  <a:pt x="127398" y="1273982"/>
                </a:lnTo>
                <a:cubicBezTo>
                  <a:pt x="57038" y="1273982"/>
                  <a:pt x="0" y="1216944"/>
                  <a:pt x="0" y="1146584"/>
                </a:cubicBezTo>
                <a:lnTo>
                  <a:pt x="0" y="127398"/>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4944" tIns="124944" rIns="124944" bIns="124944" numCol="1" spcCol="1270" anchor="ctr" anchorCtr="0">
            <a:noAutofit/>
          </a:bodyPr>
          <a:lstStyle/>
          <a:p>
            <a:pPr marL="0" lvl="0" indent="0" algn="ctr" defTabSz="1022350">
              <a:lnSpc>
                <a:spcPct val="90000"/>
              </a:lnSpc>
              <a:spcBef>
                <a:spcPct val="0"/>
              </a:spcBef>
              <a:spcAft>
                <a:spcPct val="35000"/>
              </a:spcAft>
              <a:buNone/>
            </a:pPr>
            <a:r>
              <a:rPr lang="en-US" sz="2300" kern="1200" dirty="0">
                <a:solidFill>
                  <a:schemeClr val="bg2"/>
                </a:solidFill>
              </a:rPr>
              <a:t>Tokenization and encoding</a:t>
            </a:r>
          </a:p>
        </p:txBody>
      </p:sp>
      <p:sp>
        <p:nvSpPr>
          <p:cNvPr id="11" name="Freeform 10">
            <a:extLst>
              <a:ext uri="{FF2B5EF4-FFF2-40B4-BE49-F238E27FC236}">
                <a16:creationId xmlns:a16="http://schemas.microsoft.com/office/drawing/2014/main" id="{127E939C-03CD-91D5-288F-C4465227CB64}"/>
              </a:ext>
              <a:ext uri="{C183D7F6-B498-43B3-948B-1728B52AA6E4}">
                <adec:decorative xmlns:adec="http://schemas.microsoft.com/office/drawing/2017/decorative" val="1"/>
              </a:ext>
            </a:extLst>
          </p:cNvPr>
          <p:cNvSpPr/>
          <p:nvPr/>
        </p:nvSpPr>
        <p:spPr>
          <a:xfrm>
            <a:off x="4504865" y="3029256"/>
            <a:ext cx="450140" cy="526579"/>
          </a:xfrm>
          <a:custGeom>
            <a:avLst/>
            <a:gdLst>
              <a:gd name="connsiteX0" fmla="*/ 0 w 450140"/>
              <a:gd name="connsiteY0" fmla="*/ 105316 h 526579"/>
              <a:gd name="connsiteX1" fmla="*/ 225070 w 450140"/>
              <a:gd name="connsiteY1" fmla="*/ 105316 h 526579"/>
              <a:gd name="connsiteX2" fmla="*/ 225070 w 450140"/>
              <a:gd name="connsiteY2" fmla="*/ 0 h 526579"/>
              <a:gd name="connsiteX3" fmla="*/ 450140 w 450140"/>
              <a:gd name="connsiteY3" fmla="*/ 263290 h 526579"/>
              <a:gd name="connsiteX4" fmla="*/ 225070 w 450140"/>
              <a:gd name="connsiteY4" fmla="*/ 526579 h 526579"/>
              <a:gd name="connsiteX5" fmla="*/ 225070 w 450140"/>
              <a:gd name="connsiteY5" fmla="*/ 421263 h 526579"/>
              <a:gd name="connsiteX6" fmla="*/ 0 w 450140"/>
              <a:gd name="connsiteY6" fmla="*/ 421263 h 526579"/>
              <a:gd name="connsiteX7" fmla="*/ 0 w 450140"/>
              <a:gd name="connsiteY7" fmla="*/ 105316 h 526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0140" h="526579">
                <a:moveTo>
                  <a:pt x="0" y="105316"/>
                </a:moveTo>
                <a:lnTo>
                  <a:pt x="225070" y="105316"/>
                </a:lnTo>
                <a:lnTo>
                  <a:pt x="225070" y="0"/>
                </a:lnTo>
                <a:lnTo>
                  <a:pt x="450140" y="263290"/>
                </a:lnTo>
                <a:lnTo>
                  <a:pt x="225070" y="526579"/>
                </a:lnTo>
                <a:lnTo>
                  <a:pt x="225070" y="421263"/>
                </a:lnTo>
                <a:lnTo>
                  <a:pt x="0" y="421263"/>
                </a:lnTo>
                <a:lnTo>
                  <a:pt x="0" y="105316"/>
                </a:lnTo>
                <a:close/>
              </a:path>
            </a:pathLst>
          </a:custGeom>
          <a:solidFill>
            <a:srgbClr val="232F3E"/>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spcFirstLastPara="0" vert="horz" wrap="square" lIns="0" tIns="105316" rIns="135042" bIns="105316" numCol="1" spcCol="1270" anchor="ctr" anchorCtr="0">
            <a:noAutofit/>
          </a:bodyPr>
          <a:lstStyle/>
          <a:p>
            <a:pPr marL="0" lvl="0" indent="0" algn="ctr" defTabSz="844550" rtl="0">
              <a:lnSpc>
                <a:spcPct val="90000"/>
              </a:lnSpc>
              <a:spcBef>
                <a:spcPct val="0"/>
              </a:spcBef>
              <a:spcAft>
                <a:spcPct val="35000"/>
              </a:spcAft>
              <a:buNone/>
            </a:pPr>
            <a:endParaRPr lang="en-US" sz="1900" kern="1200" dirty="0">
              <a:solidFill>
                <a:schemeClr val="accent6">
                  <a:lumMod val="90000"/>
                  <a:lumOff val="10000"/>
                </a:schemeClr>
              </a:solidFill>
            </a:endParaRPr>
          </a:p>
        </p:txBody>
      </p:sp>
      <p:sp>
        <p:nvSpPr>
          <p:cNvPr id="12" name="Freeform 11">
            <a:extLst>
              <a:ext uri="{FF2B5EF4-FFF2-40B4-BE49-F238E27FC236}">
                <a16:creationId xmlns:a16="http://schemas.microsoft.com/office/drawing/2014/main" id="{11E0E405-0590-BC80-7EB2-FD47AF5E3C29}"/>
              </a:ext>
            </a:extLst>
          </p:cNvPr>
          <p:cNvSpPr/>
          <p:nvPr/>
        </p:nvSpPr>
        <p:spPr>
          <a:xfrm>
            <a:off x="5141856" y="2655554"/>
            <a:ext cx="2123304" cy="1273982"/>
          </a:xfrm>
          <a:custGeom>
            <a:avLst/>
            <a:gdLst>
              <a:gd name="connsiteX0" fmla="*/ 0 w 2123304"/>
              <a:gd name="connsiteY0" fmla="*/ 127398 h 1273982"/>
              <a:gd name="connsiteX1" fmla="*/ 127398 w 2123304"/>
              <a:gd name="connsiteY1" fmla="*/ 0 h 1273982"/>
              <a:gd name="connsiteX2" fmla="*/ 1995906 w 2123304"/>
              <a:gd name="connsiteY2" fmla="*/ 0 h 1273982"/>
              <a:gd name="connsiteX3" fmla="*/ 2123304 w 2123304"/>
              <a:gd name="connsiteY3" fmla="*/ 127398 h 1273982"/>
              <a:gd name="connsiteX4" fmla="*/ 2123304 w 2123304"/>
              <a:gd name="connsiteY4" fmla="*/ 1146584 h 1273982"/>
              <a:gd name="connsiteX5" fmla="*/ 1995906 w 2123304"/>
              <a:gd name="connsiteY5" fmla="*/ 1273982 h 1273982"/>
              <a:gd name="connsiteX6" fmla="*/ 127398 w 2123304"/>
              <a:gd name="connsiteY6" fmla="*/ 1273982 h 1273982"/>
              <a:gd name="connsiteX7" fmla="*/ 0 w 2123304"/>
              <a:gd name="connsiteY7" fmla="*/ 1146584 h 1273982"/>
              <a:gd name="connsiteX8" fmla="*/ 0 w 2123304"/>
              <a:gd name="connsiteY8" fmla="*/ 127398 h 1273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3304" h="1273982">
                <a:moveTo>
                  <a:pt x="0" y="127398"/>
                </a:moveTo>
                <a:cubicBezTo>
                  <a:pt x="0" y="57038"/>
                  <a:pt x="57038" y="0"/>
                  <a:pt x="127398" y="0"/>
                </a:cubicBezTo>
                <a:lnTo>
                  <a:pt x="1995906" y="0"/>
                </a:lnTo>
                <a:cubicBezTo>
                  <a:pt x="2066266" y="0"/>
                  <a:pt x="2123304" y="57038"/>
                  <a:pt x="2123304" y="127398"/>
                </a:cubicBezTo>
                <a:lnTo>
                  <a:pt x="2123304" y="1146584"/>
                </a:lnTo>
                <a:cubicBezTo>
                  <a:pt x="2123304" y="1216944"/>
                  <a:pt x="2066266" y="1273982"/>
                  <a:pt x="1995906" y="1273982"/>
                </a:cubicBezTo>
                <a:lnTo>
                  <a:pt x="127398" y="1273982"/>
                </a:lnTo>
                <a:cubicBezTo>
                  <a:pt x="57038" y="1273982"/>
                  <a:pt x="0" y="1216944"/>
                  <a:pt x="0" y="1146584"/>
                </a:cubicBezTo>
                <a:lnTo>
                  <a:pt x="0" y="127398"/>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4944" tIns="124944" rIns="124944" bIns="124944" numCol="1" spcCol="1270" anchor="ctr" anchorCtr="0">
            <a:noAutofit/>
          </a:bodyPr>
          <a:lstStyle/>
          <a:p>
            <a:pPr marL="0" lvl="0" indent="0" algn="ctr" defTabSz="1022350">
              <a:lnSpc>
                <a:spcPct val="90000"/>
              </a:lnSpc>
              <a:spcBef>
                <a:spcPct val="0"/>
              </a:spcBef>
              <a:spcAft>
                <a:spcPct val="35000"/>
              </a:spcAft>
              <a:buNone/>
            </a:pPr>
            <a:r>
              <a:rPr lang="en-US" sz="2300" kern="1200" dirty="0">
                <a:solidFill>
                  <a:schemeClr val="bg2"/>
                </a:solidFill>
              </a:rPr>
              <a:t>Word embedding</a:t>
            </a:r>
          </a:p>
        </p:txBody>
      </p:sp>
      <p:sp>
        <p:nvSpPr>
          <p:cNvPr id="13" name="Freeform 12">
            <a:extLst>
              <a:ext uri="{FF2B5EF4-FFF2-40B4-BE49-F238E27FC236}">
                <a16:creationId xmlns:a16="http://schemas.microsoft.com/office/drawing/2014/main" id="{7C77B58E-0891-25EE-5CE2-D5E238ED1BF7}"/>
              </a:ext>
              <a:ext uri="{C183D7F6-B498-43B3-948B-1728B52AA6E4}">
                <adec:decorative xmlns:adec="http://schemas.microsoft.com/office/drawing/2017/decorative" val="1"/>
              </a:ext>
            </a:extLst>
          </p:cNvPr>
          <p:cNvSpPr/>
          <p:nvPr/>
        </p:nvSpPr>
        <p:spPr>
          <a:xfrm>
            <a:off x="7477491" y="3029256"/>
            <a:ext cx="450140" cy="526579"/>
          </a:xfrm>
          <a:custGeom>
            <a:avLst/>
            <a:gdLst>
              <a:gd name="connsiteX0" fmla="*/ 0 w 450140"/>
              <a:gd name="connsiteY0" fmla="*/ 105316 h 526579"/>
              <a:gd name="connsiteX1" fmla="*/ 225070 w 450140"/>
              <a:gd name="connsiteY1" fmla="*/ 105316 h 526579"/>
              <a:gd name="connsiteX2" fmla="*/ 225070 w 450140"/>
              <a:gd name="connsiteY2" fmla="*/ 0 h 526579"/>
              <a:gd name="connsiteX3" fmla="*/ 450140 w 450140"/>
              <a:gd name="connsiteY3" fmla="*/ 263290 h 526579"/>
              <a:gd name="connsiteX4" fmla="*/ 225070 w 450140"/>
              <a:gd name="connsiteY4" fmla="*/ 526579 h 526579"/>
              <a:gd name="connsiteX5" fmla="*/ 225070 w 450140"/>
              <a:gd name="connsiteY5" fmla="*/ 421263 h 526579"/>
              <a:gd name="connsiteX6" fmla="*/ 0 w 450140"/>
              <a:gd name="connsiteY6" fmla="*/ 421263 h 526579"/>
              <a:gd name="connsiteX7" fmla="*/ 0 w 450140"/>
              <a:gd name="connsiteY7" fmla="*/ 105316 h 526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0140" h="526579">
                <a:moveTo>
                  <a:pt x="0" y="105316"/>
                </a:moveTo>
                <a:lnTo>
                  <a:pt x="225070" y="105316"/>
                </a:lnTo>
                <a:lnTo>
                  <a:pt x="225070" y="0"/>
                </a:lnTo>
                <a:lnTo>
                  <a:pt x="450140" y="263290"/>
                </a:lnTo>
                <a:lnTo>
                  <a:pt x="225070" y="526579"/>
                </a:lnTo>
                <a:lnTo>
                  <a:pt x="225070" y="421263"/>
                </a:lnTo>
                <a:lnTo>
                  <a:pt x="0" y="421263"/>
                </a:lnTo>
                <a:lnTo>
                  <a:pt x="0" y="105316"/>
                </a:lnTo>
                <a:close/>
              </a:path>
            </a:pathLst>
          </a:custGeom>
          <a:solidFill>
            <a:srgbClr val="232F3E"/>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spcFirstLastPara="0" vert="horz" wrap="square" lIns="0" tIns="105316" rIns="135042" bIns="105316" numCol="1" spcCol="1270" anchor="ctr" anchorCtr="0">
            <a:noAutofit/>
          </a:bodyPr>
          <a:lstStyle/>
          <a:p>
            <a:pPr marL="0" lvl="0" indent="0" algn="ctr" defTabSz="844550" rtl="0">
              <a:lnSpc>
                <a:spcPct val="90000"/>
              </a:lnSpc>
              <a:spcBef>
                <a:spcPct val="0"/>
              </a:spcBef>
              <a:spcAft>
                <a:spcPct val="35000"/>
              </a:spcAft>
              <a:buNone/>
            </a:pPr>
            <a:endParaRPr lang="en-US" sz="1900" kern="1200" dirty="0"/>
          </a:p>
        </p:txBody>
      </p:sp>
      <p:sp>
        <p:nvSpPr>
          <p:cNvPr id="14" name="Freeform 13">
            <a:extLst>
              <a:ext uri="{FF2B5EF4-FFF2-40B4-BE49-F238E27FC236}">
                <a16:creationId xmlns:a16="http://schemas.microsoft.com/office/drawing/2014/main" id="{F99A95A6-16AB-8F86-6C4E-C13B33C50095}"/>
              </a:ext>
            </a:extLst>
          </p:cNvPr>
          <p:cNvSpPr/>
          <p:nvPr/>
        </p:nvSpPr>
        <p:spPr>
          <a:xfrm>
            <a:off x="8114482" y="2655554"/>
            <a:ext cx="2123304" cy="1273982"/>
          </a:xfrm>
          <a:custGeom>
            <a:avLst/>
            <a:gdLst>
              <a:gd name="connsiteX0" fmla="*/ 0 w 2123304"/>
              <a:gd name="connsiteY0" fmla="*/ 127398 h 1273982"/>
              <a:gd name="connsiteX1" fmla="*/ 127398 w 2123304"/>
              <a:gd name="connsiteY1" fmla="*/ 0 h 1273982"/>
              <a:gd name="connsiteX2" fmla="*/ 1995906 w 2123304"/>
              <a:gd name="connsiteY2" fmla="*/ 0 h 1273982"/>
              <a:gd name="connsiteX3" fmla="*/ 2123304 w 2123304"/>
              <a:gd name="connsiteY3" fmla="*/ 127398 h 1273982"/>
              <a:gd name="connsiteX4" fmla="*/ 2123304 w 2123304"/>
              <a:gd name="connsiteY4" fmla="*/ 1146584 h 1273982"/>
              <a:gd name="connsiteX5" fmla="*/ 1995906 w 2123304"/>
              <a:gd name="connsiteY5" fmla="*/ 1273982 h 1273982"/>
              <a:gd name="connsiteX6" fmla="*/ 127398 w 2123304"/>
              <a:gd name="connsiteY6" fmla="*/ 1273982 h 1273982"/>
              <a:gd name="connsiteX7" fmla="*/ 0 w 2123304"/>
              <a:gd name="connsiteY7" fmla="*/ 1146584 h 1273982"/>
              <a:gd name="connsiteX8" fmla="*/ 0 w 2123304"/>
              <a:gd name="connsiteY8" fmla="*/ 127398 h 1273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3304" h="1273982">
                <a:moveTo>
                  <a:pt x="0" y="127398"/>
                </a:moveTo>
                <a:cubicBezTo>
                  <a:pt x="0" y="57038"/>
                  <a:pt x="57038" y="0"/>
                  <a:pt x="127398" y="0"/>
                </a:cubicBezTo>
                <a:lnTo>
                  <a:pt x="1995906" y="0"/>
                </a:lnTo>
                <a:cubicBezTo>
                  <a:pt x="2066266" y="0"/>
                  <a:pt x="2123304" y="57038"/>
                  <a:pt x="2123304" y="127398"/>
                </a:cubicBezTo>
                <a:lnTo>
                  <a:pt x="2123304" y="1146584"/>
                </a:lnTo>
                <a:cubicBezTo>
                  <a:pt x="2123304" y="1216944"/>
                  <a:pt x="2066266" y="1273982"/>
                  <a:pt x="1995906" y="1273982"/>
                </a:cubicBezTo>
                <a:lnTo>
                  <a:pt x="127398" y="1273982"/>
                </a:lnTo>
                <a:cubicBezTo>
                  <a:pt x="57038" y="1273982"/>
                  <a:pt x="0" y="1216944"/>
                  <a:pt x="0" y="1146584"/>
                </a:cubicBezTo>
                <a:lnTo>
                  <a:pt x="0" y="127398"/>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4944" tIns="124944" rIns="124944" bIns="124944" numCol="1" spcCol="1270" anchor="ctr" anchorCtr="0">
            <a:noAutofit/>
          </a:bodyPr>
          <a:lstStyle/>
          <a:p>
            <a:pPr marL="0" lvl="0" indent="0" algn="ctr" defTabSz="1022350">
              <a:lnSpc>
                <a:spcPct val="90000"/>
              </a:lnSpc>
              <a:spcBef>
                <a:spcPct val="0"/>
              </a:spcBef>
              <a:spcAft>
                <a:spcPct val="35000"/>
              </a:spcAft>
              <a:buNone/>
            </a:pPr>
            <a:r>
              <a:rPr lang="en-US" sz="2300" kern="1200" dirty="0">
                <a:solidFill>
                  <a:schemeClr val="bg2"/>
                </a:solidFill>
              </a:rPr>
              <a:t>Decoding</a:t>
            </a:r>
          </a:p>
        </p:txBody>
      </p:sp>
      <p:sp>
        <p:nvSpPr>
          <p:cNvPr id="3" name="Rectangle 2">
            <a:extLst>
              <a:ext uri="{FF2B5EF4-FFF2-40B4-BE49-F238E27FC236}">
                <a16:creationId xmlns:a16="http://schemas.microsoft.com/office/drawing/2014/main" id="{72EAD07D-328C-4747-94C7-7FA3D1444503}"/>
              </a:ext>
            </a:extLst>
          </p:cNvPr>
          <p:cNvSpPr/>
          <p:nvPr/>
        </p:nvSpPr>
        <p:spPr>
          <a:xfrm>
            <a:off x="10628006" y="3657194"/>
            <a:ext cx="1433406" cy="430887"/>
          </a:xfrm>
          <a:prstGeom prst="rect">
            <a:avLst/>
          </a:prstGeom>
          <a:effectLst>
            <a:outerShdw blurRad="63500" dist="37357" dir="2700000" sx="0" sy="0" rotWithShape="0">
              <a:scrgbClr r="0" g="0" b="0"/>
            </a:outerShdw>
            <a:reflection endPos="0" dir="5400000" sy="-100000" algn="bl" rotWithShape="0"/>
          </a:effectLst>
        </p:spPr>
        <p:txBody>
          <a:bodyPr wrap="none">
            <a:spAutoFit/>
          </a:bodyPr>
          <a:lstStyle/>
          <a:p>
            <a:r>
              <a:rPr lang="en-US" sz="2200" b="1" dirty="0">
                <a:solidFill>
                  <a:srgbClr val="232F3E"/>
                </a:solidFill>
              </a:rPr>
              <a:t>Response</a:t>
            </a:r>
          </a:p>
        </p:txBody>
      </p:sp>
      <p:pic>
        <p:nvPicPr>
          <p:cNvPr id="6" name="Graphic 5">
            <a:extLst>
              <a:ext uri="{FF2B5EF4-FFF2-40B4-BE49-F238E27FC236}">
                <a16:creationId xmlns:a16="http://schemas.microsoft.com/office/drawing/2014/main" id="{5535219F-5903-5702-836E-65E65E3959B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5540" y="2433656"/>
            <a:ext cx="1378742" cy="1378742"/>
          </a:xfrm>
          <a:prstGeom prst="rect">
            <a:avLst/>
          </a:prstGeom>
        </p:spPr>
      </p:pic>
      <p:pic>
        <p:nvPicPr>
          <p:cNvPr id="8" name="Graphic 7">
            <a:extLst>
              <a:ext uri="{FF2B5EF4-FFF2-40B4-BE49-F238E27FC236}">
                <a16:creationId xmlns:a16="http://schemas.microsoft.com/office/drawing/2014/main" id="{E1E4EAB9-2754-EF82-83B1-2D0218D3D852}"/>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94308" y="2810470"/>
            <a:ext cx="952500" cy="952500"/>
          </a:xfrm>
          <a:prstGeom prst="rect">
            <a:avLst/>
          </a:prstGeom>
        </p:spPr>
      </p:pic>
      <p:sp>
        <p:nvSpPr>
          <p:cNvPr id="17" name="TextBox 16">
            <a:extLst>
              <a:ext uri="{FF2B5EF4-FFF2-40B4-BE49-F238E27FC236}">
                <a16:creationId xmlns:a16="http://schemas.microsoft.com/office/drawing/2014/main" id="{215C1822-3D9B-23B5-6C95-DAF29708D863}"/>
              </a:ext>
            </a:extLst>
          </p:cNvPr>
          <p:cNvSpPr txBox="1"/>
          <p:nvPr/>
        </p:nvSpPr>
        <p:spPr>
          <a:xfrm>
            <a:off x="10894308" y="4431609"/>
            <a:ext cx="822661" cy="584775"/>
          </a:xfrm>
          <a:prstGeom prst="rect">
            <a:avLst/>
          </a:prstGeom>
          <a:noFill/>
          <a:ln w="38100">
            <a:solidFill>
              <a:schemeClr val="accent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rgbClr val="232F3E"/>
                </a:solidFill>
                <a:latin typeface="Amazon Ember Display"/>
              </a:rPr>
              <a:t>Cat</a:t>
            </a:r>
            <a:endParaRPr kumimoji="0" lang="en-US" sz="3200" b="0" i="0" u="none" strike="noStrike" kern="1200" cap="none" spc="0" normalizeH="0" baseline="0" noProof="0" dirty="0">
              <a:ln>
                <a:noFill/>
              </a:ln>
              <a:solidFill>
                <a:srgbClr val="232F3E"/>
              </a:solidFill>
              <a:effectLst/>
              <a:uLnTx/>
              <a:uFillTx/>
              <a:latin typeface="Amazon Ember Display"/>
              <a:ea typeface="+mn-ea"/>
              <a:cs typeface="+mn-cs"/>
            </a:endParaRPr>
          </a:p>
        </p:txBody>
      </p:sp>
      <p:grpSp>
        <p:nvGrpSpPr>
          <p:cNvPr id="19" name="Group 18">
            <a:extLst>
              <a:ext uri="{FF2B5EF4-FFF2-40B4-BE49-F238E27FC236}">
                <a16:creationId xmlns:a16="http://schemas.microsoft.com/office/drawing/2014/main" id="{41B135DB-C648-2818-B7B6-4A7EC4B3CB48}"/>
              </a:ext>
              <a:ext uri="{C183D7F6-B498-43B3-948B-1728B52AA6E4}">
                <adec:decorative xmlns:adec="http://schemas.microsoft.com/office/drawing/2017/decorative" val="1"/>
              </a:ext>
            </a:extLst>
          </p:cNvPr>
          <p:cNvGrpSpPr/>
          <p:nvPr/>
        </p:nvGrpSpPr>
        <p:grpSpPr>
          <a:xfrm>
            <a:off x="10402936" y="3091315"/>
            <a:ext cx="450140" cy="526579"/>
            <a:chOff x="2342738" y="816210"/>
            <a:chExt cx="450140" cy="526579"/>
          </a:xfrm>
        </p:grpSpPr>
        <p:sp>
          <p:nvSpPr>
            <p:cNvPr id="20" name="Right Arrow 19">
              <a:extLst>
                <a:ext uri="{FF2B5EF4-FFF2-40B4-BE49-F238E27FC236}">
                  <a16:creationId xmlns:a16="http://schemas.microsoft.com/office/drawing/2014/main" id="{446D9B24-211D-D551-7EEE-0A8F84C4E8A5}"/>
                </a:ext>
              </a:extLst>
            </p:cNvPr>
            <p:cNvSpPr/>
            <p:nvPr/>
          </p:nvSpPr>
          <p:spPr>
            <a:xfrm>
              <a:off x="2342738" y="816210"/>
              <a:ext cx="450140" cy="526579"/>
            </a:xfrm>
            <a:prstGeom prst="rightArrow">
              <a:avLst>
                <a:gd name="adj1" fmla="val 60000"/>
                <a:gd name="adj2" fmla="val 50000"/>
              </a:avLst>
            </a:prstGeom>
            <a:solidFill>
              <a:srgbClr val="232F3E"/>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dirty="0"/>
            </a:p>
          </p:txBody>
        </p:sp>
        <p:sp>
          <p:nvSpPr>
            <p:cNvPr id="21" name="Right Arrow 4">
              <a:extLst>
                <a:ext uri="{FF2B5EF4-FFF2-40B4-BE49-F238E27FC236}">
                  <a16:creationId xmlns:a16="http://schemas.microsoft.com/office/drawing/2014/main" id="{577CCE73-2FE6-6F1A-590F-F950DE7A35BA}"/>
                </a:ext>
              </a:extLst>
            </p:cNvPr>
            <p:cNvSpPr txBox="1"/>
            <p:nvPr/>
          </p:nvSpPr>
          <p:spPr>
            <a:xfrm>
              <a:off x="2342738" y="921526"/>
              <a:ext cx="315098" cy="31594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44550" rtl="0">
                <a:lnSpc>
                  <a:spcPct val="90000"/>
                </a:lnSpc>
                <a:spcBef>
                  <a:spcPct val="0"/>
                </a:spcBef>
                <a:spcAft>
                  <a:spcPct val="35000"/>
                </a:spcAft>
                <a:buNone/>
              </a:pPr>
              <a:endParaRPr lang="en-US" sz="1900" kern="1200" dirty="0">
                <a:solidFill>
                  <a:schemeClr val="accent6">
                    <a:lumMod val="90000"/>
                    <a:lumOff val="10000"/>
                  </a:schemeClr>
                </a:solidFill>
              </a:endParaRPr>
            </a:p>
          </p:txBody>
        </p:sp>
      </p:grpSp>
    </p:spTree>
    <p:custDataLst>
      <p:tags r:id="rId1"/>
    </p:custDataLst>
    <p:extLst>
      <p:ext uri="{BB962C8B-B14F-4D97-AF65-F5344CB8AC3E}">
        <p14:creationId xmlns:p14="http://schemas.microsoft.com/office/powerpoint/2010/main" val="4100128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C7D7D536-D500-E93D-40AD-02D75C52EB79}"/>
              </a:ext>
            </a:extLst>
          </p:cNvPr>
          <p:cNvSpPr>
            <a:spLocks noGrp="1"/>
          </p:cNvSpPr>
          <p:nvPr>
            <p:ph type="sldNum" idx="97"/>
          </p:nvPr>
        </p:nvSpPr>
        <p:spPr/>
        <p:txBody>
          <a:bodyPr/>
          <a:lstStyle/>
          <a:p>
            <a:fld id="{930176A1-BCF0-4712-97A6-6B495F55390B}" type="slidenum">
              <a:rPr lang="en-US" smtClean="0"/>
              <a:pPr/>
              <a:t>8</a:t>
            </a:fld>
            <a:endParaRPr lang="en-US" dirty="0"/>
          </a:p>
        </p:txBody>
      </p:sp>
      <p:sp>
        <p:nvSpPr>
          <p:cNvPr id="6" name="Title">
            <a:extLst>
              <a:ext uri="{FF2B5EF4-FFF2-40B4-BE49-F238E27FC236}">
                <a16:creationId xmlns:a16="http://schemas.microsoft.com/office/drawing/2014/main" id="{96D5E320-5661-463A-BB37-20FA5F70825A}"/>
              </a:ext>
            </a:extLst>
          </p:cNvPr>
          <p:cNvSpPr>
            <a:spLocks noGrp="1"/>
          </p:cNvSpPr>
          <p:nvPr>
            <p:ph type="title" idx="1"/>
          </p:nvPr>
        </p:nvSpPr>
        <p:spPr/>
        <p:txBody>
          <a:bodyPr/>
          <a:lstStyle/>
          <a:p>
            <a:r>
              <a:rPr lang="en-US" dirty="0"/>
              <a:t>Inference and context</a:t>
            </a:r>
          </a:p>
        </p:txBody>
      </p:sp>
      <p:sp>
        <p:nvSpPr>
          <p:cNvPr id="2" name="Content Placeholder 1">
            <a:extLst>
              <a:ext uri="{FF2B5EF4-FFF2-40B4-BE49-F238E27FC236}">
                <a16:creationId xmlns:a16="http://schemas.microsoft.com/office/drawing/2014/main" id="{AED9E2F9-2842-F0A1-82CB-DEAAF37608C5}"/>
              </a:ext>
            </a:extLst>
          </p:cNvPr>
          <p:cNvSpPr>
            <a:spLocks noGrp="1"/>
          </p:cNvSpPr>
          <p:nvPr>
            <p:ph idx="3"/>
          </p:nvPr>
        </p:nvSpPr>
        <p:spPr>
          <a:xfrm>
            <a:off x="4187952" y="1551214"/>
            <a:ext cx="7644384" cy="4877018"/>
          </a:xfrm>
        </p:spPr>
        <p:txBody>
          <a:bodyPr/>
          <a:lstStyle/>
          <a:p>
            <a:pPr marL="0" indent="0">
              <a:buNone/>
            </a:pPr>
            <a:r>
              <a:rPr lang="en-US" dirty="0">
                <a:latin typeface="+mn-lt"/>
                <a:ea typeface="Amazon Ember Display Medium" panose="020F0603020204020204" pitchFamily="34" charset="0"/>
                <a:cs typeface="Amazon Ember Display Medium" panose="020F0603020204020204" pitchFamily="34" charset="0"/>
              </a:rPr>
              <a:t>Context is a private exchange between the application and the model. Context has the following characteristics: </a:t>
            </a:r>
          </a:p>
          <a:p>
            <a:r>
              <a:rPr lang="en-US" dirty="0">
                <a:latin typeface="+mn-lt"/>
              </a:rPr>
              <a:t>Covers a request-response exchange</a:t>
            </a:r>
          </a:p>
          <a:p>
            <a:r>
              <a:rPr lang="en-US" dirty="0">
                <a:latin typeface="+mn-lt"/>
              </a:rPr>
              <a:t>Does not persist. </a:t>
            </a:r>
            <a:r>
              <a:rPr lang="en-US" dirty="0"/>
              <a:t>Initial information the model is using can be lost.</a:t>
            </a:r>
            <a:endParaRPr lang="en-US" dirty="0">
              <a:latin typeface="+mn-lt"/>
            </a:endParaRPr>
          </a:p>
          <a:p>
            <a:r>
              <a:rPr lang="en-US" dirty="0">
                <a:latin typeface="+mn-lt"/>
              </a:rPr>
              <a:t>Has an upper limit on the number of tokens</a:t>
            </a:r>
          </a:p>
        </p:txBody>
      </p:sp>
      <p:pic>
        <p:nvPicPr>
          <p:cNvPr id="8" name="Content Placeholder 7">
            <a:extLst>
              <a:ext uri="{FF2B5EF4-FFF2-40B4-BE49-F238E27FC236}">
                <a16:creationId xmlns:a16="http://schemas.microsoft.com/office/drawing/2014/main" id="{3336F032-4ED6-D0A8-2010-607B391926C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69791" y="1596803"/>
            <a:ext cx="1657350" cy="1657350"/>
          </a:xfrm>
          <a:prstGeom prst="rect">
            <a:avLst/>
          </a:prstGeom>
        </p:spPr>
      </p:pic>
      <p:pic>
        <p:nvPicPr>
          <p:cNvPr id="9" name="Graphic 8">
            <a:extLst>
              <a:ext uri="{FF2B5EF4-FFF2-40B4-BE49-F238E27FC236}">
                <a16:creationId xmlns:a16="http://schemas.microsoft.com/office/drawing/2014/main" id="{0FA83E3E-3CA7-1E19-91A4-BD807DB6E91D}"/>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0197" y="1596803"/>
            <a:ext cx="1248478" cy="1248478"/>
          </a:xfrm>
          <a:prstGeom prst="rect">
            <a:avLst/>
          </a:prstGeom>
        </p:spPr>
      </p:pic>
      <p:cxnSp>
        <p:nvCxnSpPr>
          <p:cNvPr id="10" name="Straight Arrow Connector 9">
            <a:extLst>
              <a:ext uri="{FF2B5EF4-FFF2-40B4-BE49-F238E27FC236}">
                <a16:creationId xmlns:a16="http://schemas.microsoft.com/office/drawing/2014/main" id="{87E0863D-7EB6-82D5-1FFF-48F23E0C8522}"/>
              </a:ext>
              <a:ext uri="{C183D7F6-B498-43B3-948B-1728B52AA6E4}">
                <adec:decorative xmlns:adec="http://schemas.microsoft.com/office/drawing/2017/decorative" val="1"/>
              </a:ext>
            </a:extLst>
          </p:cNvPr>
          <p:cNvCxnSpPr>
            <a:cxnSpLocks/>
          </p:cNvCxnSpPr>
          <p:nvPr/>
        </p:nvCxnSpPr>
        <p:spPr>
          <a:xfrm>
            <a:off x="1352238" y="5182168"/>
            <a:ext cx="1600200" cy="0"/>
          </a:xfrm>
          <a:prstGeom prst="straightConnector1">
            <a:avLst/>
          </a:prstGeom>
          <a:ln w="44450" cmpd="sng">
            <a:solidFill>
              <a:schemeClr val="accent2"/>
            </a:solidFill>
            <a:prstDash val="solid"/>
            <a:headEnd type="arrow" w="lg" len="sm"/>
            <a:tailEnd type="none"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0E07672-4F71-E6EE-EA72-874D86432497}"/>
              </a:ext>
              <a:ext uri="{C183D7F6-B498-43B3-948B-1728B52AA6E4}">
                <adec:decorative xmlns:adec="http://schemas.microsoft.com/office/drawing/2017/decorative" val="1"/>
              </a:ext>
            </a:extLst>
          </p:cNvPr>
          <p:cNvCxnSpPr>
            <a:cxnSpLocks/>
          </p:cNvCxnSpPr>
          <p:nvPr/>
        </p:nvCxnSpPr>
        <p:spPr>
          <a:xfrm>
            <a:off x="1275120" y="3721336"/>
            <a:ext cx="1600200" cy="0"/>
          </a:xfrm>
          <a:prstGeom prst="straightConnector1">
            <a:avLst/>
          </a:prstGeom>
          <a:ln w="44450" cmpd="sng">
            <a:solidFill>
              <a:schemeClr val="accent2"/>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8B85409-4F91-0526-55A6-3ADD5C298DFB}"/>
              </a:ext>
              <a:ext uri="{C183D7F6-B498-43B3-948B-1728B52AA6E4}">
                <adec:decorative xmlns:adec="http://schemas.microsoft.com/office/drawing/2017/decorative" val="1"/>
              </a:ext>
            </a:extLst>
          </p:cNvPr>
          <p:cNvCxnSpPr/>
          <p:nvPr/>
        </p:nvCxnSpPr>
        <p:spPr>
          <a:xfrm>
            <a:off x="994436" y="3053437"/>
            <a:ext cx="0" cy="2696378"/>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550EBF-DC33-E09E-A1B6-1384E1105604}"/>
              </a:ext>
              <a:ext uri="{C183D7F6-B498-43B3-948B-1728B52AA6E4}">
                <adec:decorative xmlns:adec="http://schemas.microsoft.com/office/drawing/2017/decorative" val="1"/>
              </a:ext>
            </a:extLst>
          </p:cNvPr>
          <p:cNvCxnSpPr/>
          <p:nvPr/>
        </p:nvCxnSpPr>
        <p:spPr>
          <a:xfrm>
            <a:off x="3198466" y="3080520"/>
            <a:ext cx="0" cy="2696378"/>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EB599B7C-E01C-CFA6-CBA1-1A4600CB025F}"/>
              </a:ext>
              <a:ext uri="{C183D7F6-B498-43B3-948B-1728B52AA6E4}">
                <adec:decorative xmlns:adec="http://schemas.microsoft.com/office/drawing/2017/decorative" val="1"/>
              </a:ext>
            </a:extLst>
          </p:cNvPr>
          <p:cNvSpPr/>
          <p:nvPr/>
        </p:nvSpPr>
        <p:spPr>
          <a:xfrm>
            <a:off x="1541204" y="3771045"/>
            <a:ext cx="1183337" cy="430887"/>
          </a:xfrm>
          <a:prstGeom prst="rect">
            <a:avLst/>
          </a:prstGeom>
          <a:effectLst>
            <a:outerShdw blurRad="63500" dist="37357" dir="2700000" sx="0" sy="0" rotWithShape="0">
              <a:scrgbClr r="0" g="0" b="0"/>
            </a:outerShdw>
            <a:reflection endPos="0" dir="5400000" sy="-100000" algn="bl" rotWithShape="0"/>
          </a:effectLst>
        </p:spPr>
        <p:txBody>
          <a:bodyPr wrap="none">
            <a:spAutoFit/>
          </a:bodyPr>
          <a:lstStyle/>
          <a:p>
            <a:r>
              <a:rPr lang="en-US" sz="2200" b="1" dirty="0">
                <a:solidFill>
                  <a:srgbClr val="232F3E"/>
                </a:solidFill>
              </a:rPr>
              <a:t>Prompt</a:t>
            </a:r>
          </a:p>
        </p:txBody>
      </p:sp>
      <p:sp>
        <p:nvSpPr>
          <p:cNvPr id="16" name="Rectangle 15">
            <a:extLst>
              <a:ext uri="{FF2B5EF4-FFF2-40B4-BE49-F238E27FC236}">
                <a16:creationId xmlns:a16="http://schemas.microsoft.com/office/drawing/2014/main" id="{A7A96627-76D6-F3FA-0AEB-FCCF473FE9F0}"/>
              </a:ext>
              <a:ext uri="{C183D7F6-B498-43B3-948B-1728B52AA6E4}">
                <adec:decorative xmlns:adec="http://schemas.microsoft.com/office/drawing/2017/decorative" val="1"/>
              </a:ext>
            </a:extLst>
          </p:cNvPr>
          <p:cNvSpPr/>
          <p:nvPr/>
        </p:nvSpPr>
        <p:spPr>
          <a:xfrm>
            <a:off x="1475102" y="5231876"/>
            <a:ext cx="1433406" cy="430887"/>
          </a:xfrm>
          <a:prstGeom prst="rect">
            <a:avLst/>
          </a:prstGeom>
          <a:effectLst>
            <a:outerShdw blurRad="63500" dist="37357" dir="2700000" sx="0" sy="0" rotWithShape="0">
              <a:scrgbClr r="0" g="0" b="0"/>
            </a:outerShdw>
            <a:reflection endPos="0" dir="5400000" sy="-100000" algn="bl" rotWithShape="0"/>
          </a:effectLst>
        </p:spPr>
        <p:txBody>
          <a:bodyPr wrap="none">
            <a:spAutoFit/>
          </a:bodyPr>
          <a:lstStyle/>
          <a:p>
            <a:r>
              <a:rPr lang="en-US" sz="2200" b="1" dirty="0">
                <a:solidFill>
                  <a:srgbClr val="232F3E"/>
                </a:solidFill>
              </a:rPr>
              <a:t>Response</a:t>
            </a:r>
          </a:p>
        </p:txBody>
      </p:sp>
      <p:pic>
        <p:nvPicPr>
          <p:cNvPr id="4" name="Graphic 3">
            <a:extLst>
              <a:ext uri="{FF2B5EF4-FFF2-40B4-BE49-F238E27FC236}">
                <a16:creationId xmlns:a16="http://schemas.microsoft.com/office/drawing/2014/main" id="{AA0F0773-C47A-5908-60EA-CD6C3E6D0CE1}"/>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46702" y="2777903"/>
            <a:ext cx="952500" cy="952500"/>
          </a:xfrm>
          <a:prstGeom prst="rect">
            <a:avLst/>
          </a:prstGeom>
        </p:spPr>
      </p:pic>
      <p:pic>
        <p:nvPicPr>
          <p:cNvPr id="5" name="Graphic 4">
            <a:extLst>
              <a:ext uri="{FF2B5EF4-FFF2-40B4-BE49-F238E27FC236}">
                <a16:creationId xmlns:a16="http://schemas.microsoft.com/office/drawing/2014/main" id="{138BB092-7704-4F99-55A3-BA6E2056EC88}"/>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76088" y="4254523"/>
            <a:ext cx="952500" cy="952500"/>
          </a:xfrm>
          <a:prstGeom prst="rect">
            <a:avLst/>
          </a:prstGeom>
        </p:spPr>
      </p:pic>
    </p:spTree>
    <p:custDataLst>
      <p:tags r:id="rId1"/>
    </p:custDataLst>
    <p:extLst>
      <p:ext uri="{BB962C8B-B14F-4D97-AF65-F5344CB8AC3E}">
        <p14:creationId xmlns:p14="http://schemas.microsoft.com/office/powerpoint/2010/main" val="406118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0DC5987-8FA8-0C67-BB2B-68F9518CFD62}"/>
              </a:ext>
            </a:extLst>
          </p:cNvPr>
          <p:cNvSpPr>
            <a:spLocks noGrp="1"/>
          </p:cNvSpPr>
          <p:nvPr>
            <p:ph type="title" idx="1"/>
          </p:nvPr>
        </p:nvSpPr>
        <p:spPr/>
        <p:txBody>
          <a:bodyPr/>
          <a:lstStyle/>
          <a:p>
            <a:r>
              <a:rPr lang="en-US" dirty="0"/>
              <a:t>Context example</a:t>
            </a:r>
          </a:p>
        </p:txBody>
      </p:sp>
      <p:sp>
        <p:nvSpPr>
          <p:cNvPr id="11" name="SlideNumber">
            <a:extLst>
              <a:ext uri="{FF2B5EF4-FFF2-40B4-BE49-F238E27FC236}">
                <a16:creationId xmlns:a16="http://schemas.microsoft.com/office/drawing/2014/main" id="{5132D4B3-9E30-4C03-AE9A-846429325E80}"/>
              </a:ext>
            </a:extLst>
          </p:cNvPr>
          <p:cNvSpPr>
            <a:spLocks noGrp="1"/>
          </p:cNvSpPr>
          <p:nvPr>
            <p:ph type="sldNum" idx="97"/>
          </p:nvPr>
        </p:nvSpPr>
        <p:spPr/>
        <p:txBody>
          <a:bodyPr/>
          <a:lstStyle/>
          <a:p>
            <a:fld id="{930176A1-BCF0-4712-97A6-6B495F55390B}" type="slidenum">
              <a:rPr lang="en-US" smtClean="0"/>
              <a:pPr/>
              <a:t>9</a:t>
            </a:fld>
            <a:endParaRPr lang="en-US" dirty="0"/>
          </a:p>
        </p:txBody>
      </p:sp>
      <p:sp>
        <p:nvSpPr>
          <p:cNvPr id="5" name="prompt">
            <a:extLst>
              <a:ext uri="{FF2B5EF4-FFF2-40B4-BE49-F238E27FC236}">
                <a16:creationId xmlns:a16="http://schemas.microsoft.com/office/drawing/2014/main" id="{179C35F2-806F-6ACA-09DB-D7675417353B}"/>
              </a:ext>
            </a:extLst>
          </p:cNvPr>
          <p:cNvSpPr/>
          <p:nvPr/>
        </p:nvSpPr>
        <p:spPr>
          <a:xfrm>
            <a:off x="301752" y="1503256"/>
            <a:ext cx="2000250" cy="461665"/>
          </a:xfrm>
          <a:prstGeom prst="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bg2"/>
                </a:solidFill>
                <a:effectLst/>
                <a:uLnTx/>
                <a:uFillTx/>
                <a:latin typeface="Amazon Ember Display"/>
                <a:ea typeface="+mn-ea"/>
                <a:cs typeface="+mn-cs"/>
              </a:rPr>
              <a:t>Prompt 1</a:t>
            </a:r>
          </a:p>
        </p:txBody>
      </p:sp>
      <p:sp>
        <p:nvSpPr>
          <p:cNvPr id="4" name="Content Placeholder 3">
            <a:extLst>
              <a:ext uri="{FF2B5EF4-FFF2-40B4-BE49-F238E27FC236}">
                <a16:creationId xmlns:a16="http://schemas.microsoft.com/office/drawing/2014/main" id="{1452EF10-3722-444E-18DD-6910E84CF203}"/>
              </a:ext>
            </a:extLst>
          </p:cNvPr>
          <p:cNvSpPr txBox="1">
            <a:spLocks/>
          </p:cNvSpPr>
          <p:nvPr/>
        </p:nvSpPr>
        <p:spPr>
          <a:xfrm>
            <a:off x="2580857" y="1399437"/>
            <a:ext cx="7280366" cy="636585"/>
          </a:xfrm>
          <a:prstGeom prst="rect">
            <a:avLst/>
          </a:prstGeom>
        </p:spPr>
        <p:txBody>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indent="0" fontAlgn="ctr">
              <a:buFont typeface="Amazon Ember Display" panose="020F0603020204020204" pitchFamily="34" charset="0"/>
              <a:buNone/>
            </a:pPr>
            <a:r>
              <a:rPr lang="en-US" dirty="0">
                <a:solidFill>
                  <a:srgbClr val="232F3E"/>
                </a:solidFill>
              </a:rPr>
              <a:t>Hi, what's the best place in Seattle to visit?</a:t>
            </a:r>
          </a:p>
          <a:p>
            <a:pPr marL="0" indent="0" fontAlgn="ctr">
              <a:buFont typeface="Amazon Ember Display" panose="020F0603020204020204" pitchFamily="34" charset="0"/>
              <a:buNone/>
            </a:pPr>
            <a:br>
              <a:rPr lang="en-US" dirty="0">
                <a:solidFill>
                  <a:srgbClr val="232F3E"/>
                </a:solidFill>
              </a:rPr>
            </a:br>
            <a:endParaRPr lang="en-US" dirty="0">
              <a:solidFill>
                <a:srgbClr val="232F3E"/>
              </a:solidFill>
            </a:endParaRPr>
          </a:p>
        </p:txBody>
      </p:sp>
      <p:sp>
        <p:nvSpPr>
          <p:cNvPr id="8" name="response">
            <a:extLst>
              <a:ext uri="{FF2B5EF4-FFF2-40B4-BE49-F238E27FC236}">
                <a16:creationId xmlns:a16="http://schemas.microsoft.com/office/drawing/2014/main" id="{BA8A828C-49CE-11DD-153D-38663EA6396A}"/>
              </a:ext>
            </a:extLst>
          </p:cNvPr>
          <p:cNvSpPr/>
          <p:nvPr/>
        </p:nvSpPr>
        <p:spPr>
          <a:xfrm>
            <a:off x="301752" y="2202331"/>
            <a:ext cx="2000250" cy="461665"/>
          </a:xfrm>
          <a:prstGeom prst="rect">
            <a:avLst/>
          </a:prstGeom>
          <a:solidFill>
            <a:schemeClr val="tx2"/>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bg2"/>
                </a:solidFill>
                <a:effectLst/>
                <a:uLnTx/>
                <a:uFillTx/>
                <a:latin typeface="Amazon Ember Display"/>
                <a:ea typeface="+mn-ea"/>
                <a:cs typeface="+mn-cs"/>
              </a:rPr>
              <a:t>Response </a:t>
            </a:r>
          </a:p>
        </p:txBody>
      </p:sp>
      <p:sp>
        <p:nvSpPr>
          <p:cNvPr id="32" name="Content Placeholder 3">
            <a:extLst>
              <a:ext uri="{FF2B5EF4-FFF2-40B4-BE49-F238E27FC236}">
                <a16:creationId xmlns:a16="http://schemas.microsoft.com/office/drawing/2014/main" id="{44273AD1-0859-2DAD-DBB9-0534BB9AB7CC}"/>
              </a:ext>
            </a:extLst>
          </p:cNvPr>
          <p:cNvSpPr txBox="1">
            <a:spLocks/>
          </p:cNvSpPr>
          <p:nvPr/>
        </p:nvSpPr>
        <p:spPr>
          <a:xfrm>
            <a:off x="2580857" y="2036022"/>
            <a:ext cx="7280366" cy="847856"/>
          </a:xfrm>
          <a:prstGeom prst="rect">
            <a:avLst/>
          </a:prstGeom>
        </p:spPr>
        <p:txBody>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indent="0" fontAlgn="ctr">
              <a:buFont typeface="Amazon Ember Display" panose="020F0603020204020204" pitchFamily="34" charset="0"/>
              <a:buNone/>
            </a:pPr>
            <a:r>
              <a:rPr lang="en-US" dirty="0">
                <a:solidFill>
                  <a:srgbClr val="232F3E"/>
                </a:solidFill>
              </a:rPr>
              <a:t>The </a:t>
            </a:r>
            <a:r>
              <a:rPr lang="en-US" b="1" dirty="0">
                <a:solidFill>
                  <a:srgbClr val="232F3E"/>
                </a:solidFill>
              </a:rPr>
              <a:t>Columbia Center </a:t>
            </a:r>
            <a:r>
              <a:rPr lang="en-US" dirty="0">
                <a:solidFill>
                  <a:srgbClr val="232F3E"/>
                </a:solidFill>
              </a:rPr>
              <a:t>offers breathtaking views of the city skyline […].</a:t>
            </a:r>
            <a:br>
              <a:rPr lang="en-US" dirty="0">
                <a:solidFill>
                  <a:srgbClr val="232F3E"/>
                </a:solidFill>
              </a:rPr>
            </a:br>
            <a:endParaRPr lang="en-US" dirty="0">
              <a:solidFill>
                <a:srgbClr val="232F3E"/>
              </a:solidFill>
            </a:endParaRPr>
          </a:p>
        </p:txBody>
      </p:sp>
      <p:sp>
        <p:nvSpPr>
          <p:cNvPr id="7" name="prompt2">
            <a:extLst>
              <a:ext uri="{FF2B5EF4-FFF2-40B4-BE49-F238E27FC236}">
                <a16:creationId xmlns:a16="http://schemas.microsoft.com/office/drawing/2014/main" id="{DEC21CE2-93EE-4218-3ECF-658597E7F8AC}"/>
              </a:ext>
            </a:extLst>
          </p:cNvPr>
          <p:cNvSpPr/>
          <p:nvPr/>
        </p:nvSpPr>
        <p:spPr>
          <a:xfrm>
            <a:off x="301752" y="3515293"/>
            <a:ext cx="2000250" cy="461665"/>
          </a:xfrm>
          <a:prstGeom prst="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bg2"/>
                </a:solidFill>
                <a:effectLst/>
                <a:uLnTx/>
                <a:uFillTx/>
                <a:latin typeface="Amazon Ember Display"/>
                <a:ea typeface="+mn-ea"/>
                <a:cs typeface="+mn-cs"/>
              </a:rPr>
              <a:t>Prompt 2</a:t>
            </a:r>
          </a:p>
        </p:txBody>
      </p:sp>
      <p:sp>
        <p:nvSpPr>
          <p:cNvPr id="31" name="Content Placeholder 3">
            <a:extLst>
              <a:ext uri="{FF2B5EF4-FFF2-40B4-BE49-F238E27FC236}">
                <a16:creationId xmlns:a16="http://schemas.microsoft.com/office/drawing/2014/main" id="{30D318C8-3FCE-846C-7D1E-CC2504E2DCD3}"/>
              </a:ext>
            </a:extLst>
          </p:cNvPr>
          <p:cNvSpPr txBox="1">
            <a:spLocks/>
          </p:cNvSpPr>
          <p:nvPr/>
        </p:nvSpPr>
        <p:spPr>
          <a:xfrm>
            <a:off x="2580857" y="3515293"/>
            <a:ext cx="7280366" cy="513250"/>
          </a:xfrm>
          <a:prstGeom prst="rect">
            <a:avLst/>
          </a:prstGeom>
        </p:spPr>
        <p:txBody>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indent="0" fontAlgn="ctr">
              <a:buFont typeface="Amazon Ember Display" panose="020F0603020204020204" pitchFamily="34" charset="0"/>
              <a:buNone/>
            </a:pPr>
            <a:r>
              <a:rPr lang="en-US" dirty="0">
                <a:solidFill>
                  <a:srgbClr val="232F3E"/>
                </a:solidFill>
              </a:rPr>
              <a:t>Will </a:t>
            </a:r>
            <a:r>
              <a:rPr lang="en-US" b="1" dirty="0">
                <a:solidFill>
                  <a:srgbClr val="232F3E"/>
                </a:solidFill>
              </a:rPr>
              <a:t>this</a:t>
            </a:r>
            <a:r>
              <a:rPr lang="en-US" dirty="0">
                <a:solidFill>
                  <a:srgbClr val="232F3E"/>
                </a:solidFill>
              </a:rPr>
              <a:t> be fun for children? </a:t>
            </a:r>
          </a:p>
        </p:txBody>
      </p:sp>
      <p:sp>
        <p:nvSpPr>
          <p:cNvPr id="10" name="Callout: Create resources">
            <a:extLst>
              <a:ext uri="{FF2B5EF4-FFF2-40B4-BE49-F238E27FC236}">
                <a16:creationId xmlns:a16="http://schemas.microsoft.com/office/drawing/2014/main" id="{644100BF-1511-D903-D6B3-51BF939E46B7}"/>
              </a:ext>
              <a:ext uri="{C183D7F6-B498-43B3-948B-1728B52AA6E4}">
                <adec:decorative xmlns:adec="http://schemas.microsoft.com/office/drawing/2017/decorative" val="0"/>
              </a:ext>
            </a:extLst>
          </p:cNvPr>
          <p:cNvSpPr/>
          <p:nvPr/>
        </p:nvSpPr>
        <p:spPr>
          <a:xfrm>
            <a:off x="9292493" y="2966715"/>
            <a:ext cx="2477476" cy="707886"/>
          </a:xfrm>
          <a:prstGeom prst="borderCallout1">
            <a:avLst>
              <a:gd name="adj1" fmla="val 48874"/>
              <a:gd name="adj2" fmla="val 226"/>
              <a:gd name="adj3" fmla="val 47834"/>
              <a:gd name="adj4" fmla="val -67293"/>
            </a:avLst>
          </a:prstGeom>
          <a:noFill/>
          <a:ln w="44450">
            <a:solidFill>
              <a:schemeClr val="accent1"/>
            </a:solidFill>
          </a:ln>
        </p:spPr>
        <p:style>
          <a:lnRef idx="2">
            <a:schemeClr val="accent5">
              <a:shade val="50000"/>
            </a:schemeClr>
          </a:lnRef>
          <a:fillRef idx="1">
            <a:schemeClr val="accent5"/>
          </a:fillRef>
          <a:effectRef idx="0">
            <a:schemeClr val="accent5"/>
          </a:effectRef>
          <a:fontRef idx="minor">
            <a:schemeClr val="lt1"/>
          </a:fontRef>
        </p:style>
        <p:txBody>
          <a:bodyPr wrap="square" lIns="91440" rIns="45720" rtlCol="0" anchor="ctr">
            <a:spAutoFit/>
          </a:bodyPr>
          <a:lstStyle/>
          <a:p>
            <a:r>
              <a:rPr lang="en-US" sz="2000" dirty="0">
                <a:solidFill>
                  <a:srgbClr val="232F3E"/>
                </a:solidFill>
                <a:effectLst/>
              </a:rPr>
              <a:t>Model uses context of conversation.</a:t>
            </a:r>
            <a:endParaRPr lang="en-US" sz="2000" dirty="0">
              <a:solidFill>
                <a:srgbClr val="232F3E"/>
              </a:solidFill>
            </a:endParaRPr>
          </a:p>
        </p:txBody>
      </p:sp>
      <p:cxnSp>
        <p:nvCxnSpPr>
          <p:cNvPr id="43" name="Connector: Elbow 42" descr="The words Columbia Center in the first response are associated with the word this in the second prompt. ">
            <a:extLst>
              <a:ext uri="{FF2B5EF4-FFF2-40B4-BE49-F238E27FC236}">
                <a16:creationId xmlns:a16="http://schemas.microsoft.com/office/drawing/2014/main" id="{FD0C5C69-E153-A102-FBC8-4EF63566BEC5}"/>
              </a:ext>
              <a:ext uri="{C183D7F6-B498-43B3-948B-1728B52AA6E4}">
                <adec:decorative xmlns:adec="http://schemas.microsoft.com/office/drawing/2017/decorative" val="0"/>
              </a:ext>
            </a:extLst>
          </p:cNvPr>
          <p:cNvCxnSpPr>
            <a:cxnSpLocks/>
          </p:cNvCxnSpPr>
          <p:nvPr/>
        </p:nvCxnSpPr>
        <p:spPr>
          <a:xfrm rot="16200000" flipH="1" flipV="1">
            <a:off x="3457578" y="2279028"/>
            <a:ext cx="1552813" cy="1066800"/>
          </a:xfrm>
          <a:prstGeom prst="bentConnector5">
            <a:avLst>
              <a:gd name="adj1" fmla="val -8179"/>
              <a:gd name="adj2" fmla="val 212271"/>
              <a:gd name="adj3" fmla="val 61790"/>
            </a:avLst>
          </a:prstGeom>
          <a:ln w="44450" cmpd="sng">
            <a:solidFill>
              <a:srgbClr val="232F3E"/>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6" name="response2">
            <a:extLst>
              <a:ext uri="{FF2B5EF4-FFF2-40B4-BE49-F238E27FC236}">
                <a16:creationId xmlns:a16="http://schemas.microsoft.com/office/drawing/2014/main" id="{E992C5C2-A4AD-D9A2-031F-D44806219D4B}"/>
              </a:ext>
            </a:extLst>
          </p:cNvPr>
          <p:cNvSpPr/>
          <p:nvPr/>
        </p:nvSpPr>
        <p:spPr>
          <a:xfrm>
            <a:off x="301752" y="4198037"/>
            <a:ext cx="2000250" cy="461665"/>
          </a:xfrm>
          <a:prstGeom prst="rect">
            <a:avLst/>
          </a:prstGeom>
          <a:solidFill>
            <a:schemeClr val="tx2"/>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bg2"/>
                </a:solidFill>
                <a:effectLst/>
                <a:uLnTx/>
                <a:uFillTx/>
                <a:latin typeface="Amazon Ember Display"/>
                <a:ea typeface="+mn-ea"/>
                <a:cs typeface="+mn-cs"/>
              </a:rPr>
              <a:t>Response </a:t>
            </a:r>
          </a:p>
        </p:txBody>
      </p:sp>
      <p:sp>
        <p:nvSpPr>
          <p:cNvPr id="30" name="Content Placeholder 3">
            <a:extLst>
              <a:ext uri="{FF2B5EF4-FFF2-40B4-BE49-F238E27FC236}">
                <a16:creationId xmlns:a16="http://schemas.microsoft.com/office/drawing/2014/main" id="{5FBBB265-3388-7E63-D3EA-F17D2C2D65CE}"/>
              </a:ext>
            </a:extLst>
          </p:cNvPr>
          <p:cNvSpPr txBox="1">
            <a:spLocks/>
          </p:cNvSpPr>
          <p:nvPr/>
        </p:nvSpPr>
        <p:spPr>
          <a:xfrm>
            <a:off x="2580857" y="4028544"/>
            <a:ext cx="7280366" cy="941926"/>
          </a:xfrm>
          <a:prstGeom prst="rect">
            <a:avLst/>
          </a:prstGeom>
        </p:spPr>
        <p:txBody>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indent="0" fontAlgn="ctr">
              <a:buFont typeface="Amazon Ember Display" panose="020F0603020204020204" pitchFamily="34" charset="0"/>
              <a:buNone/>
            </a:pPr>
            <a:r>
              <a:rPr lang="en-US" dirty="0">
                <a:solidFill>
                  <a:srgbClr val="232F3E"/>
                </a:solidFill>
              </a:rPr>
              <a:t>No. There are much better places for children in Seattle.</a:t>
            </a:r>
          </a:p>
        </p:txBody>
      </p:sp>
    </p:spTree>
    <p:custDataLst>
      <p:tags r:id="rId1"/>
    </p:custDataLst>
    <p:extLst>
      <p:ext uri="{BB962C8B-B14F-4D97-AF65-F5344CB8AC3E}">
        <p14:creationId xmlns:p14="http://schemas.microsoft.com/office/powerpoint/2010/main" val="2156995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902519D-EE1D-C80E-5E2F-43BF6644991A}"/>
              </a:ext>
            </a:extLst>
          </p:cNvPr>
          <p:cNvSpPr>
            <a:spLocks noGrp="1"/>
          </p:cNvSpPr>
          <p:nvPr>
            <p:ph type="sldNum" idx="97"/>
          </p:nvPr>
        </p:nvSpPr>
        <p:spPr/>
        <p:txBody>
          <a:bodyPr/>
          <a:lstStyle/>
          <a:p>
            <a:fld id="{930176A1-BCF0-4712-97A6-6B495F55390B}" type="slidenum">
              <a:rPr lang="en-US" smtClean="0"/>
              <a:pPr/>
              <a:t>10</a:t>
            </a:fld>
            <a:endParaRPr lang="en-US" dirty="0"/>
          </a:p>
        </p:txBody>
      </p:sp>
      <p:sp>
        <p:nvSpPr>
          <p:cNvPr id="3" name="Title">
            <a:extLst>
              <a:ext uri="{FF2B5EF4-FFF2-40B4-BE49-F238E27FC236}">
                <a16:creationId xmlns:a16="http://schemas.microsoft.com/office/drawing/2014/main" id="{42E05288-8E8D-A8A2-988D-E987DEFFA25E}"/>
              </a:ext>
            </a:extLst>
          </p:cNvPr>
          <p:cNvSpPr>
            <a:spLocks noGrp="1"/>
          </p:cNvSpPr>
          <p:nvPr>
            <p:ph type="title" idx="1"/>
          </p:nvPr>
        </p:nvSpPr>
        <p:spPr/>
        <p:txBody>
          <a:bodyPr/>
          <a:lstStyle/>
          <a:p>
            <a:r>
              <a:rPr lang="en-US" dirty="0"/>
              <a:t>Foundation model functionality</a:t>
            </a:r>
          </a:p>
        </p:txBody>
      </p:sp>
      <p:sp>
        <p:nvSpPr>
          <p:cNvPr id="33" name="Text Placeholder 32">
            <a:extLst>
              <a:ext uri="{FF2B5EF4-FFF2-40B4-BE49-F238E27FC236}">
                <a16:creationId xmlns:a16="http://schemas.microsoft.com/office/drawing/2014/main" id="{B06D5BCD-51C3-16EB-E98E-E363A1CC6FA4}"/>
              </a:ext>
            </a:extLst>
          </p:cNvPr>
          <p:cNvSpPr>
            <a:spLocks noGrp="1"/>
          </p:cNvSpPr>
          <p:nvPr>
            <p:ph type="body" idx="12"/>
          </p:nvPr>
        </p:nvSpPr>
        <p:spPr/>
        <p:txBody>
          <a:bodyPr/>
          <a:lstStyle/>
          <a:p>
            <a:r>
              <a:rPr lang="en-US" dirty="0"/>
              <a:t>Pre-training</a:t>
            </a:r>
          </a:p>
        </p:txBody>
      </p:sp>
      <p:sp>
        <p:nvSpPr>
          <p:cNvPr id="31" name="Content Placeholder 30">
            <a:extLst>
              <a:ext uri="{FF2B5EF4-FFF2-40B4-BE49-F238E27FC236}">
                <a16:creationId xmlns:a16="http://schemas.microsoft.com/office/drawing/2014/main" id="{90037033-26E6-8B39-82DC-3FB92824FB7A}"/>
              </a:ext>
            </a:extLst>
          </p:cNvPr>
          <p:cNvSpPr>
            <a:spLocks noGrp="1"/>
          </p:cNvSpPr>
          <p:nvPr>
            <p:ph idx="2"/>
          </p:nvPr>
        </p:nvSpPr>
        <p:spPr>
          <a:xfrm>
            <a:off x="365760" y="1563624"/>
            <a:ext cx="5669280" cy="1521625"/>
          </a:xfrm>
        </p:spPr>
        <p:txBody>
          <a:bodyPr/>
          <a:lstStyle/>
          <a:p>
            <a:r>
              <a:rPr lang="en-US" sz="2400" dirty="0">
                <a:solidFill>
                  <a:srgbClr val="232F3E"/>
                </a:solidFill>
              </a:rPr>
              <a:t>Foundation models are created through training.</a:t>
            </a:r>
          </a:p>
        </p:txBody>
      </p:sp>
      <p:grpSp>
        <p:nvGrpSpPr>
          <p:cNvPr id="12" name="Flatten-pretrainng">
            <a:extLst>
              <a:ext uri="{FF2B5EF4-FFF2-40B4-BE49-F238E27FC236}">
                <a16:creationId xmlns:a16="http://schemas.microsoft.com/office/drawing/2014/main" id="{CE2220E1-7E9A-D65F-B6BA-CB0AEE56FA92}"/>
              </a:ext>
              <a:ext uri="{C183D7F6-B498-43B3-948B-1728B52AA6E4}">
                <adec:decorative xmlns:adec="http://schemas.microsoft.com/office/drawing/2017/decorative" val="1"/>
              </a:ext>
            </a:extLst>
          </p:cNvPr>
          <p:cNvGrpSpPr/>
          <p:nvPr/>
        </p:nvGrpSpPr>
        <p:grpSpPr>
          <a:xfrm>
            <a:off x="488291" y="3740221"/>
            <a:ext cx="6456475" cy="2479110"/>
            <a:chOff x="488291" y="3740221"/>
            <a:chExt cx="6456475" cy="2479110"/>
          </a:xfrm>
        </p:grpSpPr>
        <p:grpSp>
          <p:nvGrpSpPr>
            <p:cNvPr id="4" name="Group 3">
              <a:extLst>
                <a:ext uri="{FF2B5EF4-FFF2-40B4-BE49-F238E27FC236}">
                  <a16:creationId xmlns:a16="http://schemas.microsoft.com/office/drawing/2014/main" id="{951750BC-8299-8D6D-D229-568D7A634C82}"/>
                </a:ext>
              </a:extLst>
            </p:cNvPr>
            <p:cNvGrpSpPr/>
            <p:nvPr/>
          </p:nvGrpSpPr>
          <p:grpSpPr>
            <a:xfrm>
              <a:off x="488291" y="3740221"/>
              <a:ext cx="3161557" cy="2240874"/>
              <a:chOff x="285090" y="2911802"/>
              <a:chExt cx="3161557" cy="2240874"/>
            </a:xfrm>
          </p:grpSpPr>
          <p:pic>
            <p:nvPicPr>
              <p:cNvPr id="6" name="Graphic 5">
                <a:extLst>
                  <a:ext uri="{FF2B5EF4-FFF2-40B4-BE49-F238E27FC236}">
                    <a16:creationId xmlns:a16="http://schemas.microsoft.com/office/drawing/2014/main" id="{72C1F673-7FCC-F431-8571-8326BDBAB58F}"/>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6557" y="3719926"/>
                <a:ext cx="1258102" cy="1258102"/>
              </a:xfrm>
              <a:prstGeom prst="rect">
                <a:avLst/>
              </a:prstGeom>
            </p:spPr>
          </p:pic>
          <p:pic>
            <p:nvPicPr>
              <p:cNvPr id="7" name="Graphic 6">
                <a:extLst>
                  <a:ext uri="{FF2B5EF4-FFF2-40B4-BE49-F238E27FC236}">
                    <a16:creationId xmlns:a16="http://schemas.microsoft.com/office/drawing/2014/main" id="{12D08B66-4443-A41C-F221-158855CA5DC6}"/>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38795" y="2911802"/>
                <a:ext cx="1866735" cy="1866735"/>
              </a:xfrm>
              <a:prstGeom prst="rect">
                <a:avLst/>
              </a:prstGeom>
            </p:spPr>
          </p:pic>
          <p:pic>
            <p:nvPicPr>
              <p:cNvPr id="8" name="Graphic 7">
                <a:extLst>
                  <a:ext uri="{FF2B5EF4-FFF2-40B4-BE49-F238E27FC236}">
                    <a16:creationId xmlns:a16="http://schemas.microsoft.com/office/drawing/2014/main" id="{10F9364C-37CC-56E6-2DFE-C13CF0ED28C9}"/>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85090" y="2917819"/>
                <a:ext cx="1258103" cy="1258103"/>
              </a:xfrm>
              <a:prstGeom prst="rect">
                <a:avLst/>
              </a:prstGeom>
            </p:spPr>
          </p:pic>
          <p:pic>
            <p:nvPicPr>
              <p:cNvPr id="9" name="Graphic 8">
                <a:extLst>
                  <a:ext uri="{FF2B5EF4-FFF2-40B4-BE49-F238E27FC236}">
                    <a16:creationId xmlns:a16="http://schemas.microsoft.com/office/drawing/2014/main" id="{60B10EC5-0CB4-C252-DB29-7D51FA00D048}"/>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190597" y="3896626"/>
                <a:ext cx="1256050" cy="1256050"/>
              </a:xfrm>
              <a:prstGeom prst="rect">
                <a:avLst/>
              </a:prstGeom>
            </p:spPr>
          </p:pic>
        </p:grpSp>
        <p:sp>
          <p:nvSpPr>
            <p:cNvPr id="15" name="Rectangle 14">
              <a:extLst>
                <a:ext uri="{FF2B5EF4-FFF2-40B4-BE49-F238E27FC236}">
                  <a16:creationId xmlns:a16="http://schemas.microsoft.com/office/drawing/2014/main" id="{B57CD776-76C0-173B-B4BA-BE515895D43D}"/>
                </a:ext>
              </a:extLst>
            </p:cNvPr>
            <p:cNvSpPr/>
            <p:nvPr/>
          </p:nvSpPr>
          <p:spPr>
            <a:xfrm>
              <a:off x="1101884" y="5680722"/>
              <a:ext cx="2031325" cy="400110"/>
            </a:xfrm>
            <a:prstGeom prst="rect">
              <a:avLst/>
            </a:prstGeom>
          </p:spPr>
          <p:txBody>
            <a:bodyPr wrap="none">
              <a:spAutoFit/>
            </a:bodyPr>
            <a:lstStyle/>
            <a:p>
              <a:pPr algn="ctr"/>
              <a:r>
                <a:rPr lang="en-US" sz="2000" b="1" dirty="0">
                  <a:solidFill>
                    <a:srgbClr val="232F3E"/>
                  </a:solidFill>
                </a:rPr>
                <a:t>Unlabeled data</a:t>
              </a:r>
            </a:p>
          </p:txBody>
        </p:sp>
        <p:sp>
          <p:nvSpPr>
            <p:cNvPr id="11" name="Oval 10">
              <a:extLst>
                <a:ext uri="{FF2B5EF4-FFF2-40B4-BE49-F238E27FC236}">
                  <a16:creationId xmlns:a16="http://schemas.microsoft.com/office/drawing/2014/main" id="{E4DF5EE4-3D2B-2A36-9D7B-CAC02EC53D8D}"/>
                </a:ext>
              </a:extLst>
            </p:cNvPr>
            <p:cNvSpPr/>
            <p:nvPr/>
          </p:nvSpPr>
          <p:spPr>
            <a:xfrm>
              <a:off x="4076536" y="3957276"/>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2"/>
                  </a:solidFill>
                  <a:effectLst/>
                  <a:uLnTx/>
                  <a:uFillTx/>
                  <a:latin typeface="Amazon Ember Display"/>
                  <a:ea typeface="+mn-ea"/>
                  <a:cs typeface="+mn-cs"/>
                </a:rPr>
                <a:t>1</a:t>
              </a:r>
            </a:p>
          </p:txBody>
        </p:sp>
        <p:sp>
          <p:nvSpPr>
            <p:cNvPr id="17" name="Rectangle 16">
              <a:extLst>
                <a:ext uri="{FF2B5EF4-FFF2-40B4-BE49-F238E27FC236}">
                  <a16:creationId xmlns:a16="http://schemas.microsoft.com/office/drawing/2014/main" id="{583EA97B-A3F4-1041-552A-1CEBC0506D7E}"/>
                </a:ext>
              </a:extLst>
            </p:cNvPr>
            <p:cNvSpPr/>
            <p:nvPr/>
          </p:nvSpPr>
          <p:spPr>
            <a:xfrm>
              <a:off x="3313574" y="4695322"/>
              <a:ext cx="2097425" cy="400110"/>
            </a:xfrm>
            <a:prstGeom prst="rect">
              <a:avLst/>
            </a:prstGeom>
          </p:spPr>
          <p:txBody>
            <a:bodyPr wrap="square">
              <a:spAutoFit/>
            </a:bodyPr>
            <a:lstStyle/>
            <a:p>
              <a:pPr algn="ctr"/>
              <a:r>
                <a:rPr lang="en-US" sz="2000" b="1" dirty="0">
                  <a:solidFill>
                    <a:srgbClr val="232F3E"/>
                  </a:solidFill>
                </a:rPr>
                <a:t>Pre-training</a:t>
              </a:r>
            </a:p>
          </p:txBody>
        </p:sp>
        <p:sp>
          <p:nvSpPr>
            <p:cNvPr id="18" name="Rectangle 17">
              <a:extLst>
                <a:ext uri="{FF2B5EF4-FFF2-40B4-BE49-F238E27FC236}">
                  <a16:creationId xmlns:a16="http://schemas.microsoft.com/office/drawing/2014/main" id="{7B7DF98E-D472-C0ED-410B-6A1346DE76F1}"/>
                </a:ext>
              </a:extLst>
            </p:cNvPr>
            <p:cNvSpPr/>
            <p:nvPr/>
          </p:nvSpPr>
          <p:spPr>
            <a:xfrm>
              <a:off x="5376709" y="5511445"/>
              <a:ext cx="1568057" cy="707886"/>
            </a:xfrm>
            <a:prstGeom prst="rect">
              <a:avLst/>
            </a:prstGeom>
          </p:spPr>
          <p:txBody>
            <a:bodyPr wrap="none">
              <a:spAutoFit/>
            </a:bodyPr>
            <a:lstStyle/>
            <a:p>
              <a:pPr algn="ctr"/>
              <a:r>
                <a:rPr lang="en-US" sz="2000" b="1" dirty="0">
                  <a:solidFill>
                    <a:srgbClr val="232F3E"/>
                  </a:solidFill>
                </a:rPr>
                <a:t>Foundation</a:t>
              </a:r>
            </a:p>
            <a:p>
              <a:pPr algn="ctr"/>
              <a:r>
                <a:rPr lang="en-US" sz="2000" b="1" dirty="0">
                  <a:solidFill>
                    <a:srgbClr val="232F3E"/>
                  </a:solidFill>
                </a:rPr>
                <a:t>model</a:t>
              </a:r>
            </a:p>
          </p:txBody>
        </p:sp>
        <p:cxnSp>
          <p:nvCxnSpPr>
            <p:cNvPr id="16" name="Straight Arrow Connector 15">
              <a:extLst>
                <a:ext uri="{FF2B5EF4-FFF2-40B4-BE49-F238E27FC236}">
                  <a16:creationId xmlns:a16="http://schemas.microsoft.com/office/drawing/2014/main" id="{7BA88D51-A590-2FD0-9D37-8509146ACFC5}"/>
                </a:ext>
                <a:ext uri="{C183D7F6-B498-43B3-948B-1728B52AA6E4}">
                  <adec:decorative xmlns:adec="http://schemas.microsoft.com/office/drawing/2017/decorative" val="1"/>
                </a:ext>
              </a:extLst>
            </p:cNvPr>
            <p:cNvCxnSpPr>
              <a:cxnSpLocks/>
            </p:cNvCxnSpPr>
            <p:nvPr/>
          </p:nvCxnSpPr>
          <p:spPr>
            <a:xfrm>
              <a:off x="3383116" y="4676688"/>
              <a:ext cx="1958340"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5" name="Content Placeholder 7">
              <a:extLst>
                <a:ext uri="{FF2B5EF4-FFF2-40B4-BE49-F238E27FC236}">
                  <a16:creationId xmlns:a16="http://schemas.microsoft.com/office/drawing/2014/main" id="{F96A7164-EECE-78C2-894B-EA81C8AA5D60}"/>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247679" y="3894908"/>
              <a:ext cx="1657350" cy="1657350"/>
            </a:xfrm>
            <a:prstGeom prst="rect">
              <a:avLst/>
            </a:prstGeom>
          </p:spPr>
        </p:pic>
      </p:grpSp>
      <p:sp>
        <p:nvSpPr>
          <p:cNvPr id="34" name="Text Placeholder 33">
            <a:extLst>
              <a:ext uri="{FF2B5EF4-FFF2-40B4-BE49-F238E27FC236}">
                <a16:creationId xmlns:a16="http://schemas.microsoft.com/office/drawing/2014/main" id="{2510DE7A-D9DA-8E10-73D6-B630FA66589A}"/>
              </a:ext>
            </a:extLst>
          </p:cNvPr>
          <p:cNvSpPr>
            <a:spLocks noGrp="1"/>
          </p:cNvSpPr>
          <p:nvPr>
            <p:ph type="body" idx="13"/>
          </p:nvPr>
        </p:nvSpPr>
        <p:spPr/>
        <p:txBody>
          <a:bodyPr/>
          <a:lstStyle/>
          <a:p>
            <a:r>
              <a:rPr lang="en-US" dirty="0"/>
              <a:t>Inference</a:t>
            </a:r>
          </a:p>
        </p:txBody>
      </p:sp>
      <p:sp>
        <p:nvSpPr>
          <p:cNvPr id="32" name="Content Placeholder 31">
            <a:extLst>
              <a:ext uri="{FF2B5EF4-FFF2-40B4-BE49-F238E27FC236}">
                <a16:creationId xmlns:a16="http://schemas.microsoft.com/office/drawing/2014/main" id="{1B82390B-76BD-4607-A8F7-29DD8CE3C5A1}"/>
              </a:ext>
            </a:extLst>
          </p:cNvPr>
          <p:cNvSpPr>
            <a:spLocks noGrp="1"/>
          </p:cNvSpPr>
          <p:nvPr>
            <p:ph idx="3"/>
          </p:nvPr>
        </p:nvSpPr>
        <p:spPr>
          <a:xfrm>
            <a:off x="6163056" y="1563624"/>
            <a:ext cx="5669280" cy="1565464"/>
          </a:xfrm>
        </p:spPr>
        <p:txBody>
          <a:bodyPr/>
          <a:lstStyle/>
          <a:p>
            <a:r>
              <a:rPr lang="en-US" sz="2400" dirty="0">
                <a:solidFill>
                  <a:srgbClr val="232F3E"/>
                </a:solidFill>
              </a:rPr>
              <a:t>Foundation models are used to transform inputs (prompts) to outputs (responses).</a:t>
            </a:r>
          </a:p>
        </p:txBody>
      </p:sp>
      <p:grpSp>
        <p:nvGrpSpPr>
          <p:cNvPr id="14" name="Flatten inference" descr="Applications use the pre-trained foundation models to perform inference for a broad range of general tasks. ">
            <a:extLst>
              <a:ext uri="{FF2B5EF4-FFF2-40B4-BE49-F238E27FC236}">
                <a16:creationId xmlns:a16="http://schemas.microsoft.com/office/drawing/2014/main" id="{04A84006-6E12-385B-333D-678A5BBCA9F5}"/>
              </a:ext>
            </a:extLst>
          </p:cNvPr>
          <p:cNvGrpSpPr/>
          <p:nvPr/>
        </p:nvGrpSpPr>
        <p:grpSpPr>
          <a:xfrm>
            <a:off x="6770202" y="3033955"/>
            <a:ext cx="4762364" cy="3185376"/>
            <a:chOff x="6770202" y="3033955"/>
            <a:chExt cx="4762364" cy="3185376"/>
          </a:xfrm>
        </p:grpSpPr>
        <p:sp>
          <p:nvSpPr>
            <p:cNvPr id="13" name="Oval 12">
              <a:extLst>
                <a:ext uri="{FF2B5EF4-FFF2-40B4-BE49-F238E27FC236}">
                  <a16:creationId xmlns:a16="http://schemas.microsoft.com/office/drawing/2014/main" id="{E1F346B9-D049-223B-6E33-981E20CCEE65}"/>
                </a:ext>
              </a:extLst>
            </p:cNvPr>
            <p:cNvSpPr/>
            <p:nvPr/>
          </p:nvSpPr>
          <p:spPr>
            <a:xfrm>
              <a:off x="6770202" y="3033955"/>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solidFill>
                    <a:schemeClr val="bg2"/>
                  </a:solidFill>
                  <a:latin typeface="Amazon Ember Display"/>
                </a:rPr>
                <a:t>2</a:t>
              </a:r>
              <a:endParaRPr kumimoji="0" lang="en-US" sz="2800" b="1" i="0" u="none" strike="noStrike" kern="1200" cap="none" spc="0" normalizeH="0" baseline="0" noProof="0" dirty="0">
                <a:ln>
                  <a:noFill/>
                </a:ln>
                <a:solidFill>
                  <a:schemeClr val="bg2"/>
                </a:solidFill>
                <a:effectLst/>
                <a:uLnTx/>
                <a:uFillTx/>
                <a:latin typeface="Amazon Ember Display"/>
                <a:ea typeface="+mn-ea"/>
                <a:cs typeface="+mn-cs"/>
              </a:endParaRPr>
            </a:p>
          </p:txBody>
        </p:sp>
        <p:sp>
          <p:nvSpPr>
            <p:cNvPr id="30" name="Rectangle 29">
              <a:extLst>
                <a:ext uri="{FF2B5EF4-FFF2-40B4-BE49-F238E27FC236}">
                  <a16:creationId xmlns:a16="http://schemas.microsoft.com/office/drawing/2014/main" id="{9C0F467A-0BBF-78B2-0034-ED36194883E9}"/>
                </a:ext>
              </a:extLst>
            </p:cNvPr>
            <p:cNvSpPr/>
            <p:nvPr/>
          </p:nvSpPr>
          <p:spPr>
            <a:xfrm>
              <a:off x="7427241" y="3097202"/>
              <a:ext cx="1324402" cy="400110"/>
            </a:xfrm>
            <a:prstGeom prst="rect">
              <a:avLst/>
            </a:prstGeom>
            <a:effectLst>
              <a:outerShdw blurRad="63500" dist="37357" dir="2700000" sx="0" sy="0" rotWithShape="0">
                <a:scrgbClr r="0" g="0" b="0"/>
              </a:outerShdw>
              <a:reflection endPos="0" dir="5400000" sy="-100000" algn="bl" rotWithShape="0"/>
            </a:effectLst>
          </p:spPr>
          <p:txBody>
            <a:bodyPr wrap="none">
              <a:spAutoFit/>
            </a:bodyPr>
            <a:lstStyle/>
            <a:p>
              <a:r>
                <a:rPr lang="en-US" sz="2000" b="1" dirty="0">
                  <a:solidFill>
                    <a:srgbClr val="232F3E"/>
                  </a:solidFill>
                </a:rPr>
                <a:t>Inference</a:t>
              </a:r>
            </a:p>
          </p:txBody>
        </p:sp>
        <p:sp>
          <p:nvSpPr>
            <p:cNvPr id="43" name="Rectangle 42">
              <a:extLst>
                <a:ext uri="{FF2B5EF4-FFF2-40B4-BE49-F238E27FC236}">
                  <a16:creationId xmlns:a16="http://schemas.microsoft.com/office/drawing/2014/main" id="{9B65BEBF-F120-23E5-B64F-C7B872FC7B28}"/>
                </a:ext>
              </a:extLst>
            </p:cNvPr>
            <p:cNvSpPr/>
            <p:nvPr/>
          </p:nvSpPr>
          <p:spPr>
            <a:xfrm>
              <a:off x="9668708" y="4420474"/>
              <a:ext cx="1574469" cy="400110"/>
            </a:xfrm>
            <a:prstGeom prst="rect">
              <a:avLst/>
            </a:prstGeom>
          </p:spPr>
          <p:txBody>
            <a:bodyPr wrap="none">
              <a:spAutoFit/>
            </a:bodyPr>
            <a:lstStyle/>
            <a:p>
              <a:pPr algn="ctr"/>
              <a:r>
                <a:rPr lang="en-US" sz="2000" b="1" dirty="0">
                  <a:solidFill>
                    <a:srgbClr val="232F3E"/>
                  </a:solidFill>
                </a:rPr>
                <a:t>Application</a:t>
              </a:r>
            </a:p>
          </p:txBody>
        </p:sp>
        <p:sp>
          <p:nvSpPr>
            <p:cNvPr id="25" name="Rectangle 24">
              <a:extLst>
                <a:ext uri="{FF2B5EF4-FFF2-40B4-BE49-F238E27FC236}">
                  <a16:creationId xmlns:a16="http://schemas.microsoft.com/office/drawing/2014/main" id="{F83FEEF2-010D-65B9-4666-474210A1B9C2}"/>
                </a:ext>
              </a:extLst>
            </p:cNvPr>
            <p:cNvSpPr/>
            <p:nvPr/>
          </p:nvSpPr>
          <p:spPr>
            <a:xfrm>
              <a:off x="7597160" y="4420474"/>
              <a:ext cx="1093568" cy="400110"/>
            </a:xfrm>
            <a:prstGeom prst="rect">
              <a:avLst/>
            </a:prstGeom>
            <a:effectLst>
              <a:outerShdw blurRad="63500" dist="37357" dir="2700000" sx="0" sy="0" rotWithShape="0">
                <a:scrgbClr r="0" g="0" b="0"/>
              </a:outerShdw>
              <a:reflection endPos="0" dir="5400000" sy="-100000" algn="bl" rotWithShape="0"/>
            </a:effectLst>
          </p:spPr>
          <p:txBody>
            <a:bodyPr wrap="none">
              <a:spAutoFit/>
            </a:bodyPr>
            <a:lstStyle/>
            <a:p>
              <a:pPr algn="ctr"/>
              <a:r>
                <a:rPr lang="en-US" sz="2000" b="1" dirty="0">
                  <a:solidFill>
                    <a:srgbClr val="232F3E"/>
                  </a:solidFill>
                </a:rPr>
                <a:t>Prompt</a:t>
              </a:r>
            </a:p>
          </p:txBody>
        </p:sp>
        <p:sp>
          <p:nvSpPr>
            <p:cNvPr id="26" name="Rectangle 25">
              <a:extLst>
                <a:ext uri="{FF2B5EF4-FFF2-40B4-BE49-F238E27FC236}">
                  <a16:creationId xmlns:a16="http://schemas.microsoft.com/office/drawing/2014/main" id="{AEFEA59F-5B1D-2A89-5923-A7596EDE6C47}"/>
                </a:ext>
              </a:extLst>
            </p:cNvPr>
            <p:cNvSpPr/>
            <p:nvPr/>
          </p:nvSpPr>
          <p:spPr>
            <a:xfrm>
              <a:off x="7483346" y="5680722"/>
              <a:ext cx="1321195" cy="400110"/>
            </a:xfrm>
            <a:prstGeom prst="rect">
              <a:avLst/>
            </a:prstGeom>
            <a:effectLst>
              <a:outerShdw blurRad="63500" dist="37357" dir="2700000" sx="0" sy="0" rotWithShape="0">
                <a:scrgbClr r="0" g="0" b="0"/>
              </a:outerShdw>
              <a:reflection endPos="0" dir="5400000" sy="-100000" algn="bl" rotWithShape="0"/>
            </a:effectLst>
          </p:spPr>
          <p:txBody>
            <a:bodyPr wrap="none">
              <a:spAutoFit/>
            </a:bodyPr>
            <a:lstStyle/>
            <a:p>
              <a:pPr algn="ctr"/>
              <a:r>
                <a:rPr lang="en-US" sz="2000" b="1" dirty="0">
                  <a:solidFill>
                    <a:srgbClr val="232F3E"/>
                  </a:solidFill>
                </a:rPr>
                <a:t>Response</a:t>
              </a:r>
            </a:p>
          </p:txBody>
        </p:sp>
        <p:sp>
          <p:nvSpPr>
            <p:cNvPr id="19" name="Rectangle 18">
              <a:extLst>
                <a:ext uri="{FF2B5EF4-FFF2-40B4-BE49-F238E27FC236}">
                  <a16:creationId xmlns:a16="http://schemas.microsoft.com/office/drawing/2014/main" id="{E050AF24-7846-33DA-6909-0E80F81134BE}"/>
                </a:ext>
              </a:extLst>
            </p:cNvPr>
            <p:cNvSpPr/>
            <p:nvPr/>
          </p:nvSpPr>
          <p:spPr>
            <a:xfrm>
              <a:off x="9356970" y="5511445"/>
              <a:ext cx="2175596" cy="707886"/>
            </a:xfrm>
            <a:prstGeom prst="rect">
              <a:avLst/>
            </a:prstGeom>
          </p:spPr>
          <p:txBody>
            <a:bodyPr wrap="square">
              <a:spAutoFit/>
            </a:bodyPr>
            <a:lstStyle/>
            <a:p>
              <a:pPr algn="ctr"/>
              <a:r>
                <a:rPr lang="en-US" sz="2000" b="1" dirty="0">
                  <a:solidFill>
                    <a:srgbClr val="232F3E"/>
                  </a:solidFill>
                </a:rPr>
                <a:t>Broad range of </a:t>
              </a:r>
              <a:br>
                <a:rPr lang="en-US" sz="2000" b="1" dirty="0">
                  <a:solidFill>
                    <a:srgbClr val="232F3E"/>
                  </a:solidFill>
                </a:rPr>
              </a:br>
              <a:r>
                <a:rPr lang="en-US" sz="2000" b="1" dirty="0">
                  <a:solidFill>
                    <a:srgbClr val="232F3E"/>
                  </a:solidFill>
                </a:rPr>
                <a:t>general tasks</a:t>
              </a:r>
            </a:p>
          </p:txBody>
        </p:sp>
        <p:cxnSp>
          <p:nvCxnSpPr>
            <p:cNvPr id="36" name="Straight Arrow Connector 35">
              <a:extLst>
                <a:ext uri="{FF2B5EF4-FFF2-40B4-BE49-F238E27FC236}">
                  <a16:creationId xmlns:a16="http://schemas.microsoft.com/office/drawing/2014/main" id="{A6EB0EC0-1103-72D1-206F-8522998E8364}"/>
                </a:ext>
                <a:ext uri="{C183D7F6-B498-43B3-948B-1728B52AA6E4}">
                  <adec:decorative xmlns:adec="http://schemas.microsoft.com/office/drawing/2017/decorative" val="1"/>
                </a:ext>
              </a:extLst>
            </p:cNvPr>
            <p:cNvCxnSpPr>
              <a:cxnSpLocks/>
            </p:cNvCxnSpPr>
            <p:nvPr/>
          </p:nvCxnSpPr>
          <p:spPr>
            <a:xfrm>
              <a:off x="7343844" y="4391194"/>
              <a:ext cx="1600200" cy="0"/>
            </a:xfrm>
            <a:prstGeom prst="straightConnector1">
              <a:avLst/>
            </a:prstGeom>
            <a:ln w="44450" cmpd="sng">
              <a:solidFill>
                <a:schemeClr val="tx1"/>
              </a:solidFill>
              <a:prstDash val="solid"/>
              <a:headEnd type="arrow" w="lg" len="sm"/>
              <a:tailEnd type="none"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60D90BA-94EE-ECB7-E5E1-61C1CE84012F}"/>
                </a:ext>
                <a:ext uri="{C183D7F6-B498-43B3-948B-1728B52AA6E4}">
                  <adec:decorative xmlns:adec="http://schemas.microsoft.com/office/drawing/2017/decorative" val="1"/>
                </a:ext>
              </a:extLst>
            </p:cNvPr>
            <p:cNvCxnSpPr>
              <a:cxnSpLocks/>
            </p:cNvCxnSpPr>
            <p:nvPr/>
          </p:nvCxnSpPr>
          <p:spPr>
            <a:xfrm>
              <a:off x="7343844" y="5715106"/>
              <a:ext cx="1600200"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74DCA7F9-CC23-6561-84FD-8A7DDCBB274B}"/>
                </a:ext>
                <a:ext uri="{C183D7F6-B498-43B3-948B-1728B52AA6E4}">
                  <adec:decorative xmlns:adec="http://schemas.microsoft.com/office/drawing/2017/decorative" val="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9831704" y="3345250"/>
              <a:ext cx="1248478" cy="1248478"/>
            </a:xfrm>
            <a:prstGeom prst="rect">
              <a:avLst/>
            </a:prstGeom>
          </p:spPr>
        </p:pic>
        <p:pic>
          <p:nvPicPr>
            <p:cNvPr id="27" name="Graphic 26">
              <a:extLst>
                <a:ext uri="{FF2B5EF4-FFF2-40B4-BE49-F238E27FC236}">
                  <a16:creationId xmlns:a16="http://schemas.microsoft.com/office/drawing/2014/main" id="{7111078D-5B72-FDD1-5577-78C2E0A51E0C}"/>
                </a:ext>
                <a:ext uri="{C183D7F6-B498-43B3-948B-1728B52AA6E4}">
                  <adec:decorative xmlns:adec="http://schemas.microsoft.com/office/drawing/2017/decorative" val="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667694" y="3449350"/>
              <a:ext cx="952500" cy="952500"/>
            </a:xfrm>
            <a:prstGeom prst="rect">
              <a:avLst/>
            </a:prstGeom>
          </p:spPr>
        </p:pic>
        <p:pic>
          <p:nvPicPr>
            <p:cNvPr id="28" name="Graphic 27">
              <a:extLst>
                <a:ext uri="{FF2B5EF4-FFF2-40B4-BE49-F238E27FC236}">
                  <a16:creationId xmlns:a16="http://schemas.microsoft.com/office/drawing/2014/main" id="{C2D40998-4B10-F20E-35D2-DB71AF077DFC}"/>
                </a:ext>
                <a:ext uri="{C183D7F6-B498-43B3-948B-1728B52AA6E4}">
                  <adec:decorative xmlns:adec="http://schemas.microsoft.com/office/drawing/2017/decorative" val="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667694" y="4836131"/>
              <a:ext cx="952500" cy="952500"/>
            </a:xfrm>
            <a:prstGeom prst="rect">
              <a:avLst/>
            </a:prstGeom>
          </p:spPr>
        </p:pic>
      </p:grpSp>
      <p:cxnSp>
        <p:nvCxnSpPr>
          <p:cNvPr id="35" name="Straight Connector 34">
            <a:extLst>
              <a:ext uri="{FF2B5EF4-FFF2-40B4-BE49-F238E27FC236}">
                <a16:creationId xmlns:a16="http://schemas.microsoft.com/office/drawing/2014/main" id="{04CFE2C5-E45F-70A4-6E67-AD5D04020B97}"/>
              </a:ext>
              <a:ext uri="{C183D7F6-B498-43B3-948B-1728B52AA6E4}">
                <adec:decorative xmlns:adec="http://schemas.microsoft.com/office/drawing/2017/decorative" val="1"/>
              </a:ext>
            </a:extLst>
          </p:cNvPr>
          <p:cNvCxnSpPr>
            <a:cxnSpLocks/>
          </p:cNvCxnSpPr>
          <p:nvPr/>
        </p:nvCxnSpPr>
        <p:spPr>
          <a:xfrm>
            <a:off x="7078617" y="3780085"/>
            <a:ext cx="0" cy="246888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EA12500-AA40-4080-A3A7-AAC4FE12CD31}"/>
              </a:ext>
              <a:ext uri="{C183D7F6-B498-43B3-948B-1728B52AA6E4}">
                <adec:decorative xmlns:adec="http://schemas.microsoft.com/office/drawing/2017/decorative" val="1"/>
              </a:ext>
            </a:extLst>
          </p:cNvPr>
          <p:cNvCxnSpPr>
            <a:cxnSpLocks/>
          </p:cNvCxnSpPr>
          <p:nvPr/>
        </p:nvCxnSpPr>
        <p:spPr>
          <a:xfrm>
            <a:off x="9231936" y="3780085"/>
            <a:ext cx="0" cy="246888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557982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E60BD508-7842-445A-A7ED-5C0D49641094}"/>
              </a:ext>
            </a:extLst>
          </p:cNvPr>
          <p:cNvSpPr>
            <a:spLocks noGrp="1"/>
          </p:cNvSpPr>
          <p:nvPr>
            <p:ph type="sldNum" idx="97"/>
          </p:nvPr>
        </p:nvSpPr>
        <p:spPr/>
        <p:txBody>
          <a:bodyPr/>
          <a:lstStyle/>
          <a:p>
            <a:fld id="{930176A1-BCF0-4712-97A6-6B495F55390B}" type="slidenum">
              <a:rPr lang="en-US" smtClean="0"/>
              <a:pPr/>
              <a:t>11</a:t>
            </a:fld>
            <a:endParaRPr lang="en-US" dirty="0"/>
          </a:p>
        </p:txBody>
      </p:sp>
      <p:sp>
        <p:nvSpPr>
          <p:cNvPr id="4" name="Title">
            <a:extLst>
              <a:ext uri="{FF2B5EF4-FFF2-40B4-BE49-F238E27FC236}">
                <a16:creationId xmlns:a16="http://schemas.microsoft.com/office/drawing/2014/main" id="{8C4AB27F-91E7-4EAC-B359-34AB9EF81D58}"/>
              </a:ext>
            </a:extLst>
          </p:cNvPr>
          <p:cNvSpPr>
            <a:spLocks noGrp="1"/>
          </p:cNvSpPr>
          <p:nvPr>
            <p:ph type="title" idx="1"/>
          </p:nvPr>
        </p:nvSpPr>
        <p:spPr/>
        <p:txBody>
          <a:bodyPr/>
          <a:lstStyle/>
          <a:p>
            <a:r>
              <a:rPr lang="en-US" dirty="0"/>
              <a:t>Applications of understanding models</a:t>
            </a:r>
          </a:p>
        </p:txBody>
      </p:sp>
      <p:sp>
        <p:nvSpPr>
          <p:cNvPr id="12" name="Rectangle 11">
            <a:extLst>
              <a:ext uri="{FF2B5EF4-FFF2-40B4-BE49-F238E27FC236}">
                <a16:creationId xmlns:a16="http://schemas.microsoft.com/office/drawing/2014/main" id="{DB05B1B5-9683-3497-6B0A-11D7273C7255}"/>
              </a:ext>
            </a:extLst>
          </p:cNvPr>
          <p:cNvSpPr/>
          <p:nvPr/>
        </p:nvSpPr>
        <p:spPr>
          <a:xfrm>
            <a:off x="616840" y="5770112"/>
            <a:ext cx="4031873" cy="430887"/>
          </a:xfrm>
          <a:prstGeom prst="rect">
            <a:avLst/>
          </a:prstGeom>
          <a:effectLst>
            <a:outerShdw blurRad="63500" dist="37357" dir="2700000" sx="0" sy="0" rotWithShape="0">
              <a:scrgbClr r="0" g="0" b="0"/>
            </a:outerShdw>
            <a:reflection endPos="0" dir="5400000" sy="-100000" algn="bl" rotWithShape="0"/>
          </a:effectLst>
        </p:spPr>
        <p:txBody>
          <a:bodyPr wrap="none">
            <a:spAutoFit/>
          </a:bodyPr>
          <a:lstStyle/>
          <a:p>
            <a:r>
              <a:rPr lang="en-US" sz="2200" b="1" dirty="0">
                <a:solidFill>
                  <a:srgbClr val="232F3E"/>
                </a:solidFill>
              </a:rPr>
              <a:t>Multimodal inputs (prompts)</a:t>
            </a:r>
          </a:p>
        </p:txBody>
      </p:sp>
      <p:grpSp>
        <p:nvGrpSpPr>
          <p:cNvPr id="21" name="Group 20">
            <a:extLst>
              <a:ext uri="{FF2B5EF4-FFF2-40B4-BE49-F238E27FC236}">
                <a16:creationId xmlns:a16="http://schemas.microsoft.com/office/drawing/2014/main" id="{C2506CD3-030B-9656-2F69-721612861808}"/>
              </a:ext>
            </a:extLst>
          </p:cNvPr>
          <p:cNvGrpSpPr/>
          <p:nvPr/>
        </p:nvGrpSpPr>
        <p:grpSpPr>
          <a:xfrm>
            <a:off x="621331" y="1371600"/>
            <a:ext cx="4337976" cy="3909595"/>
            <a:chOff x="621331" y="1371600"/>
            <a:chExt cx="4337976" cy="3909595"/>
          </a:xfrm>
        </p:grpSpPr>
        <p:pic>
          <p:nvPicPr>
            <p:cNvPr id="6" name="Graphic 5">
              <a:extLst>
                <a:ext uri="{FF2B5EF4-FFF2-40B4-BE49-F238E27FC236}">
                  <a16:creationId xmlns:a16="http://schemas.microsoft.com/office/drawing/2014/main" id="{9591E3C8-27B3-4786-BD4A-A18507F63BB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91741" y="3698237"/>
              <a:ext cx="1248477" cy="1248477"/>
            </a:xfrm>
            <a:prstGeom prst="rect">
              <a:avLst/>
            </a:prstGeom>
            <a:effectLst>
              <a:outerShdw blurRad="63500" dist="37357" dir="2700000" sx="0" sy="0" rotWithShape="0">
                <a:scrgbClr r="0" g="0" b="0"/>
              </a:outerShdw>
              <a:reflection endPos="0" dir="5400000" sy="-100000" algn="bl" rotWithShape="0"/>
            </a:effectLst>
          </p:spPr>
        </p:pic>
        <p:pic>
          <p:nvPicPr>
            <p:cNvPr id="7" name="Graphic 6">
              <a:extLst>
                <a:ext uri="{FF2B5EF4-FFF2-40B4-BE49-F238E27FC236}">
                  <a16:creationId xmlns:a16="http://schemas.microsoft.com/office/drawing/2014/main" id="{082EFFF1-9A62-ECDB-090D-B1BF07D198AD}"/>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132" y="1519099"/>
              <a:ext cx="1266926" cy="1266926"/>
            </a:xfrm>
            <a:prstGeom prst="rect">
              <a:avLst/>
            </a:prstGeom>
            <a:effectLst>
              <a:outerShdw blurRad="63500" dist="37357" dir="2700000" sx="0" sy="0" rotWithShape="0">
                <a:scrgbClr r="0" g="0" b="0"/>
              </a:outerShdw>
              <a:reflection endPos="0" dir="5400000" sy="-100000" algn="bl" rotWithShape="0"/>
            </a:effectLst>
          </p:spPr>
        </p:pic>
        <p:pic>
          <p:nvPicPr>
            <p:cNvPr id="8" name="Graphic 7">
              <a:extLst>
                <a:ext uri="{FF2B5EF4-FFF2-40B4-BE49-F238E27FC236}">
                  <a16:creationId xmlns:a16="http://schemas.microsoft.com/office/drawing/2014/main" id="{06629FD9-13E3-32D9-B5F4-32108AD01B5F}"/>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48253" y="2599043"/>
              <a:ext cx="1267727" cy="1267727"/>
            </a:xfrm>
            <a:prstGeom prst="rect">
              <a:avLst/>
            </a:prstGeom>
            <a:effectLst>
              <a:outerShdw blurRad="63500" dist="37357" dir="2700000" sx="0" sy="0" rotWithShape="0">
                <a:scrgbClr r="0" g="0" b="0"/>
              </a:outerShdw>
              <a:reflection endPos="0" dir="5400000" sy="-100000" algn="bl" rotWithShape="0"/>
            </a:effectLst>
          </p:spPr>
        </p:pic>
        <p:pic>
          <p:nvPicPr>
            <p:cNvPr id="9" name="Graphic 8">
              <a:extLst>
                <a:ext uri="{FF2B5EF4-FFF2-40B4-BE49-F238E27FC236}">
                  <a16:creationId xmlns:a16="http://schemas.microsoft.com/office/drawing/2014/main" id="{46A9358C-970C-BF5B-F45A-C991B78F8F1C}"/>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10541" y="3776390"/>
              <a:ext cx="1267727" cy="1267727"/>
            </a:xfrm>
            <a:prstGeom prst="rect">
              <a:avLst/>
            </a:prstGeom>
            <a:effectLst>
              <a:outerShdw blurRad="63500" dist="37357" dir="2700000" sx="0" sy="0" rotWithShape="0">
                <a:scrgbClr r="0" g="0" b="0"/>
              </a:outerShdw>
              <a:reflection endPos="0" dir="5400000" sy="-100000" algn="bl" rotWithShape="0"/>
            </a:effectLst>
          </p:spPr>
        </p:pic>
        <p:pic>
          <p:nvPicPr>
            <p:cNvPr id="11" name="Graphic 10">
              <a:extLst>
                <a:ext uri="{FF2B5EF4-FFF2-40B4-BE49-F238E27FC236}">
                  <a16:creationId xmlns:a16="http://schemas.microsoft.com/office/drawing/2014/main" id="{9D5C5031-DC3E-3872-34E2-D800CED72D5F}"/>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008940" y="1371600"/>
              <a:ext cx="1247674" cy="1247674"/>
            </a:xfrm>
            <a:prstGeom prst="rect">
              <a:avLst/>
            </a:prstGeom>
            <a:effectLst>
              <a:outerShdw blurRad="63500" dist="37357" dir="2700000" sx="0" sy="0" rotWithShape="0">
                <a:scrgbClr r="0" g="0" b="0"/>
              </a:outerShdw>
              <a:reflection endPos="0" dir="5400000" sy="-100000" algn="bl" rotWithShape="0"/>
            </a:effectLst>
          </p:spPr>
        </p:pic>
        <p:pic>
          <p:nvPicPr>
            <p:cNvPr id="13" name="Graphic 12">
              <a:extLst>
                <a:ext uri="{FF2B5EF4-FFF2-40B4-BE49-F238E27FC236}">
                  <a16:creationId xmlns:a16="http://schemas.microsoft.com/office/drawing/2014/main" id="{B5EE5379-B0DA-8B63-4F21-9B1E6B328520}"/>
                </a:ext>
                <a:ext uri="{C183D7F6-B498-43B3-948B-1728B52AA6E4}">
                  <adec:decorative xmlns:adec="http://schemas.microsoft.com/office/drawing/2017/decorative" val="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409425" y="2658554"/>
              <a:ext cx="1248476" cy="1248476"/>
            </a:xfrm>
            <a:prstGeom prst="rect">
              <a:avLst/>
            </a:prstGeom>
            <a:effectLst>
              <a:outerShdw blurRad="63500" dist="37357" dir="2700000" sx="0" sy="0" rotWithShape="0">
                <a:scrgbClr r="0" g="0" b="0"/>
              </a:outerShdw>
              <a:reflection endPos="0" dir="5400000" sy="-100000" algn="bl" rotWithShape="0"/>
            </a:effectLst>
          </p:spPr>
        </p:pic>
        <p:pic>
          <p:nvPicPr>
            <p:cNvPr id="15" name="Graphic 14">
              <a:extLst>
                <a:ext uri="{FF2B5EF4-FFF2-40B4-BE49-F238E27FC236}">
                  <a16:creationId xmlns:a16="http://schemas.microsoft.com/office/drawing/2014/main" id="{72BC4D23-928A-DA48-B0F4-36B460CFCD2B}"/>
                </a:ext>
                <a:ext uri="{C183D7F6-B498-43B3-948B-1728B52AA6E4}">
                  <adec:decorative xmlns:adec="http://schemas.microsoft.com/office/drawing/2017/decorative" val="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21331" y="4013468"/>
              <a:ext cx="1267727" cy="1267727"/>
            </a:xfrm>
            <a:prstGeom prst="rect">
              <a:avLst/>
            </a:prstGeom>
            <a:effectLst>
              <a:outerShdw blurRad="63500" dist="37357" dir="2700000" sx="0" sy="0" rotWithShape="0">
                <a:scrgbClr r="0" g="0" b="0"/>
              </a:outerShdw>
              <a:reflection endPos="0" dir="5400000" sy="-100000" algn="bl" rotWithShape="0"/>
            </a:effectLst>
          </p:spPr>
        </p:pic>
        <p:cxnSp>
          <p:nvCxnSpPr>
            <p:cNvPr id="17" name="Straight Arrow Connector 16">
              <a:extLst>
                <a:ext uri="{FF2B5EF4-FFF2-40B4-BE49-F238E27FC236}">
                  <a16:creationId xmlns:a16="http://schemas.microsoft.com/office/drawing/2014/main" id="{DFA6ABA7-D2EB-844B-5048-2E5EF3E7F578}"/>
                </a:ext>
                <a:ext uri="{C183D7F6-B498-43B3-948B-1728B52AA6E4}">
                  <adec:decorative xmlns:adec="http://schemas.microsoft.com/office/drawing/2017/decorative" val="1"/>
                </a:ext>
              </a:extLst>
            </p:cNvPr>
            <p:cNvCxnSpPr/>
            <p:nvPr/>
          </p:nvCxnSpPr>
          <p:spPr>
            <a:xfrm>
              <a:off x="3657901" y="3260814"/>
              <a:ext cx="1301406"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grpSp>
      <p:pic>
        <p:nvPicPr>
          <p:cNvPr id="3" name="Content Placeholder 7">
            <a:extLst>
              <a:ext uri="{FF2B5EF4-FFF2-40B4-BE49-F238E27FC236}">
                <a16:creationId xmlns:a16="http://schemas.microsoft.com/office/drawing/2014/main" id="{DAFA23D5-4989-94E2-3B63-FA47017202D5}"/>
              </a:ext>
              <a:ext uri="{C183D7F6-B498-43B3-948B-1728B52AA6E4}">
                <adec:decorative xmlns:adec="http://schemas.microsoft.com/office/drawing/2017/decorative" val="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855076" y="1927960"/>
            <a:ext cx="2718571" cy="2718571"/>
          </a:xfrm>
          <a:prstGeom prst="rect">
            <a:avLst/>
          </a:prstGeom>
          <a:effectLst>
            <a:outerShdw blurRad="63500" dist="37357" dir="2700000" sx="0" sy="0" rotWithShape="0">
              <a:scrgbClr r="0" g="0" b="0"/>
            </a:outerShdw>
            <a:reflection endPos="0" dir="5400000" sy="-100000" algn="bl" rotWithShape="0"/>
          </a:effectLst>
        </p:spPr>
      </p:pic>
      <p:sp>
        <p:nvSpPr>
          <p:cNvPr id="14" name="Rectangle 13">
            <a:extLst>
              <a:ext uri="{FF2B5EF4-FFF2-40B4-BE49-F238E27FC236}">
                <a16:creationId xmlns:a16="http://schemas.microsoft.com/office/drawing/2014/main" id="{2C10E47A-6909-D065-1EEC-DE97AE12E645}"/>
              </a:ext>
            </a:extLst>
          </p:cNvPr>
          <p:cNvSpPr/>
          <p:nvPr/>
        </p:nvSpPr>
        <p:spPr>
          <a:xfrm>
            <a:off x="7868082" y="5770113"/>
            <a:ext cx="3440365" cy="430887"/>
          </a:xfrm>
          <a:prstGeom prst="rect">
            <a:avLst/>
          </a:prstGeom>
          <a:effectLst>
            <a:outerShdw blurRad="63500" dist="37357" dir="2700000" sx="0" sy="0" rotWithShape="0">
              <a:scrgbClr r="0" g="0" b="0"/>
            </a:outerShdw>
            <a:reflection endPos="0" dir="5400000" sy="-100000" algn="bl" rotWithShape="0"/>
          </a:effectLst>
        </p:spPr>
        <p:txBody>
          <a:bodyPr wrap="none">
            <a:spAutoFit/>
          </a:bodyPr>
          <a:lstStyle/>
          <a:p>
            <a:r>
              <a:rPr lang="en-US" sz="2200" b="1" dirty="0">
                <a:solidFill>
                  <a:srgbClr val="232F3E"/>
                </a:solidFill>
              </a:rPr>
              <a:t>Text outputs (responses)</a:t>
            </a:r>
          </a:p>
        </p:txBody>
      </p:sp>
      <p:grpSp>
        <p:nvGrpSpPr>
          <p:cNvPr id="30" name="Group 29">
            <a:extLst>
              <a:ext uri="{FF2B5EF4-FFF2-40B4-BE49-F238E27FC236}">
                <a16:creationId xmlns:a16="http://schemas.microsoft.com/office/drawing/2014/main" id="{F82CC6AD-0DA3-20A0-C58E-7F594A623154}"/>
              </a:ext>
            </a:extLst>
          </p:cNvPr>
          <p:cNvGrpSpPr/>
          <p:nvPr/>
        </p:nvGrpSpPr>
        <p:grpSpPr>
          <a:xfrm>
            <a:off x="7384791" y="1320759"/>
            <a:ext cx="4185878" cy="3823354"/>
            <a:chOff x="7384791" y="1320759"/>
            <a:chExt cx="4185878" cy="3823354"/>
          </a:xfrm>
        </p:grpSpPr>
        <p:sp>
          <p:nvSpPr>
            <p:cNvPr id="29" name="Rectangle 28">
              <a:extLst>
                <a:ext uri="{FF2B5EF4-FFF2-40B4-BE49-F238E27FC236}">
                  <a16:creationId xmlns:a16="http://schemas.microsoft.com/office/drawing/2014/main" id="{A2957743-171C-54BD-F567-C5C622826727}"/>
                </a:ext>
              </a:extLst>
            </p:cNvPr>
            <p:cNvSpPr/>
            <p:nvPr/>
          </p:nvSpPr>
          <p:spPr>
            <a:xfrm>
              <a:off x="7582332" y="1320759"/>
              <a:ext cx="3289683" cy="430887"/>
            </a:xfrm>
            <a:prstGeom prst="rect">
              <a:avLst/>
            </a:prstGeom>
            <a:effectLst>
              <a:outerShdw blurRad="63500" dist="37357" dir="2700000" sx="0" sy="0" rotWithShape="0">
                <a:scrgbClr r="0" g="0" b="0"/>
              </a:outerShdw>
              <a:reflection endPos="0" dir="5400000" sy="-100000" algn="bl" rotWithShape="0"/>
            </a:effectLst>
          </p:spPr>
          <p:txBody>
            <a:bodyPr wrap="none">
              <a:spAutoFit/>
            </a:bodyPr>
            <a:lstStyle/>
            <a:p>
              <a:r>
                <a:rPr lang="en-US" sz="2200" b="1" dirty="0">
                  <a:solidFill>
                    <a:srgbClr val="232F3E"/>
                  </a:solidFill>
                </a:rPr>
                <a:t>Example types of tasks:</a:t>
              </a:r>
            </a:p>
          </p:txBody>
        </p:sp>
        <p:sp>
          <p:nvSpPr>
            <p:cNvPr id="18" name="TextBox 17">
              <a:extLst>
                <a:ext uri="{FF2B5EF4-FFF2-40B4-BE49-F238E27FC236}">
                  <a16:creationId xmlns:a16="http://schemas.microsoft.com/office/drawing/2014/main" id="{8D15FD9B-0A6F-735C-8D04-524A747AF930}"/>
                </a:ext>
              </a:extLst>
            </p:cNvPr>
            <p:cNvSpPr txBox="1"/>
            <p:nvPr/>
          </p:nvSpPr>
          <p:spPr>
            <a:xfrm>
              <a:off x="9016765" y="1769599"/>
              <a:ext cx="2553904" cy="3374514"/>
            </a:xfrm>
            <a:prstGeom prst="rect">
              <a:avLst/>
            </a:prstGeom>
            <a:noFill/>
            <a:ln w="44450" cmpd="sng">
              <a:noFill/>
              <a:prstDash val="solid"/>
              <a:tailEnd type="arrow" w="lg" len="sm"/>
            </a:ln>
            <a:effectLst>
              <a:outerShdw blurRad="63500" dist="37357" dir="2700000" sx="0" sy="0" rotWithShape="0">
                <a:scrgbClr r="0" g="0" b="0"/>
              </a:outerShdw>
              <a:reflection endPos="0" dir="5400000" sy="-100000" algn="bl" rotWithShape="0"/>
            </a:effectLst>
          </p:spPr>
          <p:txBody>
            <a:bodyPr wrap="none" rtlCol="0">
              <a:spAutoFit/>
            </a:bodyPr>
            <a:lstStyle/>
            <a:p>
              <a:pPr>
                <a:lnSpc>
                  <a:spcPct val="150000"/>
                </a:lnSpc>
              </a:pPr>
              <a:r>
                <a:rPr lang="en-US" dirty="0">
                  <a:solidFill>
                    <a:srgbClr val="232F3E"/>
                  </a:solidFill>
                </a:rPr>
                <a:t>Text generation</a:t>
              </a:r>
            </a:p>
            <a:p>
              <a:pPr>
                <a:lnSpc>
                  <a:spcPct val="150000"/>
                </a:lnSpc>
              </a:pPr>
              <a:r>
                <a:rPr lang="en-US" dirty="0">
                  <a:solidFill>
                    <a:srgbClr val="232F3E"/>
                  </a:solidFill>
                </a:rPr>
                <a:t>Text summarization</a:t>
              </a:r>
            </a:p>
            <a:p>
              <a:pPr>
                <a:lnSpc>
                  <a:spcPct val="150000"/>
                </a:lnSpc>
              </a:pPr>
              <a:r>
                <a:rPr lang="en-US" dirty="0">
                  <a:solidFill>
                    <a:srgbClr val="232F3E"/>
                  </a:solidFill>
                </a:rPr>
                <a:t>Information extraction</a:t>
              </a:r>
            </a:p>
            <a:p>
              <a:pPr>
                <a:lnSpc>
                  <a:spcPct val="150000"/>
                </a:lnSpc>
              </a:pPr>
              <a:r>
                <a:rPr lang="en-US" dirty="0">
                  <a:solidFill>
                    <a:srgbClr val="232F3E"/>
                  </a:solidFill>
                </a:rPr>
                <a:t>AI assistant</a:t>
              </a:r>
            </a:p>
            <a:p>
              <a:pPr>
                <a:lnSpc>
                  <a:spcPct val="150000"/>
                </a:lnSpc>
              </a:pPr>
              <a:r>
                <a:rPr lang="en-US" dirty="0">
                  <a:solidFill>
                    <a:srgbClr val="232F3E"/>
                  </a:solidFill>
                </a:rPr>
                <a:t>Question answering</a:t>
              </a:r>
            </a:p>
            <a:p>
              <a:pPr>
                <a:lnSpc>
                  <a:spcPct val="150000"/>
                </a:lnSpc>
              </a:pPr>
              <a:r>
                <a:rPr lang="en-US" dirty="0">
                  <a:solidFill>
                    <a:srgbClr val="232F3E"/>
                  </a:solidFill>
                </a:rPr>
                <a:t>Code generation</a:t>
              </a:r>
            </a:p>
            <a:p>
              <a:pPr>
                <a:lnSpc>
                  <a:spcPct val="150000"/>
                </a:lnSpc>
              </a:pPr>
              <a:r>
                <a:rPr lang="en-US" dirty="0">
                  <a:solidFill>
                    <a:srgbClr val="232F3E"/>
                  </a:solidFill>
                </a:rPr>
                <a:t>Image analysis</a:t>
              </a:r>
            </a:p>
            <a:p>
              <a:pPr>
                <a:lnSpc>
                  <a:spcPct val="150000"/>
                </a:lnSpc>
              </a:pPr>
              <a:r>
                <a:rPr lang="en-US" dirty="0">
                  <a:solidFill>
                    <a:srgbClr val="232F3E"/>
                  </a:solidFill>
                </a:rPr>
                <a:t>Video analysis</a:t>
              </a:r>
            </a:p>
          </p:txBody>
        </p:sp>
        <p:cxnSp>
          <p:nvCxnSpPr>
            <p:cNvPr id="19" name="Straight Arrow Connector 18">
              <a:extLst>
                <a:ext uri="{FF2B5EF4-FFF2-40B4-BE49-F238E27FC236}">
                  <a16:creationId xmlns:a16="http://schemas.microsoft.com/office/drawing/2014/main" id="{2159A14C-E845-C087-1AB9-ED9A14B22A58}"/>
                </a:ext>
                <a:ext uri="{C183D7F6-B498-43B3-948B-1728B52AA6E4}">
                  <adec:decorative xmlns:adec="http://schemas.microsoft.com/office/drawing/2017/decorative" val="1"/>
                </a:ext>
              </a:extLst>
            </p:cNvPr>
            <p:cNvCxnSpPr>
              <a:cxnSpLocks/>
            </p:cNvCxnSpPr>
            <p:nvPr/>
          </p:nvCxnSpPr>
          <p:spPr>
            <a:xfrm>
              <a:off x="8430927" y="2039134"/>
              <a:ext cx="524360"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1F043C3-776C-58D9-5A6F-ECA0CCB0B9DA}"/>
                </a:ext>
                <a:ext uri="{C183D7F6-B498-43B3-948B-1728B52AA6E4}">
                  <adec:decorative xmlns:adec="http://schemas.microsoft.com/office/drawing/2017/decorative" val="1"/>
                </a:ext>
              </a:extLst>
            </p:cNvPr>
            <p:cNvCxnSpPr>
              <a:cxnSpLocks/>
            </p:cNvCxnSpPr>
            <p:nvPr/>
          </p:nvCxnSpPr>
          <p:spPr>
            <a:xfrm>
              <a:off x="8426606" y="2439098"/>
              <a:ext cx="524360"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126CC0F-2D19-1398-EFA5-78631183315E}"/>
                </a:ext>
                <a:ext uri="{C183D7F6-B498-43B3-948B-1728B52AA6E4}">
                  <adec:decorative xmlns:adec="http://schemas.microsoft.com/office/drawing/2017/decorative" val="1"/>
                </a:ext>
              </a:extLst>
            </p:cNvPr>
            <p:cNvCxnSpPr>
              <a:cxnSpLocks/>
            </p:cNvCxnSpPr>
            <p:nvPr/>
          </p:nvCxnSpPr>
          <p:spPr>
            <a:xfrm>
              <a:off x="8436938" y="2878625"/>
              <a:ext cx="524360"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CA65348-49FD-9A65-6521-E01DB68D2FB5}"/>
                </a:ext>
                <a:ext uri="{C183D7F6-B498-43B3-948B-1728B52AA6E4}">
                  <adec:decorative xmlns:adec="http://schemas.microsoft.com/office/drawing/2017/decorative" val="1"/>
                </a:ext>
              </a:extLst>
            </p:cNvPr>
            <p:cNvCxnSpPr>
              <a:cxnSpLocks/>
            </p:cNvCxnSpPr>
            <p:nvPr/>
          </p:nvCxnSpPr>
          <p:spPr>
            <a:xfrm>
              <a:off x="8436492" y="3257499"/>
              <a:ext cx="524360"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E31A076-8849-48F6-6261-47485576D9A0}"/>
                </a:ext>
                <a:ext uri="{C183D7F6-B498-43B3-948B-1728B52AA6E4}">
                  <adec:decorative xmlns:adec="http://schemas.microsoft.com/office/drawing/2017/decorative" val="1"/>
                </a:ext>
              </a:extLst>
            </p:cNvPr>
            <p:cNvCxnSpPr>
              <a:cxnSpLocks/>
            </p:cNvCxnSpPr>
            <p:nvPr/>
          </p:nvCxnSpPr>
          <p:spPr>
            <a:xfrm>
              <a:off x="8435132" y="3687574"/>
              <a:ext cx="524360"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35DDC75-6D53-A995-49D8-7CB49D06739F}"/>
                </a:ext>
                <a:ext uri="{C183D7F6-B498-43B3-948B-1728B52AA6E4}">
                  <adec:decorative xmlns:adec="http://schemas.microsoft.com/office/drawing/2017/decorative" val="1"/>
                </a:ext>
              </a:extLst>
            </p:cNvPr>
            <p:cNvCxnSpPr>
              <a:cxnSpLocks/>
            </p:cNvCxnSpPr>
            <p:nvPr/>
          </p:nvCxnSpPr>
          <p:spPr>
            <a:xfrm>
              <a:off x="8435132" y="4103019"/>
              <a:ext cx="524360"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7286CD-D8F4-0201-EDB8-3634529A61BE}"/>
                </a:ext>
              </a:extLst>
            </p:cNvPr>
            <p:cNvCxnSpPr>
              <a:cxnSpLocks/>
            </p:cNvCxnSpPr>
            <p:nvPr/>
          </p:nvCxnSpPr>
          <p:spPr>
            <a:xfrm flipH="1">
              <a:off x="8420767" y="2020280"/>
              <a:ext cx="0" cy="2884796"/>
            </a:xfrm>
            <a:prstGeom prst="line">
              <a:avLst/>
            </a:prstGeom>
            <a:ln w="44450" cmpd="sng">
              <a:solidFill>
                <a:schemeClr val="tx1"/>
              </a:solidFill>
              <a:prstDash val="solid"/>
              <a:tailEnd type="none"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3E6AD3B-4822-1F59-A51D-EE1DC857CB06}"/>
                </a:ext>
                <a:ext uri="{C183D7F6-B498-43B3-948B-1728B52AA6E4}">
                  <adec:decorative xmlns:adec="http://schemas.microsoft.com/office/drawing/2017/decorative" val="1"/>
                </a:ext>
              </a:extLst>
            </p:cNvPr>
            <p:cNvCxnSpPr>
              <a:cxnSpLocks/>
            </p:cNvCxnSpPr>
            <p:nvPr/>
          </p:nvCxnSpPr>
          <p:spPr>
            <a:xfrm>
              <a:off x="7384791" y="3260813"/>
              <a:ext cx="1046136" cy="0"/>
            </a:xfrm>
            <a:prstGeom prst="line">
              <a:avLst/>
            </a:prstGeom>
            <a:ln w="44450" cmpd="sng">
              <a:solidFill>
                <a:schemeClr val="tx1"/>
              </a:solidFill>
              <a:prstDash val="solid"/>
              <a:tailEnd type="none"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11A95E3-C62A-4DF8-826B-50AAF6750909}"/>
                </a:ext>
                <a:ext uri="{C183D7F6-B498-43B3-948B-1728B52AA6E4}">
                  <adec:decorative xmlns:adec="http://schemas.microsoft.com/office/drawing/2017/decorative" val="1"/>
                </a:ext>
              </a:extLst>
            </p:cNvPr>
            <p:cNvCxnSpPr>
              <a:cxnSpLocks/>
            </p:cNvCxnSpPr>
            <p:nvPr/>
          </p:nvCxnSpPr>
          <p:spPr>
            <a:xfrm>
              <a:off x="8420767" y="4521637"/>
              <a:ext cx="542185"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582B51C-E6EA-872F-A291-5347B263BA09}"/>
                </a:ext>
                <a:ext uri="{C183D7F6-B498-43B3-948B-1728B52AA6E4}">
                  <adec:decorative xmlns:adec="http://schemas.microsoft.com/office/drawing/2017/decorative" val="1"/>
                </a:ext>
              </a:extLst>
            </p:cNvPr>
            <p:cNvCxnSpPr>
              <a:cxnSpLocks/>
            </p:cNvCxnSpPr>
            <p:nvPr/>
          </p:nvCxnSpPr>
          <p:spPr>
            <a:xfrm>
              <a:off x="8417018" y="4891326"/>
              <a:ext cx="542185"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774324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D00AB-DAD9-3A13-6175-37BEC864A05F}"/>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2D7E7015-787B-080F-0ECB-D90EB30A7FF6}"/>
              </a:ext>
            </a:extLst>
          </p:cNvPr>
          <p:cNvSpPr>
            <a:spLocks noGrp="1"/>
          </p:cNvSpPr>
          <p:nvPr>
            <p:ph type="sldNum" idx="97"/>
          </p:nvPr>
        </p:nvSpPr>
        <p:spPr/>
        <p:txBody>
          <a:bodyPr/>
          <a:lstStyle/>
          <a:p>
            <a:fld id="{930176A1-BCF0-4712-97A6-6B495F55390B}" type="slidenum">
              <a:rPr lang="en-US" smtClean="0"/>
              <a:pPr/>
              <a:t>12</a:t>
            </a:fld>
            <a:endParaRPr lang="en-US" dirty="0"/>
          </a:p>
        </p:txBody>
      </p:sp>
      <p:sp>
        <p:nvSpPr>
          <p:cNvPr id="4" name="Title">
            <a:extLst>
              <a:ext uri="{FF2B5EF4-FFF2-40B4-BE49-F238E27FC236}">
                <a16:creationId xmlns:a16="http://schemas.microsoft.com/office/drawing/2014/main" id="{557464AC-DA54-EF1C-3E40-F30FA135A31E}"/>
              </a:ext>
            </a:extLst>
          </p:cNvPr>
          <p:cNvSpPr>
            <a:spLocks noGrp="1"/>
          </p:cNvSpPr>
          <p:nvPr>
            <p:ph type="title" idx="1"/>
          </p:nvPr>
        </p:nvSpPr>
        <p:spPr/>
        <p:txBody>
          <a:bodyPr>
            <a:normAutofit fontScale="90000"/>
          </a:bodyPr>
          <a:lstStyle/>
          <a:p>
            <a:r>
              <a:rPr lang="en-US" dirty="0"/>
              <a:t>Applications of creative content generation models</a:t>
            </a:r>
          </a:p>
        </p:txBody>
      </p:sp>
      <p:sp>
        <p:nvSpPr>
          <p:cNvPr id="7" name="Rectangle 6">
            <a:extLst>
              <a:ext uri="{FF2B5EF4-FFF2-40B4-BE49-F238E27FC236}">
                <a16:creationId xmlns:a16="http://schemas.microsoft.com/office/drawing/2014/main" id="{B516D621-0249-C939-6323-3B9F1473790B}"/>
              </a:ext>
            </a:extLst>
          </p:cNvPr>
          <p:cNvSpPr/>
          <p:nvPr/>
        </p:nvSpPr>
        <p:spPr>
          <a:xfrm>
            <a:off x="616840" y="5770112"/>
            <a:ext cx="4031873" cy="430887"/>
          </a:xfrm>
          <a:prstGeom prst="rect">
            <a:avLst/>
          </a:prstGeom>
          <a:effectLst>
            <a:outerShdw blurRad="63500" dist="37357" dir="2700000" sx="0" sy="0" rotWithShape="0">
              <a:scrgbClr r="0" g="0" b="0"/>
            </a:outerShdw>
            <a:reflection endPos="0" dir="5400000" sy="-100000" algn="bl" rotWithShape="0"/>
          </a:effectLst>
        </p:spPr>
        <p:txBody>
          <a:bodyPr wrap="none">
            <a:spAutoFit/>
          </a:bodyPr>
          <a:lstStyle/>
          <a:p>
            <a:r>
              <a:rPr lang="en-US" sz="2200" b="1" dirty="0">
                <a:solidFill>
                  <a:srgbClr val="232F3E"/>
                </a:solidFill>
              </a:rPr>
              <a:t>Multimodal inputs (prompts)</a:t>
            </a:r>
          </a:p>
        </p:txBody>
      </p:sp>
      <p:pic>
        <p:nvPicPr>
          <p:cNvPr id="3" name="Content Placeholder 7">
            <a:extLst>
              <a:ext uri="{FF2B5EF4-FFF2-40B4-BE49-F238E27FC236}">
                <a16:creationId xmlns:a16="http://schemas.microsoft.com/office/drawing/2014/main" id="{951558D0-B7ED-1A35-9CBC-E0957F8CCA89}"/>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55076" y="1916924"/>
            <a:ext cx="2718571" cy="2718571"/>
          </a:xfrm>
          <a:prstGeom prst="rect">
            <a:avLst/>
          </a:prstGeom>
        </p:spPr>
      </p:pic>
      <p:sp>
        <p:nvSpPr>
          <p:cNvPr id="8" name="Rectangle 7">
            <a:extLst>
              <a:ext uri="{FF2B5EF4-FFF2-40B4-BE49-F238E27FC236}">
                <a16:creationId xmlns:a16="http://schemas.microsoft.com/office/drawing/2014/main" id="{86CF4527-43B2-64E5-266B-F3F5354E7B20}"/>
              </a:ext>
            </a:extLst>
          </p:cNvPr>
          <p:cNvSpPr/>
          <p:nvPr/>
        </p:nvSpPr>
        <p:spPr>
          <a:xfrm>
            <a:off x="7063850" y="5770113"/>
            <a:ext cx="4410182" cy="430887"/>
          </a:xfrm>
          <a:prstGeom prst="rect">
            <a:avLst/>
          </a:prstGeom>
          <a:effectLst>
            <a:outerShdw blurRad="63500" dist="37357" dir="2700000" sx="0" sy="0" rotWithShape="0">
              <a:scrgbClr r="0" g="0" b="0"/>
            </a:outerShdw>
            <a:reflection endPos="0" dir="5400000" sy="-100000" algn="bl" rotWithShape="0"/>
          </a:effectLst>
        </p:spPr>
        <p:txBody>
          <a:bodyPr wrap="none">
            <a:spAutoFit/>
          </a:bodyPr>
          <a:lstStyle/>
          <a:p>
            <a:r>
              <a:rPr lang="en-US" sz="2200" b="1" dirty="0">
                <a:solidFill>
                  <a:srgbClr val="232F3E"/>
                </a:solidFill>
              </a:rPr>
              <a:t>Multimodal outputs (responses)</a:t>
            </a:r>
          </a:p>
        </p:txBody>
      </p:sp>
      <p:grpSp>
        <p:nvGrpSpPr>
          <p:cNvPr id="6" name="Group 5">
            <a:extLst>
              <a:ext uri="{FF2B5EF4-FFF2-40B4-BE49-F238E27FC236}">
                <a16:creationId xmlns:a16="http://schemas.microsoft.com/office/drawing/2014/main" id="{27272778-D37F-CA4A-4BE3-BAB9BA267904}"/>
              </a:ext>
              <a:ext uri="{C183D7F6-B498-43B3-948B-1728B52AA6E4}">
                <adec:decorative xmlns:adec="http://schemas.microsoft.com/office/drawing/2017/decorative" val="1"/>
              </a:ext>
            </a:extLst>
          </p:cNvPr>
          <p:cNvGrpSpPr/>
          <p:nvPr/>
        </p:nvGrpSpPr>
        <p:grpSpPr>
          <a:xfrm>
            <a:off x="7384791" y="2843069"/>
            <a:ext cx="1588451" cy="2060490"/>
            <a:chOff x="7384791" y="2843069"/>
            <a:chExt cx="1588451" cy="2060490"/>
          </a:xfrm>
        </p:grpSpPr>
        <p:cxnSp>
          <p:nvCxnSpPr>
            <p:cNvPr id="23" name="Straight Arrow Connector 22">
              <a:extLst>
                <a:ext uri="{FF2B5EF4-FFF2-40B4-BE49-F238E27FC236}">
                  <a16:creationId xmlns:a16="http://schemas.microsoft.com/office/drawing/2014/main" id="{85E79D68-AD95-0F1B-F9BD-B7BB4FBD54E2}"/>
                </a:ext>
                <a:ext uri="{C183D7F6-B498-43B3-948B-1728B52AA6E4}">
                  <adec:decorative xmlns:adec="http://schemas.microsoft.com/office/drawing/2017/decorative" val="1"/>
                </a:ext>
              </a:extLst>
            </p:cNvPr>
            <p:cNvCxnSpPr>
              <a:cxnSpLocks/>
            </p:cNvCxnSpPr>
            <p:nvPr/>
          </p:nvCxnSpPr>
          <p:spPr>
            <a:xfrm>
              <a:off x="8450688" y="2867589"/>
              <a:ext cx="504599"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CAF16D3-623F-E138-7812-763120EE8FDA}"/>
                </a:ext>
                <a:ext uri="{C183D7F6-B498-43B3-948B-1728B52AA6E4}">
                  <adec:decorative xmlns:adec="http://schemas.microsoft.com/office/drawing/2017/decorative" val="1"/>
                </a:ext>
              </a:extLst>
            </p:cNvPr>
            <p:cNvCxnSpPr>
              <a:cxnSpLocks/>
            </p:cNvCxnSpPr>
            <p:nvPr/>
          </p:nvCxnSpPr>
          <p:spPr>
            <a:xfrm>
              <a:off x="8430941" y="3249196"/>
              <a:ext cx="524360"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2B39A17-33A0-1E66-0AEC-E888B95F133F}"/>
                </a:ext>
                <a:ext uri="{C183D7F6-B498-43B3-948B-1728B52AA6E4}">
                  <adec:decorative xmlns:adec="http://schemas.microsoft.com/office/drawing/2017/decorative" val="1"/>
                </a:ext>
              </a:extLst>
            </p:cNvPr>
            <p:cNvCxnSpPr>
              <a:cxnSpLocks/>
            </p:cNvCxnSpPr>
            <p:nvPr/>
          </p:nvCxnSpPr>
          <p:spPr>
            <a:xfrm>
              <a:off x="8448882" y="3676538"/>
              <a:ext cx="524360"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001342F-20BA-7897-3314-6C2A96BFED46}"/>
                </a:ext>
                <a:ext uri="{C183D7F6-B498-43B3-948B-1728B52AA6E4}">
                  <adec:decorative xmlns:adec="http://schemas.microsoft.com/office/drawing/2017/decorative" val="1"/>
                </a:ext>
              </a:extLst>
            </p:cNvPr>
            <p:cNvCxnSpPr>
              <a:cxnSpLocks/>
            </p:cNvCxnSpPr>
            <p:nvPr/>
          </p:nvCxnSpPr>
          <p:spPr>
            <a:xfrm>
              <a:off x="8448882" y="4091983"/>
              <a:ext cx="524360"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89DE8E6-5B85-DD7C-BFBE-A06252725888}"/>
                </a:ext>
                <a:ext uri="{C183D7F6-B498-43B3-948B-1728B52AA6E4}">
                  <adec:decorative xmlns:adec="http://schemas.microsoft.com/office/drawing/2017/decorative" val="1"/>
                </a:ext>
              </a:extLst>
            </p:cNvPr>
            <p:cNvCxnSpPr>
              <a:cxnSpLocks/>
            </p:cNvCxnSpPr>
            <p:nvPr/>
          </p:nvCxnSpPr>
          <p:spPr>
            <a:xfrm>
              <a:off x="8430927" y="2843069"/>
              <a:ext cx="0" cy="2060490"/>
            </a:xfrm>
            <a:prstGeom prst="line">
              <a:avLst/>
            </a:prstGeom>
            <a:ln w="44450" cmpd="sng">
              <a:solidFill>
                <a:schemeClr val="tx1"/>
              </a:solidFill>
              <a:prstDash val="solid"/>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494BBE5-5F09-827C-E716-A2FC42565E6D}"/>
                </a:ext>
                <a:ext uri="{C183D7F6-B498-43B3-948B-1728B52AA6E4}">
                  <adec:decorative xmlns:adec="http://schemas.microsoft.com/office/drawing/2017/decorative" val="1"/>
                </a:ext>
              </a:extLst>
            </p:cNvPr>
            <p:cNvCxnSpPr>
              <a:cxnSpLocks/>
            </p:cNvCxnSpPr>
            <p:nvPr/>
          </p:nvCxnSpPr>
          <p:spPr>
            <a:xfrm>
              <a:off x="7384791" y="3249777"/>
              <a:ext cx="1046136" cy="0"/>
            </a:xfrm>
            <a:prstGeom prst="line">
              <a:avLst/>
            </a:prstGeom>
            <a:ln w="44450" cmpd="sng">
              <a:solidFill>
                <a:schemeClr val="tx1"/>
              </a:solidFill>
              <a:prstDash val="solid"/>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677308E-5831-2945-05FD-6E080175B743}"/>
                </a:ext>
                <a:ext uri="{C183D7F6-B498-43B3-948B-1728B52AA6E4}">
                  <adec:decorative xmlns:adec="http://schemas.microsoft.com/office/drawing/2017/decorative" val="1"/>
                </a:ext>
              </a:extLst>
            </p:cNvPr>
            <p:cNvCxnSpPr>
              <a:cxnSpLocks/>
            </p:cNvCxnSpPr>
            <p:nvPr/>
          </p:nvCxnSpPr>
          <p:spPr>
            <a:xfrm>
              <a:off x="8430927" y="4497771"/>
              <a:ext cx="524360"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6987B3C-FCE2-BA8C-7895-56F3CE401596}"/>
                </a:ext>
                <a:ext uri="{C183D7F6-B498-43B3-948B-1728B52AA6E4}">
                  <adec:decorative xmlns:adec="http://schemas.microsoft.com/office/drawing/2017/decorative" val="1"/>
                </a:ext>
              </a:extLst>
            </p:cNvPr>
            <p:cNvCxnSpPr>
              <a:cxnSpLocks/>
            </p:cNvCxnSpPr>
            <p:nvPr/>
          </p:nvCxnSpPr>
          <p:spPr>
            <a:xfrm>
              <a:off x="8407694" y="4903559"/>
              <a:ext cx="545806"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grpSp>
      <p:sp>
        <p:nvSpPr>
          <p:cNvPr id="13" name="Rectangle 12">
            <a:extLst>
              <a:ext uri="{FF2B5EF4-FFF2-40B4-BE49-F238E27FC236}">
                <a16:creationId xmlns:a16="http://schemas.microsoft.com/office/drawing/2014/main" id="{A23138A0-AB65-B2AC-90A1-BC49987875DD}"/>
              </a:ext>
            </a:extLst>
          </p:cNvPr>
          <p:cNvSpPr/>
          <p:nvPr/>
        </p:nvSpPr>
        <p:spPr>
          <a:xfrm>
            <a:off x="7582332" y="1750420"/>
            <a:ext cx="3289683" cy="430887"/>
          </a:xfrm>
          <a:prstGeom prst="rect">
            <a:avLst/>
          </a:prstGeom>
          <a:effectLst>
            <a:outerShdw blurRad="63500" dist="37357" dir="2700000" sx="0" sy="0" rotWithShape="0">
              <a:scrgbClr r="0" g="0" b="0"/>
            </a:outerShdw>
            <a:reflection endPos="0" dir="5400000" sy="-100000" algn="bl" rotWithShape="0"/>
          </a:effectLst>
        </p:spPr>
        <p:txBody>
          <a:bodyPr wrap="none">
            <a:spAutoFit/>
          </a:bodyPr>
          <a:lstStyle/>
          <a:p>
            <a:r>
              <a:rPr lang="en-US" sz="2200" b="1" dirty="0">
                <a:solidFill>
                  <a:srgbClr val="232F3E"/>
                </a:solidFill>
              </a:rPr>
              <a:t>Example types of tasks:</a:t>
            </a:r>
          </a:p>
        </p:txBody>
      </p:sp>
      <p:sp>
        <p:nvSpPr>
          <p:cNvPr id="18" name="TextBox 17">
            <a:extLst>
              <a:ext uri="{FF2B5EF4-FFF2-40B4-BE49-F238E27FC236}">
                <a16:creationId xmlns:a16="http://schemas.microsoft.com/office/drawing/2014/main" id="{AC9BFD8A-25B4-E259-B5CA-CEC098DB29AD}"/>
              </a:ext>
            </a:extLst>
          </p:cNvPr>
          <p:cNvSpPr txBox="1"/>
          <p:nvPr/>
        </p:nvSpPr>
        <p:spPr>
          <a:xfrm>
            <a:off x="9016765" y="2588125"/>
            <a:ext cx="2287806" cy="2543517"/>
          </a:xfrm>
          <a:prstGeom prst="rect">
            <a:avLst/>
          </a:prstGeom>
          <a:noFill/>
        </p:spPr>
        <p:txBody>
          <a:bodyPr wrap="none" rtlCol="0">
            <a:spAutoFit/>
          </a:bodyPr>
          <a:lstStyle/>
          <a:p>
            <a:pPr>
              <a:lnSpc>
                <a:spcPct val="150000"/>
              </a:lnSpc>
            </a:pPr>
            <a:r>
              <a:rPr lang="en-US" dirty="0">
                <a:solidFill>
                  <a:srgbClr val="232F3E"/>
                </a:solidFill>
              </a:rPr>
              <a:t>Image generation</a:t>
            </a:r>
          </a:p>
          <a:p>
            <a:pPr>
              <a:lnSpc>
                <a:spcPct val="150000"/>
              </a:lnSpc>
            </a:pPr>
            <a:r>
              <a:rPr lang="en-US" dirty="0">
                <a:solidFill>
                  <a:srgbClr val="232F3E"/>
                </a:solidFill>
              </a:rPr>
              <a:t>Image editing</a:t>
            </a:r>
          </a:p>
          <a:p>
            <a:pPr>
              <a:lnSpc>
                <a:spcPct val="150000"/>
              </a:lnSpc>
            </a:pPr>
            <a:r>
              <a:rPr lang="en-US" dirty="0">
                <a:solidFill>
                  <a:srgbClr val="232F3E"/>
                </a:solidFill>
              </a:rPr>
              <a:t>Video generation</a:t>
            </a:r>
          </a:p>
          <a:p>
            <a:pPr>
              <a:lnSpc>
                <a:spcPct val="150000"/>
              </a:lnSpc>
            </a:pPr>
            <a:r>
              <a:rPr lang="en-US" dirty="0">
                <a:solidFill>
                  <a:srgbClr val="232F3E"/>
                </a:solidFill>
              </a:rPr>
              <a:t>Video composition</a:t>
            </a:r>
          </a:p>
          <a:p>
            <a:pPr>
              <a:lnSpc>
                <a:spcPct val="150000"/>
              </a:lnSpc>
            </a:pPr>
            <a:r>
              <a:rPr lang="en-US" dirty="0">
                <a:solidFill>
                  <a:srgbClr val="232F3E"/>
                </a:solidFill>
              </a:rPr>
              <a:t>Speech recognition*</a:t>
            </a:r>
          </a:p>
          <a:p>
            <a:pPr>
              <a:lnSpc>
                <a:spcPct val="150000"/>
              </a:lnSpc>
            </a:pPr>
            <a:r>
              <a:rPr lang="en-US" dirty="0">
                <a:solidFill>
                  <a:srgbClr val="232F3E"/>
                </a:solidFill>
              </a:rPr>
              <a:t>Speech synthesis</a:t>
            </a:r>
          </a:p>
        </p:txBody>
      </p:sp>
      <p:grpSp>
        <p:nvGrpSpPr>
          <p:cNvPr id="10" name="Group 9">
            <a:extLst>
              <a:ext uri="{FF2B5EF4-FFF2-40B4-BE49-F238E27FC236}">
                <a16:creationId xmlns:a16="http://schemas.microsoft.com/office/drawing/2014/main" id="{D40FA3A0-7F8A-E11A-AFD8-CD085DDAE31E}"/>
              </a:ext>
              <a:ext uri="{C183D7F6-B498-43B3-948B-1728B52AA6E4}">
                <adec:decorative xmlns:adec="http://schemas.microsoft.com/office/drawing/2017/decorative" val="1"/>
              </a:ext>
            </a:extLst>
          </p:cNvPr>
          <p:cNvGrpSpPr/>
          <p:nvPr/>
        </p:nvGrpSpPr>
        <p:grpSpPr>
          <a:xfrm>
            <a:off x="2496623" y="1371599"/>
            <a:ext cx="2462684" cy="3386717"/>
            <a:chOff x="2496623" y="1371599"/>
            <a:chExt cx="2462684" cy="3386717"/>
          </a:xfrm>
        </p:grpSpPr>
        <p:pic>
          <p:nvPicPr>
            <p:cNvPr id="11" name="Graphic 10">
              <a:extLst>
                <a:ext uri="{FF2B5EF4-FFF2-40B4-BE49-F238E27FC236}">
                  <a16:creationId xmlns:a16="http://schemas.microsoft.com/office/drawing/2014/main" id="{FE2FFA27-26B5-C683-EEE3-BE9BDE476890}"/>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99862" y="3073396"/>
              <a:ext cx="1143000" cy="1143000"/>
            </a:xfrm>
            <a:prstGeom prst="rect">
              <a:avLst/>
            </a:prstGeom>
          </p:spPr>
        </p:pic>
        <p:cxnSp>
          <p:nvCxnSpPr>
            <p:cNvPr id="17" name="Straight Arrow Connector 16">
              <a:extLst>
                <a:ext uri="{FF2B5EF4-FFF2-40B4-BE49-F238E27FC236}">
                  <a16:creationId xmlns:a16="http://schemas.microsoft.com/office/drawing/2014/main" id="{A5D67E1C-F9F9-25CD-E57B-4B43424981B1}"/>
                </a:ext>
                <a:ext uri="{C183D7F6-B498-43B3-948B-1728B52AA6E4}">
                  <adec:decorative xmlns:adec="http://schemas.microsoft.com/office/drawing/2017/decorative" val="1"/>
                </a:ext>
              </a:extLst>
            </p:cNvPr>
            <p:cNvCxnSpPr/>
            <p:nvPr/>
          </p:nvCxnSpPr>
          <p:spPr>
            <a:xfrm>
              <a:off x="3657901" y="3249778"/>
              <a:ext cx="1301406" cy="0"/>
            </a:xfrm>
            <a:prstGeom prst="straightConnector1">
              <a:avLst/>
            </a:prstGeom>
            <a:ln w="44450" cmpd="sng">
              <a:solidFill>
                <a:schemeClr val="tx1"/>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12" name="Picture Placeholder 47">
              <a:extLst>
                <a:ext uri="{FF2B5EF4-FFF2-40B4-BE49-F238E27FC236}">
                  <a16:creationId xmlns:a16="http://schemas.microsoft.com/office/drawing/2014/main" id="{00E8E3F2-49A5-1FBF-A6A5-F89AB43AD013}"/>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812" r="812"/>
            <a:stretch>
              <a:fillRect/>
            </a:stretch>
          </p:blipFill>
          <p:spPr>
            <a:xfrm>
              <a:off x="2503319" y="2209994"/>
              <a:ext cx="1349477" cy="1371600"/>
            </a:xfrm>
            <a:prstGeom prst="rect">
              <a:avLst/>
            </a:prstGeom>
          </p:spPr>
        </p:pic>
        <p:pic>
          <p:nvPicPr>
            <p:cNvPr id="14" name="Picture Placeholder 44">
              <a:extLst>
                <a:ext uri="{FF2B5EF4-FFF2-40B4-BE49-F238E27FC236}">
                  <a16:creationId xmlns:a16="http://schemas.microsoft.com/office/drawing/2014/main" id="{E59F9F42-C174-888D-C814-6D299958486C}"/>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812" r="812"/>
            <a:stretch>
              <a:fillRect/>
            </a:stretch>
          </p:blipFill>
          <p:spPr>
            <a:xfrm>
              <a:off x="2496623" y="1371599"/>
              <a:ext cx="1349477" cy="1371600"/>
            </a:xfrm>
            <a:prstGeom prst="rect">
              <a:avLst/>
            </a:prstGeom>
          </p:spPr>
        </p:pic>
        <p:cxnSp>
          <p:nvCxnSpPr>
            <p:cNvPr id="22" name="Straight Connector 21">
              <a:extLst>
                <a:ext uri="{FF2B5EF4-FFF2-40B4-BE49-F238E27FC236}">
                  <a16:creationId xmlns:a16="http://schemas.microsoft.com/office/drawing/2014/main" id="{168A6586-CB27-F176-7E0A-5E8398426765}"/>
                </a:ext>
                <a:ext uri="{C183D7F6-B498-43B3-948B-1728B52AA6E4}">
                  <adec:decorative xmlns:adec="http://schemas.microsoft.com/office/drawing/2017/decorative" val="1"/>
                </a:ext>
              </a:extLst>
            </p:cNvPr>
            <p:cNvCxnSpPr>
              <a:cxnSpLocks/>
            </p:cNvCxnSpPr>
            <p:nvPr/>
          </p:nvCxnSpPr>
          <p:spPr>
            <a:xfrm flipV="1">
              <a:off x="2740381" y="4365201"/>
              <a:ext cx="0" cy="206521"/>
            </a:xfrm>
            <a:prstGeom prst="line">
              <a:avLst/>
            </a:prstGeom>
            <a:ln w="25400">
              <a:solidFill>
                <a:srgbClr val="232F3E"/>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6A18B8C-6939-946B-D003-3650866F8ACE}"/>
                </a:ext>
                <a:ext uri="{C183D7F6-B498-43B3-948B-1728B52AA6E4}">
                  <adec:decorative xmlns:adec="http://schemas.microsoft.com/office/drawing/2017/decorative" val="1"/>
                </a:ext>
              </a:extLst>
            </p:cNvPr>
            <p:cNvCxnSpPr>
              <a:cxnSpLocks/>
            </p:cNvCxnSpPr>
            <p:nvPr/>
          </p:nvCxnSpPr>
          <p:spPr>
            <a:xfrm flipV="1">
              <a:off x="2838073" y="4289397"/>
              <a:ext cx="0" cy="328247"/>
            </a:xfrm>
            <a:prstGeom prst="line">
              <a:avLst/>
            </a:prstGeom>
            <a:ln w="25400">
              <a:solidFill>
                <a:srgbClr val="232F3E"/>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DB154A6-A8C9-4701-0286-A76000F097C3}"/>
                </a:ext>
                <a:ext uri="{C183D7F6-B498-43B3-948B-1728B52AA6E4}">
                  <adec:decorative xmlns:adec="http://schemas.microsoft.com/office/drawing/2017/decorative" val="1"/>
                </a:ext>
              </a:extLst>
            </p:cNvPr>
            <p:cNvCxnSpPr>
              <a:cxnSpLocks/>
            </p:cNvCxnSpPr>
            <p:nvPr/>
          </p:nvCxnSpPr>
          <p:spPr>
            <a:xfrm flipV="1">
              <a:off x="2951396" y="4128396"/>
              <a:ext cx="0" cy="629920"/>
            </a:xfrm>
            <a:prstGeom prst="line">
              <a:avLst/>
            </a:prstGeom>
            <a:ln w="25400">
              <a:solidFill>
                <a:srgbClr val="232F3E"/>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3676B0B-D918-9026-723B-315BF2D9A142}"/>
                </a:ext>
                <a:ext uri="{C183D7F6-B498-43B3-948B-1728B52AA6E4}">
                  <adec:decorative xmlns:adec="http://schemas.microsoft.com/office/drawing/2017/decorative" val="1"/>
                </a:ext>
              </a:extLst>
            </p:cNvPr>
            <p:cNvCxnSpPr>
              <a:cxnSpLocks/>
            </p:cNvCxnSpPr>
            <p:nvPr/>
          </p:nvCxnSpPr>
          <p:spPr>
            <a:xfrm flipV="1">
              <a:off x="3049088" y="4289397"/>
              <a:ext cx="0" cy="328247"/>
            </a:xfrm>
            <a:prstGeom prst="line">
              <a:avLst/>
            </a:prstGeom>
            <a:ln w="25400">
              <a:solidFill>
                <a:srgbClr val="232F3E"/>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410A04D-D820-DE72-74EF-228EDB6B7DA0}"/>
                </a:ext>
                <a:ext uri="{C183D7F6-B498-43B3-948B-1728B52AA6E4}">
                  <adec:decorative xmlns:adec="http://schemas.microsoft.com/office/drawing/2017/decorative" val="1"/>
                </a:ext>
              </a:extLst>
            </p:cNvPr>
            <p:cNvCxnSpPr>
              <a:cxnSpLocks/>
            </p:cNvCxnSpPr>
            <p:nvPr/>
          </p:nvCxnSpPr>
          <p:spPr>
            <a:xfrm flipV="1">
              <a:off x="3172181" y="4128396"/>
              <a:ext cx="0" cy="629920"/>
            </a:xfrm>
            <a:prstGeom prst="line">
              <a:avLst/>
            </a:prstGeom>
            <a:ln w="25400">
              <a:solidFill>
                <a:srgbClr val="232F3E"/>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4D15107-8943-EF93-0A42-421EF47EC1E1}"/>
                </a:ext>
                <a:ext uri="{C183D7F6-B498-43B3-948B-1728B52AA6E4}">
                  <adec:decorative xmlns:adec="http://schemas.microsoft.com/office/drawing/2017/decorative" val="1"/>
                </a:ext>
              </a:extLst>
            </p:cNvPr>
            <p:cNvCxnSpPr>
              <a:cxnSpLocks/>
            </p:cNvCxnSpPr>
            <p:nvPr/>
          </p:nvCxnSpPr>
          <p:spPr>
            <a:xfrm flipV="1">
              <a:off x="3281597" y="4289397"/>
              <a:ext cx="0" cy="328247"/>
            </a:xfrm>
            <a:prstGeom prst="line">
              <a:avLst/>
            </a:prstGeom>
            <a:ln w="25400">
              <a:solidFill>
                <a:srgbClr val="232F3E"/>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DA6A9B0-CE1B-621A-F479-AD350499BBED}"/>
                </a:ext>
                <a:ext uri="{C183D7F6-B498-43B3-948B-1728B52AA6E4}">
                  <adec:decorative xmlns:adec="http://schemas.microsoft.com/office/drawing/2017/decorative" val="1"/>
                </a:ext>
              </a:extLst>
            </p:cNvPr>
            <p:cNvCxnSpPr>
              <a:cxnSpLocks/>
            </p:cNvCxnSpPr>
            <p:nvPr/>
          </p:nvCxnSpPr>
          <p:spPr>
            <a:xfrm flipV="1">
              <a:off x="3398827" y="4128396"/>
              <a:ext cx="0" cy="629920"/>
            </a:xfrm>
            <a:prstGeom prst="line">
              <a:avLst/>
            </a:prstGeom>
            <a:ln w="25400">
              <a:solidFill>
                <a:srgbClr val="232F3E"/>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35BE531-9C58-AC88-59DB-AE0818F5539B}"/>
                </a:ext>
                <a:ext uri="{C183D7F6-B498-43B3-948B-1728B52AA6E4}">
                  <adec:decorative xmlns:adec="http://schemas.microsoft.com/office/drawing/2017/decorative" val="1"/>
                </a:ext>
              </a:extLst>
            </p:cNvPr>
            <p:cNvCxnSpPr>
              <a:cxnSpLocks/>
            </p:cNvCxnSpPr>
            <p:nvPr/>
          </p:nvCxnSpPr>
          <p:spPr>
            <a:xfrm flipV="1">
              <a:off x="3508242" y="4289397"/>
              <a:ext cx="0" cy="328247"/>
            </a:xfrm>
            <a:prstGeom prst="line">
              <a:avLst/>
            </a:prstGeom>
            <a:ln w="25400">
              <a:solidFill>
                <a:srgbClr val="232F3E"/>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F8E01B1-62E2-F8D1-1E64-4E6D0A4C86B7}"/>
                </a:ext>
                <a:ext uri="{C183D7F6-B498-43B3-948B-1728B52AA6E4}">
                  <adec:decorative xmlns:adec="http://schemas.microsoft.com/office/drawing/2017/decorative" val="1"/>
                </a:ext>
              </a:extLst>
            </p:cNvPr>
            <p:cNvCxnSpPr>
              <a:cxnSpLocks/>
            </p:cNvCxnSpPr>
            <p:nvPr/>
          </p:nvCxnSpPr>
          <p:spPr>
            <a:xfrm flipV="1">
              <a:off x="3602027" y="4388646"/>
              <a:ext cx="1954" cy="178196"/>
            </a:xfrm>
            <a:prstGeom prst="line">
              <a:avLst/>
            </a:prstGeom>
            <a:ln w="25400">
              <a:solidFill>
                <a:srgbClr val="232F3E"/>
              </a:solidFill>
            </a:ln>
          </p:spPr>
          <p:style>
            <a:lnRef idx="1">
              <a:schemeClr val="accent1"/>
            </a:lnRef>
            <a:fillRef idx="0">
              <a:schemeClr val="accent1"/>
            </a:fillRef>
            <a:effectRef idx="0">
              <a:schemeClr val="accent1"/>
            </a:effectRef>
            <a:fontRef idx="minor">
              <a:schemeClr val="tx1"/>
            </a:fontRef>
          </p:style>
        </p:cxnSp>
      </p:grpSp>
      <p:sp>
        <p:nvSpPr>
          <p:cNvPr id="5" name="a11y_slide_end" descr="Notes Section.">
            <a:extLst>
              <a:ext uri="{FF2B5EF4-FFF2-40B4-BE49-F238E27FC236}">
                <a16:creationId xmlns:a16="http://schemas.microsoft.com/office/drawing/2014/main" id="{3531058F-706D-221A-762F-E85A7BB366E0}"/>
              </a:ext>
            </a:extLst>
          </p:cNvPr>
          <p:cNvSpPr/>
          <p:nvPr/>
        </p:nvSpPr>
        <p:spPr>
          <a:xfrm>
            <a:off x="12700" y="12700"/>
            <a:ext cx="12700" cy="12700"/>
          </a:xfrm>
          <a:prstGeom prst="rect">
            <a:avLst/>
          </a:prstGeom>
          <a:solidFill>
            <a:schemeClr val="accent1">
              <a:alpha val="1000"/>
            </a:schemeClr>
          </a:solidFill>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1717376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DB399F4-FDA9-83A4-6C90-A99FE86336B6}"/>
              </a:ext>
            </a:extLst>
          </p:cNvPr>
          <p:cNvSpPr>
            <a:spLocks noGrp="1"/>
          </p:cNvSpPr>
          <p:nvPr>
            <p:ph type="title" idx="1"/>
          </p:nvPr>
        </p:nvSpPr>
        <p:spPr/>
        <p:txBody>
          <a:bodyPr>
            <a:normAutofit/>
          </a:bodyPr>
          <a:lstStyle/>
          <a:p>
            <a:r>
              <a:rPr lang="en-US" sz="3600" dirty="0"/>
              <a:t>Generative AI can add value across the business</a:t>
            </a:r>
          </a:p>
        </p:txBody>
      </p:sp>
      <p:sp>
        <p:nvSpPr>
          <p:cNvPr id="28" name="SlideNumber">
            <a:extLst>
              <a:ext uri="{FF2B5EF4-FFF2-40B4-BE49-F238E27FC236}">
                <a16:creationId xmlns:a16="http://schemas.microsoft.com/office/drawing/2014/main" id="{453F5E25-2E5E-49E3-B6F0-52A472CE00A0}"/>
              </a:ext>
            </a:extLst>
          </p:cNvPr>
          <p:cNvSpPr>
            <a:spLocks noGrp="1"/>
          </p:cNvSpPr>
          <p:nvPr>
            <p:ph type="sldNum" idx="97"/>
          </p:nvPr>
        </p:nvSpPr>
        <p:spPr/>
        <p:txBody>
          <a:bodyPr/>
          <a:lstStyle/>
          <a:p>
            <a:fld id="{4037B1B0-0345-4E15-985A-6BECCDBE474F}" type="slidenum">
              <a:rPr lang="en-US" smtClean="0"/>
              <a:pPr/>
              <a:t>13</a:t>
            </a:fld>
            <a:endParaRPr lang="en-US" dirty="0"/>
          </a:p>
        </p:txBody>
      </p:sp>
      <p:sp>
        <p:nvSpPr>
          <p:cNvPr id="19" name="Text Placeholder 18">
            <a:extLst>
              <a:ext uri="{FF2B5EF4-FFF2-40B4-BE49-F238E27FC236}">
                <a16:creationId xmlns:a16="http://schemas.microsoft.com/office/drawing/2014/main" id="{2713D98E-E1D8-4BD7-90DC-8E13073E0353}"/>
              </a:ext>
            </a:extLst>
          </p:cNvPr>
          <p:cNvSpPr>
            <a:spLocks noGrp="1"/>
          </p:cNvSpPr>
          <p:nvPr>
            <p:ph type="body" idx="12"/>
          </p:nvPr>
        </p:nvSpPr>
        <p:spPr/>
        <p:txBody>
          <a:bodyPr>
            <a:normAutofit/>
          </a:bodyPr>
          <a:lstStyle/>
          <a:p>
            <a:pPr algn="ctr"/>
            <a:r>
              <a:rPr lang="en-US" sz="1800" dirty="0"/>
              <a:t>Customer experience</a:t>
            </a:r>
          </a:p>
        </p:txBody>
      </p:sp>
      <p:sp>
        <p:nvSpPr>
          <p:cNvPr id="20" name="Text Placeholder 19">
            <a:extLst>
              <a:ext uri="{FF2B5EF4-FFF2-40B4-BE49-F238E27FC236}">
                <a16:creationId xmlns:a16="http://schemas.microsoft.com/office/drawing/2014/main" id="{98984D5B-6979-4648-8F7C-D468DEAB489A}"/>
              </a:ext>
            </a:extLst>
          </p:cNvPr>
          <p:cNvSpPr>
            <a:spLocks noGrp="1"/>
          </p:cNvSpPr>
          <p:nvPr>
            <p:ph type="body" idx="13"/>
          </p:nvPr>
        </p:nvSpPr>
        <p:spPr/>
        <p:txBody>
          <a:bodyPr>
            <a:noAutofit/>
          </a:bodyPr>
          <a:lstStyle/>
          <a:p>
            <a:pPr algn="ctr"/>
            <a:r>
              <a:rPr lang="en-US" sz="1800" dirty="0"/>
              <a:t>Employee productivity</a:t>
            </a:r>
          </a:p>
        </p:txBody>
      </p:sp>
      <p:sp>
        <p:nvSpPr>
          <p:cNvPr id="21" name="Text Placeholder 20">
            <a:extLst>
              <a:ext uri="{FF2B5EF4-FFF2-40B4-BE49-F238E27FC236}">
                <a16:creationId xmlns:a16="http://schemas.microsoft.com/office/drawing/2014/main" id="{BC3C3D14-482F-431A-845B-4EB4DDAA1384}"/>
              </a:ext>
            </a:extLst>
          </p:cNvPr>
          <p:cNvSpPr>
            <a:spLocks noGrp="1"/>
          </p:cNvSpPr>
          <p:nvPr>
            <p:ph type="body" idx="14"/>
          </p:nvPr>
        </p:nvSpPr>
        <p:spPr/>
        <p:txBody>
          <a:bodyPr>
            <a:noAutofit/>
          </a:bodyPr>
          <a:lstStyle/>
          <a:p>
            <a:pPr algn="ctr"/>
            <a:r>
              <a:rPr lang="en-US" sz="1800" dirty="0"/>
              <a:t>Creativity and content</a:t>
            </a:r>
          </a:p>
        </p:txBody>
      </p:sp>
      <p:sp>
        <p:nvSpPr>
          <p:cNvPr id="22" name="Subtitle 21">
            <a:extLst>
              <a:ext uri="{FF2B5EF4-FFF2-40B4-BE49-F238E27FC236}">
                <a16:creationId xmlns:a16="http://schemas.microsoft.com/office/drawing/2014/main" id="{5A4AA576-58C9-46AC-8231-D54A92A27A38}"/>
              </a:ext>
            </a:extLst>
          </p:cNvPr>
          <p:cNvSpPr>
            <a:spLocks noGrp="1"/>
          </p:cNvSpPr>
          <p:nvPr>
            <p:ph type="body" idx="15"/>
          </p:nvPr>
        </p:nvSpPr>
        <p:spPr/>
        <p:txBody>
          <a:bodyPr>
            <a:normAutofit/>
          </a:bodyPr>
          <a:lstStyle/>
          <a:p>
            <a:pPr algn="ctr"/>
            <a:r>
              <a:rPr lang="en-US" sz="1800" dirty="0"/>
              <a:t>Business operations</a:t>
            </a:r>
          </a:p>
        </p:txBody>
      </p:sp>
      <p:pic>
        <p:nvPicPr>
          <p:cNvPr id="27" name="Picture Placeholder 59">
            <a:extLst>
              <a:ext uri="{FF2B5EF4-FFF2-40B4-BE49-F238E27FC236}">
                <a16:creationId xmlns:a16="http://schemas.microsoft.com/office/drawing/2014/main" id="{4965BB41-38E2-3B54-4D59-EDCAF3DA3891}"/>
              </a:ext>
              <a:ext uri="{C183D7F6-B498-43B3-948B-1728B52AA6E4}">
                <adec:decorative xmlns:adec="http://schemas.microsoft.com/office/drawing/2017/decorative" val="1"/>
              </a:ext>
            </a:extLst>
          </p:cNvPr>
          <p:cNvPicPr>
            <a:picLocks noGrp="1" noChangeAspect="1"/>
          </p:cNvPicPr>
          <p:nvPr>
            <p:ph type="pic" idx="22"/>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812" r="812"/>
          <a:stretch>
            <a:fillRect/>
          </a:stretch>
        </p:blipFill>
        <p:spPr>
          <a:xfrm>
            <a:off x="365125" y="1835150"/>
            <a:ext cx="2789238" cy="2835275"/>
          </a:xfrm>
          <a:prstGeom prst="rect">
            <a:avLst/>
          </a:prstGeom>
        </p:spPr>
      </p:pic>
      <p:pic>
        <p:nvPicPr>
          <p:cNvPr id="29" name="Picture Placeholder 20">
            <a:extLst>
              <a:ext uri="{FF2B5EF4-FFF2-40B4-BE49-F238E27FC236}">
                <a16:creationId xmlns:a16="http://schemas.microsoft.com/office/drawing/2014/main" id="{D1F537B0-C602-49B5-05FC-EC14AA9ECF53}"/>
              </a:ext>
              <a:ext uri="{C183D7F6-B498-43B3-948B-1728B52AA6E4}">
                <adec:decorative xmlns:adec="http://schemas.microsoft.com/office/drawing/2017/decorative" val="1"/>
              </a:ext>
            </a:extLst>
          </p:cNvPr>
          <p:cNvPicPr>
            <a:picLocks noGrp="1" noChangeAspect="1"/>
          </p:cNvPicPr>
          <p:nvPr>
            <p:ph type="pic" idx="23"/>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812" r="812"/>
          <a:stretch/>
        </p:blipFill>
        <p:spPr>
          <a:xfrm>
            <a:off x="3257550" y="1835150"/>
            <a:ext cx="2789238" cy="2835275"/>
          </a:xfrm>
          <a:prstGeom prst="rect">
            <a:avLst/>
          </a:prstGeom>
        </p:spPr>
      </p:pic>
      <p:pic>
        <p:nvPicPr>
          <p:cNvPr id="30" name="Picture Placeholder 58">
            <a:extLst>
              <a:ext uri="{FF2B5EF4-FFF2-40B4-BE49-F238E27FC236}">
                <a16:creationId xmlns:a16="http://schemas.microsoft.com/office/drawing/2014/main" id="{C3B12B78-1DBD-D2FA-76B7-89EE9048D30A}"/>
              </a:ext>
              <a:ext uri="{C183D7F6-B498-43B3-948B-1728B52AA6E4}">
                <adec:decorative xmlns:adec="http://schemas.microsoft.com/office/drawing/2017/decorative" val="1"/>
              </a:ext>
            </a:extLst>
          </p:cNvPr>
          <p:cNvPicPr>
            <a:picLocks noGrp="1" noChangeAspect="1"/>
          </p:cNvPicPr>
          <p:nvPr>
            <p:ph type="pic" idx="24"/>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840" r="840"/>
          <a:stretch>
            <a:fillRect/>
          </a:stretch>
        </p:blipFill>
        <p:spPr>
          <a:xfrm>
            <a:off x="6151563" y="1835150"/>
            <a:ext cx="2787650" cy="2835275"/>
          </a:xfrm>
          <a:prstGeom prst="rect">
            <a:avLst/>
          </a:prstGeom>
        </p:spPr>
      </p:pic>
      <p:pic>
        <p:nvPicPr>
          <p:cNvPr id="31" name="Picture Placeholder 24">
            <a:extLst>
              <a:ext uri="{FF2B5EF4-FFF2-40B4-BE49-F238E27FC236}">
                <a16:creationId xmlns:a16="http://schemas.microsoft.com/office/drawing/2014/main" id="{1C605111-FC8C-BD80-2907-1F2BA3133195}"/>
              </a:ext>
              <a:ext uri="{C183D7F6-B498-43B3-948B-1728B52AA6E4}">
                <adec:decorative xmlns:adec="http://schemas.microsoft.com/office/drawing/2017/decorative" val="1"/>
              </a:ext>
            </a:extLst>
          </p:cNvPr>
          <p:cNvPicPr>
            <a:picLocks noGrp="1" noChangeAspect="1"/>
          </p:cNvPicPr>
          <p:nvPr>
            <p:ph type="pic" idx="25"/>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840" r="840"/>
          <a:stretch/>
        </p:blipFill>
        <p:spPr>
          <a:xfrm>
            <a:off x="9043988" y="1835150"/>
            <a:ext cx="2787650" cy="2835275"/>
          </a:xfrm>
          <a:prstGeom prst="rect">
            <a:avLst/>
          </a:prstGeom>
        </p:spPr>
      </p:pic>
    </p:spTree>
    <p:custDataLst>
      <p:tags r:id="rId1"/>
    </p:custDataLst>
    <p:extLst>
      <p:ext uri="{BB962C8B-B14F-4D97-AF65-F5344CB8AC3E}">
        <p14:creationId xmlns:p14="http://schemas.microsoft.com/office/powerpoint/2010/main" val="1262929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5D027-42AA-32B9-85BE-44BA36F60806}"/>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F0F654A0-ECB9-C4A4-447A-759AFA709E04}"/>
              </a:ext>
            </a:extLst>
          </p:cNvPr>
          <p:cNvSpPr>
            <a:spLocks noGrp="1"/>
          </p:cNvSpPr>
          <p:nvPr>
            <p:ph type="title" idx="1"/>
          </p:nvPr>
        </p:nvSpPr>
        <p:spPr/>
        <p:txBody>
          <a:bodyPr/>
          <a:lstStyle/>
          <a:p>
            <a:r>
              <a:rPr lang="en-US" dirty="0"/>
              <a:t>Topic B: Identifying AWS generative AI stack components</a:t>
            </a:r>
          </a:p>
        </p:txBody>
      </p:sp>
      <p:sp>
        <p:nvSpPr>
          <p:cNvPr id="3" name="SlideNumber">
            <a:extLst>
              <a:ext uri="{FF2B5EF4-FFF2-40B4-BE49-F238E27FC236}">
                <a16:creationId xmlns:a16="http://schemas.microsoft.com/office/drawing/2014/main" id="{E86B7E72-A3F8-D4AD-0557-670942C52E0D}"/>
              </a:ext>
            </a:extLst>
          </p:cNvPr>
          <p:cNvSpPr>
            <a:spLocks noGrp="1"/>
          </p:cNvSpPr>
          <p:nvPr>
            <p:ph type="sldNum" idx="97"/>
          </p:nvPr>
        </p:nvSpPr>
        <p:spPr/>
        <p:txBody>
          <a:bodyPr/>
          <a:lstStyle/>
          <a:p>
            <a:fld id="{4037B1B0-0345-4E15-985A-6BECCDBE474F}" type="slidenum">
              <a:rPr lang="en-US" smtClean="0"/>
              <a:pPr/>
              <a:t>14</a:t>
            </a:fld>
            <a:endParaRPr lang="en-US" dirty="0"/>
          </a:p>
        </p:txBody>
      </p:sp>
    </p:spTree>
    <p:custDataLst>
      <p:tags r:id="rId1"/>
    </p:custDataLst>
    <p:extLst>
      <p:ext uri="{BB962C8B-B14F-4D97-AF65-F5344CB8AC3E}">
        <p14:creationId xmlns:p14="http://schemas.microsoft.com/office/powerpoint/2010/main" val="4122667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DA8FFA0E-674D-E0F4-ECD5-5357452935AE}"/>
              </a:ext>
            </a:extLst>
          </p:cNvPr>
          <p:cNvSpPr>
            <a:spLocks noGrp="1"/>
          </p:cNvSpPr>
          <p:nvPr>
            <p:ph type="sldNum" idx="97"/>
          </p:nvPr>
        </p:nvSpPr>
        <p:spPr/>
        <p:txBody>
          <a:bodyPr/>
          <a:lstStyle/>
          <a:p>
            <a:fld id="{930176A1-BCF0-4712-97A6-6B495F55390B}" type="slidenum">
              <a:rPr lang="en-US" smtClean="0"/>
              <a:pPr/>
              <a:t>15</a:t>
            </a:fld>
            <a:endParaRPr lang="en-US" dirty="0"/>
          </a:p>
        </p:txBody>
      </p:sp>
      <p:sp>
        <p:nvSpPr>
          <p:cNvPr id="17" name="Title">
            <a:extLst>
              <a:ext uri="{FF2B5EF4-FFF2-40B4-BE49-F238E27FC236}">
                <a16:creationId xmlns:a16="http://schemas.microsoft.com/office/drawing/2014/main" id="{B691EDEB-1D1D-49F8-A235-8A60DEF2DAD0}"/>
              </a:ext>
            </a:extLst>
          </p:cNvPr>
          <p:cNvSpPr>
            <a:spLocks noGrp="1"/>
          </p:cNvSpPr>
          <p:nvPr>
            <p:ph type="title" idx="1"/>
          </p:nvPr>
        </p:nvSpPr>
        <p:spPr/>
        <p:txBody>
          <a:bodyPr/>
          <a:lstStyle/>
          <a:p>
            <a:r>
              <a:rPr lang="en-US" dirty="0"/>
              <a:t>AWS AI services for common use cases</a:t>
            </a:r>
          </a:p>
        </p:txBody>
      </p:sp>
      <p:sp>
        <p:nvSpPr>
          <p:cNvPr id="26" name="Text Placeholder 25">
            <a:extLst>
              <a:ext uri="{FF2B5EF4-FFF2-40B4-BE49-F238E27FC236}">
                <a16:creationId xmlns:a16="http://schemas.microsoft.com/office/drawing/2014/main" id="{B0DF9264-911A-4A2F-A777-C97F9BB2BBEB}"/>
              </a:ext>
            </a:extLst>
          </p:cNvPr>
          <p:cNvSpPr>
            <a:spLocks noGrp="1"/>
          </p:cNvSpPr>
          <p:nvPr>
            <p:ph type="body" idx="12"/>
          </p:nvPr>
        </p:nvSpPr>
        <p:spPr/>
        <p:txBody>
          <a:bodyPr>
            <a:noAutofit/>
          </a:bodyPr>
          <a:lstStyle/>
          <a:p>
            <a:r>
              <a:rPr lang="en-US" sz="1800" dirty="0"/>
              <a:t>Search</a:t>
            </a:r>
          </a:p>
        </p:txBody>
      </p:sp>
      <p:sp>
        <p:nvSpPr>
          <p:cNvPr id="18" name="Text Placeholder 17">
            <a:extLst>
              <a:ext uri="{FF2B5EF4-FFF2-40B4-BE49-F238E27FC236}">
                <a16:creationId xmlns:a16="http://schemas.microsoft.com/office/drawing/2014/main" id="{8DB34CB1-5F1F-4572-BBD8-0632803240E8}"/>
              </a:ext>
            </a:extLst>
          </p:cNvPr>
          <p:cNvSpPr>
            <a:spLocks noGrp="1"/>
          </p:cNvSpPr>
          <p:nvPr>
            <p:ph type="body" idx="2"/>
          </p:nvPr>
        </p:nvSpPr>
        <p:spPr/>
        <p:txBody>
          <a:bodyPr>
            <a:normAutofit/>
          </a:bodyPr>
          <a:lstStyle/>
          <a:p>
            <a:r>
              <a:rPr lang="en-US" sz="1800" dirty="0"/>
              <a:t>Amazon Kendra</a:t>
            </a:r>
          </a:p>
        </p:txBody>
      </p:sp>
      <p:sp>
        <p:nvSpPr>
          <p:cNvPr id="27" name="Text Placeholder 26">
            <a:extLst>
              <a:ext uri="{FF2B5EF4-FFF2-40B4-BE49-F238E27FC236}">
                <a16:creationId xmlns:a16="http://schemas.microsoft.com/office/drawing/2014/main" id="{FB15F4E6-8CF2-4261-ACAE-D2F2F6E96B1E}"/>
              </a:ext>
            </a:extLst>
          </p:cNvPr>
          <p:cNvSpPr>
            <a:spLocks noGrp="1"/>
          </p:cNvSpPr>
          <p:nvPr>
            <p:ph type="body" idx="13"/>
          </p:nvPr>
        </p:nvSpPr>
        <p:spPr/>
        <p:txBody>
          <a:bodyPr>
            <a:noAutofit/>
          </a:bodyPr>
          <a:lstStyle/>
          <a:p>
            <a:r>
              <a:rPr lang="en-US" sz="1800" dirty="0"/>
              <a:t>Virtual voice agents</a:t>
            </a:r>
          </a:p>
        </p:txBody>
      </p:sp>
      <p:grpSp>
        <p:nvGrpSpPr>
          <p:cNvPr id="49" name="Group 48">
            <a:extLst>
              <a:ext uri="{FF2B5EF4-FFF2-40B4-BE49-F238E27FC236}">
                <a16:creationId xmlns:a16="http://schemas.microsoft.com/office/drawing/2014/main" id="{FC318861-75A6-09C4-E878-B647BACADBA5}"/>
              </a:ext>
              <a:ext uri="{C183D7F6-B498-43B3-948B-1728B52AA6E4}">
                <adec:decorative xmlns:adec="http://schemas.microsoft.com/office/drawing/2017/decorative" val="1"/>
              </a:ext>
            </a:extLst>
          </p:cNvPr>
          <p:cNvGrpSpPr/>
          <p:nvPr/>
        </p:nvGrpSpPr>
        <p:grpSpPr>
          <a:xfrm>
            <a:off x="3993863" y="982589"/>
            <a:ext cx="1266925" cy="1699326"/>
            <a:chOff x="3993863" y="936869"/>
            <a:chExt cx="1266925" cy="1699326"/>
          </a:xfrm>
        </p:grpSpPr>
        <p:sp>
          <p:nvSpPr>
            <p:cNvPr id="7" name="Freeform 6">
              <a:extLst>
                <a:ext uri="{FF2B5EF4-FFF2-40B4-BE49-F238E27FC236}">
                  <a16:creationId xmlns:a16="http://schemas.microsoft.com/office/drawing/2014/main" id="{25EA9125-2490-5C0D-54F4-378206105D91}"/>
                </a:ext>
              </a:extLst>
            </p:cNvPr>
            <p:cNvSpPr/>
            <p:nvPr/>
          </p:nvSpPr>
          <p:spPr>
            <a:xfrm>
              <a:off x="4627326" y="2107390"/>
              <a:ext cx="515091" cy="435230"/>
            </a:xfrm>
            <a:custGeom>
              <a:avLst/>
              <a:gdLst>
                <a:gd name="connsiteX0" fmla="*/ 0 w 515091"/>
                <a:gd name="connsiteY0" fmla="*/ 66369 h 435230"/>
                <a:gd name="connsiteX1" fmla="*/ 0 w 515091"/>
                <a:gd name="connsiteY1" fmla="*/ 50539 h 435230"/>
                <a:gd name="connsiteX2" fmla="*/ 50002 w 515091"/>
                <a:gd name="connsiteY2" fmla="*/ 0 h 435230"/>
                <a:gd name="connsiteX3" fmla="*/ 465090 w 515091"/>
                <a:gd name="connsiteY3" fmla="*/ 1649 h 435230"/>
                <a:gd name="connsiteX4" fmla="*/ 515091 w 515091"/>
                <a:gd name="connsiteY4" fmla="*/ 52188 h 435230"/>
                <a:gd name="connsiteX5" fmla="*/ 515091 w 515091"/>
                <a:gd name="connsiteY5" fmla="*/ 292187 h 435230"/>
                <a:gd name="connsiteX6" fmla="*/ 465090 w 515091"/>
                <a:gd name="connsiteY6" fmla="*/ 342726 h 435230"/>
                <a:gd name="connsiteX7" fmla="*/ 388234 w 515091"/>
                <a:gd name="connsiteY7" fmla="*/ 435230 h 435230"/>
                <a:gd name="connsiteX8" fmla="*/ 388234 w 515091"/>
                <a:gd name="connsiteY8" fmla="*/ 339181 h 435230"/>
                <a:gd name="connsiteX9" fmla="*/ 122245 w 515091"/>
                <a:gd name="connsiteY9" fmla="*/ 339181 h 435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091" h="435230">
                  <a:moveTo>
                    <a:pt x="0" y="66369"/>
                  </a:moveTo>
                  <a:lnTo>
                    <a:pt x="0" y="50539"/>
                  </a:lnTo>
                  <a:cubicBezTo>
                    <a:pt x="0" y="22673"/>
                    <a:pt x="22406" y="0"/>
                    <a:pt x="50002" y="0"/>
                  </a:cubicBezTo>
                  <a:lnTo>
                    <a:pt x="465090" y="1649"/>
                  </a:lnTo>
                  <a:cubicBezTo>
                    <a:pt x="492603" y="1649"/>
                    <a:pt x="515091" y="24404"/>
                    <a:pt x="515091" y="52188"/>
                  </a:cubicBezTo>
                  <a:lnTo>
                    <a:pt x="515091" y="292187"/>
                  </a:lnTo>
                  <a:cubicBezTo>
                    <a:pt x="515091" y="319971"/>
                    <a:pt x="492603" y="342726"/>
                    <a:pt x="465090" y="342726"/>
                  </a:cubicBezTo>
                  <a:lnTo>
                    <a:pt x="388234" y="435230"/>
                  </a:lnTo>
                  <a:lnTo>
                    <a:pt x="388234" y="339181"/>
                  </a:lnTo>
                  <a:lnTo>
                    <a:pt x="122245" y="339181"/>
                  </a:lnTo>
                </a:path>
              </a:pathLst>
            </a:custGeom>
            <a:noFill/>
            <a:ln w="25400" cap="flat">
              <a:solidFill>
                <a:srgbClr val="232F3E"/>
              </a:solidFill>
              <a:prstDash val="solid"/>
              <a:round/>
            </a:ln>
          </p:spPr>
          <p:txBody>
            <a:bodyPr rtlCol="0" anchor="ctr"/>
            <a:lstStyle/>
            <a:p>
              <a:endParaRPr lang="en-US" dirty="0"/>
            </a:p>
          </p:txBody>
        </p:sp>
        <p:sp>
          <p:nvSpPr>
            <p:cNvPr id="8" name="Freeform 7">
              <a:extLst>
                <a:ext uri="{FF2B5EF4-FFF2-40B4-BE49-F238E27FC236}">
                  <a16:creationId xmlns:a16="http://schemas.microsoft.com/office/drawing/2014/main" id="{5FA2CA41-79F6-511F-48CA-7AF8874E3475}"/>
                </a:ext>
              </a:extLst>
            </p:cNvPr>
            <p:cNvSpPr/>
            <p:nvPr/>
          </p:nvSpPr>
          <p:spPr>
            <a:xfrm>
              <a:off x="4190162" y="2219928"/>
              <a:ext cx="517727" cy="416267"/>
            </a:xfrm>
            <a:custGeom>
              <a:avLst/>
              <a:gdLst>
                <a:gd name="connsiteX0" fmla="*/ 516986 w 517727"/>
                <a:gd name="connsiteY0" fmla="*/ 76345 h 416267"/>
                <a:gd name="connsiteX1" fmla="*/ 516986 w 517727"/>
                <a:gd name="connsiteY1" fmla="*/ 50044 h 416267"/>
                <a:gd name="connsiteX2" fmla="*/ 465090 w 517727"/>
                <a:gd name="connsiteY2" fmla="*/ 0 h 416267"/>
                <a:gd name="connsiteX3" fmla="*/ 50002 w 517727"/>
                <a:gd name="connsiteY3" fmla="*/ 0 h 416267"/>
                <a:gd name="connsiteX4" fmla="*/ 0 w 517727"/>
                <a:gd name="connsiteY4" fmla="*/ 50044 h 416267"/>
                <a:gd name="connsiteX5" fmla="*/ 0 w 517727"/>
                <a:gd name="connsiteY5" fmla="*/ 278336 h 416267"/>
                <a:gd name="connsiteX6" fmla="*/ 50002 w 517727"/>
                <a:gd name="connsiteY6" fmla="*/ 325742 h 416267"/>
                <a:gd name="connsiteX7" fmla="*/ 145474 w 517727"/>
                <a:gd name="connsiteY7" fmla="*/ 416268 h 416267"/>
                <a:gd name="connsiteX8" fmla="*/ 145474 w 517727"/>
                <a:gd name="connsiteY8" fmla="*/ 325412 h 416267"/>
                <a:gd name="connsiteX9" fmla="*/ 467643 w 517727"/>
                <a:gd name="connsiteY9" fmla="*/ 325412 h 416267"/>
                <a:gd name="connsiteX10" fmla="*/ 517727 w 517727"/>
                <a:gd name="connsiteY10" fmla="*/ 278089 h 416267"/>
                <a:gd name="connsiteX11" fmla="*/ 517068 w 517727"/>
                <a:gd name="connsiteY11" fmla="*/ 76345 h 416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7727" h="416267">
                  <a:moveTo>
                    <a:pt x="516986" y="76345"/>
                  </a:moveTo>
                  <a:lnTo>
                    <a:pt x="516986" y="50044"/>
                  </a:lnTo>
                  <a:cubicBezTo>
                    <a:pt x="516986" y="22425"/>
                    <a:pt x="492685" y="0"/>
                    <a:pt x="465090" y="0"/>
                  </a:cubicBezTo>
                  <a:lnTo>
                    <a:pt x="50002" y="0"/>
                  </a:lnTo>
                  <a:cubicBezTo>
                    <a:pt x="22488" y="0"/>
                    <a:pt x="0" y="22508"/>
                    <a:pt x="0" y="50044"/>
                  </a:cubicBezTo>
                  <a:lnTo>
                    <a:pt x="0" y="278336"/>
                  </a:lnTo>
                  <a:cubicBezTo>
                    <a:pt x="0" y="305873"/>
                    <a:pt x="22488" y="325742"/>
                    <a:pt x="50002" y="325742"/>
                  </a:cubicBezTo>
                  <a:lnTo>
                    <a:pt x="145474" y="416268"/>
                  </a:lnTo>
                  <a:lnTo>
                    <a:pt x="145474" y="325412"/>
                  </a:lnTo>
                  <a:lnTo>
                    <a:pt x="467643" y="325412"/>
                  </a:lnTo>
                  <a:cubicBezTo>
                    <a:pt x="495321" y="325412"/>
                    <a:pt x="517810" y="305791"/>
                    <a:pt x="517727" y="278089"/>
                  </a:cubicBezTo>
                  <a:lnTo>
                    <a:pt x="517068" y="76345"/>
                  </a:lnTo>
                  <a:close/>
                </a:path>
              </a:pathLst>
            </a:custGeom>
            <a:noFill/>
            <a:ln w="25400" cap="flat">
              <a:solidFill>
                <a:srgbClr val="232F3E"/>
              </a:solidFill>
              <a:prstDash val="solid"/>
              <a:round/>
            </a:ln>
          </p:spPr>
          <p:txBody>
            <a:bodyPr rtlCol="0" anchor="ctr"/>
            <a:lstStyle/>
            <a:p>
              <a:endParaRPr lang="en-US" dirty="0"/>
            </a:p>
          </p:txBody>
        </p:sp>
        <p:sp>
          <p:nvSpPr>
            <p:cNvPr id="9" name="Freeform 8">
              <a:extLst>
                <a:ext uri="{FF2B5EF4-FFF2-40B4-BE49-F238E27FC236}">
                  <a16:creationId xmlns:a16="http://schemas.microsoft.com/office/drawing/2014/main" id="{898B2807-06F9-25D4-EA56-CEF6182497DB}"/>
                </a:ext>
              </a:extLst>
            </p:cNvPr>
            <p:cNvSpPr/>
            <p:nvPr/>
          </p:nvSpPr>
          <p:spPr>
            <a:xfrm>
              <a:off x="4254414" y="2335764"/>
              <a:ext cx="80809" cy="80879"/>
            </a:xfrm>
            <a:custGeom>
              <a:avLst/>
              <a:gdLst>
                <a:gd name="connsiteX0" fmla="*/ 38799 w 80809"/>
                <a:gd name="connsiteY0" fmla="*/ 0 h 80879"/>
                <a:gd name="connsiteX1" fmla="*/ 42011 w 80809"/>
                <a:gd name="connsiteY1" fmla="*/ 0 h 80879"/>
                <a:gd name="connsiteX2" fmla="*/ 80810 w 80809"/>
                <a:gd name="connsiteY2" fmla="*/ 38832 h 80879"/>
                <a:gd name="connsiteX3" fmla="*/ 80810 w 80809"/>
                <a:gd name="connsiteY3" fmla="*/ 42047 h 80879"/>
                <a:gd name="connsiteX4" fmla="*/ 42011 w 80809"/>
                <a:gd name="connsiteY4" fmla="*/ 80879 h 80879"/>
                <a:gd name="connsiteX5" fmla="*/ 38799 w 80809"/>
                <a:gd name="connsiteY5" fmla="*/ 80879 h 80879"/>
                <a:gd name="connsiteX6" fmla="*/ 0 w 80809"/>
                <a:gd name="connsiteY6" fmla="*/ 42047 h 80879"/>
                <a:gd name="connsiteX7" fmla="*/ 0 w 80809"/>
                <a:gd name="connsiteY7" fmla="*/ 38832 h 80879"/>
                <a:gd name="connsiteX8" fmla="*/ 38799 w 80809"/>
                <a:gd name="connsiteY8" fmla="*/ 0 h 8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809" h="80879">
                  <a:moveTo>
                    <a:pt x="38799" y="0"/>
                  </a:moveTo>
                  <a:lnTo>
                    <a:pt x="42011" y="0"/>
                  </a:lnTo>
                  <a:cubicBezTo>
                    <a:pt x="63429" y="0"/>
                    <a:pt x="80810" y="17396"/>
                    <a:pt x="80810" y="38832"/>
                  </a:cubicBezTo>
                  <a:lnTo>
                    <a:pt x="80810" y="42047"/>
                  </a:lnTo>
                  <a:cubicBezTo>
                    <a:pt x="80810" y="63483"/>
                    <a:pt x="63429" y="80879"/>
                    <a:pt x="42011" y="80879"/>
                  </a:cubicBezTo>
                  <a:lnTo>
                    <a:pt x="38799" y="80879"/>
                  </a:lnTo>
                  <a:cubicBezTo>
                    <a:pt x="17381" y="80879"/>
                    <a:pt x="0" y="63483"/>
                    <a:pt x="0" y="42047"/>
                  </a:cubicBezTo>
                  <a:lnTo>
                    <a:pt x="0" y="38832"/>
                  </a:lnTo>
                  <a:cubicBezTo>
                    <a:pt x="0" y="17396"/>
                    <a:pt x="17381" y="0"/>
                    <a:pt x="38799" y="0"/>
                  </a:cubicBezTo>
                  <a:close/>
                </a:path>
              </a:pathLst>
            </a:custGeom>
            <a:noFill/>
            <a:ln w="25400" cap="flat">
              <a:solidFill>
                <a:srgbClr val="232F3E"/>
              </a:solidFill>
              <a:prstDash val="solid"/>
              <a:round/>
            </a:ln>
          </p:spPr>
          <p:txBody>
            <a:bodyPr rtlCol="0" anchor="ctr"/>
            <a:lstStyle/>
            <a:p>
              <a:endParaRPr lang="en-US" dirty="0"/>
            </a:p>
          </p:txBody>
        </p:sp>
        <p:sp>
          <p:nvSpPr>
            <p:cNvPr id="10" name="Freeform 9">
              <a:extLst>
                <a:ext uri="{FF2B5EF4-FFF2-40B4-BE49-F238E27FC236}">
                  <a16:creationId xmlns:a16="http://schemas.microsoft.com/office/drawing/2014/main" id="{4D8C8E20-63EE-98CF-8809-776C371E6A08}"/>
                </a:ext>
              </a:extLst>
            </p:cNvPr>
            <p:cNvSpPr/>
            <p:nvPr/>
          </p:nvSpPr>
          <p:spPr>
            <a:xfrm>
              <a:off x="4402772" y="2335187"/>
              <a:ext cx="80809" cy="80879"/>
            </a:xfrm>
            <a:custGeom>
              <a:avLst/>
              <a:gdLst>
                <a:gd name="connsiteX0" fmla="*/ 38799 w 80809"/>
                <a:gd name="connsiteY0" fmla="*/ 0 h 80879"/>
                <a:gd name="connsiteX1" fmla="*/ 42011 w 80809"/>
                <a:gd name="connsiteY1" fmla="*/ 0 h 80879"/>
                <a:gd name="connsiteX2" fmla="*/ 80810 w 80809"/>
                <a:gd name="connsiteY2" fmla="*/ 38832 h 80879"/>
                <a:gd name="connsiteX3" fmla="*/ 80810 w 80809"/>
                <a:gd name="connsiteY3" fmla="*/ 42047 h 80879"/>
                <a:gd name="connsiteX4" fmla="*/ 42011 w 80809"/>
                <a:gd name="connsiteY4" fmla="*/ 80879 h 80879"/>
                <a:gd name="connsiteX5" fmla="*/ 38799 w 80809"/>
                <a:gd name="connsiteY5" fmla="*/ 80879 h 80879"/>
                <a:gd name="connsiteX6" fmla="*/ 0 w 80809"/>
                <a:gd name="connsiteY6" fmla="*/ 42047 h 80879"/>
                <a:gd name="connsiteX7" fmla="*/ 0 w 80809"/>
                <a:gd name="connsiteY7" fmla="*/ 38832 h 80879"/>
                <a:gd name="connsiteX8" fmla="*/ 38799 w 80809"/>
                <a:gd name="connsiteY8" fmla="*/ 0 h 8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809" h="80879">
                  <a:moveTo>
                    <a:pt x="38799" y="0"/>
                  </a:moveTo>
                  <a:lnTo>
                    <a:pt x="42011" y="0"/>
                  </a:lnTo>
                  <a:cubicBezTo>
                    <a:pt x="63429" y="0"/>
                    <a:pt x="80810" y="17396"/>
                    <a:pt x="80810" y="38832"/>
                  </a:cubicBezTo>
                  <a:lnTo>
                    <a:pt x="80810" y="42047"/>
                  </a:lnTo>
                  <a:cubicBezTo>
                    <a:pt x="80810" y="63483"/>
                    <a:pt x="63429" y="80879"/>
                    <a:pt x="42011" y="80879"/>
                  </a:cubicBezTo>
                  <a:lnTo>
                    <a:pt x="38799" y="80879"/>
                  </a:lnTo>
                  <a:cubicBezTo>
                    <a:pt x="17381" y="80879"/>
                    <a:pt x="0" y="63483"/>
                    <a:pt x="0" y="42047"/>
                  </a:cubicBezTo>
                  <a:lnTo>
                    <a:pt x="0" y="38832"/>
                  </a:lnTo>
                  <a:cubicBezTo>
                    <a:pt x="0" y="17396"/>
                    <a:pt x="17381" y="0"/>
                    <a:pt x="38799" y="0"/>
                  </a:cubicBezTo>
                  <a:close/>
                </a:path>
              </a:pathLst>
            </a:custGeom>
            <a:noFill/>
            <a:ln w="25400" cap="flat">
              <a:solidFill>
                <a:srgbClr val="232F3E"/>
              </a:solidFill>
              <a:prstDash val="solid"/>
              <a:round/>
            </a:ln>
          </p:spPr>
          <p:txBody>
            <a:bodyPr rtlCol="0" anchor="ctr"/>
            <a:lstStyle/>
            <a:p>
              <a:endParaRPr lang="en-US" dirty="0"/>
            </a:p>
          </p:txBody>
        </p:sp>
        <p:sp>
          <p:nvSpPr>
            <p:cNvPr id="44" name="Freeform 43">
              <a:extLst>
                <a:ext uri="{FF2B5EF4-FFF2-40B4-BE49-F238E27FC236}">
                  <a16:creationId xmlns:a16="http://schemas.microsoft.com/office/drawing/2014/main" id="{A014438F-6AFC-73AC-C754-F85F14203595}"/>
                </a:ext>
              </a:extLst>
            </p:cNvPr>
            <p:cNvSpPr/>
            <p:nvPr/>
          </p:nvSpPr>
          <p:spPr>
            <a:xfrm>
              <a:off x="4548328" y="2334857"/>
              <a:ext cx="80809" cy="80879"/>
            </a:xfrm>
            <a:custGeom>
              <a:avLst/>
              <a:gdLst>
                <a:gd name="connsiteX0" fmla="*/ 38799 w 80809"/>
                <a:gd name="connsiteY0" fmla="*/ 0 h 80879"/>
                <a:gd name="connsiteX1" fmla="*/ 42011 w 80809"/>
                <a:gd name="connsiteY1" fmla="*/ 0 h 80879"/>
                <a:gd name="connsiteX2" fmla="*/ 80810 w 80809"/>
                <a:gd name="connsiteY2" fmla="*/ 38832 h 80879"/>
                <a:gd name="connsiteX3" fmla="*/ 80810 w 80809"/>
                <a:gd name="connsiteY3" fmla="*/ 42047 h 80879"/>
                <a:gd name="connsiteX4" fmla="*/ 42011 w 80809"/>
                <a:gd name="connsiteY4" fmla="*/ 80879 h 80879"/>
                <a:gd name="connsiteX5" fmla="*/ 38799 w 80809"/>
                <a:gd name="connsiteY5" fmla="*/ 80879 h 80879"/>
                <a:gd name="connsiteX6" fmla="*/ 0 w 80809"/>
                <a:gd name="connsiteY6" fmla="*/ 42047 h 80879"/>
                <a:gd name="connsiteX7" fmla="*/ 0 w 80809"/>
                <a:gd name="connsiteY7" fmla="*/ 38832 h 80879"/>
                <a:gd name="connsiteX8" fmla="*/ 38799 w 80809"/>
                <a:gd name="connsiteY8" fmla="*/ 0 h 8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809" h="80879">
                  <a:moveTo>
                    <a:pt x="38799" y="0"/>
                  </a:moveTo>
                  <a:lnTo>
                    <a:pt x="42011" y="0"/>
                  </a:lnTo>
                  <a:cubicBezTo>
                    <a:pt x="63429" y="0"/>
                    <a:pt x="80810" y="17396"/>
                    <a:pt x="80810" y="38832"/>
                  </a:cubicBezTo>
                  <a:lnTo>
                    <a:pt x="80810" y="42047"/>
                  </a:lnTo>
                  <a:cubicBezTo>
                    <a:pt x="80810" y="63483"/>
                    <a:pt x="63429" y="80879"/>
                    <a:pt x="42011" y="80879"/>
                  </a:cubicBezTo>
                  <a:lnTo>
                    <a:pt x="38799" y="80879"/>
                  </a:lnTo>
                  <a:cubicBezTo>
                    <a:pt x="17381" y="80879"/>
                    <a:pt x="0" y="63483"/>
                    <a:pt x="0" y="42047"/>
                  </a:cubicBezTo>
                  <a:lnTo>
                    <a:pt x="0" y="38832"/>
                  </a:lnTo>
                  <a:cubicBezTo>
                    <a:pt x="0" y="17396"/>
                    <a:pt x="17381" y="0"/>
                    <a:pt x="38799" y="0"/>
                  </a:cubicBezTo>
                  <a:close/>
                </a:path>
              </a:pathLst>
            </a:custGeom>
            <a:noFill/>
            <a:ln w="25400" cap="flat">
              <a:solidFill>
                <a:srgbClr val="232F3E"/>
              </a:solidFill>
              <a:prstDash val="solid"/>
              <a:round/>
            </a:ln>
          </p:spPr>
          <p:txBody>
            <a:bodyPr rtlCol="0" anchor="ctr"/>
            <a:lstStyle/>
            <a:p>
              <a:endParaRPr lang="en-US" dirty="0"/>
            </a:p>
          </p:txBody>
        </p:sp>
        <p:sp>
          <p:nvSpPr>
            <p:cNvPr id="45" name="Freeform 44">
              <a:extLst>
                <a:ext uri="{FF2B5EF4-FFF2-40B4-BE49-F238E27FC236}">
                  <a16:creationId xmlns:a16="http://schemas.microsoft.com/office/drawing/2014/main" id="{0A27D9F2-5763-C24D-BD9B-946D5910037F}"/>
                </a:ext>
              </a:extLst>
            </p:cNvPr>
            <p:cNvSpPr/>
            <p:nvPr/>
          </p:nvSpPr>
          <p:spPr>
            <a:xfrm>
              <a:off x="4861354" y="2221412"/>
              <a:ext cx="80892" cy="80961"/>
            </a:xfrm>
            <a:custGeom>
              <a:avLst/>
              <a:gdLst>
                <a:gd name="connsiteX0" fmla="*/ 80892 w 80892"/>
                <a:gd name="connsiteY0" fmla="*/ 40481 h 80961"/>
                <a:gd name="connsiteX1" fmla="*/ 40446 w 80892"/>
                <a:gd name="connsiteY1" fmla="*/ 80962 h 80961"/>
                <a:gd name="connsiteX2" fmla="*/ 0 w 80892"/>
                <a:gd name="connsiteY2" fmla="*/ 40481 h 80961"/>
                <a:gd name="connsiteX3" fmla="*/ 40446 w 80892"/>
                <a:gd name="connsiteY3" fmla="*/ 0 h 80961"/>
                <a:gd name="connsiteX4" fmla="*/ 80892 w 80892"/>
                <a:gd name="connsiteY4" fmla="*/ 40481 h 80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92" h="80961">
                  <a:moveTo>
                    <a:pt x="80892" y="40481"/>
                  </a:moveTo>
                  <a:cubicBezTo>
                    <a:pt x="80892" y="62838"/>
                    <a:pt x="62784" y="80962"/>
                    <a:pt x="40446" y="80962"/>
                  </a:cubicBezTo>
                  <a:cubicBezTo>
                    <a:pt x="18108" y="80962"/>
                    <a:pt x="0" y="62838"/>
                    <a:pt x="0" y="40481"/>
                  </a:cubicBezTo>
                  <a:cubicBezTo>
                    <a:pt x="0" y="18124"/>
                    <a:pt x="18108" y="0"/>
                    <a:pt x="40446" y="0"/>
                  </a:cubicBezTo>
                  <a:cubicBezTo>
                    <a:pt x="62784" y="0"/>
                    <a:pt x="80892" y="18124"/>
                    <a:pt x="80892" y="40481"/>
                  </a:cubicBezTo>
                  <a:close/>
                </a:path>
              </a:pathLst>
            </a:custGeom>
            <a:noFill/>
            <a:ln w="25400" cap="flat">
              <a:solidFill>
                <a:srgbClr val="232F3E"/>
              </a:solidFill>
              <a:prstDash val="solid"/>
              <a:round/>
            </a:ln>
          </p:spPr>
          <p:txBody>
            <a:bodyPr rtlCol="0" anchor="ctr"/>
            <a:lstStyle/>
            <a:p>
              <a:endParaRPr lang="en-US" dirty="0"/>
            </a:p>
          </p:txBody>
        </p:sp>
        <p:sp>
          <p:nvSpPr>
            <p:cNvPr id="46" name="Freeform 45">
              <a:extLst>
                <a:ext uri="{FF2B5EF4-FFF2-40B4-BE49-F238E27FC236}">
                  <a16:creationId xmlns:a16="http://schemas.microsoft.com/office/drawing/2014/main" id="{99541BDA-4CE4-54C2-D005-88E75EA6DE7D}"/>
                </a:ext>
              </a:extLst>
            </p:cNvPr>
            <p:cNvSpPr/>
            <p:nvPr/>
          </p:nvSpPr>
          <p:spPr>
            <a:xfrm>
              <a:off x="5008229" y="2221412"/>
              <a:ext cx="80892" cy="80961"/>
            </a:xfrm>
            <a:custGeom>
              <a:avLst/>
              <a:gdLst>
                <a:gd name="connsiteX0" fmla="*/ 80892 w 80892"/>
                <a:gd name="connsiteY0" fmla="*/ 40481 h 80961"/>
                <a:gd name="connsiteX1" fmla="*/ 40446 w 80892"/>
                <a:gd name="connsiteY1" fmla="*/ 80962 h 80961"/>
                <a:gd name="connsiteX2" fmla="*/ 0 w 80892"/>
                <a:gd name="connsiteY2" fmla="*/ 40481 h 80961"/>
                <a:gd name="connsiteX3" fmla="*/ 40446 w 80892"/>
                <a:gd name="connsiteY3" fmla="*/ 0 h 80961"/>
                <a:gd name="connsiteX4" fmla="*/ 80892 w 80892"/>
                <a:gd name="connsiteY4" fmla="*/ 40481 h 80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92" h="80961">
                  <a:moveTo>
                    <a:pt x="80892" y="40481"/>
                  </a:moveTo>
                  <a:cubicBezTo>
                    <a:pt x="80892" y="62838"/>
                    <a:pt x="62784" y="80962"/>
                    <a:pt x="40446" y="80962"/>
                  </a:cubicBezTo>
                  <a:cubicBezTo>
                    <a:pt x="18108" y="80962"/>
                    <a:pt x="0" y="62838"/>
                    <a:pt x="0" y="40481"/>
                  </a:cubicBezTo>
                  <a:cubicBezTo>
                    <a:pt x="0" y="18124"/>
                    <a:pt x="18108" y="0"/>
                    <a:pt x="40446" y="0"/>
                  </a:cubicBezTo>
                  <a:cubicBezTo>
                    <a:pt x="62784" y="0"/>
                    <a:pt x="80892" y="18124"/>
                    <a:pt x="80892" y="40481"/>
                  </a:cubicBezTo>
                  <a:close/>
                </a:path>
              </a:pathLst>
            </a:custGeom>
            <a:noFill/>
            <a:ln w="25400" cap="flat">
              <a:solidFill>
                <a:srgbClr val="232F3E"/>
              </a:solidFill>
              <a:prstDash val="solid"/>
              <a:round/>
            </a:ln>
          </p:spPr>
          <p:txBody>
            <a:bodyPr rtlCol="0" anchor="ctr"/>
            <a:lstStyle/>
            <a:p>
              <a:endParaRPr lang="en-US" dirty="0"/>
            </a:p>
          </p:txBody>
        </p:sp>
        <p:sp>
          <p:nvSpPr>
            <p:cNvPr id="47" name="Freeform 46">
              <a:extLst>
                <a:ext uri="{FF2B5EF4-FFF2-40B4-BE49-F238E27FC236}">
                  <a16:creationId xmlns:a16="http://schemas.microsoft.com/office/drawing/2014/main" id="{109AC129-A3B1-85CD-AC81-C00E32FB3DA6}"/>
                </a:ext>
              </a:extLst>
            </p:cNvPr>
            <p:cNvSpPr/>
            <p:nvPr/>
          </p:nvSpPr>
          <p:spPr>
            <a:xfrm>
              <a:off x="4739768" y="2221412"/>
              <a:ext cx="47530" cy="80961"/>
            </a:xfrm>
            <a:custGeom>
              <a:avLst/>
              <a:gdLst>
                <a:gd name="connsiteX0" fmla="*/ 0 w 47530"/>
                <a:gd name="connsiteY0" fmla="*/ 742 h 80961"/>
                <a:gd name="connsiteX1" fmla="*/ 7084 w 47530"/>
                <a:gd name="connsiteY1" fmla="*/ 0 h 80961"/>
                <a:gd name="connsiteX2" fmla="*/ 47530 w 47530"/>
                <a:gd name="connsiteY2" fmla="*/ 40481 h 80961"/>
                <a:gd name="connsiteX3" fmla="*/ 7084 w 47530"/>
                <a:gd name="connsiteY3" fmla="*/ 80962 h 80961"/>
                <a:gd name="connsiteX4" fmla="*/ 0 w 47530"/>
                <a:gd name="connsiteY4" fmla="*/ 80219 h 80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30" h="80961">
                  <a:moveTo>
                    <a:pt x="0" y="742"/>
                  </a:moveTo>
                  <a:cubicBezTo>
                    <a:pt x="2306" y="330"/>
                    <a:pt x="4695" y="0"/>
                    <a:pt x="7084" y="0"/>
                  </a:cubicBezTo>
                  <a:cubicBezTo>
                    <a:pt x="29408" y="0"/>
                    <a:pt x="47530" y="18138"/>
                    <a:pt x="47530" y="40481"/>
                  </a:cubicBezTo>
                  <a:cubicBezTo>
                    <a:pt x="47530" y="62823"/>
                    <a:pt x="29408" y="80962"/>
                    <a:pt x="7084" y="80962"/>
                  </a:cubicBezTo>
                  <a:cubicBezTo>
                    <a:pt x="4695" y="80962"/>
                    <a:pt x="2306" y="80632"/>
                    <a:pt x="0" y="80219"/>
                  </a:cubicBezTo>
                </a:path>
              </a:pathLst>
            </a:custGeom>
            <a:noFill/>
            <a:ln w="25400" cap="flat">
              <a:solidFill>
                <a:srgbClr val="232F3E"/>
              </a:solidFill>
              <a:prstDash val="solid"/>
              <a:round/>
            </a:ln>
          </p:spPr>
          <p:txBody>
            <a:bodyPr rtlCol="0" anchor="ctr"/>
            <a:lstStyle/>
            <a:p>
              <a:endParaRPr lang="en-US" dirty="0"/>
            </a:p>
          </p:txBody>
        </p:sp>
        <p:pic>
          <p:nvPicPr>
            <p:cNvPr id="48" name="Graphic 47" descr="Backpack robot">
              <a:extLst>
                <a:ext uri="{FF2B5EF4-FFF2-40B4-BE49-F238E27FC236}">
                  <a16:creationId xmlns:a16="http://schemas.microsoft.com/office/drawing/2014/main" id="{4079419C-E4CC-2F29-CAD5-7DEDF8E581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93863" y="936869"/>
              <a:ext cx="1266925" cy="1266925"/>
            </a:xfrm>
            <a:prstGeom prst="rect">
              <a:avLst/>
            </a:prstGeom>
          </p:spPr>
        </p:pic>
      </p:grpSp>
      <p:sp>
        <p:nvSpPr>
          <p:cNvPr id="19" name="Text Placeholder 18">
            <a:extLst>
              <a:ext uri="{FF2B5EF4-FFF2-40B4-BE49-F238E27FC236}">
                <a16:creationId xmlns:a16="http://schemas.microsoft.com/office/drawing/2014/main" id="{D4EB16C4-79CD-4288-9918-9D25BBACF52D}"/>
              </a:ext>
            </a:extLst>
          </p:cNvPr>
          <p:cNvSpPr>
            <a:spLocks noGrp="1"/>
          </p:cNvSpPr>
          <p:nvPr>
            <p:ph type="body" idx="3"/>
          </p:nvPr>
        </p:nvSpPr>
        <p:spPr/>
        <p:txBody>
          <a:bodyPr>
            <a:normAutofit/>
          </a:bodyPr>
          <a:lstStyle/>
          <a:p>
            <a:r>
              <a:rPr lang="en-US" sz="1800" dirty="0"/>
              <a:t>Amazon Lex V2</a:t>
            </a:r>
          </a:p>
        </p:txBody>
      </p:sp>
      <p:sp>
        <p:nvSpPr>
          <p:cNvPr id="28" name="Text Placeholder 27">
            <a:extLst>
              <a:ext uri="{FF2B5EF4-FFF2-40B4-BE49-F238E27FC236}">
                <a16:creationId xmlns:a16="http://schemas.microsoft.com/office/drawing/2014/main" id="{44F03166-D522-4820-B830-BBF0262A3C27}"/>
              </a:ext>
            </a:extLst>
          </p:cNvPr>
          <p:cNvSpPr>
            <a:spLocks noGrp="1"/>
          </p:cNvSpPr>
          <p:nvPr>
            <p:ph type="body" idx="14"/>
          </p:nvPr>
        </p:nvSpPr>
        <p:spPr/>
        <p:txBody>
          <a:bodyPr>
            <a:noAutofit/>
          </a:bodyPr>
          <a:lstStyle/>
          <a:p>
            <a:r>
              <a:rPr lang="en-US" sz="1800" dirty="0"/>
              <a:t>Recommendations</a:t>
            </a:r>
          </a:p>
        </p:txBody>
      </p:sp>
      <p:sp>
        <p:nvSpPr>
          <p:cNvPr id="20" name="Text Placeholder 19">
            <a:extLst>
              <a:ext uri="{FF2B5EF4-FFF2-40B4-BE49-F238E27FC236}">
                <a16:creationId xmlns:a16="http://schemas.microsoft.com/office/drawing/2014/main" id="{32CB9E5D-972A-49A2-A3A2-69C975B27B94}"/>
              </a:ext>
            </a:extLst>
          </p:cNvPr>
          <p:cNvSpPr>
            <a:spLocks noGrp="1"/>
          </p:cNvSpPr>
          <p:nvPr>
            <p:ph type="body" idx="4"/>
          </p:nvPr>
        </p:nvSpPr>
        <p:spPr/>
        <p:txBody>
          <a:bodyPr>
            <a:normAutofit/>
          </a:bodyPr>
          <a:lstStyle/>
          <a:p>
            <a:r>
              <a:rPr lang="en-US" sz="1800" dirty="0"/>
              <a:t>Amazon Personalize</a:t>
            </a:r>
          </a:p>
        </p:txBody>
      </p:sp>
      <p:sp>
        <p:nvSpPr>
          <p:cNvPr id="29" name="Text Placeholder 28">
            <a:extLst>
              <a:ext uri="{FF2B5EF4-FFF2-40B4-BE49-F238E27FC236}">
                <a16:creationId xmlns:a16="http://schemas.microsoft.com/office/drawing/2014/main" id="{E7AF2F08-D926-491D-AB6D-6B6ED287CB6E}"/>
              </a:ext>
            </a:extLst>
          </p:cNvPr>
          <p:cNvSpPr>
            <a:spLocks noGrp="1"/>
          </p:cNvSpPr>
          <p:nvPr>
            <p:ph type="body" idx="15"/>
          </p:nvPr>
        </p:nvSpPr>
        <p:spPr/>
        <p:txBody>
          <a:bodyPr>
            <a:noAutofit/>
          </a:bodyPr>
          <a:lstStyle/>
          <a:p>
            <a:r>
              <a:rPr lang="en-US" sz="1800" dirty="0"/>
              <a:t>Fraud detection</a:t>
            </a:r>
          </a:p>
        </p:txBody>
      </p:sp>
      <p:sp>
        <p:nvSpPr>
          <p:cNvPr id="21" name="Text Placeholder 20">
            <a:extLst>
              <a:ext uri="{FF2B5EF4-FFF2-40B4-BE49-F238E27FC236}">
                <a16:creationId xmlns:a16="http://schemas.microsoft.com/office/drawing/2014/main" id="{29BF7408-70EC-4107-A6C7-8D0280DB4940}"/>
              </a:ext>
            </a:extLst>
          </p:cNvPr>
          <p:cNvSpPr>
            <a:spLocks noGrp="1"/>
          </p:cNvSpPr>
          <p:nvPr>
            <p:ph type="body" idx="5"/>
          </p:nvPr>
        </p:nvSpPr>
        <p:spPr/>
        <p:txBody>
          <a:bodyPr>
            <a:normAutofit/>
          </a:bodyPr>
          <a:lstStyle/>
          <a:p>
            <a:r>
              <a:rPr lang="en-US" sz="1800" dirty="0"/>
              <a:t>Amazon Fraud Detector</a:t>
            </a:r>
          </a:p>
        </p:txBody>
      </p:sp>
      <p:sp>
        <p:nvSpPr>
          <p:cNvPr id="30" name="Text Placeholder 29">
            <a:extLst>
              <a:ext uri="{FF2B5EF4-FFF2-40B4-BE49-F238E27FC236}">
                <a16:creationId xmlns:a16="http://schemas.microsoft.com/office/drawing/2014/main" id="{A902FD3B-FEAA-487F-9AC3-87E2A809D249}"/>
              </a:ext>
            </a:extLst>
          </p:cNvPr>
          <p:cNvSpPr>
            <a:spLocks noGrp="1"/>
          </p:cNvSpPr>
          <p:nvPr>
            <p:ph type="body" idx="16"/>
          </p:nvPr>
        </p:nvSpPr>
        <p:spPr>
          <a:xfrm>
            <a:off x="386565" y="5303149"/>
            <a:ext cx="2788920" cy="301752"/>
          </a:xfrm>
        </p:spPr>
        <p:txBody>
          <a:bodyPr>
            <a:noAutofit/>
          </a:bodyPr>
          <a:lstStyle/>
          <a:p>
            <a:r>
              <a:rPr lang="en-US" sz="1800" dirty="0"/>
              <a:t>Development</a:t>
            </a:r>
          </a:p>
        </p:txBody>
      </p:sp>
      <p:sp>
        <p:nvSpPr>
          <p:cNvPr id="22" name="Text Placeholder 21">
            <a:extLst>
              <a:ext uri="{FF2B5EF4-FFF2-40B4-BE49-F238E27FC236}">
                <a16:creationId xmlns:a16="http://schemas.microsoft.com/office/drawing/2014/main" id="{07996216-1E97-4382-877A-69AFB50F416A}"/>
              </a:ext>
            </a:extLst>
          </p:cNvPr>
          <p:cNvSpPr>
            <a:spLocks noGrp="1"/>
          </p:cNvSpPr>
          <p:nvPr>
            <p:ph type="body" idx="6"/>
          </p:nvPr>
        </p:nvSpPr>
        <p:spPr>
          <a:xfrm>
            <a:off x="388620" y="5654038"/>
            <a:ext cx="2788920" cy="570859"/>
          </a:xfrm>
        </p:spPr>
        <p:txBody>
          <a:bodyPr>
            <a:noAutofit/>
          </a:bodyPr>
          <a:lstStyle/>
          <a:p>
            <a:r>
              <a:rPr lang="en-US" sz="1800" dirty="0"/>
              <a:t>Amazon CodeGuru</a:t>
            </a:r>
            <a:br>
              <a:rPr lang="en-US" sz="1800" dirty="0"/>
            </a:br>
            <a:r>
              <a:rPr lang="en-US" sz="1800" dirty="0"/>
              <a:t>Amazon Q Developer</a:t>
            </a:r>
          </a:p>
        </p:txBody>
      </p:sp>
      <p:sp>
        <p:nvSpPr>
          <p:cNvPr id="31" name="Text Placeholder 30">
            <a:extLst>
              <a:ext uri="{FF2B5EF4-FFF2-40B4-BE49-F238E27FC236}">
                <a16:creationId xmlns:a16="http://schemas.microsoft.com/office/drawing/2014/main" id="{838EF63D-FC8D-455F-9E35-6412B311CEA3}"/>
              </a:ext>
            </a:extLst>
          </p:cNvPr>
          <p:cNvSpPr>
            <a:spLocks noGrp="1"/>
          </p:cNvSpPr>
          <p:nvPr>
            <p:ph type="body" idx="17"/>
          </p:nvPr>
        </p:nvSpPr>
        <p:spPr>
          <a:xfrm>
            <a:off x="3263877" y="5303149"/>
            <a:ext cx="2788920" cy="301752"/>
          </a:xfrm>
        </p:spPr>
        <p:txBody>
          <a:bodyPr>
            <a:noAutofit/>
          </a:bodyPr>
          <a:lstStyle/>
          <a:p>
            <a:r>
              <a:rPr lang="en-US" sz="1800" dirty="0"/>
              <a:t>Contact centers</a:t>
            </a:r>
          </a:p>
        </p:txBody>
      </p:sp>
      <p:sp>
        <p:nvSpPr>
          <p:cNvPr id="23" name="Text Placeholder 22">
            <a:extLst>
              <a:ext uri="{FF2B5EF4-FFF2-40B4-BE49-F238E27FC236}">
                <a16:creationId xmlns:a16="http://schemas.microsoft.com/office/drawing/2014/main" id="{FCB45486-DF26-4ABC-BA15-9A455E1F2741}"/>
              </a:ext>
            </a:extLst>
          </p:cNvPr>
          <p:cNvSpPr>
            <a:spLocks noGrp="1"/>
          </p:cNvSpPr>
          <p:nvPr>
            <p:ph type="body" idx="7"/>
          </p:nvPr>
        </p:nvSpPr>
        <p:spPr>
          <a:xfrm>
            <a:off x="3265932" y="5654038"/>
            <a:ext cx="2788920" cy="570859"/>
          </a:xfrm>
        </p:spPr>
        <p:txBody>
          <a:bodyPr>
            <a:noAutofit/>
          </a:bodyPr>
          <a:lstStyle/>
          <a:p>
            <a:r>
              <a:rPr lang="en-US" sz="1800" dirty="0"/>
              <a:t>Amazon Connect</a:t>
            </a:r>
            <a:br>
              <a:rPr lang="en-US" sz="1800" dirty="0"/>
            </a:br>
            <a:r>
              <a:rPr lang="en-US" sz="1800" dirty="0"/>
              <a:t>Contact Lens</a:t>
            </a:r>
          </a:p>
        </p:txBody>
      </p:sp>
      <p:sp>
        <p:nvSpPr>
          <p:cNvPr id="32" name="Text Placeholder 31">
            <a:extLst>
              <a:ext uri="{FF2B5EF4-FFF2-40B4-BE49-F238E27FC236}">
                <a16:creationId xmlns:a16="http://schemas.microsoft.com/office/drawing/2014/main" id="{960B216E-DFA6-4CE9-B084-64559DA4CF98}"/>
              </a:ext>
            </a:extLst>
          </p:cNvPr>
          <p:cNvSpPr>
            <a:spLocks noGrp="1"/>
          </p:cNvSpPr>
          <p:nvPr>
            <p:ph type="body" idx="18"/>
          </p:nvPr>
        </p:nvSpPr>
        <p:spPr>
          <a:xfrm>
            <a:off x="6141189" y="5303149"/>
            <a:ext cx="2788920" cy="301752"/>
          </a:xfrm>
        </p:spPr>
        <p:txBody>
          <a:bodyPr>
            <a:noAutofit/>
          </a:bodyPr>
          <a:lstStyle/>
          <a:p>
            <a:r>
              <a:rPr lang="en-US" sz="1800" dirty="0"/>
              <a:t>Multimodal processing</a:t>
            </a:r>
          </a:p>
        </p:txBody>
      </p:sp>
      <p:sp>
        <p:nvSpPr>
          <p:cNvPr id="24" name="Text Placeholder 23">
            <a:extLst>
              <a:ext uri="{FF2B5EF4-FFF2-40B4-BE49-F238E27FC236}">
                <a16:creationId xmlns:a16="http://schemas.microsoft.com/office/drawing/2014/main" id="{44659A8D-8C60-4897-9802-5849D76ED270}"/>
              </a:ext>
            </a:extLst>
          </p:cNvPr>
          <p:cNvSpPr>
            <a:spLocks noGrp="1"/>
          </p:cNvSpPr>
          <p:nvPr>
            <p:ph type="body" idx="8"/>
          </p:nvPr>
        </p:nvSpPr>
        <p:spPr>
          <a:xfrm>
            <a:off x="6143244" y="5654038"/>
            <a:ext cx="2788920" cy="792482"/>
          </a:xfrm>
        </p:spPr>
        <p:txBody>
          <a:bodyPr>
            <a:noAutofit/>
          </a:bodyPr>
          <a:lstStyle/>
          <a:p>
            <a:pPr>
              <a:spcBef>
                <a:spcPts val="0"/>
              </a:spcBef>
              <a:spcAft>
                <a:spcPts val="0"/>
              </a:spcAft>
            </a:pPr>
            <a:r>
              <a:rPr lang="en-US" sz="1800" dirty="0"/>
              <a:t>Amazon Rekognition</a:t>
            </a:r>
          </a:p>
          <a:p>
            <a:pPr>
              <a:spcBef>
                <a:spcPts val="0"/>
              </a:spcBef>
              <a:spcAft>
                <a:spcPts val="0"/>
              </a:spcAft>
            </a:pPr>
            <a:r>
              <a:rPr lang="en-US" sz="1800" dirty="0"/>
              <a:t>Amazon Polly</a:t>
            </a:r>
          </a:p>
          <a:p>
            <a:pPr>
              <a:spcBef>
                <a:spcPts val="0"/>
              </a:spcBef>
              <a:spcAft>
                <a:spcPts val="0"/>
              </a:spcAft>
            </a:pPr>
            <a:r>
              <a:rPr lang="en-US" sz="1800" dirty="0"/>
              <a:t>Amazon Transcribe</a:t>
            </a:r>
          </a:p>
        </p:txBody>
      </p:sp>
      <p:pic>
        <p:nvPicPr>
          <p:cNvPr id="4" name="Picture Placeholder 3">
            <a:extLst>
              <a:ext uri="{FF2B5EF4-FFF2-40B4-BE49-F238E27FC236}">
                <a16:creationId xmlns:a16="http://schemas.microsoft.com/office/drawing/2014/main" id="{01280DE4-1283-121D-DFE2-BE766F3E62A6}"/>
              </a:ext>
              <a:ext uri="{C183D7F6-B498-43B3-948B-1728B52AA6E4}">
                <adec:decorative xmlns:adec="http://schemas.microsoft.com/office/drawing/2017/decorative" val="1"/>
              </a:ext>
            </a:extLst>
          </p:cNvPr>
          <p:cNvPicPr>
            <a:picLocks noGrp="1" noChangeAspect="1"/>
          </p:cNvPicPr>
          <p:nvPr>
            <p:ph type="pic" idx="22"/>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48" r="48"/>
          <a:stretch>
            <a:fillRect/>
          </a:stretch>
        </p:blipFill>
        <p:spPr>
          <a:prstGeom prst="rect">
            <a:avLst/>
          </a:prstGeom>
        </p:spPr>
      </p:pic>
      <p:grpSp>
        <p:nvGrpSpPr>
          <p:cNvPr id="53" name="Group 52">
            <a:extLst>
              <a:ext uri="{FF2B5EF4-FFF2-40B4-BE49-F238E27FC236}">
                <a16:creationId xmlns:a16="http://schemas.microsoft.com/office/drawing/2014/main" id="{DA620484-FE93-4EED-298A-C5D483036070}"/>
              </a:ext>
              <a:ext uri="{C183D7F6-B498-43B3-948B-1728B52AA6E4}">
                <adec:decorative xmlns:adec="http://schemas.microsoft.com/office/drawing/2017/decorative" val="1"/>
              </a:ext>
            </a:extLst>
          </p:cNvPr>
          <p:cNvGrpSpPr/>
          <p:nvPr/>
        </p:nvGrpSpPr>
        <p:grpSpPr>
          <a:xfrm>
            <a:off x="9389244" y="1195385"/>
            <a:ext cx="1893087" cy="1367004"/>
            <a:chOff x="3590954" y="3355682"/>
            <a:chExt cx="3165025" cy="2285474"/>
          </a:xfrm>
        </p:grpSpPr>
        <p:sp>
          <p:nvSpPr>
            <p:cNvPr id="54" name="Freeform 53">
              <a:extLst>
                <a:ext uri="{FF2B5EF4-FFF2-40B4-BE49-F238E27FC236}">
                  <a16:creationId xmlns:a16="http://schemas.microsoft.com/office/drawing/2014/main" id="{3C727C61-53C5-5556-38B2-AC4464F89225}"/>
                </a:ext>
              </a:extLst>
            </p:cNvPr>
            <p:cNvSpPr/>
            <p:nvPr/>
          </p:nvSpPr>
          <p:spPr>
            <a:xfrm>
              <a:off x="3959802" y="4060090"/>
              <a:ext cx="672436" cy="629580"/>
            </a:xfrm>
            <a:custGeom>
              <a:avLst/>
              <a:gdLst>
                <a:gd name="connsiteX0" fmla="*/ 672437 w 672436"/>
                <a:gd name="connsiteY0" fmla="*/ 238607 h 629580"/>
                <a:gd name="connsiteX1" fmla="*/ 325373 w 672436"/>
                <a:gd name="connsiteY1" fmla="*/ 629054 h 629580"/>
                <a:gd name="connsiteX2" fmla="*/ 0 w 672436"/>
                <a:gd name="connsiteY2" fmla="*/ 260298 h 629580"/>
                <a:gd name="connsiteX3" fmla="*/ 0 w 672436"/>
                <a:gd name="connsiteY3" fmla="*/ 0 h 629580"/>
                <a:gd name="connsiteX4" fmla="*/ 672437 w 672436"/>
                <a:gd name="connsiteY4" fmla="*/ 0 h 629580"/>
                <a:gd name="connsiteX5" fmla="*/ 672437 w 672436"/>
                <a:gd name="connsiteY5" fmla="*/ 238607 h 62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436" h="629580">
                  <a:moveTo>
                    <a:pt x="672437" y="238607"/>
                  </a:moveTo>
                  <a:cubicBezTo>
                    <a:pt x="665020" y="440268"/>
                    <a:pt x="613240" y="641229"/>
                    <a:pt x="325373" y="629054"/>
                  </a:cubicBezTo>
                  <a:cubicBezTo>
                    <a:pt x="68573" y="618278"/>
                    <a:pt x="4058" y="449084"/>
                    <a:pt x="0" y="260298"/>
                  </a:cubicBezTo>
                  <a:lnTo>
                    <a:pt x="0" y="0"/>
                  </a:lnTo>
                  <a:lnTo>
                    <a:pt x="672437" y="0"/>
                  </a:lnTo>
                  <a:lnTo>
                    <a:pt x="672437" y="238607"/>
                  </a:lnTo>
                  <a:close/>
                </a:path>
              </a:pathLst>
            </a:custGeom>
            <a:noFill/>
            <a:ln w="25400" cap="flat">
              <a:solidFill>
                <a:srgbClr val="232F3E"/>
              </a:solidFill>
              <a:prstDash val="solid"/>
              <a:round/>
            </a:ln>
          </p:spPr>
          <p:txBody>
            <a:bodyPr rtlCol="0" anchor="ctr"/>
            <a:lstStyle/>
            <a:p>
              <a:endParaRPr lang="en-US" dirty="0"/>
            </a:p>
          </p:txBody>
        </p:sp>
        <p:sp>
          <p:nvSpPr>
            <p:cNvPr id="55" name="Freeform 54">
              <a:extLst>
                <a:ext uri="{FF2B5EF4-FFF2-40B4-BE49-F238E27FC236}">
                  <a16:creationId xmlns:a16="http://schemas.microsoft.com/office/drawing/2014/main" id="{528E74C5-6883-33B1-AB50-C6BA31B6C14A}"/>
                </a:ext>
              </a:extLst>
            </p:cNvPr>
            <p:cNvSpPr/>
            <p:nvPr/>
          </p:nvSpPr>
          <p:spPr>
            <a:xfrm>
              <a:off x="3591246" y="5101282"/>
              <a:ext cx="1430998" cy="325372"/>
            </a:xfrm>
            <a:custGeom>
              <a:avLst/>
              <a:gdLst>
                <a:gd name="connsiteX0" fmla="*/ 21491 w 1430998"/>
                <a:gd name="connsiteY0" fmla="*/ 0 h 325372"/>
                <a:gd name="connsiteX1" fmla="*/ 80 w 1430998"/>
                <a:gd name="connsiteY1" fmla="*/ 325373 h 325372"/>
                <a:gd name="connsiteX2" fmla="*/ 1430880 w 1430998"/>
                <a:gd name="connsiteY2" fmla="*/ 325373 h 325372"/>
                <a:gd name="connsiteX3" fmla="*/ 1409748 w 1430998"/>
                <a:gd name="connsiteY3" fmla="*/ 0 h 325372"/>
              </a:gdLst>
              <a:ahLst/>
              <a:cxnLst>
                <a:cxn ang="0">
                  <a:pos x="connsiteX0" y="connsiteY0"/>
                </a:cxn>
                <a:cxn ang="0">
                  <a:pos x="connsiteX1" y="connsiteY1"/>
                </a:cxn>
                <a:cxn ang="0">
                  <a:pos x="connsiteX2" y="connsiteY2"/>
                </a:cxn>
                <a:cxn ang="0">
                  <a:pos x="connsiteX3" y="connsiteY3"/>
                </a:cxn>
              </a:cxnLst>
              <a:rect l="l" t="t" r="r" b="b"/>
              <a:pathLst>
                <a:path w="1430998" h="325372">
                  <a:moveTo>
                    <a:pt x="21491" y="0"/>
                  </a:moveTo>
                  <a:cubicBezTo>
                    <a:pt x="7217" y="61996"/>
                    <a:pt x="-900" y="151001"/>
                    <a:pt x="80" y="325373"/>
                  </a:cubicBezTo>
                  <a:lnTo>
                    <a:pt x="1430880" y="325373"/>
                  </a:lnTo>
                  <a:cubicBezTo>
                    <a:pt x="1431859" y="139945"/>
                    <a:pt x="1426961" y="67733"/>
                    <a:pt x="1409748" y="0"/>
                  </a:cubicBezTo>
                </a:path>
              </a:pathLst>
            </a:custGeom>
            <a:noFill/>
            <a:ln w="25400" cap="flat">
              <a:solidFill>
                <a:srgbClr val="232F3E"/>
              </a:solidFill>
              <a:prstDash val="solid"/>
              <a:round/>
            </a:ln>
          </p:spPr>
          <p:txBody>
            <a:bodyPr rtlCol="0" anchor="ctr"/>
            <a:lstStyle/>
            <a:p>
              <a:endParaRPr lang="en-US" dirty="0"/>
            </a:p>
          </p:txBody>
        </p:sp>
        <p:sp>
          <p:nvSpPr>
            <p:cNvPr id="56" name="Freeform 55">
              <a:extLst>
                <a:ext uri="{FF2B5EF4-FFF2-40B4-BE49-F238E27FC236}">
                  <a16:creationId xmlns:a16="http://schemas.microsoft.com/office/drawing/2014/main" id="{1356C210-0B1D-0573-EE89-7EECE373C52F}"/>
                </a:ext>
              </a:extLst>
            </p:cNvPr>
            <p:cNvSpPr/>
            <p:nvPr/>
          </p:nvSpPr>
          <p:spPr>
            <a:xfrm>
              <a:off x="3894727" y="5188048"/>
              <a:ext cx="13994" cy="173532"/>
            </a:xfrm>
            <a:custGeom>
              <a:avLst/>
              <a:gdLst>
                <a:gd name="connsiteX0" fmla="*/ 0 w 13994"/>
                <a:gd name="connsiteY0" fmla="*/ 0 h 173532"/>
                <a:gd name="connsiteX1" fmla="*/ 0 w 13994"/>
                <a:gd name="connsiteY1" fmla="*/ 173532 h 173532"/>
              </a:gdLst>
              <a:ahLst/>
              <a:cxnLst>
                <a:cxn ang="0">
                  <a:pos x="connsiteX0" y="connsiteY0"/>
                </a:cxn>
                <a:cxn ang="0">
                  <a:pos x="connsiteX1" y="connsiteY1"/>
                </a:cxn>
              </a:cxnLst>
              <a:rect l="l" t="t" r="r" b="b"/>
              <a:pathLst>
                <a:path w="13994" h="173532">
                  <a:moveTo>
                    <a:pt x="0" y="0"/>
                  </a:moveTo>
                  <a:lnTo>
                    <a:pt x="0" y="173532"/>
                  </a:lnTo>
                </a:path>
              </a:pathLst>
            </a:custGeom>
            <a:ln w="25400" cap="flat">
              <a:solidFill>
                <a:srgbClr val="232F3E"/>
              </a:solidFill>
              <a:prstDash val="solid"/>
              <a:round/>
            </a:ln>
          </p:spPr>
          <p:txBody>
            <a:bodyPr rtlCol="0" anchor="ctr"/>
            <a:lstStyle/>
            <a:p>
              <a:endParaRPr lang="en-US" dirty="0"/>
            </a:p>
          </p:txBody>
        </p:sp>
        <p:sp>
          <p:nvSpPr>
            <p:cNvPr id="57" name="Freeform 56">
              <a:extLst>
                <a:ext uri="{FF2B5EF4-FFF2-40B4-BE49-F238E27FC236}">
                  <a16:creationId xmlns:a16="http://schemas.microsoft.com/office/drawing/2014/main" id="{6AE83AC6-ED80-77BA-4F18-E7BF50CDF889}"/>
                </a:ext>
              </a:extLst>
            </p:cNvPr>
            <p:cNvSpPr/>
            <p:nvPr/>
          </p:nvSpPr>
          <p:spPr>
            <a:xfrm>
              <a:off x="3959455" y="3799736"/>
              <a:ext cx="672828" cy="260353"/>
            </a:xfrm>
            <a:custGeom>
              <a:avLst/>
              <a:gdLst>
                <a:gd name="connsiteX0" fmla="*/ 347 w 672828"/>
                <a:gd name="connsiteY0" fmla="*/ 260353 h 260353"/>
                <a:gd name="connsiteX1" fmla="*/ 325719 w 672828"/>
                <a:gd name="connsiteY1" fmla="*/ 55 h 260353"/>
                <a:gd name="connsiteX2" fmla="*/ 672784 w 672828"/>
                <a:gd name="connsiteY2" fmla="*/ 260353 h 260353"/>
              </a:gdLst>
              <a:ahLst/>
              <a:cxnLst>
                <a:cxn ang="0">
                  <a:pos x="connsiteX0" y="connsiteY0"/>
                </a:cxn>
                <a:cxn ang="0">
                  <a:pos x="connsiteX1" y="connsiteY1"/>
                </a:cxn>
                <a:cxn ang="0">
                  <a:pos x="connsiteX2" y="connsiteY2"/>
                </a:cxn>
              </a:cxnLst>
              <a:rect l="l" t="t" r="r" b="b"/>
              <a:pathLst>
                <a:path w="672828" h="260353">
                  <a:moveTo>
                    <a:pt x="347" y="260353"/>
                  </a:moveTo>
                  <a:cubicBezTo>
                    <a:pt x="-7770" y="160153"/>
                    <a:pt x="127417" y="-3443"/>
                    <a:pt x="325719" y="55"/>
                  </a:cubicBezTo>
                  <a:cubicBezTo>
                    <a:pt x="506109" y="3274"/>
                    <a:pt x="676002" y="142240"/>
                    <a:pt x="672784" y="260353"/>
                  </a:cubicBezTo>
                </a:path>
              </a:pathLst>
            </a:custGeom>
            <a:noFill/>
            <a:ln w="25400" cap="flat">
              <a:solidFill>
                <a:srgbClr val="232F3E"/>
              </a:solidFill>
              <a:prstDash val="solid"/>
              <a:round/>
            </a:ln>
          </p:spPr>
          <p:txBody>
            <a:bodyPr rtlCol="0" anchor="ctr"/>
            <a:lstStyle/>
            <a:p>
              <a:endParaRPr lang="en-US" dirty="0"/>
            </a:p>
          </p:txBody>
        </p:sp>
        <p:sp>
          <p:nvSpPr>
            <p:cNvPr id="58" name="Freeform 57">
              <a:extLst>
                <a:ext uri="{FF2B5EF4-FFF2-40B4-BE49-F238E27FC236}">
                  <a16:creationId xmlns:a16="http://schemas.microsoft.com/office/drawing/2014/main" id="{D6A067B5-96A7-0C45-AAA7-F730B80345B3}"/>
                </a:ext>
              </a:extLst>
            </p:cNvPr>
            <p:cNvSpPr/>
            <p:nvPr/>
          </p:nvSpPr>
          <p:spPr>
            <a:xfrm>
              <a:off x="3807687" y="3626246"/>
              <a:ext cx="976444" cy="1193049"/>
            </a:xfrm>
            <a:custGeom>
              <a:avLst/>
              <a:gdLst>
                <a:gd name="connsiteX0" fmla="*/ 976393 w 976444"/>
                <a:gd name="connsiteY0" fmla="*/ 585685 h 1193049"/>
                <a:gd name="connsiteX1" fmla="*/ 499179 w 976444"/>
                <a:gd name="connsiteY1" fmla="*/ 1193047 h 1193049"/>
                <a:gd name="connsiteX2" fmla="*/ 274 w 976444"/>
                <a:gd name="connsiteY2" fmla="*/ 585685 h 1193049"/>
                <a:gd name="connsiteX3" fmla="*/ 477488 w 976444"/>
                <a:gd name="connsiteY3" fmla="*/ 14 h 1193049"/>
                <a:gd name="connsiteX4" fmla="*/ 976393 w 976444"/>
                <a:gd name="connsiteY4" fmla="*/ 585685 h 1193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444" h="1193049">
                  <a:moveTo>
                    <a:pt x="976393" y="585685"/>
                  </a:moveTo>
                  <a:cubicBezTo>
                    <a:pt x="979611" y="1029171"/>
                    <a:pt x="831969" y="1193747"/>
                    <a:pt x="499179" y="1193047"/>
                  </a:cubicBezTo>
                  <a:cubicBezTo>
                    <a:pt x="194938" y="1192347"/>
                    <a:pt x="9231" y="1058280"/>
                    <a:pt x="274" y="585685"/>
                  </a:cubicBezTo>
                  <a:cubicBezTo>
                    <a:pt x="-6863" y="206433"/>
                    <a:pt x="124546" y="-1946"/>
                    <a:pt x="477488" y="14"/>
                  </a:cubicBezTo>
                  <a:cubicBezTo>
                    <a:pt x="859118" y="2113"/>
                    <a:pt x="973314" y="167668"/>
                    <a:pt x="976393" y="585685"/>
                  </a:cubicBezTo>
                  <a:close/>
                </a:path>
              </a:pathLst>
            </a:custGeom>
            <a:noFill/>
            <a:ln w="25400" cap="flat">
              <a:solidFill>
                <a:srgbClr val="232F3E"/>
              </a:solidFill>
              <a:prstDash val="solid"/>
              <a:round/>
            </a:ln>
          </p:spPr>
          <p:txBody>
            <a:bodyPr rtlCol="0" anchor="ctr"/>
            <a:lstStyle/>
            <a:p>
              <a:endParaRPr lang="en-US" dirty="0"/>
            </a:p>
          </p:txBody>
        </p:sp>
        <p:sp>
          <p:nvSpPr>
            <p:cNvPr id="59" name="Freeform 58">
              <a:extLst>
                <a:ext uri="{FF2B5EF4-FFF2-40B4-BE49-F238E27FC236}">
                  <a16:creationId xmlns:a16="http://schemas.microsoft.com/office/drawing/2014/main" id="{994A5538-8DBD-54FE-6707-C373119B9725}"/>
                </a:ext>
              </a:extLst>
            </p:cNvPr>
            <p:cNvSpPr/>
            <p:nvPr/>
          </p:nvSpPr>
          <p:spPr>
            <a:xfrm>
              <a:off x="3590954" y="4737845"/>
              <a:ext cx="1424663" cy="363437"/>
            </a:xfrm>
            <a:custGeom>
              <a:avLst/>
              <a:gdLst>
                <a:gd name="connsiteX0" fmla="*/ 1149603 w 1424663"/>
                <a:gd name="connsiteY0" fmla="*/ 1959 h 363437"/>
                <a:gd name="connsiteX1" fmla="*/ 1424455 w 1424663"/>
                <a:gd name="connsiteY1" fmla="*/ 241126 h 363437"/>
                <a:gd name="connsiteX2" fmla="*/ 694221 w 1424663"/>
                <a:gd name="connsiteY2" fmla="*/ 363438 h 363437"/>
                <a:gd name="connsiteX3" fmla="*/ 92 w 1424663"/>
                <a:gd name="connsiteY3" fmla="*/ 276672 h 363437"/>
                <a:gd name="connsiteX4" fmla="*/ 287540 w 1424663"/>
                <a:gd name="connsiteY4" fmla="*/ 0 h 363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663" h="363437">
                  <a:moveTo>
                    <a:pt x="1149603" y="1959"/>
                  </a:moveTo>
                  <a:cubicBezTo>
                    <a:pt x="1297525" y="61996"/>
                    <a:pt x="1401644" y="142464"/>
                    <a:pt x="1424455" y="241126"/>
                  </a:cubicBezTo>
                  <a:cubicBezTo>
                    <a:pt x="1434251" y="283249"/>
                    <a:pt x="1097263" y="363438"/>
                    <a:pt x="694221" y="363438"/>
                  </a:cubicBezTo>
                  <a:cubicBezTo>
                    <a:pt x="325465" y="363438"/>
                    <a:pt x="-6345" y="312358"/>
                    <a:pt x="92" y="276672"/>
                  </a:cubicBezTo>
                  <a:cubicBezTo>
                    <a:pt x="19405" y="170453"/>
                    <a:pt x="126463" y="66474"/>
                    <a:pt x="287540" y="0"/>
                  </a:cubicBezTo>
                </a:path>
              </a:pathLst>
            </a:custGeom>
            <a:noFill/>
            <a:ln w="25400" cap="flat">
              <a:solidFill>
                <a:srgbClr val="232F3E"/>
              </a:solidFill>
              <a:prstDash val="solid"/>
              <a:round/>
            </a:ln>
          </p:spPr>
          <p:txBody>
            <a:bodyPr rtlCol="0" anchor="ctr"/>
            <a:lstStyle/>
            <a:p>
              <a:endParaRPr lang="en-US" dirty="0"/>
            </a:p>
          </p:txBody>
        </p:sp>
        <p:sp>
          <p:nvSpPr>
            <p:cNvPr id="60" name="Freeform 59">
              <a:extLst>
                <a:ext uri="{FF2B5EF4-FFF2-40B4-BE49-F238E27FC236}">
                  <a16:creationId xmlns:a16="http://schemas.microsoft.com/office/drawing/2014/main" id="{DB1920BB-9F20-68F9-3E01-3EFC22C8293D}"/>
                </a:ext>
              </a:extLst>
            </p:cNvPr>
            <p:cNvSpPr/>
            <p:nvPr/>
          </p:nvSpPr>
          <p:spPr>
            <a:xfrm>
              <a:off x="4128156" y="4175684"/>
              <a:ext cx="97401" cy="97121"/>
            </a:xfrm>
            <a:custGeom>
              <a:avLst/>
              <a:gdLst>
                <a:gd name="connsiteX0" fmla="*/ 97402 w 97401"/>
                <a:gd name="connsiteY0" fmla="*/ 48561 h 97121"/>
                <a:gd name="connsiteX1" fmla="*/ 48701 w 97401"/>
                <a:gd name="connsiteY1" fmla="*/ 97122 h 97121"/>
                <a:gd name="connsiteX2" fmla="*/ 0 w 97401"/>
                <a:gd name="connsiteY2" fmla="*/ 48561 h 97121"/>
                <a:gd name="connsiteX3" fmla="*/ 48701 w 97401"/>
                <a:gd name="connsiteY3" fmla="*/ 0 h 97121"/>
                <a:gd name="connsiteX4" fmla="*/ 97402 w 97401"/>
                <a:gd name="connsiteY4" fmla="*/ 48561 h 97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01" h="97121">
                  <a:moveTo>
                    <a:pt x="97402" y="48561"/>
                  </a:moveTo>
                  <a:cubicBezTo>
                    <a:pt x="97402" y="75430"/>
                    <a:pt x="75570" y="97122"/>
                    <a:pt x="48701" y="97122"/>
                  </a:cubicBezTo>
                  <a:cubicBezTo>
                    <a:pt x="21831" y="97122"/>
                    <a:pt x="0" y="75430"/>
                    <a:pt x="0" y="48561"/>
                  </a:cubicBezTo>
                  <a:cubicBezTo>
                    <a:pt x="0" y="21691"/>
                    <a:pt x="21831" y="0"/>
                    <a:pt x="48701" y="0"/>
                  </a:cubicBezTo>
                  <a:cubicBezTo>
                    <a:pt x="75570" y="0"/>
                    <a:pt x="97402" y="21691"/>
                    <a:pt x="97402" y="48561"/>
                  </a:cubicBezTo>
                </a:path>
              </a:pathLst>
            </a:custGeom>
            <a:solidFill>
              <a:srgbClr val="232F3E"/>
            </a:solidFill>
            <a:ln w="25400" cap="flat">
              <a:solidFill>
                <a:srgbClr val="232F3E"/>
              </a:solid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EB2E4403-944F-B1FA-3023-7A02DE41107B}"/>
                </a:ext>
              </a:extLst>
            </p:cNvPr>
            <p:cNvSpPr/>
            <p:nvPr/>
          </p:nvSpPr>
          <p:spPr>
            <a:xfrm>
              <a:off x="4362284" y="4175684"/>
              <a:ext cx="97401" cy="97121"/>
            </a:xfrm>
            <a:custGeom>
              <a:avLst/>
              <a:gdLst>
                <a:gd name="connsiteX0" fmla="*/ 97402 w 97401"/>
                <a:gd name="connsiteY0" fmla="*/ 48561 h 97121"/>
                <a:gd name="connsiteX1" fmla="*/ 48701 w 97401"/>
                <a:gd name="connsiteY1" fmla="*/ 97122 h 97121"/>
                <a:gd name="connsiteX2" fmla="*/ 0 w 97401"/>
                <a:gd name="connsiteY2" fmla="*/ 48561 h 97121"/>
                <a:gd name="connsiteX3" fmla="*/ 48701 w 97401"/>
                <a:gd name="connsiteY3" fmla="*/ 0 h 97121"/>
                <a:gd name="connsiteX4" fmla="*/ 97402 w 97401"/>
                <a:gd name="connsiteY4" fmla="*/ 48561 h 97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01" h="97121">
                  <a:moveTo>
                    <a:pt x="97402" y="48561"/>
                  </a:moveTo>
                  <a:cubicBezTo>
                    <a:pt x="97402" y="75430"/>
                    <a:pt x="75570" y="97122"/>
                    <a:pt x="48701" y="97122"/>
                  </a:cubicBezTo>
                  <a:cubicBezTo>
                    <a:pt x="21831" y="97122"/>
                    <a:pt x="0" y="75430"/>
                    <a:pt x="0" y="48561"/>
                  </a:cubicBezTo>
                  <a:cubicBezTo>
                    <a:pt x="0" y="21691"/>
                    <a:pt x="21831" y="0"/>
                    <a:pt x="48701" y="0"/>
                  </a:cubicBezTo>
                  <a:cubicBezTo>
                    <a:pt x="75570" y="0"/>
                    <a:pt x="97402" y="21691"/>
                    <a:pt x="97402" y="48561"/>
                  </a:cubicBezTo>
                </a:path>
              </a:pathLst>
            </a:custGeom>
            <a:solidFill>
              <a:srgbClr val="232F3E"/>
            </a:solidFill>
            <a:ln w="25400" cap="flat">
              <a:solidFill>
                <a:srgbClr val="232F3E"/>
              </a:solid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0E14A163-ABA0-94EA-3D0E-E63467A2ABF7}"/>
                </a:ext>
              </a:extLst>
            </p:cNvPr>
            <p:cNvSpPr/>
            <p:nvPr/>
          </p:nvSpPr>
          <p:spPr>
            <a:xfrm>
              <a:off x="3879753" y="4887866"/>
              <a:ext cx="418296" cy="54335"/>
            </a:xfrm>
            <a:custGeom>
              <a:avLst/>
              <a:gdLst>
                <a:gd name="connsiteX0" fmla="*/ 0 w 418296"/>
                <a:gd name="connsiteY0" fmla="*/ 0 h 54335"/>
                <a:gd name="connsiteX1" fmla="*/ 418296 w 418296"/>
                <a:gd name="connsiteY1" fmla="*/ 49681 h 54335"/>
              </a:gdLst>
              <a:ahLst/>
              <a:cxnLst>
                <a:cxn ang="0">
                  <a:pos x="connsiteX0" y="connsiteY0"/>
                </a:cxn>
                <a:cxn ang="0">
                  <a:pos x="connsiteX1" y="connsiteY1"/>
                </a:cxn>
              </a:cxnLst>
              <a:rect l="l" t="t" r="r" b="b"/>
              <a:pathLst>
                <a:path w="418296" h="54335">
                  <a:moveTo>
                    <a:pt x="0" y="0"/>
                  </a:moveTo>
                  <a:cubicBezTo>
                    <a:pt x="0" y="0"/>
                    <a:pt x="183188" y="73191"/>
                    <a:pt x="418296" y="49681"/>
                  </a:cubicBezTo>
                </a:path>
              </a:pathLst>
            </a:custGeom>
            <a:noFill/>
            <a:ln w="25400" cap="flat">
              <a:solidFill>
                <a:srgbClr val="232F3E"/>
              </a:solidFill>
              <a:prstDash val="solid"/>
              <a:round/>
            </a:ln>
          </p:spPr>
          <p:txBody>
            <a:bodyPr rtlCol="0" anchor="ctr"/>
            <a:lstStyle/>
            <a:p>
              <a:endParaRPr lang="en-US" dirty="0"/>
            </a:p>
          </p:txBody>
        </p:sp>
        <p:pic>
          <p:nvPicPr>
            <p:cNvPr id="63" name="Graphic 62">
              <a:extLst>
                <a:ext uri="{FF2B5EF4-FFF2-40B4-BE49-F238E27FC236}">
                  <a16:creationId xmlns:a16="http://schemas.microsoft.com/office/drawing/2014/main" id="{00BD18F9-205F-B385-D73D-CAF55E5AA43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94727" y="3814338"/>
              <a:ext cx="818769" cy="818769"/>
            </a:xfrm>
            <a:prstGeom prst="rect">
              <a:avLst/>
            </a:prstGeom>
          </p:spPr>
        </p:pic>
        <p:grpSp>
          <p:nvGrpSpPr>
            <p:cNvPr id="64" name="Group 63">
              <a:extLst>
                <a:ext uri="{FF2B5EF4-FFF2-40B4-BE49-F238E27FC236}">
                  <a16:creationId xmlns:a16="http://schemas.microsoft.com/office/drawing/2014/main" id="{53BD5D09-F1F8-AB6E-DAED-D92EA36D2C9B}"/>
                </a:ext>
              </a:extLst>
            </p:cNvPr>
            <p:cNvGrpSpPr/>
            <p:nvPr/>
          </p:nvGrpSpPr>
          <p:grpSpPr>
            <a:xfrm>
              <a:off x="4239875" y="3355682"/>
              <a:ext cx="2516104" cy="2124339"/>
              <a:chOff x="4601591" y="3429000"/>
              <a:chExt cx="2516104" cy="2124339"/>
            </a:xfrm>
          </p:grpSpPr>
          <p:sp>
            <p:nvSpPr>
              <p:cNvPr id="68" name="Freeform 67">
                <a:extLst>
                  <a:ext uri="{FF2B5EF4-FFF2-40B4-BE49-F238E27FC236}">
                    <a16:creationId xmlns:a16="http://schemas.microsoft.com/office/drawing/2014/main" id="{FFB1B07A-EDBF-B011-0DFA-6773F37B435D}"/>
                  </a:ext>
                </a:extLst>
              </p:cNvPr>
              <p:cNvSpPr/>
              <p:nvPr/>
            </p:nvSpPr>
            <p:spPr>
              <a:xfrm>
                <a:off x="4697313" y="5188048"/>
                <a:ext cx="13994" cy="173532"/>
              </a:xfrm>
              <a:custGeom>
                <a:avLst/>
                <a:gdLst>
                  <a:gd name="connsiteX0" fmla="*/ 0 w 13994"/>
                  <a:gd name="connsiteY0" fmla="*/ 0 h 173532"/>
                  <a:gd name="connsiteX1" fmla="*/ 0 w 13994"/>
                  <a:gd name="connsiteY1" fmla="*/ 173532 h 173532"/>
                </a:gdLst>
                <a:ahLst/>
                <a:cxnLst>
                  <a:cxn ang="0">
                    <a:pos x="connsiteX0" y="connsiteY0"/>
                  </a:cxn>
                  <a:cxn ang="0">
                    <a:pos x="connsiteX1" y="connsiteY1"/>
                  </a:cxn>
                </a:cxnLst>
                <a:rect l="l" t="t" r="r" b="b"/>
                <a:pathLst>
                  <a:path w="13994" h="173532">
                    <a:moveTo>
                      <a:pt x="0" y="0"/>
                    </a:moveTo>
                    <a:lnTo>
                      <a:pt x="0" y="173532"/>
                    </a:lnTo>
                  </a:path>
                </a:pathLst>
              </a:custGeom>
              <a:ln w="25400" cap="flat">
                <a:solidFill>
                  <a:srgbClr val="232F3E"/>
                </a:solidFill>
                <a:prstDash val="solid"/>
                <a:round/>
              </a:ln>
            </p:spPr>
            <p:txBody>
              <a:bodyPr rtlCol="0" anchor="ctr"/>
              <a:lstStyle/>
              <a:p>
                <a:endParaRPr lang="en-US" dirty="0"/>
              </a:p>
            </p:txBody>
          </p:sp>
          <p:sp>
            <p:nvSpPr>
              <p:cNvPr id="69" name="Freeform 68">
                <a:extLst>
                  <a:ext uri="{FF2B5EF4-FFF2-40B4-BE49-F238E27FC236}">
                    <a16:creationId xmlns:a16="http://schemas.microsoft.com/office/drawing/2014/main" id="{C3CC2A6E-7907-2173-0023-5A79CA71209F}"/>
                  </a:ext>
                </a:extLst>
              </p:cNvPr>
              <p:cNvSpPr/>
              <p:nvPr/>
            </p:nvSpPr>
            <p:spPr>
              <a:xfrm>
                <a:off x="4601591" y="4887866"/>
                <a:ext cx="125530" cy="34566"/>
              </a:xfrm>
              <a:custGeom>
                <a:avLst/>
                <a:gdLst>
                  <a:gd name="connsiteX0" fmla="*/ 125531 w 125530"/>
                  <a:gd name="connsiteY0" fmla="*/ 0 h 34566"/>
                  <a:gd name="connsiteX1" fmla="*/ 0 w 125530"/>
                  <a:gd name="connsiteY1" fmla="*/ 34566 h 34566"/>
                </a:gdLst>
                <a:ahLst/>
                <a:cxnLst>
                  <a:cxn ang="0">
                    <a:pos x="connsiteX0" y="connsiteY0"/>
                  </a:cxn>
                  <a:cxn ang="0">
                    <a:pos x="connsiteX1" y="connsiteY1"/>
                  </a:cxn>
                </a:cxnLst>
                <a:rect l="l" t="t" r="r" b="b"/>
                <a:pathLst>
                  <a:path w="125530" h="34566">
                    <a:moveTo>
                      <a:pt x="125531" y="0"/>
                    </a:moveTo>
                    <a:cubicBezTo>
                      <a:pt x="125531" y="0"/>
                      <a:pt x="77950" y="19033"/>
                      <a:pt x="0" y="34566"/>
                    </a:cubicBezTo>
                  </a:path>
                </a:pathLst>
              </a:custGeom>
              <a:noFill/>
              <a:ln w="25400" cap="flat">
                <a:solidFill>
                  <a:srgbClr val="232F3E"/>
                </a:solidFill>
                <a:prstDash val="solid"/>
                <a:round/>
              </a:ln>
            </p:spPr>
            <p:txBody>
              <a:bodyPr rtlCol="0" anchor="ctr"/>
              <a:lstStyle/>
              <a:p>
                <a:endParaRPr lang="en-US" dirty="0"/>
              </a:p>
            </p:txBody>
          </p:sp>
          <p:pic>
            <p:nvPicPr>
              <p:cNvPr id="70" name="Graphic 69">
                <a:extLst>
                  <a:ext uri="{FF2B5EF4-FFF2-40B4-BE49-F238E27FC236}">
                    <a16:creationId xmlns:a16="http://schemas.microsoft.com/office/drawing/2014/main" id="{0B3E3E82-973E-1D4E-20E8-F5CDBA843EE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993356" y="3429000"/>
                <a:ext cx="2124339" cy="2124339"/>
              </a:xfrm>
              <a:prstGeom prst="rect">
                <a:avLst/>
              </a:prstGeom>
            </p:spPr>
          </p:pic>
          <p:pic>
            <p:nvPicPr>
              <p:cNvPr id="71" name="Graphic 70">
                <a:extLst>
                  <a:ext uri="{FF2B5EF4-FFF2-40B4-BE49-F238E27FC236}">
                    <a16:creationId xmlns:a16="http://schemas.microsoft.com/office/drawing/2014/main" id="{2C3B7B97-9593-4E54-54B9-FBE78D6AE0A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461031" y="3799736"/>
                <a:ext cx="1004067" cy="1004067"/>
              </a:xfrm>
              <a:prstGeom prst="rect">
                <a:avLst/>
              </a:prstGeom>
            </p:spPr>
          </p:pic>
        </p:grpSp>
        <p:grpSp>
          <p:nvGrpSpPr>
            <p:cNvPr id="65" name="Group 64">
              <a:extLst>
                <a:ext uri="{FF2B5EF4-FFF2-40B4-BE49-F238E27FC236}">
                  <a16:creationId xmlns:a16="http://schemas.microsoft.com/office/drawing/2014/main" id="{1D722D0F-323D-E858-F8D5-12BA47A6E401}"/>
                </a:ext>
              </a:extLst>
            </p:cNvPr>
            <p:cNvGrpSpPr/>
            <p:nvPr/>
          </p:nvGrpSpPr>
          <p:grpSpPr>
            <a:xfrm>
              <a:off x="3674638" y="4886781"/>
              <a:ext cx="1257293" cy="754375"/>
              <a:chOff x="7037946" y="5001378"/>
              <a:chExt cx="1559909" cy="935945"/>
            </a:xfrm>
            <a:solidFill>
              <a:schemeClr val="bg1"/>
            </a:solidFill>
          </p:grpSpPr>
          <p:sp>
            <p:nvSpPr>
              <p:cNvPr id="66" name="Freeform 65">
                <a:extLst>
                  <a:ext uri="{FF2B5EF4-FFF2-40B4-BE49-F238E27FC236}">
                    <a16:creationId xmlns:a16="http://schemas.microsoft.com/office/drawing/2014/main" id="{1B3FA8AC-4F01-83F3-E8C8-830E8769F847}"/>
                  </a:ext>
                </a:extLst>
              </p:cNvPr>
              <p:cNvSpPr/>
              <p:nvPr/>
            </p:nvSpPr>
            <p:spPr>
              <a:xfrm>
                <a:off x="7127084" y="5001378"/>
                <a:ext cx="1381634" cy="802239"/>
              </a:xfrm>
              <a:custGeom>
                <a:avLst/>
                <a:gdLst>
                  <a:gd name="connsiteX0" fmla="*/ 1381635 w 1381634"/>
                  <a:gd name="connsiteY0" fmla="*/ 802239 h 802239"/>
                  <a:gd name="connsiteX1" fmla="*/ 1381635 w 1381634"/>
                  <a:gd name="connsiteY1" fmla="*/ 30158 h 802239"/>
                  <a:gd name="connsiteX2" fmla="*/ 1347762 w 1381634"/>
                  <a:gd name="connsiteY2" fmla="*/ 0 h 802239"/>
                  <a:gd name="connsiteX3" fmla="*/ 33872 w 1381634"/>
                  <a:gd name="connsiteY3" fmla="*/ 0 h 802239"/>
                  <a:gd name="connsiteX4" fmla="*/ 0 w 1381634"/>
                  <a:gd name="connsiteY4" fmla="*/ 30158 h 802239"/>
                  <a:gd name="connsiteX5" fmla="*/ 0 w 1381634"/>
                  <a:gd name="connsiteY5" fmla="*/ 802239 h 80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634" h="802239">
                    <a:moveTo>
                      <a:pt x="1381635" y="802239"/>
                    </a:moveTo>
                    <a:lnTo>
                      <a:pt x="1381635" y="30158"/>
                    </a:lnTo>
                    <a:cubicBezTo>
                      <a:pt x="1381635" y="13519"/>
                      <a:pt x="1366481" y="0"/>
                      <a:pt x="1347762" y="0"/>
                    </a:cubicBezTo>
                    <a:lnTo>
                      <a:pt x="33872" y="0"/>
                    </a:lnTo>
                    <a:cubicBezTo>
                      <a:pt x="15153" y="0"/>
                      <a:pt x="0" y="13519"/>
                      <a:pt x="0" y="30158"/>
                    </a:cubicBezTo>
                    <a:lnTo>
                      <a:pt x="0" y="802239"/>
                    </a:lnTo>
                  </a:path>
                </a:pathLst>
              </a:custGeom>
              <a:solidFill>
                <a:schemeClr val="bg1"/>
              </a:solidFill>
              <a:ln w="25400" cap="flat">
                <a:solidFill>
                  <a:srgbClr val="232F3E"/>
                </a:solidFill>
                <a:prstDash val="solid"/>
                <a:round/>
              </a:ln>
            </p:spPr>
            <p:txBody>
              <a:bodyPr rtlCol="0" anchor="ctr"/>
              <a:lstStyle/>
              <a:p>
                <a:endParaRPr lang="en-US" dirty="0"/>
              </a:p>
            </p:txBody>
          </p:sp>
          <p:sp>
            <p:nvSpPr>
              <p:cNvPr id="67" name="Freeform 66">
                <a:extLst>
                  <a:ext uri="{FF2B5EF4-FFF2-40B4-BE49-F238E27FC236}">
                    <a16:creationId xmlns:a16="http://schemas.microsoft.com/office/drawing/2014/main" id="{E5E335B6-D279-1F3A-0A79-67987B543A1F}"/>
                  </a:ext>
                </a:extLst>
              </p:cNvPr>
              <p:cNvSpPr/>
              <p:nvPr/>
            </p:nvSpPr>
            <p:spPr>
              <a:xfrm>
                <a:off x="7037946" y="5803617"/>
                <a:ext cx="1559909" cy="133706"/>
              </a:xfrm>
              <a:custGeom>
                <a:avLst/>
                <a:gdLst>
                  <a:gd name="connsiteX0" fmla="*/ 1464087 w 1559909"/>
                  <a:gd name="connsiteY0" fmla="*/ 133707 h 133706"/>
                  <a:gd name="connsiteX1" fmla="*/ 1555305 w 1559909"/>
                  <a:gd name="connsiteY1" fmla="*/ 97754 h 133706"/>
                  <a:gd name="connsiteX2" fmla="*/ 1559910 w 1559909"/>
                  <a:gd name="connsiteY2" fmla="*/ 93595 h 133706"/>
                  <a:gd name="connsiteX3" fmla="*/ 1559910 w 1559909"/>
                  <a:gd name="connsiteY3" fmla="*/ 0 h 133706"/>
                  <a:gd name="connsiteX4" fmla="*/ 0 w 1559909"/>
                  <a:gd name="connsiteY4" fmla="*/ 0 h 133706"/>
                  <a:gd name="connsiteX5" fmla="*/ 0 w 1559909"/>
                  <a:gd name="connsiteY5" fmla="*/ 93595 h 133706"/>
                  <a:gd name="connsiteX6" fmla="*/ 4605 w 1559909"/>
                  <a:gd name="connsiteY6" fmla="*/ 97754 h 133706"/>
                  <a:gd name="connsiteX7" fmla="*/ 95823 w 1559909"/>
                  <a:gd name="connsiteY7" fmla="*/ 133707 h 133706"/>
                  <a:gd name="connsiteX8" fmla="*/ 1464087 w 1559909"/>
                  <a:gd name="connsiteY8" fmla="*/ 133707 h 133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9909" h="133706">
                    <a:moveTo>
                      <a:pt x="1464087" y="133707"/>
                    </a:moveTo>
                    <a:cubicBezTo>
                      <a:pt x="1497216" y="133707"/>
                      <a:pt x="1529306" y="121079"/>
                      <a:pt x="1555305" y="97754"/>
                    </a:cubicBezTo>
                    <a:lnTo>
                      <a:pt x="1559910" y="93595"/>
                    </a:lnTo>
                    <a:lnTo>
                      <a:pt x="1559910" y="0"/>
                    </a:lnTo>
                    <a:lnTo>
                      <a:pt x="0" y="0"/>
                    </a:lnTo>
                    <a:lnTo>
                      <a:pt x="0" y="93595"/>
                    </a:lnTo>
                    <a:lnTo>
                      <a:pt x="4605" y="97754"/>
                    </a:lnTo>
                    <a:cubicBezTo>
                      <a:pt x="30604" y="121079"/>
                      <a:pt x="62694" y="133707"/>
                      <a:pt x="95823" y="133707"/>
                    </a:cubicBezTo>
                    <a:lnTo>
                      <a:pt x="1464087" y="133707"/>
                    </a:lnTo>
                    <a:close/>
                  </a:path>
                </a:pathLst>
              </a:custGeom>
              <a:grpFill/>
              <a:ln w="25400" cap="flat">
                <a:solidFill>
                  <a:srgbClr val="232F3E"/>
                </a:solidFill>
                <a:prstDash val="solid"/>
                <a:round/>
              </a:ln>
            </p:spPr>
            <p:txBody>
              <a:bodyPr rtlCol="0" anchor="ctr"/>
              <a:lstStyle/>
              <a:p>
                <a:endParaRPr lang="en-US" dirty="0"/>
              </a:p>
            </p:txBody>
          </p:sp>
        </p:grpSp>
      </p:grpSp>
      <p:grpSp>
        <p:nvGrpSpPr>
          <p:cNvPr id="94" name="Group 93">
            <a:extLst>
              <a:ext uri="{FF2B5EF4-FFF2-40B4-BE49-F238E27FC236}">
                <a16:creationId xmlns:a16="http://schemas.microsoft.com/office/drawing/2014/main" id="{36211AFE-46CF-2F1B-6976-FF7E75739351}"/>
              </a:ext>
              <a:ext uri="{C183D7F6-B498-43B3-948B-1728B52AA6E4}">
                <adec:decorative xmlns:adec="http://schemas.microsoft.com/office/drawing/2017/decorative" val="1"/>
              </a:ext>
            </a:extLst>
          </p:cNvPr>
          <p:cNvGrpSpPr/>
          <p:nvPr/>
        </p:nvGrpSpPr>
        <p:grpSpPr>
          <a:xfrm>
            <a:off x="954024" y="3504519"/>
            <a:ext cx="1648911" cy="1648911"/>
            <a:chOff x="713764" y="3579203"/>
            <a:chExt cx="1648911" cy="1648911"/>
          </a:xfrm>
        </p:grpSpPr>
        <p:pic>
          <p:nvPicPr>
            <p:cNvPr id="73" name="Graphic 72">
              <a:extLst>
                <a:ext uri="{FF2B5EF4-FFF2-40B4-BE49-F238E27FC236}">
                  <a16:creationId xmlns:a16="http://schemas.microsoft.com/office/drawing/2014/main" id="{6C2A5963-AC70-5EDF-39D8-F7F7AE2E4F4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13764" y="3579203"/>
              <a:ext cx="1648911" cy="1648911"/>
            </a:xfrm>
            <a:prstGeom prst="rect">
              <a:avLst/>
            </a:prstGeom>
          </p:spPr>
        </p:pic>
        <p:grpSp>
          <p:nvGrpSpPr>
            <p:cNvPr id="90" name="Group 89">
              <a:extLst>
                <a:ext uri="{FF2B5EF4-FFF2-40B4-BE49-F238E27FC236}">
                  <a16:creationId xmlns:a16="http://schemas.microsoft.com/office/drawing/2014/main" id="{DC10CF35-5669-ED67-B181-300953A22BA1}"/>
                </a:ext>
              </a:extLst>
            </p:cNvPr>
            <p:cNvGrpSpPr/>
            <p:nvPr/>
          </p:nvGrpSpPr>
          <p:grpSpPr>
            <a:xfrm>
              <a:off x="1444353" y="4117138"/>
              <a:ext cx="918322" cy="912069"/>
              <a:chOff x="2356510" y="3838618"/>
              <a:chExt cx="918322" cy="912069"/>
            </a:xfrm>
          </p:grpSpPr>
          <p:grpSp>
            <p:nvGrpSpPr>
              <p:cNvPr id="85" name="Picture Placeholder 71">
                <a:extLst>
                  <a:ext uri="{FF2B5EF4-FFF2-40B4-BE49-F238E27FC236}">
                    <a16:creationId xmlns:a16="http://schemas.microsoft.com/office/drawing/2014/main" id="{20453361-D097-E5F2-EEA0-21DF46B6BCD8}"/>
                  </a:ext>
                </a:extLst>
              </p:cNvPr>
              <p:cNvGrpSpPr/>
              <p:nvPr/>
            </p:nvGrpSpPr>
            <p:grpSpPr>
              <a:xfrm>
                <a:off x="2356510" y="3838618"/>
                <a:ext cx="918322" cy="912069"/>
                <a:chOff x="1518383" y="4388600"/>
                <a:chExt cx="918322" cy="912069"/>
              </a:xfrm>
              <a:noFill/>
            </p:grpSpPr>
            <p:sp>
              <p:nvSpPr>
                <p:cNvPr id="86" name="Freeform 85">
                  <a:extLst>
                    <a:ext uri="{FF2B5EF4-FFF2-40B4-BE49-F238E27FC236}">
                      <a16:creationId xmlns:a16="http://schemas.microsoft.com/office/drawing/2014/main" id="{66EAEF58-7985-915B-F559-8A4E81CFB708}"/>
                    </a:ext>
                  </a:extLst>
                </p:cNvPr>
                <p:cNvSpPr/>
                <p:nvPr/>
              </p:nvSpPr>
              <p:spPr>
                <a:xfrm>
                  <a:off x="2151387" y="5005780"/>
                  <a:ext cx="285318" cy="294889"/>
                </a:xfrm>
                <a:custGeom>
                  <a:avLst/>
                  <a:gdLst>
                    <a:gd name="connsiteX0" fmla="*/ 104636 w 285318"/>
                    <a:gd name="connsiteY0" fmla="*/ 0 h 294889"/>
                    <a:gd name="connsiteX1" fmla="*/ 263068 w 285318"/>
                    <a:gd name="connsiteY1" fmla="*/ 165185 h 294889"/>
                    <a:gd name="connsiteX2" fmla="*/ 263068 w 285318"/>
                    <a:gd name="connsiteY2" fmla="*/ 272641 h 294889"/>
                    <a:gd name="connsiteX3" fmla="*/ 263068 w 285318"/>
                    <a:gd name="connsiteY3" fmla="*/ 272641 h 294889"/>
                    <a:gd name="connsiteX4" fmla="*/ 155600 w 285318"/>
                    <a:gd name="connsiteY4" fmla="*/ 272641 h 294889"/>
                    <a:gd name="connsiteX5" fmla="*/ 0 w 285318"/>
                    <a:gd name="connsiteY5" fmla="*/ 110287 h 294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318" h="294889">
                      <a:moveTo>
                        <a:pt x="104636" y="0"/>
                      </a:moveTo>
                      <a:lnTo>
                        <a:pt x="263068" y="165185"/>
                      </a:lnTo>
                      <a:cubicBezTo>
                        <a:pt x="292736" y="194849"/>
                        <a:pt x="292736" y="242977"/>
                        <a:pt x="263068" y="272641"/>
                      </a:cubicBezTo>
                      <a:lnTo>
                        <a:pt x="263068" y="272641"/>
                      </a:lnTo>
                      <a:cubicBezTo>
                        <a:pt x="233401" y="302306"/>
                        <a:pt x="185268" y="302306"/>
                        <a:pt x="155600" y="272641"/>
                      </a:cubicBezTo>
                      <a:lnTo>
                        <a:pt x="0" y="110287"/>
                      </a:lnTo>
                    </a:path>
                  </a:pathLst>
                </a:custGeom>
                <a:noFill/>
                <a:ln w="25400" cap="flat">
                  <a:solidFill>
                    <a:srgbClr val="232F3E"/>
                  </a:solidFill>
                  <a:prstDash val="solid"/>
                  <a:round/>
                </a:ln>
              </p:spPr>
              <p:txBody>
                <a:bodyPr rtlCol="0" anchor="ctr"/>
                <a:lstStyle/>
                <a:p>
                  <a:endParaRPr lang="en-US" dirty="0"/>
                </a:p>
              </p:txBody>
            </p:sp>
            <p:sp>
              <p:nvSpPr>
                <p:cNvPr id="88" name="Freeform 87">
                  <a:extLst>
                    <a:ext uri="{FF2B5EF4-FFF2-40B4-BE49-F238E27FC236}">
                      <a16:creationId xmlns:a16="http://schemas.microsoft.com/office/drawing/2014/main" id="{ABFBA03D-3C15-F219-E76B-9F2D19169D45}"/>
                    </a:ext>
                  </a:extLst>
                </p:cNvPr>
                <p:cNvSpPr/>
                <p:nvPr/>
              </p:nvSpPr>
              <p:spPr>
                <a:xfrm>
                  <a:off x="1518383" y="4388600"/>
                  <a:ext cx="775663" cy="775581"/>
                </a:xfrm>
                <a:custGeom>
                  <a:avLst/>
                  <a:gdLst>
                    <a:gd name="connsiteX0" fmla="*/ 775664 w 775663"/>
                    <a:gd name="connsiteY0" fmla="*/ 387791 h 775581"/>
                    <a:gd name="connsiteX1" fmla="*/ 387832 w 775663"/>
                    <a:gd name="connsiteY1" fmla="*/ 775581 h 775581"/>
                    <a:gd name="connsiteX2" fmla="*/ 0 w 775663"/>
                    <a:gd name="connsiteY2" fmla="*/ 387791 h 775581"/>
                    <a:gd name="connsiteX3" fmla="*/ 387832 w 775663"/>
                    <a:gd name="connsiteY3" fmla="*/ 0 h 775581"/>
                    <a:gd name="connsiteX4" fmla="*/ 775664 w 775663"/>
                    <a:gd name="connsiteY4" fmla="*/ 387791 h 775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663" h="775581">
                      <a:moveTo>
                        <a:pt x="775664" y="387791"/>
                      </a:moveTo>
                      <a:cubicBezTo>
                        <a:pt x="775664" y="601962"/>
                        <a:pt x="602025" y="775581"/>
                        <a:pt x="387832" y="775581"/>
                      </a:cubicBezTo>
                      <a:cubicBezTo>
                        <a:pt x="173638" y="775581"/>
                        <a:pt x="0" y="601962"/>
                        <a:pt x="0" y="387791"/>
                      </a:cubicBezTo>
                      <a:cubicBezTo>
                        <a:pt x="0" y="173620"/>
                        <a:pt x="173638" y="0"/>
                        <a:pt x="387832" y="0"/>
                      </a:cubicBezTo>
                      <a:cubicBezTo>
                        <a:pt x="602025" y="0"/>
                        <a:pt x="775664" y="173620"/>
                        <a:pt x="775664" y="387791"/>
                      </a:cubicBezTo>
                      <a:close/>
                    </a:path>
                  </a:pathLst>
                </a:custGeom>
                <a:solidFill>
                  <a:schemeClr val="bg1"/>
                </a:solidFill>
                <a:ln w="25400" cap="flat">
                  <a:solidFill>
                    <a:srgbClr val="232F3E"/>
                  </a:solidFill>
                  <a:prstDash val="solid"/>
                  <a:round/>
                </a:ln>
              </p:spPr>
              <p:txBody>
                <a:bodyPr rtlCol="0" anchor="ctr"/>
                <a:lstStyle/>
                <a:p>
                  <a:endParaRPr lang="en-US" dirty="0"/>
                </a:p>
              </p:txBody>
            </p:sp>
            <p:sp>
              <p:nvSpPr>
                <p:cNvPr id="87" name="Freeform 86">
                  <a:extLst>
                    <a:ext uri="{FF2B5EF4-FFF2-40B4-BE49-F238E27FC236}">
                      <a16:creationId xmlns:a16="http://schemas.microsoft.com/office/drawing/2014/main" id="{6F833D96-4BC1-3980-9D12-0A8A65839A65}"/>
                    </a:ext>
                  </a:extLst>
                </p:cNvPr>
                <p:cNvSpPr/>
                <p:nvPr/>
              </p:nvSpPr>
              <p:spPr>
                <a:xfrm>
                  <a:off x="1628486" y="4510826"/>
                  <a:ext cx="531183" cy="531127"/>
                </a:xfrm>
                <a:custGeom>
                  <a:avLst/>
                  <a:gdLst>
                    <a:gd name="connsiteX0" fmla="*/ 531184 w 531183"/>
                    <a:gd name="connsiteY0" fmla="*/ 265564 h 531127"/>
                    <a:gd name="connsiteX1" fmla="*/ 265592 w 531183"/>
                    <a:gd name="connsiteY1" fmla="*/ 531127 h 531127"/>
                    <a:gd name="connsiteX2" fmla="*/ 0 w 531183"/>
                    <a:gd name="connsiteY2" fmla="*/ 265564 h 531127"/>
                    <a:gd name="connsiteX3" fmla="*/ 265592 w 531183"/>
                    <a:gd name="connsiteY3" fmla="*/ 0 h 531127"/>
                    <a:gd name="connsiteX4" fmla="*/ 531184 w 531183"/>
                    <a:gd name="connsiteY4" fmla="*/ 265564 h 531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183" h="531127">
                      <a:moveTo>
                        <a:pt x="531184" y="265564"/>
                      </a:moveTo>
                      <a:cubicBezTo>
                        <a:pt x="531184" y="412230"/>
                        <a:pt x="412274" y="531127"/>
                        <a:pt x="265592" y="531127"/>
                      </a:cubicBezTo>
                      <a:cubicBezTo>
                        <a:pt x="118909" y="531127"/>
                        <a:pt x="0" y="412230"/>
                        <a:pt x="0" y="265564"/>
                      </a:cubicBezTo>
                      <a:cubicBezTo>
                        <a:pt x="0" y="118897"/>
                        <a:pt x="118909" y="0"/>
                        <a:pt x="265592" y="0"/>
                      </a:cubicBezTo>
                      <a:cubicBezTo>
                        <a:pt x="412274" y="0"/>
                        <a:pt x="531184" y="118897"/>
                        <a:pt x="531184" y="265564"/>
                      </a:cubicBezTo>
                      <a:close/>
                    </a:path>
                  </a:pathLst>
                </a:custGeom>
                <a:solidFill>
                  <a:schemeClr val="bg1"/>
                </a:solidFill>
                <a:ln w="25400" cap="flat">
                  <a:solidFill>
                    <a:srgbClr val="232F3E"/>
                  </a:solidFill>
                  <a:prstDash val="solid"/>
                  <a:round/>
                </a:ln>
              </p:spPr>
              <p:txBody>
                <a:bodyPr rtlCol="0" anchor="ctr"/>
                <a:lstStyle/>
                <a:p>
                  <a:endParaRPr lang="en-US" dirty="0"/>
                </a:p>
              </p:txBody>
            </p:sp>
          </p:grpSp>
          <p:grpSp>
            <p:nvGrpSpPr>
              <p:cNvPr id="75" name="Picture Placeholder 71">
                <a:extLst>
                  <a:ext uri="{FF2B5EF4-FFF2-40B4-BE49-F238E27FC236}">
                    <a16:creationId xmlns:a16="http://schemas.microsoft.com/office/drawing/2014/main" id="{BFE569D0-BE3B-04C1-229E-797C7B8B1DB1}"/>
                  </a:ext>
                </a:extLst>
              </p:cNvPr>
              <p:cNvGrpSpPr/>
              <p:nvPr/>
            </p:nvGrpSpPr>
            <p:grpSpPr>
              <a:xfrm>
                <a:off x="2528353" y="4057350"/>
                <a:ext cx="383092" cy="379482"/>
                <a:chOff x="1747060" y="4586109"/>
                <a:chExt cx="383092" cy="379482"/>
              </a:xfrm>
              <a:noFill/>
            </p:grpSpPr>
            <p:sp>
              <p:nvSpPr>
                <p:cNvPr id="76" name="Freeform 75">
                  <a:extLst>
                    <a:ext uri="{FF2B5EF4-FFF2-40B4-BE49-F238E27FC236}">
                      <a16:creationId xmlns:a16="http://schemas.microsoft.com/office/drawing/2014/main" id="{E3D09E4C-4A6A-5ABC-F04B-8C686D331D73}"/>
                    </a:ext>
                  </a:extLst>
                </p:cNvPr>
                <p:cNvSpPr/>
                <p:nvPr/>
              </p:nvSpPr>
              <p:spPr>
                <a:xfrm>
                  <a:off x="1768049" y="4586109"/>
                  <a:ext cx="355086" cy="379482"/>
                </a:xfrm>
                <a:custGeom>
                  <a:avLst/>
                  <a:gdLst>
                    <a:gd name="connsiteX0" fmla="*/ 0 w 355086"/>
                    <a:gd name="connsiteY0" fmla="*/ 0 h 379482"/>
                    <a:gd name="connsiteX1" fmla="*/ 355087 w 355086"/>
                    <a:gd name="connsiteY1" fmla="*/ 379482 h 379482"/>
                  </a:gdLst>
                  <a:ahLst/>
                  <a:cxnLst>
                    <a:cxn ang="0">
                      <a:pos x="connsiteX0" y="connsiteY0"/>
                    </a:cxn>
                    <a:cxn ang="0">
                      <a:pos x="connsiteX1" y="connsiteY1"/>
                    </a:cxn>
                  </a:cxnLst>
                  <a:rect l="l" t="t" r="r" b="b"/>
                  <a:pathLst>
                    <a:path w="355086" h="379482">
                      <a:moveTo>
                        <a:pt x="0" y="0"/>
                      </a:moveTo>
                      <a:lnTo>
                        <a:pt x="355087" y="379482"/>
                      </a:lnTo>
                    </a:path>
                  </a:pathLst>
                </a:custGeom>
                <a:ln w="25400" cap="flat">
                  <a:solidFill>
                    <a:srgbClr val="232F3E"/>
                  </a:solidFill>
                  <a:prstDash val="solid"/>
                  <a:round/>
                </a:ln>
              </p:spPr>
              <p:txBody>
                <a:bodyPr rtlCol="0" anchor="ctr"/>
                <a:lstStyle/>
                <a:p>
                  <a:endParaRPr lang="en-US" dirty="0"/>
                </a:p>
              </p:txBody>
            </p:sp>
            <p:sp>
              <p:nvSpPr>
                <p:cNvPr id="77" name="Freeform 76">
                  <a:extLst>
                    <a:ext uri="{FF2B5EF4-FFF2-40B4-BE49-F238E27FC236}">
                      <a16:creationId xmlns:a16="http://schemas.microsoft.com/office/drawing/2014/main" id="{8737FEC2-ED3C-763C-EA32-9C8055FB0804}"/>
                    </a:ext>
                  </a:extLst>
                </p:cNvPr>
                <p:cNvSpPr/>
                <p:nvPr/>
              </p:nvSpPr>
              <p:spPr>
                <a:xfrm>
                  <a:off x="1842833" y="4698304"/>
                  <a:ext cx="175850" cy="234114"/>
                </a:xfrm>
                <a:custGeom>
                  <a:avLst/>
                  <a:gdLst>
                    <a:gd name="connsiteX0" fmla="*/ 175851 w 175850"/>
                    <a:gd name="connsiteY0" fmla="*/ 194418 h 234114"/>
                    <a:gd name="connsiteX1" fmla="*/ 102975 w 175850"/>
                    <a:gd name="connsiteY1" fmla="*/ 234115 h 234114"/>
                    <a:gd name="connsiteX2" fmla="*/ 86725 w 175850"/>
                    <a:gd name="connsiteY2" fmla="*/ 234115 h 234114"/>
                    <a:gd name="connsiteX3" fmla="*/ 0 w 175850"/>
                    <a:gd name="connsiteY3" fmla="*/ 147399 h 234114"/>
                    <a:gd name="connsiteX4" fmla="*/ 0 w 175850"/>
                    <a:gd name="connsiteY4" fmla="*/ 0 h 234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850" h="234114">
                      <a:moveTo>
                        <a:pt x="175851" y="194418"/>
                      </a:moveTo>
                      <a:cubicBezTo>
                        <a:pt x="160401" y="218298"/>
                        <a:pt x="133504" y="234115"/>
                        <a:pt x="102975" y="234115"/>
                      </a:cubicBezTo>
                      <a:lnTo>
                        <a:pt x="86725" y="234115"/>
                      </a:lnTo>
                      <a:cubicBezTo>
                        <a:pt x="38839" y="234115"/>
                        <a:pt x="0" y="195280"/>
                        <a:pt x="0" y="147399"/>
                      </a:cubicBezTo>
                      <a:lnTo>
                        <a:pt x="0" y="0"/>
                      </a:lnTo>
                    </a:path>
                  </a:pathLst>
                </a:custGeom>
                <a:noFill/>
                <a:ln w="25400" cap="flat">
                  <a:solidFill>
                    <a:srgbClr val="232F3E"/>
                  </a:solidFill>
                  <a:prstDash val="solid"/>
                  <a:round/>
                </a:ln>
              </p:spPr>
              <p:txBody>
                <a:bodyPr rtlCol="0" anchor="ctr"/>
                <a:lstStyle/>
                <a:p>
                  <a:endParaRPr lang="en-US" dirty="0"/>
                </a:p>
              </p:txBody>
            </p:sp>
            <p:sp>
              <p:nvSpPr>
                <p:cNvPr id="78" name="Freeform 77">
                  <a:extLst>
                    <a:ext uri="{FF2B5EF4-FFF2-40B4-BE49-F238E27FC236}">
                      <a16:creationId xmlns:a16="http://schemas.microsoft.com/office/drawing/2014/main" id="{1C95BBB4-C7C1-30BD-12A2-C0B65DEEA32B}"/>
                    </a:ext>
                  </a:extLst>
                </p:cNvPr>
                <p:cNvSpPr/>
                <p:nvPr/>
              </p:nvSpPr>
              <p:spPr>
                <a:xfrm>
                  <a:off x="1885364" y="4677071"/>
                  <a:ext cx="149014" cy="148998"/>
                </a:xfrm>
                <a:custGeom>
                  <a:avLst/>
                  <a:gdLst>
                    <a:gd name="connsiteX0" fmla="*/ 0 w 149014"/>
                    <a:gd name="connsiteY0" fmla="*/ 0 h 148998"/>
                    <a:gd name="connsiteX1" fmla="*/ 143598 w 149014"/>
                    <a:gd name="connsiteY1" fmla="*/ 0 h 148998"/>
                    <a:gd name="connsiteX2" fmla="*/ 149015 w 149014"/>
                    <a:gd name="connsiteY2" fmla="*/ 5416 h 148998"/>
                    <a:gd name="connsiteX3" fmla="*/ 149015 w 149014"/>
                    <a:gd name="connsiteY3" fmla="*/ 148999 h 148998"/>
                  </a:gdLst>
                  <a:ahLst/>
                  <a:cxnLst>
                    <a:cxn ang="0">
                      <a:pos x="connsiteX0" y="connsiteY0"/>
                    </a:cxn>
                    <a:cxn ang="0">
                      <a:pos x="connsiteX1" y="connsiteY1"/>
                    </a:cxn>
                    <a:cxn ang="0">
                      <a:pos x="connsiteX2" y="connsiteY2"/>
                    </a:cxn>
                    <a:cxn ang="0">
                      <a:pos x="connsiteX3" y="connsiteY3"/>
                    </a:cxn>
                  </a:cxnLst>
                  <a:rect l="l" t="t" r="r" b="b"/>
                  <a:pathLst>
                    <a:path w="149014" h="148998">
                      <a:moveTo>
                        <a:pt x="0" y="0"/>
                      </a:moveTo>
                      <a:lnTo>
                        <a:pt x="143598" y="0"/>
                      </a:lnTo>
                      <a:cubicBezTo>
                        <a:pt x="146553" y="0"/>
                        <a:pt x="149015" y="2400"/>
                        <a:pt x="149015" y="5416"/>
                      </a:cubicBezTo>
                      <a:lnTo>
                        <a:pt x="149015" y="148999"/>
                      </a:lnTo>
                    </a:path>
                  </a:pathLst>
                </a:custGeom>
                <a:noFill/>
                <a:ln w="25400" cap="flat">
                  <a:solidFill>
                    <a:srgbClr val="232F3E"/>
                  </a:solidFill>
                  <a:prstDash val="solid"/>
                  <a:round/>
                </a:ln>
              </p:spPr>
              <p:txBody>
                <a:bodyPr rtlCol="0" anchor="ctr"/>
                <a:lstStyle/>
                <a:p>
                  <a:endParaRPr lang="en-US" dirty="0"/>
                </a:p>
              </p:txBody>
            </p:sp>
            <p:sp>
              <p:nvSpPr>
                <p:cNvPr id="79" name="Freeform 78">
                  <a:extLst>
                    <a:ext uri="{FF2B5EF4-FFF2-40B4-BE49-F238E27FC236}">
                      <a16:creationId xmlns:a16="http://schemas.microsoft.com/office/drawing/2014/main" id="{6DED772C-C301-494C-D8AF-DDAD3046260A}"/>
                    </a:ext>
                  </a:extLst>
                </p:cNvPr>
                <p:cNvSpPr/>
                <p:nvPr/>
              </p:nvSpPr>
              <p:spPr>
                <a:xfrm>
                  <a:off x="1867822" y="4591956"/>
                  <a:ext cx="134611" cy="85115"/>
                </a:xfrm>
                <a:custGeom>
                  <a:avLst/>
                  <a:gdLst>
                    <a:gd name="connsiteX0" fmla="*/ 0 w 134611"/>
                    <a:gd name="connsiteY0" fmla="*/ 61175 h 85115"/>
                    <a:gd name="connsiteX1" fmla="*/ 60135 w 134611"/>
                    <a:gd name="connsiteY1" fmla="*/ 0 h 85115"/>
                    <a:gd name="connsiteX2" fmla="*/ 74476 w 134611"/>
                    <a:gd name="connsiteY2" fmla="*/ 0 h 85115"/>
                    <a:gd name="connsiteX3" fmla="*/ 134612 w 134611"/>
                    <a:gd name="connsiteY3" fmla="*/ 60990 h 85115"/>
                    <a:gd name="connsiteX4" fmla="*/ 134612 w 134611"/>
                    <a:gd name="connsiteY4" fmla="*/ 85116 h 85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11" h="85115">
                      <a:moveTo>
                        <a:pt x="0" y="61175"/>
                      </a:moveTo>
                      <a:cubicBezTo>
                        <a:pt x="0" y="30588"/>
                        <a:pt x="27759" y="0"/>
                        <a:pt x="60135" y="0"/>
                      </a:cubicBezTo>
                      <a:lnTo>
                        <a:pt x="74476" y="0"/>
                      </a:lnTo>
                      <a:cubicBezTo>
                        <a:pt x="107529" y="0"/>
                        <a:pt x="134612" y="27449"/>
                        <a:pt x="134612" y="60990"/>
                      </a:cubicBezTo>
                      <a:lnTo>
                        <a:pt x="134612" y="85116"/>
                      </a:lnTo>
                    </a:path>
                  </a:pathLst>
                </a:custGeom>
                <a:noFill/>
                <a:ln w="25400" cap="flat">
                  <a:solidFill>
                    <a:srgbClr val="232F3E"/>
                  </a:solidFill>
                  <a:prstDash val="solid"/>
                  <a:round/>
                </a:ln>
              </p:spPr>
              <p:txBody>
                <a:bodyPr rtlCol="0" anchor="ctr"/>
                <a:lstStyle/>
                <a:p>
                  <a:endParaRPr lang="en-US" dirty="0"/>
                </a:p>
              </p:txBody>
            </p:sp>
            <p:sp>
              <p:nvSpPr>
                <p:cNvPr id="80" name="Freeform 79">
                  <a:extLst>
                    <a:ext uri="{FF2B5EF4-FFF2-40B4-BE49-F238E27FC236}">
                      <a16:creationId xmlns:a16="http://schemas.microsoft.com/office/drawing/2014/main" id="{07275F1D-76A7-D765-F507-39B538252818}"/>
                    </a:ext>
                  </a:extLst>
                </p:cNvPr>
                <p:cNvSpPr/>
                <p:nvPr/>
              </p:nvSpPr>
              <p:spPr>
                <a:xfrm>
                  <a:off x="1768356" y="4645130"/>
                  <a:ext cx="67275" cy="96316"/>
                </a:xfrm>
                <a:custGeom>
                  <a:avLst/>
                  <a:gdLst>
                    <a:gd name="connsiteX0" fmla="*/ 67275 w 67275"/>
                    <a:gd name="connsiteY0" fmla="*/ 96317 h 96316"/>
                    <a:gd name="connsiteX1" fmla="*/ 0 w 67275"/>
                    <a:gd name="connsiteY1" fmla="*/ 59575 h 96316"/>
                    <a:gd name="connsiteX2" fmla="*/ 0 w 67275"/>
                    <a:gd name="connsiteY2" fmla="*/ 0 h 96316"/>
                  </a:gdLst>
                  <a:ahLst/>
                  <a:cxnLst>
                    <a:cxn ang="0">
                      <a:pos x="connsiteX0" y="connsiteY0"/>
                    </a:cxn>
                    <a:cxn ang="0">
                      <a:pos x="connsiteX1" y="connsiteY1"/>
                    </a:cxn>
                    <a:cxn ang="0">
                      <a:pos x="connsiteX2" y="connsiteY2"/>
                    </a:cxn>
                  </a:cxnLst>
                  <a:rect l="l" t="t" r="r" b="b"/>
                  <a:pathLst>
                    <a:path w="67275" h="96316">
                      <a:moveTo>
                        <a:pt x="67275" y="96317"/>
                      </a:moveTo>
                      <a:lnTo>
                        <a:pt x="0" y="59575"/>
                      </a:lnTo>
                      <a:lnTo>
                        <a:pt x="0" y="0"/>
                      </a:lnTo>
                    </a:path>
                  </a:pathLst>
                </a:custGeom>
                <a:noFill/>
                <a:ln w="25400" cap="flat">
                  <a:solidFill>
                    <a:srgbClr val="232F3E"/>
                  </a:solidFill>
                  <a:prstDash val="solid"/>
                  <a:round/>
                </a:ln>
              </p:spPr>
              <p:txBody>
                <a:bodyPr rtlCol="0" anchor="ctr"/>
                <a:lstStyle/>
                <a:p>
                  <a:endParaRPr lang="en-US" dirty="0"/>
                </a:p>
              </p:txBody>
            </p:sp>
            <p:sp>
              <p:nvSpPr>
                <p:cNvPr id="81" name="Freeform 80">
                  <a:extLst>
                    <a:ext uri="{FF2B5EF4-FFF2-40B4-BE49-F238E27FC236}">
                      <a16:creationId xmlns:a16="http://schemas.microsoft.com/office/drawing/2014/main" id="{3E630A17-2477-D90B-CD81-8C6DC4B536DF}"/>
                    </a:ext>
                  </a:extLst>
                </p:cNvPr>
                <p:cNvSpPr/>
                <p:nvPr/>
              </p:nvSpPr>
              <p:spPr>
                <a:xfrm>
                  <a:off x="1768356" y="4839302"/>
                  <a:ext cx="67275" cy="93116"/>
                </a:xfrm>
                <a:custGeom>
                  <a:avLst/>
                  <a:gdLst>
                    <a:gd name="connsiteX0" fmla="*/ 67275 w 67275"/>
                    <a:gd name="connsiteY0" fmla="*/ 0 h 93116"/>
                    <a:gd name="connsiteX1" fmla="*/ 0 w 67275"/>
                    <a:gd name="connsiteY1" fmla="*/ 36742 h 93116"/>
                    <a:gd name="connsiteX2" fmla="*/ 0 w 67275"/>
                    <a:gd name="connsiteY2" fmla="*/ 93117 h 93116"/>
                  </a:gdLst>
                  <a:ahLst/>
                  <a:cxnLst>
                    <a:cxn ang="0">
                      <a:pos x="connsiteX0" y="connsiteY0"/>
                    </a:cxn>
                    <a:cxn ang="0">
                      <a:pos x="connsiteX1" y="connsiteY1"/>
                    </a:cxn>
                    <a:cxn ang="0">
                      <a:pos x="connsiteX2" y="connsiteY2"/>
                    </a:cxn>
                  </a:cxnLst>
                  <a:rect l="l" t="t" r="r" b="b"/>
                  <a:pathLst>
                    <a:path w="67275" h="93116">
                      <a:moveTo>
                        <a:pt x="67275" y="0"/>
                      </a:moveTo>
                      <a:lnTo>
                        <a:pt x="0" y="36742"/>
                      </a:lnTo>
                      <a:lnTo>
                        <a:pt x="0" y="93117"/>
                      </a:lnTo>
                    </a:path>
                  </a:pathLst>
                </a:custGeom>
                <a:noFill/>
                <a:ln w="25400" cap="flat">
                  <a:solidFill>
                    <a:srgbClr val="232F3E"/>
                  </a:solidFill>
                  <a:prstDash val="solid"/>
                  <a:round/>
                </a:ln>
              </p:spPr>
              <p:txBody>
                <a:bodyPr rtlCol="0" anchor="ctr"/>
                <a:lstStyle/>
                <a:p>
                  <a:endParaRPr lang="en-US" dirty="0"/>
                </a:p>
              </p:txBody>
            </p:sp>
            <p:sp>
              <p:nvSpPr>
                <p:cNvPr id="82" name="Freeform 81">
                  <a:extLst>
                    <a:ext uri="{FF2B5EF4-FFF2-40B4-BE49-F238E27FC236}">
                      <a16:creationId xmlns:a16="http://schemas.microsoft.com/office/drawing/2014/main" id="{49C0A0A3-1276-D954-F504-DEB25D53A687}"/>
                    </a:ext>
                  </a:extLst>
                </p:cNvPr>
                <p:cNvSpPr/>
                <p:nvPr/>
              </p:nvSpPr>
              <p:spPr>
                <a:xfrm>
                  <a:off x="1747060" y="4794067"/>
                  <a:ext cx="95773" cy="6154"/>
                </a:xfrm>
                <a:custGeom>
                  <a:avLst/>
                  <a:gdLst>
                    <a:gd name="connsiteX0" fmla="*/ 95773 w 95773"/>
                    <a:gd name="connsiteY0" fmla="*/ 0 h 6154"/>
                    <a:gd name="connsiteX1" fmla="*/ 0 w 95773"/>
                    <a:gd name="connsiteY1" fmla="*/ 0 h 6154"/>
                  </a:gdLst>
                  <a:ahLst/>
                  <a:cxnLst>
                    <a:cxn ang="0">
                      <a:pos x="connsiteX0" y="connsiteY0"/>
                    </a:cxn>
                    <a:cxn ang="0">
                      <a:pos x="connsiteX1" y="connsiteY1"/>
                    </a:cxn>
                  </a:cxnLst>
                  <a:rect l="l" t="t" r="r" b="b"/>
                  <a:pathLst>
                    <a:path w="95773" h="6154">
                      <a:moveTo>
                        <a:pt x="95773" y="0"/>
                      </a:moveTo>
                      <a:lnTo>
                        <a:pt x="0" y="0"/>
                      </a:lnTo>
                    </a:path>
                  </a:pathLst>
                </a:custGeom>
                <a:ln w="25400" cap="flat">
                  <a:solidFill>
                    <a:srgbClr val="232F3E"/>
                  </a:solidFill>
                  <a:prstDash val="solid"/>
                  <a:round/>
                </a:ln>
              </p:spPr>
              <p:txBody>
                <a:bodyPr rtlCol="0" anchor="ctr"/>
                <a:lstStyle/>
                <a:p>
                  <a:endParaRPr lang="en-US" dirty="0"/>
                </a:p>
              </p:txBody>
            </p:sp>
            <p:sp>
              <p:nvSpPr>
                <p:cNvPr id="83" name="Freeform 82">
                  <a:extLst>
                    <a:ext uri="{FF2B5EF4-FFF2-40B4-BE49-F238E27FC236}">
                      <a16:creationId xmlns:a16="http://schemas.microsoft.com/office/drawing/2014/main" id="{CA06D724-7B17-0355-BA18-D8BCCD5027A7}"/>
                    </a:ext>
                  </a:extLst>
                </p:cNvPr>
                <p:cNvSpPr/>
                <p:nvPr/>
              </p:nvSpPr>
              <p:spPr>
                <a:xfrm>
                  <a:off x="2026377" y="4645130"/>
                  <a:ext cx="61181" cy="96316"/>
                </a:xfrm>
                <a:custGeom>
                  <a:avLst/>
                  <a:gdLst>
                    <a:gd name="connsiteX0" fmla="*/ 0 w 61181"/>
                    <a:gd name="connsiteY0" fmla="*/ 96317 h 96316"/>
                    <a:gd name="connsiteX1" fmla="*/ 61181 w 61181"/>
                    <a:gd name="connsiteY1" fmla="*/ 59575 h 96316"/>
                    <a:gd name="connsiteX2" fmla="*/ 61181 w 61181"/>
                    <a:gd name="connsiteY2" fmla="*/ 0 h 96316"/>
                  </a:gdLst>
                  <a:ahLst/>
                  <a:cxnLst>
                    <a:cxn ang="0">
                      <a:pos x="connsiteX0" y="connsiteY0"/>
                    </a:cxn>
                    <a:cxn ang="0">
                      <a:pos x="connsiteX1" y="connsiteY1"/>
                    </a:cxn>
                    <a:cxn ang="0">
                      <a:pos x="connsiteX2" y="connsiteY2"/>
                    </a:cxn>
                  </a:cxnLst>
                  <a:rect l="l" t="t" r="r" b="b"/>
                  <a:pathLst>
                    <a:path w="61181" h="96316">
                      <a:moveTo>
                        <a:pt x="0" y="96317"/>
                      </a:moveTo>
                      <a:lnTo>
                        <a:pt x="61181" y="59575"/>
                      </a:lnTo>
                      <a:lnTo>
                        <a:pt x="61181" y="0"/>
                      </a:lnTo>
                    </a:path>
                  </a:pathLst>
                </a:custGeom>
                <a:noFill/>
                <a:ln w="25400" cap="flat">
                  <a:solidFill>
                    <a:srgbClr val="232F3E"/>
                  </a:solidFill>
                  <a:prstDash val="solid"/>
                  <a:round/>
                </a:ln>
              </p:spPr>
              <p:txBody>
                <a:bodyPr rtlCol="0" anchor="ctr"/>
                <a:lstStyle/>
                <a:p>
                  <a:endParaRPr lang="en-US" dirty="0"/>
                </a:p>
              </p:txBody>
            </p:sp>
            <p:sp>
              <p:nvSpPr>
                <p:cNvPr id="84" name="Freeform 83">
                  <a:extLst>
                    <a:ext uri="{FF2B5EF4-FFF2-40B4-BE49-F238E27FC236}">
                      <a16:creationId xmlns:a16="http://schemas.microsoft.com/office/drawing/2014/main" id="{03CAAE39-5F0D-8C91-B885-5DF2C8FCED6A}"/>
                    </a:ext>
                  </a:extLst>
                </p:cNvPr>
                <p:cNvSpPr/>
                <p:nvPr/>
              </p:nvSpPr>
              <p:spPr>
                <a:xfrm>
                  <a:off x="2034379" y="4794067"/>
                  <a:ext cx="95773" cy="6154"/>
                </a:xfrm>
                <a:custGeom>
                  <a:avLst/>
                  <a:gdLst>
                    <a:gd name="connsiteX0" fmla="*/ 0 w 95773"/>
                    <a:gd name="connsiteY0" fmla="*/ 0 h 6154"/>
                    <a:gd name="connsiteX1" fmla="*/ 95773 w 95773"/>
                    <a:gd name="connsiteY1" fmla="*/ 0 h 6154"/>
                  </a:gdLst>
                  <a:ahLst/>
                  <a:cxnLst>
                    <a:cxn ang="0">
                      <a:pos x="connsiteX0" y="connsiteY0"/>
                    </a:cxn>
                    <a:cxn ang="0">
                      <a:pos x="connsiteX1" y="connsiteY1"/>
                    </a:cxn>
                  </a:cxnLst>
                  <a:rect l="l" t="t" r="r" b="b"/>
                  <a:pathLst>
                    <a:path w="95773" h="6154">
                      <a:moveTo>
                        <a:pt x="0" y="0"/>
                      </a:moveTo>
                      <a:lnTo>
                        <a:pt x="95773" y="0"/>
                      </a:lnTo>
                    </a:path>
                  </a:pathLst>
                </a:custGeom>
                <a:ln w="25400" cap="flat">
                  <a:solidFill>
                    <a:srgbClr val="232F3E"/>
                  </a:solidFill>
                  <a:prstDash val="solid"/>
                  <a:round/>
                </a:ln>
              </p:spPr>
              <p:txBody>
                <a:bodyPr rtlCol="0" anchor="ctr"/>
                <a:lstStyle/>
                <a:p>
                  <a:endParaRPr lang="en-US" dirty="0"/>
                </a:p>
              </p:txBody>
            </p:sp>
          </p:grpSp>
        </p:grpSp>
      </p:grpSp>
      <p:pic>
        <p:nvPicPr>
          <p:cNvPr id="95" name="Picture Placeholder 94">
            <a:extLst>
              <a:ext uri="{FF2B5EF4-FFF2-40B4-BE49-F238E27FC236}">
                <a16:creationId xmlns:a16="http://schemas.microsoft.com/office/drawing/2014/main" id="{83315935-5969-1743-3319-E463CCC5FCAB}"/>
              </a:ext>
              <a:ext uri="{C183D7F6-B498-43B3-948B-1728B52AA6E4}">
                <adec:decorative xmlns:adec="http://schemas.microsoft.com/office/drawing/2017/decorative" val="1"/>
              </a:ext>
            </a:extLst>
          </p:cNvPr>
          <p:cNvPicPr>
            <a:picLocks noGrp="1" noChangeAspect="1"/>
          </p:cNvPicPr>
          <p:nvPr>
            <p:ph type="pic" idx="27"/>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l="96" r="96"/>
          <a:stretch>
            <a:fillRect/>
          </a:stretch>
        </p:blipFill>
        <p:spPr>
          <a:xfrm>
            <a:off x="3837432" y="3603704"/>
            <a:ext cx="1645920" cy="1648911"/>
          </a:xfrm>
          <a:prstGeom prst="rect">
            <a:avLst/>
          </a:prstGeom>
        </p:spPr>
      </p:pic>
      <p:sp>
        <p:nvSpPr>
          <p:cNvPr id="99" name="Freeform 98">
            <a:extLst>
              <a:ext uri="{FF2B5EF4-FFF2-40B4-BE49-F238E27FC236}">
                <a16:creationId xmlns:a16="http://schemas.microsoft.com/office/drawing/2014/main" id="{2E58D1DD-5766-884E-8390-3695366E0C5F}"/>
              </a:ext>
              <a:ext uri="{C183D7F6-B498-43B3-948B-1728B52AA6E4}">
                <adec:decorative xmlns:adec="http://schemas.microsoft.com/office/drawing/2017/decorative" val="1"/>
              </a:ext>
            </a:extLst>
          </p:cNvPr>
          <p:cNvSpPr/>
          <p:nvPr/>
        </p:nvSpPr>
        <p:spPr>
          <a:xfrm>
            <a:off x="6849144" y="4108682"/>
            <a:ext cx="1380285" cy="8244"/>
          </a:xfrm>
          <a:custGeom>
            <a:avLst/>
            <a:gdLst>
              <a:gd name="connsiteX0" fmla="*/ 0 w 1380285"/>
              <a:gd name="connsiteY0" fmla="*/ 0 h 8244"/>
              <a:gd name="connsiteX1" fmla="*/ 1380285 w 1380285"/>
              <a:gd name="connsiteY1" fmla="*/ 0 h 8244"/>
            </a:gdLst>
            <a:ahLst/>
            <a:cxnLst>
              <a:cxn ang="0">
                <a:pos x="connsiteX0" y="connsiteY0"/>
              </a:cxn>
              <a:cxn ang="0">
                <a:pos x="connsiteX1" y="connsiteY1"/>
              </a:cxn>
            </a:cxnLst>
            <a:rect l="l" t="t" r="r" b="b"/>
            <a:pathLst>
              <a:path w="1380285" h="8244">
                <a:moveTo>
                  <a:pt x="0" y="0"/>
                </a:moveTo>
                <a:lnTo>
                  <a:pt x="1380285" y="0"/>
                </a:lnTo>
              </a:path>
            </a:pathLst>
          </a:custGeom>
          <a:ln w="32766" cap="flat">
            <a:solidFill>
              <a:srgbClr val="232F3E"/>
            </a:solidFill>
            <a:prstDash val="solid"/>
            <a:round/>
          </a:ln>
        </p:spPr>
        <p:txBody>
          <a:bodyPr rtlCol="0" anchor="ctr"/>
          <a:lstStyle/>
          <a:p>
            <a:endParaRPr lang="en-US" dirty="0"/>
          </a:p>
        </p:txBody>
      </p:sp>
      <p:pic>
        <p:nvPicPr>
          <p:cNvPr id="103" name="Picture Placeholder 102">
            <a:extLst>
              <a:ext uri="{FF2B5EF4-FFF2-40B4-BE49-F238E27FC236}">
                <a16:creationId xmlns:a16="http://schemas.microsoft.com/office/drawing/2014/main" id="{0DAF85BE-2595-E93A-C41B-0D690B41FC10}"/>
              </a:ext>
              <a:ext uri="{C183D7F6-B498-43B3-948B-1728B52AA6E4}">
                <adec:decorative xmlns:adec="http://schemas.microsoft.com/office/drawing/2017/decorative" val="1"/>
              </a:ext>
            </a:extLst>
          </p:cNvPr>
          <p:cNvPicPr>
            <a:picLocks noGrp="1" noChangeAspect="1"/>
          </p:cNvPicPr>
          <p:nvPr>
            <p:ph type="pic" idx="29"/>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96" r="96"/>
          <a:stretch>
            <a:fillRect/>
          </a:stretch>
        </p:blipFill>
        <p:spPr>
          <a:xfrm>
            <a:off x="7102367" y="4054464"/>
            <a:ext cx="909729" cy="911382"/>
          </a:xfrm>
          <a:prstGeom prst="rect">
            <a:avLst/>
          </a:prstGeom>
        </p:spPr>
      </p:pic>
      <p:grpSp>
        <p:nvGrpSpPr>
          <p:cNvPr id="11" name="Group 10">
            <a:extLst>
              <a:ext uri="{FF2B5EF4-FFF2-40B4-BE49-F238E27FC236}">
                <a16:creationId xmlns:a16="http://schemas.microsoft.com/office/drawing/2014/main" id="{E9EF704B-89B2-AB6A-4E14-D4C20CF07431}"/>
              </a:ext>
              <a:ext uri="{C183D7F6-B498-43B3-948B-1728B52AA6E4}">
                <adec:decorative xmlns:adec="http://schemas.microsoft.com/office/drawing/2017/decorative" val="1"/>
              </a:ext>
            </a:extLst>
          </p:cNvPr>
          <p:cNvGrpSpPr/>
          <p:nvPr/>
        </p:nvGrpSpPr>
        <p:grpSpPr>
          <a:xfrm>
            <a:off x="6849226" y="3929776"/>
            <a:ext cx="1380202" cy="996766"/>
            <a:chOff x="6849226" y="3929776"/>
            <a:chExt cx="1380202" cy="996766"/>
          </a:xfrm>
        </p:grpSpPr>
        <p:sp>
          <p:nvSpPr>
            <p:cNvPr id="101" name="Freeform 100">
              <a:extLst>
                <a:ext uri="{FF2B5EF4-FFF2-40B4-BE49-F238E27FC236}">
                  <a16:creationId xmlns:a16="http://schemas.microsoft.com/office/drawing/2014/main" id="{19E0DB54-8FE5-05CD-D6D0-051FE9B201F9}"/>
                </a:ext>
              </a:extLst>
            </p:cNvPr>
            <p:cNvSpPr/>
            <p:nvPr/>
          </p:nvSpPr>
          <p:spPr>
            <a:xfrm>
              <a:off x="6849226" y="3929776"/>
              <a:ext cx="1380202" cy="996766"/>
            </a:xfrm>
            <a:custGeom>
              <a:avLst/>
              <a:gdLst>
                <a:gd name="connsiteX0" fmla="*/ 1351426 w 1380202"/>
                <a:gd name="connsiteY0" fmla="*/ 996602 h 996766"/>
                <a:gd name="connsiteX1" fmla="*/ 1380203 w 1380202"/>
                <a:gd name="connsiteY1" fmla="*/ 968653 h 996766"/>
                <a:gd name="connsiteX2" fmla="*/ 1380203 w 1380202"/>
                <a:gd name="connsiteY2" fmla="*/ 27949 h 996766"/>
                <a:gd name="connsiteX3" fmla="*/ 1351426 w 1380202"/>
                <a:gd name="connsiteY3" fmla="*/ 0 h 996766"/>
                <a:gd name="connsiteX4" fmla="*/ 29519 w 1380202"/>
                <a:gd name="connsiteY4" fmla="*/ 0 h 996766"/>
                <a:gd name="connsiteX5" fmla="*/ 742 w 1380202"/>
                <a:gd name="connsiteY5" fmla="*/ 27949 h 996766"/>
                <a:gd name="connsiteX6" fmla="*/ 0 w 1380202"/>
                <a:gd name="connsiteY6" fmla="*/ 968818 h 996766"/>
                <a:gd name="connsiteX7" fmla="*/ 28612 w 1380202"/>
                <a:gd name="connsiteY7" fmla="*/ 996767 h 996766"/>
                <a:gd name="connsiteX8" fmla="*/ 1351509 w 1380202"/>
                <a:gd name="connsiteY8" fmla="*/ 996602 h 996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0202" h="996766">
                  <a:moveTo>
                    <a:pt x="1351426" y="996602"/>
                  </a:moveTo>
                  <a:cubicBezTo>
                    <a:pt x="1367340" y="996602"/>
                    <a:pt x="1380203" y="984070"/>
                    <a:pt x="1380203" y="968653"/>
                  </a:cubicBezTo>
                  <a:lnTo>
                    <a:pt x="1380203" y="27949"/>
                  </a:lnTo>
                  <a:cubicBezTo>
                    <a:pt x="1380203" y="12532"/>
                    <a:pt x="1367340" y="0"/>
                    <a:pt x="1351426" y="0"/>
                  </a:cubicBezTo>
                  <a:lnTo>
                    <a:pt x="29519" y="0"/>
                  </a:lnTo>
                  <a:cubicBezTo>
                    <a:pt x="13605" y="0"/>
                    <a:pt x="742" y="12532"/>
                    <a:pt x="742" y="27949"/>
                  </a:cubicBezTo>
                  <a:lnTo>
                    <a:pt x="0" y="968818"/>
                  </a:lnTo>
                  <a:cubicBezTo>
                    <a:pt x="0" y="984153"/>
                    <a:pt x="12780" y="996684"/>
                    <a:pt x="28612" y="996767"/>
                  </a:cubicBezTo>
                  <a:lnTo>
                    <a:pt x="1351509" y="996602"/>
                  </a:lnTo>
                  <a:close/>
                </a:path>
              </a:pathLst>
            </a:custGeom>
            <a:noFill/>
            <a:ln w="25400" cap="flat">
              <a:solidFill>
                <a:srgbClr val="232F3E"/>
              </a:solidFill>
              <a:prstDash val="solid"/>
              <a:round/>
            </a:ln>
          </p:spPr>
          <p:txBody>
            <a:bodyPr rtlCol="0" anchor="ctr"/>
            <a:lstStyle/>
            <a:p>
              <a:endParaRPr lang="en-US" dirty="0"/>
            </a:p>
          </p:txBody>
        </p:sp>
        <p:sp>
          <p:nvSpPr>
            <p:cNvPr id="102" name="Freeform 101">
              <a:extLst>
                <a:ext uri="{FF2B5EF4-FFF2-40B4-BE49-F238E27FC236}">
                  <a16:creationId xmlns:a16="http://schemas.microsoft.com/office/drawing/2014/main" id="{B5BEEF24-BFF6-7886-B6F0-B577A0D42025}"/>
                </a:ext>
              </a:extLst>
            </p:cNvPr>
            <p:cNvSpPr/>
            <p:nvPr/>
          </p:nvSpPr>
          <p:spPr>
            <a:xfrm>
              <a:off x="6913046" y="4019229"/>
              <a:ext cx="63902" cy="8244"/>
            </a:xfrm>
            <a:custGeom>
              <a:avLst/>
              <a:gdLst>
                <a:gd name="connsiteX0" fmla="*/ 0 w 63902"/>
                <a:gd name="connsiteY0" fmla="*/ 0 h 8244"/>
                <a:gd name="connsiteX1" fmla="*/ 63902 w 63902"/>
                <a:gd name="connsiteY1" fmla="*/ 0 h 8244"/>
              </a:gdLst>
              <a:ahLst/>
              <a:cxnLst>
                <a:cxn ang="0">
                  <a:pos x="connsiteX0" y="connsiteY0"/>
                </a:cxn>
                <a:cxn ang="0">
                  <a:pos x="connsiteX1" y="connsiteY1"/>
                </a:cxn>
              </a:cxnLst>
              <a:rect l="l" t="t" r="r" b="b"/>
              <a:pathLst>
                <a:path w="63902" h="8244">
                  <a:moveTo>
                    <a:pt x="0" y="0"/>
                  </a:moveTo>
                  <a:lnTo>
                    <a:pt x="63902" y="0"/>
                  </a:lnTo>
                </a:path>
              </a:pathLst>
            </a:custGeom>
            <a:ln w="25400" cap="flat">
              <a:solidFill>
                <a:srgbClr val="232F3E"/>
              </a:solidFill>
              <a:prstDash val="solid"/>
              <a:round/>
            </a:ln>
          </p:spPr>
          <p:txBody>
            <a:bodyPr rtlCol="0" anchor="ctr"/>
            <a:lstStyle/>
            <a:p>
              <a:endParaRPr lang="en-US" dirty="0"/>
            </a:p>
          </p:txBody>
        </p:sp>
      </p:grpSp>
      <p:sp>
        <p:nvSpPr>
          <p:cNvPr id="6" name="Text Placeholder 28">
            <a:extLst>
              <a:ext uri="{FF2B5EF4-FFF2-40B4-BE49-F238E27FC236}">
                <a16:creationId xmlns:a16="http://schemas.microsoft.com/office/drawing/2014/main" id="{A01511DF-7A42-9153-2D54-B19FDF45887E}"/>
              </a:ext>
            </a:extLst>
          </p:cNvPr>
          <p:cNvSpPr txBox="1">
            <a:spLocks/>
          </p:cNvSpPr>
          <p:nvPr/>
        </p:nvSpPr>
        <p:spPr>
          <a:xfrm>
            <a:off x="9014460" y="5303149"/>
            <a:ext cx="2788920" cy="301752"/>
          </a:xfrm>
          <a:prstGeom prst="rect">
            <a:avLst/>
          </a:prstGeom>
          <a:blipFill>
            <a:blip r:embed="rId19"/>
            <a:stretch>
              <a:fillRect/>
            </a:stretch>
          </a:blipFill>
          <a:ln>
            <a:noFill/>
          </a:ln>
        </p:spPr>
        <p:txBody>
          <a:bodyPr vert="horz" lIns="91440" tIns="45720" rIns="91440" bIns="45720" rtlCol="0" anchor="ctr">
            <a:noAutofit/>
          </a:bodyPr>
          <a:lstStyle>
            <a:lvl1pPr marL="60325" indent="0" algn="ctr" defTabSz="914400" rtl="0" eaLnBrk="1" latinLnBrk="0" hangingPunct="1">
              <a:lnSpc>
                <a:spcPct val="90000"/>
              </a:lnSpc>
              <a:spcBef>
                <a:spcPts val="1000"/>
              </a:spcBef>
              <a:buFont typeface="Arial" panose="020B0604020202020204" pitchFamily="34" charset="0"/>
              <a:buNone/>
              <a:defRPr lang="en-US" sz="1600" b="0" kern="12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Text processing</a:t>
            </a:r>
          </a:p>
        </p:txBody>
      </p:sp>
      <p:sp>
        <p:nvSpPr>
          <p:cNvPr id="122" name="Text Placeholder 20">
            <a:extLst>
              <a:ext uri="{FF2B5EF4-FFF2-40B4-BE49-F238E27FC236}">
                <a16:creationId xmlns:a16="http://schemas.microsoft.com/office/drawing/2014/main" id="{8D1C002E-695E-A8A7-D3B0-3C102FC27504}"/>
              </a:ext>
            </a:extLst>
          </p:cNvPr>
          <p:cNvSpPr txBox="1">
            <a:spLocks/>
          </p:cNvSpPr>
          <p:nvPr/>
        </p:nvSpPr>
        <p:spPr>
          <a:xfrm>
            <a:off x="9014460" y="5668491"/>
            <a:ext cx="2788920" cy="778029"/>
          </a:xfrm>
          <a:prstGeom prst="rect">
            <a:avLst/>
          </a:prstGeom>
        </p:spPr>
        <p:txBody>
          <a:bodyPr vert="horz" lIns="45720" tIns="45720" rIns="91440" bIns="45720" rtlCol="0">
            <a:noAutofit/>
          </a:bodyPr>
          <a:lstStyle>
            <a:lvl1pPr marL="0" indent="0" algn="ctr" defTabSz="914400" rtl="0" eaLnBrk="1" latinLnBrk="0" hangingPunct="1">
              <a:lnSpc>
                <a:spcPct val="90000"/>
              </a:lnSpc>
              <a:spcBef>
                <a:spcPts val="1000"/>
              </a:spcBef>
              <a:spcAft>
                <a:spcPts val="1200"/>
              </a:spcAft>
              <a:buFont typeface="Arial" panose="020B0604020202020204" pitchFamily="34" charset="0"/>
              <a:buNone/>
              <a:defRPr sz="1600" kern="12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Amazon Textract</a:t>
            </a:r>
            <a:br>
              <a:rPr lang="en-US" sz="1800" dirty="0"/>
            </a:br>
            <a:r>
              <a:rPr lang="en-US" sz="1800" dirty="0"/>
              <a:t>Amazon Translate</a:t>
            </a:r>
            <a:br>
              <a:rPr lang="en-US" sz="1800" dirty="0"/>
            </a:br>
            <a:r>
              <a:rPr lang="en-US" sz="1800" dirty="0"/>
              <a:t>Amazon Comprehend</a:t>
            </a:r>
          </a:p>
        </p:txBody>
      </p:sp>
      <p:pic>
        <p:nvPicPr>
          <p:cNvPr id="5" name="Picture Placeholder 4">
            <a:extLst>
              <a:ext uri="{FF2B5EF4-FFF2-40B4-BE49-F238E27FC236}">
                <a16:creationId xmlns:a16="http://schemas.microsoft.com/office/drawing/2014/main" id="{0DDAEEC2-BE98-8698-2C5F-463CDBE733C1}"/>
              </a:ext>
              <a:ext uri="{C183D7F6-B498-43B3-948B-1728B52AA6E4}">
                <adec:decorative xmlns:adec="http://schemas.microsoft.com/office/drawing/2017/decorative" val="1"/>
              </a:ext>
            </a:extLst>
          </p:cNvPr>
          <p:cNvPicPr>
            <a:picLocks noGrp="1" noChangeAspect="1"/>
          </p:cNvPicPr>
          <p:nvPr>
            <p:ph type="pic" idx="24"/>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48" r="48"/>
          <a:stretch>
            <a:fillRect/>
          </a:stretch>
        </p:blipFill>
        <p:spPr>
          <a:prstGeom prst="rect">
            <a:avLst/>
          </a:prstGeom>
        </p:spPr>
      </p:pic>
      <p:pic>
        <p:nvPicPr>
          <p:cNvPr id="2" name="Picture Placeholder 6">
            <a:extLst>
              <a:ext uri="{FF2B5EF4-FFF2-40B4-BE49-F238E27FC236}">
                <a16:creationId xmlns:a16="http://schemas.microsoft.com/office/drawing/2014/main" id="{973AF89B-D7FF-9B75-31C5-4CBA22BA711A}"/>
              </a:ext>
              <a:ext uri="{C183D7F6-B498-43B3-948B-1728B52AA6E4}">
                <adec:decorative xmlns:adec="http://schemas.microsoft.com/office/drawing/2017/decorative" val="1"/>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a:stretch>
            <a:fillRect/>
          </a:stretch>
        </p:blipFill>
        <p:spPr>
          <a:xfrm>
            <a:off x="9332976" y="3546073"/>
            <a:ext cx="1905000" cy="1905000"/>
          </a:xfrm>
          <a:prstGeom prst="rect">
            <a:avLst/>
          </a:prstGeom>
        </p:spPr>
      </p:pic>
    </p:spTree>
    <p:extLst>
      <p:ext uri="{BB962C8B-B14F-4D97-AF65-F5344CB8AC3E}">
        <p14:creationId xmlns:p14="http://schemas.microsoft.com/office/powerpoint/2010/main" val="339580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a:extLst>
              <a:ext uri="{FF2B5EF4-FFF2-40B4-BE49-F238E27FC236}">
                <a16:creationId xmlns:a16="http://schemas.microsoft.com/office/drawing/2014/main" id="{E07EB33B-9C12-BA1F-0E39-B165100F4F44}"/>
              </a:ext>
            </a:extLst>
          </p:cNvPr>
          <p:cNvSpPr>
            <a:spLocks noGrp="1"/>
          </p:cNvSpPr>
          <p:nvPr>
            <p:ph type="sldNum" idx="97"/>
          </p:nvPr>
        </p:nvSpPr>
        <p:spPr>
          <a:xfrm>
            <a:off x="11347704" y="6282136"/>
            <a:ext cx="484632" cy="228600"/>
          </a:xfrm>
        </p:spPr>
        <p:txBody>
          <a:bodyPr/>
          <a:lstStyle/>
          <a:p>
            <a:fld id="{930176A1-BCF0-4712-97A6-6B495F55390B}" type="slidenum">
              <a:rPr lang="en-US" smtClean="0"/>
              <a:pPr/>
              <a:t>16</a:t>
            </a:fld>
            <a:endParaRPr lang="en-US" dirty="0"/>
          </a:p>
        </p:txBody>
      </p:sp>
      <p:sp>
        <p:nvSpPr>
          <p:cNvPr id="3" name="Title">
            <a:extLst>
              <a:ext uri="{FF2B5EF4-FFF2-40B4-BE49-F238E27FC236}">
                <a16:creationId xmlns:a16="http://schemas.microsoft.com/office/drawing/2014/main" id="{0206E8BA-4F59-A5FE-46C6-7EE0496D4045}"/>
              </a:ext>
            </a:extLst>
          </p:cNvPr>
          <p:cNvSpPr>
            <a:spLocks noGrp="1"/>
          </p:cNvSpPr>
          <p:nvPr>
            <p:ph type="title" idx="1"/>
          </p:nvPr>
        </p:nvSpPr>
        <p:spPr/>
        <p:txBody>
          <a:bodyPr/>
          <a:lstStyle/>
          <a:p>
            <a:r>
              <a:rPr lang="en-US" dirty="0"/>
              <a:t>Generative AI services and components on AWS</a:t>
            </a:r>
          </a:p>
        </p:txBody>
      </p:sp>
      <p:sp>
        <p:nvSpPr>
          <p:cNvPr id="22" name="Freeform: Shape 9">
            <a:extLst>
              <a:ext uri="{FF2B5EF4-FFF2-40B4-BE49-F238E27FC236}">
                <a16:creationId xmlns:a16="http://schemas.microsoft.com/office/drawing/2014/main" id="{69F4F7E6-3979-24F1-EE01-5D29B54F6C6D}"/>
              </a:ext>
              <a:ext uri="{C183D7F6-B498-43B3-948B-1728B52AA6E4}">
                <adec:decorative xmlns:adec="http://schemas.microsoft.com/office/drawing/2017/decorative" val="1"/>
              </a:ext>
            </a:extLst>
          </p:cNvPr>
          <p:cNvSpPr/>
          <p:nvPr/>
        </p:nvSpPr>
        <p:spPr>
          <a:xfrm>
            <a:off x="6858443" y="3085027"/>
            <a:ext cx="4941099" cy="1179756"/>
          </a:xfrm>
          <a:custGeom>
            <a:avLst/>
            <a:gdLst>
              <a:gd name="connsiteX0" fmla="*/ 0 w 10972800"/>
              <a:gd name="connsiteY0" fmla="*/ 0 h 1179756"/>
              <a:gd name="connsiteX1" fmla="*/ 10972800 w 10972800"/>
              <a:gd name="connsiteY1" fmla="*/ 0 h 1179756"/>
              <a:gd name="connsiteX2" fmla="*/ 10972800 w 10972800"/>
              <a:gd name="connsiteY2" fmla="*/ 1026364 h 1179756"/>
              <a:gd name="connsiteX3" fmla="*/ 10819408 w 10972800"/>
              <a:gd name="connsiteY3" fmla="*/ 1179756 h 1179756"/>
              <a:gd name="connsiteX4" fmla="*/ 153392 w 10972800"/>
              <a:gd name="connsiteY4" fmla="*/ 1179756 h 1179756"/>
              <a:gd name="connsiteX5" fmla="*/ 0 w 10972800"/>
              <a:gd name="connsiteY5" fmla="*/ 1026364 h 1179756"/>
              <a:gd name="connsiteX6" fmla="*/ 0 w 10972800"/>
              <a:gd name="connsiteY6" fmla="*/ 0 h 1179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72800" h="1179756">
                <a:moveTo>
                  <a:pt x="0" y="0"/>
                </a:moveTo>
                <a:lnTo>
                  <a:pt x="10972800" y="0"/>
                </a:lnTo>
                <a:lnTo>
                  <a:pt x="10972800" y="1026364"/>
                </a:lnTo>
                <a:cubicBezTo>
                  <a:pt x="10972800" y="1111080"/>
                  <a:pt x="10904124" y="1179756"/>
                  <a:pt x="10819408" y="1179756"/>
                </a:cubicBezTo>
                <a:lnTo>
                  <a:pt x="153392" y="1179756"/>
                </a:lnTo>
                <a:cubicBezTo>
                  <a:pt x="68676" y="1179756"/>
                  <a:pt x="0" y="1111080"/>
                  <a:pt x="0" y="1026364"/>
                </a:cubicBezTo>
                <a:lnTo>
                  <a:pt x="0" y="0"/>
                </a:lnTo>
                <a:close/>
              </a:path>
            </a:pathLst>
          </a:custGeom>
          <a:solidFill>
            <a:srgbClr val="FFFFFF">
              <a:alpha val="40000"/>
            </a:srgbClr>
          </a:solidFill>
          <a:ln w="12700" cap="flat" cmpd="sng" algn="ctr">
            <a:solidFill>
              <a:srgbClr val="232F3E"/>
            </a:solidFill>
            <a:prstDash val="solid"/>
            <a:miter lim="800000"/>
          </a:ln>
          <a:effectLst/>
        </p:spPr>
        <p:txBody>
          <a:bodyPr wrap="square" lIns="45720" tIns="45720" rIns="4572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6" name="Freeform: Shape 9">
            <a:extLst>
              <a:ext uri="{FF2B5EF4-FFF2-40B4-BE49-F238E27FC236}">
                <a16:creationId xmlns:a16="http://schemas.microsoft.com/office/drawing/2014/main" id="{9B378A80-F1C1-A120-0127-4C7D961B8E21}"/>
              </a:ext>
              <a:ext uri="{C183D7F6-B498-43B3-948B-1728B52AA6E4}">
                <adec:decorative xmlns:adec="http://schemas.microsoft.com/office/drawing/2017/decorative" val="1"/>
              </a:ext>
            </a:extLst>
          </p:cNvPr>
          <p:cNvSpPr/>
          <p:nvPr/>
        </p:nvSpPr>
        <p:spPr>
          <a:xfrm>
            <a:off x="373781" y="3101164"/>
            <a:ext cx="6481693" cy="1179756"/>
          </a:xfrm>
          <a:custGeom>
            <a:avLst/>
            <a:gdLst>
              <a:gd name="connsiteX0" fmla="*/ 0 w 10972800"/>
              <a:gd name="connsiteY0" fmla="*/ 0 h 1179756"/>
              <a:gd name="connsiteX1" fmla="*/ 10972800 w 10972800"/>
              <a:gd name="connsiteY1" fmla="*/ 0 h 1179756"/>
              <a:gd name="connsiteX2" fmla="*/ 10972800 w 10972800"/>
              <a:gd name="connsiteY2" fmla="*/ 1026364 h 1179756"/>
              <a:gd name="connsiteX3" fmla="*/ 10819408 w 10972800"/>
              <a:gd name="connsiteY3" fmla="*/ 1179756 h 1179756"/>
              <a:gd name="connsiteX4" fmla="*/ 153392 w 10972800"/>
              <a:gd name="connsiteY4" fmla="*/ 1179756 h 1179756"/>
              <a:gd name="connsiteX5" fmla="*/ 0 w 10972800"/>
              <a:gd name="connsiteY5" fmla="*/ 1026364 h 1179756"/>
              <a:gd name="connsiteX6" fmla="*/ 0 w 10972800"/>
              <a:gd name="connsiteY6" fmla="*/ 0 h 1179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72800" h="1179756">
                <a:moveTo>
                  <a:pt x="0" y="0"/>
                </a:moveTo>
                <a:lnTo>
                  <a:pt x="10972800" y="0"/>
                </a:lnTo>
                <a:lnTo>
                  <a:pt x="10972800" y="1026364"/>
                </a:lnTo>
                <a:cubicBezTo>
                  <a:pt x="10972800" y="1111080"/>
                  <a:pt x="10904124" y="1179756"/>
                  <a:pt x="10819408" y="1179756"/>
                </a:cubicBezTo>
                <a:lnTo>
                  <a:pt x="153392" y="1179756"/>
                </a:lnTo>
                <a:cubicBezTo>
                  <a:pt x="68676" y="1179756"/>
                  <a:pt x="0" y="1111080"/>
                  <a:pt x="0" y="1026364"/>
                </a:cubicBezTo>
                <a:lnTo>
                  <a:pt x="0" y="0"/>
                </a:lnTo>
                <a:close/>
              </a:path>
            </a:pathLst>
          </a:custGeom>
          <a:solidFill>
            <a:srgbClr val="FFFFFF">
              <a:alpha val="40000"/>
            </a:srgbClr>
          </a:solidFill>
          <a:ln w="12700" cap="flat" cmpd="sng" algn="ctr">
            <a:solidFill>
              <a:srgbClr val="232F3E"/>
            </a:solidFill>
            <a:prstDash val="solid"/>
            <a:miter lim="800000"/>
          </a:ln>
          <a:effectLst/>
        </p:spPr>
        <p:txBody>
          <a:bodyPr wrap="square" lIns="45720" tIns="45720" rIns="4572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mazon Ember"/>
              <a:ea typeface="+mn-ea"/>
              <a:cs typeface="+mn-cs"/>
            </a:endParaRPr>
          </a:p>
        </p:txBody>
      </p:sp>
      <p:sp>
        <p:nvSpPr>
          <p:cNvPr id="4" name="Freeform: Shape 14">
            <a:extLst>
              <a:ext uri="{FF2B5EF4-FFF2-40B4-BE49-F238E27FC236}">
                <a16:creationId xmlns:a16="http://schemas.microsoft.com/office/drawing/2014/main" id="{AE799B0B-59CE-C370-813D-143E4E8C48DD}"/>
              </a:ext>
              <a:ext uri="{C183D7F6-B498-43B3-948B-1728B52AA6E4}">
                <adec:decorative xmlns:adec="http://schemas.microsoft.com/office/drawing/2017/decorative" val="1"/>
              </a:ext>
            </a:extLst>
          </p:cNvPr>
          <p:cNvSpPr/>
          <p:nvPr/>
        </p:nvSpPr>
        <p:spPr>
          <a:xfrm>
            <a:off x="373781" y="1454269"/>
            <a:ext cx="3956345" cy="1179756"/>
          </a:xfrm>
          <a:custGeom>
            <a:avLst/>
            <a:gdLst>
              <a:gd name="connsiteX0" fmla="*/ 0 w 5408676"/>
              <a:gd name="connsiteY0" fmla="*/ 0 h 1179756"/>
              <a:gd name="connsiteX1" fmla="*/ 5408676 w 5408676"/>
              <a:gd name="connsiteY1" fmla="*/ 0 h 1179756"/>
              <a:gd name="connsiteX2" fmla="*/ 5408676 w 5408676"/>
              <a:gd name="connsiteY2" fmla="*/ 1026364 h 1179756"/>
              <a:gd name="connsiteX3" fmla="*/ 5255284 w 5408676"/>
              <a:gd name="connsiteY3" fmla="*/ 1179756 h 1179756"/>
              <a:gd name="connsiteX4" fmla="*/ 153392 w 5408676"/>
              <a:gd name="connsiteY4" fmla="*/ 1179756 h 1179756"/>
              <a:gd name="connsiteX5" fmla="*/ 0 w 5408676"/>
              <a:gd name="connsiteY5" fmla="*/ 1026364 h 1179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8676" h="1179756">
                <a:moveTo>
                  <a:pt x="0" y="0"/>
                </a:moveTo>
                <a:lnTo>
                  <a:pt x="5408676" y="0"/>
                </a:lnTo>
                <a:lnTo>
                  <a:pt x="5408676" y="1026364"/>
                </a:lnTo>
                <a:cubicBezTo>
                  <a:pt x="5408676" y="1111080"/>
                  <a:pt x="5340000" y="1179756"/>
                  <a:pt x="5255284" y="1179756"/>
                </a:cubicBezTo>
                <a:lnTo>
                  <a:pt x="153392" y="1179756"/>
                </a:lnTo>
                <a:cubicBezTo>
                  <a:pt x="68676" y="1179756"/>
                  <a:pt x="0" y="1111080"/>
                  <a:pt x="0" y="1026364"/>
                </a:cubicBezTo>
                <a:close/>
              </a:path>
            </a:pathLst>
          </a:custGeom>
          <a:solidFill>
            <a:srgbClr val="FFFFFF">
              <a:alpha val="40000"/>
            </a:srgbClr>
          </a:solidFill>
          <a:ln w="12700" cap="flat" cmpd="sng" algn="ctr">
            <a:solidFill>
              <a:srgbClr val="232F3E"/>
            </a:solidFill>
            <a:prstDash val="solid"/>
            <a:miter lim="800000"/>
          </a:ln>
          <a:effectLst/>
        </p:spPr>
        <p:txBody>
          <a:bodyPr wrap="square" lIns="45720" tIns="45720" rIns="4572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mazon Ember"/>
              <a:ea typeface="+mn-ea"/>
              <a:cs typeface="+mn-cs"/>
            </a:endParaRPr>
          </a:p>
        </p:txBody>
      </p:sp>
      <p:sp>
        <p:nvSpPr>
          <p:cNvPr id="5" name="Freeform: Shape 11">
            <a:extLst>
              <a:ext uri="{FF2B5EF4-FFF2-40B4-BE49-F238E27FC236}">
                <a16:creationId xmlns:a16="http://schemas.microsoft.com/office/drawing/2014/main" id="{F2179DC6-11FA-665F-FC9D-FAEEE8207F19}"/>
              </a:ext>
            </a:extLst>
          </p:cNvPr>
          <p:cNvSpPr/>
          <p:nvPr/>
        </p:nvSpPr>
        <p:spPr>
          <a:xfrm>
            <a:off x="365760" y="1135469"/>
            <a:ext cx="11466576" cy="326480"/>
          </a:xfrm>
          <a:custGeom>
            <a:avLst/>
            <a:gdLst>
              <a:gd name="connsiteX0" fmla="*/ 153392 w 10972800"/>
              <a:gd name="connsiteY0" fmla="*/ 0 h 365760"/>
              <a:gd name="connsiteX1" fmla="*/ 10819408 w 10972800"/>
              <a:gd name="connsiteY1" fmla="*/ 0 h 365760"/>
              <a:gd name="connsiteX2" fmla="*/ 10972800 w 10972800"/>
              <a:gd name="connsiteY2" fmla="*/ 153392 h 365760"/>
              <a:gd name="connsiteX3" fmla="*/ 10972800 w 10972800"/>
              <a:gd name="connsiteY3" fmla="*/ 365760 h 365760"/>
              <a:gd name="connsiteX4" fmla="*/ 0 w 10972800"/>
              <a:gd name="connsiteY4" fmla="*/ 365760 h 365760"/>
              <a:gd name="connsiteX5" fmla="*/ 0 w 10972800"/>
              <a:gd name="connsiteY5" fmla="*/ 153392 h 365760"/>
              <a:gd name="connsiteX6" fmla="*/ 153392 w 10972800"/>
              <a:gd name="connsiteY6" fmla="*/ 0 h 36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72800" h="365760">
                <a:moveTo>
                  <a:pt x="153392" y="0"/>
                </a:moveTo>
                <a:lnTo>
                  <a:pt x="10819408" y="0"/>
                </a:lnTo>
                <a:cubicBezTo>
                  <a:pt x="10904124" y="0"/>
                  <a:pt x="10972800" y="68676"/>
                  <a:pt x="10972800" y="153392"/>
                </a:cubicBezTo>
                <a:lnTo>
                  <a:pt x="10972800" y="365760"/>
                </a:lnTo>
                <a:lnTo>
                  <a:pt x="0" y="365760"/>
                </a:lnTo>
                <a:lnTo>
                  <a:pt x="0" y="153392"/>
                </a:lnTo>
                <a:cubicBezTo>
                  <a:pt x="0" y="68676"/>
                  <a:pt x="68676" y="0"/>
                  <a:pt x="153392" y="0"/>
                </a:cubicBezTo>
                <a:close/>
              </a:path>
            </a:pathLst>
          </a:custGeom>
          <a:solidFill>
            <a:schemeClr val="accent1"/>
          </a:solidFill>
          <a:ln>
            <a:noFill/>
          </a:ln>
          <a:effectLst/>
        </p:spPr>
        <p:txBody>
          <a:bodyPr wrap="square" lIns="45720" tIns="0" rIns="4572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all" spc="150" normalizeH="0" baseline="0" noProof="0" dirty="0">
                <a:ln>
                  <a:noFill/>
                </a:ln>
                <a:solidFill>
                  <a:srgbClr val="FFFFFF"/>
                </a:solidFill>
                <a:effectLst/>
                <a:uLnTx/>
                <a:uFillTx/>
                <a:latin typeface="Amazon Ember Display"/>
                <a:ea typeface="+mn-ea"/>
                <a:cs typeface="+mn-cs"/>
              </a:rPr>
              <a:t>APPLICATIONS TO BOOST PRODUCTIVITY</a:t>
            </a:r>
          </a:p>
        </p:txBody>
      </p:sp>
      <p:sp>
        <p:nvSpPr>
          <p:cNvPr id="15" name="TextBox 14">
            <a:extLst>
              <a:ext uri="{FF2B5EF4-FFF2-40B4-BE49-F238E27FC236}">
                <a16:creationId xmlns:a16="http://schemas.microsoft.com/office/drawing/2014/main" id="{9C92E05E-363A-DC48-1A8E-F7F004E2B36D}"/>
              </a:ext>
            </a:extLst>
          </p:cNvPr>
          <p:cNvSpPr txBox="1"/>
          <p:nvPr/>
        </p:nvSpPr>
        <p:spPr>
          <a:xfrm>
            <a:off x="1340239" y="1623981"/>
            <a:ext cx="2835392" cy="741229"/>
          </a:xfrm>
          <a:prstGeom prst="rect">
            <a:avLst/>
          </a:prstGeom>
          <a:noFill/>
        </p:spPr>
        <p:txBody>
          <a:bodyPr wrap="none" lIns="274320" rIns="0" rtlCol="0">
            <a:spAutoFit/>
          </a:bodyPr>
          <a:lstStyle/>
          <a:p>
            <a:pPr>
              <a:defRPr/>
            </a:pPr>
            <a:r>
              <a:rPr lang="en-US" sz="200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Amazon Q Business</a:t>
            </a:r>
          </a:p>
          <a:p>
            <a:pPr>
              <a:spcBef>
                <a:spcPts val="480"/>
              </a:spcBef>
              <a:defRPr/>
            </a:pPr>
            <a:r>
              <a:rPr lang="en-US"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Insights and automation</a:t>
            </a:r>
          </a:p>
        </p:txBody>
      </p:sp>
      <p:sp>
        <p:nvSpPr>
          <p:cNvPr id="19" name="TextBox 18">
            <a:extLst>
              <a:ext uri="{FF2B5EF4-FFF2-40B4-BE49-F238E27FC236}">
                <a16:creationId xmlns:a16="http://schemas.microsoft.com/office/drawing/2014/main" id="{7FCE359B-90B8-3C00-EAEE-3AD525C61222}"/>
              </a:ext>
            </a:extLst>
          </p:cNvPr>
          <p:cNvSpPr txBox="1"/>
          <p:nvPr/>
        </p:nvSpPr>
        <p:spPr>
          <a:xfrm>
            <a:off x="5342688" y="1623981"/>
            <a:ext cx="3585597" cy="741229"/>
          </a:xfrm>
          <a:prstGeom prst="rect">
            <a:avLst/>
          </a:prstGeom>
          <a:noFill/>
        </p:spPr>
        <p:txBody>
          <a:bodyPr wrap="none" lIns="274320" rIns="0" rtlCol="0">
            <a:spAutoFit/>
          </a:bodyPr>
          <a:lstStyle/>
          <a:p>
            <a:pPr>
              <a:defRPr/>
            </a:pPr>
            <a:r>
              <a:rPr lang="en-US" sz="200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Amazon Q Developer</a:t>
            </a:r>
          </a:p>
          <a:p>
            <a:pPr>
              <a:spcBef>
                <a:spcPts val="480"/>
              </a:spcBef>
              <a:defRPr/>
            </a:pPr>
            <a:r>
              <a:rPr lang="en-US"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Software development lifecycle</a:t>
            </a:r>
          </a:p>
        </p:txBody>
      </p:sp>
      <p:sp>
        <p:nvSpPr>
          <p:cNvPr id="21" name="TextBox 20">
            <a:extLst>
              <a:ext uri="{FF2B5EF4-FFF2-40B4-BE49-F238E27FC236}">
                <a16:creationId xmlns:a16="http://schemas.microsoft.com/office/drawing/2014/main" id="{936C972E-BD36-0456-01F6-9970F4ECBC85}"/>
              </a:ext>
            </a:extLst>
          </p:cNvPr>
          <p:cNvSpPr txBox="1"/>
          <p:nvPr/>
        </p:nvSpPr>
        <p:spPr>
          <a:xfrm>
            <a:off x="10031168" y="1623981"/>
            <a:ext cx="1484061" cy="741229"/>
          </a:xfrm>
          <a:prstGeom prst="rect">
            <a:avLst/>
          </a:prstGeom>
          <a:noFill/>
        </p:spPr>
        <p:txBody>
          <a:bodyPr wrap="none" lIns="274320" rIns="0" rtlCol="0">
            <a:spAutoFit/>
          </a:bodyPr>
          <a:lstStyle/>
          <a:p>
            <a:pPr>
              <a:defRPr/>
            </a:pPr>
            <a:r>
              <a:rPr lang="en-US" sz="200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Kiro</a:t>
            </a:r>
          </a:p>
          <a:p>
            <a:pPr>
              <a:spcBef>
                <a:spcPts val="480"/>
              </a:spcBef>
              <a:defRPr/>
            </a:pPr>
            <a:r>
              <a:rPr lang="en-US"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Agentic IDE</a:t>
            </a:r>
          </a:p>
        </p:txBody>
      </p:sp>
      <p:sp>
        <p:nvSpPr>
          <p:cNvPr id="7" name="Freeform: Shape 24">
            <a:extLst>
              <a:ext uri="{FF2B5EF4-FFF2-40B4-BE49-F238E27FC236}">
                <a16:creationId xmlns:a16="http://schemas.microsoft.com/office/drawing/2014/main" id="{711B7960-942A-93AD-FBE0-6B874164BAD5}"/>
              </a:ext>
              <a:ext uri="{C183D7F6-B498-43B3-948B-1728B52AA6E4}">
                <adec:decorative xmlns:adec="http://schemas.microsoft.com/office/drawing/2017/decorative" val="1"/>
              </a:ext>
            </a:extLst>
          </p:cNvPr>
          <p:cNvSpPr/>
          <p:nvPr/>
        </p:nvSpPr>
        <p:spPr>
          <a:xfrm>
            <a:off x="5785978" y="4724334"/>
            <a:ext cx="6008512" cy="1595612"/>
          </a:xfrm>
          <a:custGeom>
            <a:avLst/>
            <a:gdLst>
              <a:gd name="connsiteX0" fmla="*/ 0 w 2621171"/>
              <a:gd name="connsiteY0" fmla="*/ 0 h 948906"/>
              <a:gd name="connsiteX1" fmla="*/ 2621171 w 2621171"/>
              <a:gd name="connsiteY1" fmla="*/ 0 h 948906"/>
              <a:gd name="connsiteX2" fmla="*/ 2621171 w 2621171"/>
              <a:gd name="connsiteY2" fmla="*/ 800757 h 948906"/>
              <a:gd name="connsiteX3" fmla="*/ 2473022 w 2621171"/>
              <a:gd name="connsiteY3" fmla="*/ 948906 h 948906"/>
              <a:gd name="connsiteX4" fmla="*/ 148149 w 2621171"/>
              <a:gd name="connsiteY4" fmla="*/ 948906 h 948906"/>
              <a:gd name="connsiteX5" fmla="*/ 0 w 2621171"/>
              <a:gd name="connsiteY5" fmla="*/ 800757 h 94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21171" h="948906">
                <a:moveTo>
                  <a:pt x="0" y="0"/>
                </a:moveTo>
                <a:lnTo>
                  <a:pt x="2621171" y="0"/>
                </a:lnTo>
                <a:lnTo>
                  <a:pt x="2621171" y="800757"/>
                </a:lnTo>
                <a:cubicBezTo>
                  <a:pt x="2621171" y="882577"/>
                  <a:pt x="2554842" y="948906"/>
                  <a:pt x="2473022" y="948906"/>
                </a:cubicBezTo>
                <a:lnTo>
                  <a:pt x="148149" y="948906"/>
                </a:lnTo>
                <a:cubicBezTo>
                  <a:pt x="66329" y="948906"/>
                  <a:pt x="0" y="882577"/>
                  <a:pt x="0" y="800757"/>
                </a:cubicBezTo>
                <a:close/>
              </a:path>
            </a:pathLst>
          </a:custGeom>
          <a:solidFill>
            <a:srgbClr val="FFFFFF">
              <a:alpha val="40000"/>
            </a:srgbClr>
          </a:solidFill>
          <a:ln w="12700" cap="flat" cmpd="sng" algn="ctr">
            <a:solidFill>
              <a:srgbClr val="232F3E"/>
            </a:solidFill>
            <a:prstDash val="solid"/>
            <a:miter lim="800000"/>
          </a:ln>
          <a:effectLst/>
        </p:spPr>
        <p:txBody>
          <a:bodyPr wrap="square" lIns="45720" tIns="45720" rIns="4572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8" name="Freeform: Shape 25">
            <a:extLst>
              <a:ext uri="{FF2B5EF4-FFF2-40B4-BE49-F238E27FC236}">
                <a16:creationId xmlns:a16="http://schemas.microsoft.com/office/drawing/2014/main" id="{C3519F59-1E63-64F3-9A04-4FF76C768849}"/>
              </a:ext>
              <a:ext uri="{C183D7F6-B498-43B3-948B-1728B52AA6E4}">
                <adec:decorative xmlns:adec="http://schemas.microsoft.com/office/drawing/2017/decorative" val="1"/>
              </a:ext>
            </a:extLst>
          </p:cNvPr>
          <p:cNvSpPr/>
          <p:nvPr/>
        </p:nvSpPr>
        <p:spPr>
          <a:xfrm>
            <a:off x="373781" y="4724334"/>
            <a:ext cx="5408676" cy="1560657"/>
          </a:xfrm>
          <a:custGeom>
            <a:avLst/>
            <a:gdLst>
              <a:gd name="connsiteX0" fmla="*/ 0 w 5408676"/>
              <a:gd name="connsiteY0" fmla="*/ 0 h 1179756"/>
              <a:gd name="connsiteX1" fmla="*/ 5408676 w 5408676"/>
              <a:gd name="connsiteY1" fmla="*/ 0 h 1179756"/>
              <a:gd name="connsiteX2" fmla="*/ 5408676 w 5408676"/>
              <a:gd name="connsiteY2" fmla="*/ 1026364 h 1179756"/>
              <a:gd name="connsiteX3" fmla="*/ 5255284 w 5408676"/>
              <a:gd name="connsiteY3" fmla="*/ 1179756 h 1179756"/>
              <a:gd name="connsiteX4" fmla="*/ 153392 w 5408676"/>
              <a:gd name="connsiteY4" fmla="*/ 1179756 h 1179756"/>
              <a:gd name="connsiteX5" fmla="*/ 0 w 5408676"/>
              <a:gd name="connsiteY5" fmla="*/ 1026364 h 1179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8676" h="1179756">
                <a:moveTo>
                  <a:pt x="0" y="0"/>
                </a:moveTo>
                <a:lnTo>
                  <a:pt x="5408676" y="0"/>
                </a:lnTo>
                <a:lnTo>
                  <a:pt x="5408676" y="1026364"/>
                </a:lnTo>
                <a:cubicBezTo>
                  <a:pt x="5408676" y="1111080"/>
                  <a:pt x="5340000" y="1179756"/>
                  <a:pt x="5255284" y="1179756"/>
                </a:cubicBezTo>
                <a:lnTo>
                  <a:pt x="153392" y="1179756"/>
                </a:lnTo>
                <a:cubicBezTo>
                  <a:pt x="68676" y="1179756"/>
                  <a:pt x="0" y="1111080"/>
                  <a:pt x="0" y="1026364"/>
                </a:cubicBezTo>
                <a:close/>
              </a:path>
            </a:pathLst>
          </a:custGeom>
          <a:solidFill>
            <a:srgbClr val="FFFFFF">
              <a:alpha val="40000"/>
            </a:srgbClr>
          </a:solidFill>
          <a:ln w="12700" cap="flat" cmpd="sng" algn="ctr">
            <a:solidFill>
              <a:srgbClr val="232F3E"/>
            </a:solidFill>
            <a:prstDash val="solid"/>
            <a:miter lim="800000"/>
          </a:ln>
          <a:effectLst/>
        </p:spPr>
        <p:txBody>
          <a:bodyPr wrap="square" lIns="45720" tIns="45720" rIns="4572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mazon Ember"/>
              <a:ea typeface="+mn-ea"/>
              <a:cs typeface="+mn-cs"/>
            </a:endParaRPr>
          </a:p>
        </p:txBody>
      </p:sp>
      <p:sp>
        <p:nvSpPr>
          <p:cNvPr id="9" name="Freeform: Shape 28">
            <a:extLst>
              <a:ext uri="{FF2B5EF4-FFF2-40B4-BE49-F238E27FC236}">
                <a16:creationId xmlns:a16="http://schemas.microsoft.com/office/drawing/2014/main" id="{F6E1CAD3-78CB-4764-1656-1A6F21DBB86B}"/>
              </a:ext>
            </a:extLst>
          </p:cNvPr>
          <p:cNvSpPr/>
          <p:nvPr/>
        </p:nvSpPr>
        <p:spPr>
          <a:xfrm>
            <a:off x="365760" y="2707073"/>
            <a:ext cx="11444930" cy="405728"/>
          </a:xfrm>
          <a:custGeom>
            <a:avLst/>
            <a:gdLst>
              <a:gd name="connsiteX0" fmla="*/ 153392 w 10972800"/>
              <a:gd name="connsiteY0" fmla="*/ 0 h 365760"/>
              <a:gd name="connsiteX1" fmla="*/ 10819408 w 10972800"/>
              <a:gd name="connsiteY1" fmla="*/ 0 h 365760"/>
              <a:gd name="connsiteX2" fmla="*/ 10972800 w 10972800"/>
              <a:gd name="connsiteY2" fmla="*/ 153392 h 365760"/>
              <a:gd name="connsiteX3" fmla="*/ 10972800 w 10972800"/>
              <a:gd name="connsiteY3" fmla="*/ 365760 h 365760"/>
              <a:gd name="connsiteX4" fmla="*/ 0 w 10972800"/>
              <a:gd name="connsiteY4" fmla="*/ 365760 h 365760"/>
              <a:gd name="connsiteX5" fmla="*/ 0 w 10972800"/>
              <a:gd name="connsiteY5" fmla="*/ 153392 h 365760"/>
              <a:gd name="connsiteX6" fmla="*/ 153392 w 10972800"/>
              <a:gd name="connsiteY6" fmla="*/ 0 h 36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72800" h="365760">
                <a:moveTo>
                  <a:pt x="153392" y="0"/>
                </a:moveTo>
                <a:lnTo>
                  <a:pt x="10819408" y="0"/>
                </a:lnTo>
                <a:cubicBezTo>
                  <a:pt x="10904124" y="0"/>
                  <a:pt x="10972800" y="68676"/>
                  <a:pt x="10972800" y="153392"/>
                </a:cubicBezTo>
                <a:lnTo>
                  <a:pt x="10972800" y="365760"/>
                </a:lnTo>
                <a:lnTo>
                  <a:pt x="0" y="365760"/>
                </a:lnTo>
                <a:lnTo>
                  <a:pt x="0" y="153392"/>
                </a:lnTo>
                <a:cubicBezTo>
                  <a:pt x="0" y="68676"/>
                  <a:pt x="68676" y="0"/>
                  <a:pt x="153392" y="0"/>
                </a:cubicBezTo>
                <a:close/>
              </a:path>
            </a:pathLst>
          </a:custGeom>
          <a:solidFill>
            <a:schemeClr val="accent1"/>
          </a:solidFill>
          <a:ln>
            <a:noFill/>
          </a:ln>
          <a:effectLst/>
        </p:spPr>
        <p:txBody>
          <a:bodyPr wrap="square" lIns="45720" tIns="0" rIns="4572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all" spc="100" normalizeH="0" baseline="0" noProof="0" dirty="0">
                <a:ln>
                  <a:noFill/>
                </a:ln>
                <a:solidFill>
                  <a:srgbClr val="FFFFFF"/>
                </a:solidFill>
                <a:effectLst/>
                <a:uLnTx/>
                <a:uFillTx/>
                <a:latin typeface="Amazon Ember Display"/>
                <a:ea typeface="+mn-ea"/>
                <a:cs typeface="+mn-cs"/>
              </a:rPr>
              <a:t>MODELS AND TOOLS TO BUILD GENERATIVE AI Applications</a:t>
            </a:r>
          </a:p>
        </p:txBody>
      </p:sp>
      <p:sp>
        <p:nvSpPr>
          <p:cNvPr id="17" name="TextBox 16">
            <a:extLst>
              <a:ext uri="{FF2B5EF4-FFF2-40B4-BE49-F238E27FC236}">
                <a16:creationId xmlns:a16="http://schemas.microsoft.com/office/drawing/2014/main" id="{44E57DC3-6B53-C84D-AC37-C4963E0CA99A}"/>
              </a:ext>
            </a:extLst>
          </p:cNvPr>
          <p:cNvSpPr txBox="1"/>
          <p:nvPr/>
        </p:nvSpPr>
        <p:spPr>
          <a:xfrm>
            <a:off x="1340239" y="3143680"/>
            <a:ext cx="5424242" cy="1113125"/>
          </a:xfrm>
          <a:prstGeom prst="rect">
            <a:avLst/>
          </a:prstGeom>
          <a:noFill/>
        </p:spPr>
        <p:txBody>
          <a:bodyPr wrap="none" lIns="274320" rIns="0" rtlCol="0">
            <a:spAutoFit/>
          </a:bodyPr>
          <a:lstStyle/>
          <a:p>
            <a:pPr>
              <a:defRPr/>
            </a:pPr>
            <a:r>
              <a:rPr lang="en-US" sz="200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Amazon Bedrock</a:t>
            </a:r>
          </a:p>
          <a:p>
            <a:pPr>
              <a:spcBef>
                <a:spcPts val="480"/>
              </a:spcBef>
              <a:defRPr/>
            </a:pPr>
            <a:r>
              <a:rPr lang="en-US"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Amazon models | Partner models | Customization</a:t>
            </a:r>
          </a:p>
          <a:p>
            <a:pPr>
              <a:spcBef>
                <a:spcPts val="480"/>
              </a:spcBef>
              <a:defRPr/>
            </a:pPr>
            <a:r>
              <a:rPr lang="en-US"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Guardrails | Agents | Knowledge Bases | Studio</a:t>
            </a:r>
          </a:p>
        </p:txBody>
      </p:sp>
      <p:sp>
        <p:nvSpPr>
          <p:cNvPr id="27" name="TextBox 26">
            <a:extLst>
              <a:ext uri="{FF2B5EF4-FFF2-40B4-BE49-F238E27FC236}">
                <a16:creationId xmlns:a16="http://schemas.microsoft.com/office/drawing/2014/main" id="{12D1404B-56B1-8286-2690-C73A87D47DEA}"/>
              </a:ext>
            </a:extLst>
          </p:cNvPr>
          <p:cNvSpPr txBox="1"/>
          <p:nvPr/>
        </p:nvSpPr>
        <p:spPr>
          <a:xfrm>
            <a:off x="7800477" y="3129791"/>
            <a:ext cx="3944931" cy="984885"/>
          </a:xfrm>
          <a:prstGeom prst="rect">
            <a:avLst/>
          </a:prstGeom>
          <a:noFill/>
        </p:spPr>
        <p:txBody>
          <a:bodyPr wrap="square" lIns="274320" rIns="0" rtlCol="0">
            <a:spAutoFit/>
          </a:bodyPr>
          <a:lstStyle/>
          <a:p>
            <a:pPr>
              <a:defRPr/>
            </a:pPr>
            <a:r>
              <a:rPr lang="en-US" sz="200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Amazon Bedrock AgentCore</a:t>
            </a:r>
          </a:p>
          <a:p>
            <a:pPr>
              <a:defRPr/>
            </a:pPr>
            <a:r>
              <a:rPr lang="en-US"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Deployment and operation of AI agents at scale</a:t>
            </a:r>
          </a:p>
        </p:txBody>
      </p:sp>
      <p:sp>
        <p:nvSpPr>
          <p:cNvPr id="10" name="Freeform: Shape 29">
            <a:extLst>
              <a:ext uri="{FF2B5EF4-FFF2-40B4-BE49-F238E27FC236}">
                <a16:creationId xmlns:a16="http://schemas.microsoft.com/office/drawing/2014/main" id="{C9499026-7D64-B34B-BAD4-111135D994C5}"/>
              </a:ext>
            </a:extLst>
          </p:cNvPr>
          <p:cNvSpPr/>
          <p:nvPr/>
        </p:nvSpPr>
        <p:spPr>
          <a:xfrm>
            <a:off x="365760" y="4368001"/>
            <a:ext cx="11444930" cy="405728"/>
          </a:xfrm>
          <a:custGeom>
            <a:avLst/>
            <a:gdLst>
              <a:gd name="connsiteX0" fmla="*/ 153392 w 10972800"/>
              <a:gd name="connsiteY0" fmla="*/ 0 h 365760"/>
              <a:gd name="connsiteX1" fmla="*/ 10819408 w 10972800"/>
              <a:gd name="connsiteY1" fmla="*/ 0 h 365760"/>
              <a:gd name="connsiteX2" fmla="*/ 10972800 w 10972800"/>
              <a:gd name="connsiteY2" fmla="*/ 153392 h 365760"/>
              <a:gd name="connsiteX3" fmla="*/ 10972800 w 10972800"/>
              <a:gd name="connsiteY3" fmla="*/ 365760 h 365760"/>
              <a:gd name="connsiteX4" fmla="*/ 0 w 10972800"/>
              <a:gd name="connsiteY4" fmla="*/ 365760 h 365760"/>
              <a:gd name="connsiteX5" fmla="*/ 0 w 10972800"/>
              <a:gd name="connsiteY5" fmla="*/ 153392 h 365760"/>
              <a:gd name="connsiteX6" fmla="*/ 153392 w 10972800"/>
              <a:gd name="connsiteY6" fmla="*/ 0 h 36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72800" h="365760">
                <a:moveTo>
                  <a:pt x="153392" y="0"/>
                </a:moveTo>
                <a:lnTo>
                  <a:pt x="10819408" y="0"/>
                </a:lnTo>
                <a:cubicBezTo>
                  <a:pt x="10904124" y="0"/>
                  <a:pt x="10972800" y="68676"/>
                  <a:pt x="10972800" y="153392"/>
                </a:cubicBezTo>
                <a:lnTo>
                  <a:pt x="10972800" y="365760"/>
                </a:lnTo>
                <a:lnTo>
                  <a:pt x="0" y="365760"/>
                </a:lnTo>
                <a:lnTo>
                  <a:pt x="0" y="153392"/>
                </a:lnTo>
                <a:cubicBezTo>
                  <a:pt x="0" y="68676"/>
                  <a:pt x="68676" y="0"/>
                  <a:pt x="153392" y="0"/>
                </a:cubicBezTo>
                <a:close/>
              </a:path>
            </a:pathLst>
          </a:custGeom>
          <a:solidFill>
            <a:schemeClr val="accent1"/>
          </a:solidFill>
          <a:ln>
            <a:noFill/>
          </a:ln>
          <a:effectLst/>
        </p:spPr>
        <p:txBody>
          <a:bodyPr wrap="square" lIns="45720" tIns="0" rIns="4572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all" spc="100" normalizeH="0" baseline="0" noProof="0" dirty="0">
                <a:ln>
                  <a:noFill/>
                </a:ln>
                <a:solidFill>
                  <a:srgbClr val="FFFFFF"/>
                </a:solidFill>
                <a:effectLst/>
                <a:uLnTx/>
                <a:uFillTx/>
                <a:latin typeface="Amazon Ember Display"/>
                <a:ea typeface="+mn-ea"/>
                <a:cs typeface="+mn-cs"/>
              </a:rPr>
              <a:t>INFRASTRUCTURE TO BUILD AND TRAIN AI MODELS</a:t>
            </a:r>
          </a:p>
        </p:txBody>
      </p:sp>
      <p:sp>
        <p:nvSpPr>
          <p:cNvPr id="16" name="TextBox 15">
            <a:extLst>
              <a:ext uri="{FF2B5EF4-FFF2-40B4-BE49-F238E27FC236}">
                <a16:creationId xmlns:a16="http://schemas.microsoft.com/office/drawing/2014/main" id="{70E1E482-B863-E6D9-EECA-8B817E48F246}"/>
              </a:ext>
            </a:extLst>
          </p:cNvPr>
          <p:cNvSpPr txBox="1"/>
          <p:nvPr/>
        </p:nvSpPr>
        <p:spPr>
          <a:xfrm>
            <a:off x="1340239" y="4822264"/>
            <a:ext cx="4428101" cy="1326004"/>
          </a:xfrm>
          <a:prstGeom prst="rect">
            <a:avLst/>
          </a:prstGeom>
          <a:noFill/>
        </p:spPr>
        <p:txBody>
          <a:bodyPr wrap="square" lIns="274320" rIns="0" rtlCol="0">
            <a:spAutoFit/>
          </a:bodyPr>
          <a:lstStyle/>
          <a:p>
            <a:pPr>
              <a:defRPr/>
            </a:pPr>
            <a:r>
              <a:rPr lang="en-US" sz="200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Amazon SageMaker AI</a:t>
            </a:r>
          </a:p>
          <a:p>
            <a:pPr>
              <a:spcBef>
                <a:spcPts val="480"/>
              </a:spcBef>
              <a:defRPr/>
            </a:pPr>
            <a:r>
              <a:rPr lang="en-US"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Managed infrastructure </a:t>
            </a:r>
            <a:r>
              <a:rPr lang="en-US" dirty="0"/>
              <a:t>|</a:t>
            </a:r>
            <a:r>
              <a:rPr lang="en-US"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 Amazon SageMaker </a:t>
            </a:r>
            <a:r>
              <a:rPr lang="en-US" dirty="0"/>
              <a:t>JumpStart | </a:t>
            </a:r>
            <a:r>
              <a:rPr lang="en-US"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Amazon SageMaker Unified Studio</a:t>
            </a:r>
          </a:p>
        </p:txBody>
      </p:sp>
      <p:sp>
        <p:nvSpPr>
          <p:cNvPr id="39" name="TextBox 38">
            <a:extLst>
              <a:ext uri="{FF2B5EF4-FFF2-40B4-BE49-F238E27FC236}">
                <a16:creationId xmlns:a16="http://schemas.microsoft.com/office/drawing/2014/main" id="{2B874895-54A0-7643-87C1-DC660D3AF55F}"/>
              </a:ext>
            </a:extLst>
          </p:cNvPr>
          <p:cNvSpPr txBox="1"/>
          <p:nvPr/>
        </p:nvSpPr>
        <p:spPr>
          <a:xfrm>
            <a:off x="7390601" y="5868745"/>
            <a:ext cx="3326552" cy="369332"/>
          </a:xfrm>
          <a:prstGeom prst="rect">
            <a:avLst/>
          </a:prstGeom>
          <a:noFill/>
          <a:ln w="19050">
            <a:noFill/>
            <a:prstDash val="sysDot"/>
          </a:ln>
        </p:spPr>
        <p:txBody>
          <a:bodyPr wrap="none" rtlCol="0">
            <a:spAutoFit/>
          </a:bodyPr>
          <a:lstStyle>
            <a:defPPr>
              <a:defRPr lang="en-US"/>
            </a:defPPr>
            <a:lvl1pPr marR="0" lvl="0" indent="0" algn="ctr" defTabSz="634655" fontAlgn="auto">
              <a:lnSpc>
                <a:spcPct val="100000"/>
              </a:lnSpc>
              <a:spcBef>
                <a:spcPts val="0"/>
              </a:spcBef>
              <a:spcAft>
                <a:spcPts val="0"/>
              </a:spcAft>
              <a:buClrTx/>
              <a:buSzTx/>
              <a:buFontTx/>
              <a:buNone/>
              <a:tabLst/>
              <a:defRPr kumimoji="0" sz="1400" b="1" i="0" u="none" strike="noStrike" cap="none" spc="50" normalizeH="0" baseline="0">
                <a:ln>
                  <a:noFill/>
                </a:ln>
                <a:solidFill>
                  <a:srgbClr val="FFFFFF"/>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defTabSz="914400">
              <a:spcBef>
                <a:spcPts val="360"/>
              </a:spcBef>
              <a:spcAft>
                <a:spcPts val="600"/>
              </a:spcAft>
              <a:defRPr/>
            </a:pPr>
            <a:r>
              <a:rPr lang="en-US" sz="1800" b="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High performance compute</a:t>
            </a:r>
          </a:p>
        </p:txBody>
      </p:sp>
      <p:sp>
        <p:nvSpPr>
          <p:cNvPr id="38" name="TextBox 37">
            <a:extLst>
              <a:ext uri="{FF2B5EF4-FFF2-40B4-BE49-F238E27FC236}">
                <a16:creationId xmlns:a16="http://schemas.microsoft.com/office/drawing/2014/main" id="{0F72A490-1E0C-C80D-4E02-72D79C3B46FE}"/>
              </a:ext>
            </a:extLst>
          </p:cNvPr>
          <p:cNvSpPr txBox="1"/>
          <p:nvPr/>
        </p:nvSpPr>
        <p:spPr>
          <a:xfrm>
            <a:off x="6716760" y="4822264"/>
            <a:ext cx="2440490" cy="772006"/>
          </a:xfrm>
          <a:prstGeom prst="rect">
            <a:avLst/>
          </a:prstGeom>
          <a:noFill/>
        </p:spPr>
        <p:txBody>
          <a:bodyPr wrap="square" lIns="274320" rIns="0" rtlCol="0">
            <a:spAutoFit/>
          </a:bodyPr>
          <a:lstStyle/>
          <a:p>
            <a:pPr>
              <a:spcBef>
                <a:spcPts val="480"/>
              </a:spcBef>
              <a:defRPr/>
            </a:pPr>
            <a:r>
              <a:rPr lang="en-US" sz="200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AWS </a:t>
            </a:r>
            <a:r>
              <a:rPr lang="en-US" sz="2000" noProof="1">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Trainium</a:t>
            </a:r>
          </a:p>
          <a:p>
            <a:pPr>
              <a:spcBef>
                <a:spcPts val="480"/>
              </a:spcBef>
              <a:defRPr/>
            </a:pPr>
            <a:r>
              <a:rPr lang="en-US" sz="200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AWS </a:t>
            </a:r>
            <a:r>
              <a:rPr lang="en-US" sz="2000" noProof="1">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Inferentia</a:t>
            </a:r>
            <a:r>
              <a:rPr lang="en-US" sz="200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 </a:t>
            </a:r>
          </a:p>
        </p:txBody>
      </p:sp>
      <p:sp>
        <p:nvSpPr>
          <p:cNvPr id="37" name="TextBox 36">
            <a:extLst>
              <a:ext uri="{FF2B5EF4-FFF2-40B4-BE49-F238E27FC236}">
                <a16:creationId xmlns:a16="http://schemas.microsoft.com/office/drawing/2014/main" id="{23A6581F-2C90-B81F-00F3-C8B337F1CBE4}"/>
              </a:ext>
            </a:extLst>
          </p:cNvPr>
          <p:cNvSpPr txBox="1"/>
          <p:nvPr/>
        </p:nvSpPr>
        <p:spPr>
          <a:xfrm>
            <a:off x="10599440" y="4822264"/>
            <a:ext cx="903774" cy="400110"/>
          </a:xfrm>
          <a:prstGeom prst="rect">
            <a:avLst/>
          </a:prstGeom>
          <a:noFill/>
        </p:spPr>
        <p:txBody>
          <a:bodyPr wrap="none" lIns="274320" rIns="0" rtlCol="0">
            <a:spAutoFit/>
          </a:bodyPr>
          <a:lstStyle/>
          <a:p>
            <a:pPr>
              <a:defRPr/>
            </a:pPr>
            <a:r>
              <a:rPr lang="en-US" sz="200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GPUs</a:t>
            </a:r>
          </a:p>
        </p:txBody>
      </p:sp>
      <p:pic>
        <p:nvPicPr>
          <p:cNvPr id="35" name="Graphic 34">
            <a:extLst>
              <a:ext uri="{FF2B5EF4-FFF2-40B4-BE49-F238E27FC236}">
                <a16:creationId xmlns:a16="http://schemas.microsoft.com/office/drawing/2014/main" id="{5D1EE15D-D0E6-9DF6-AA32-BAA472B4418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72008" y="4903423"/>
            <a:ext cx="609600" cy="609600"/>
          </a:xfrm>
          <a:prstGeom prst="rect">
            <a:avLst/>
          </a:prstGeom>
        </p:spPr>
      </p:pic>
      <p:pic>
        <p:nvPicPr>
          <p:cNvPr id="36" name="Graphic 35">
            <a:extLst>
              <a:ext uri="{FF2B5EF4-FFF2-40B4-BE49-F238E27FC236}">
                <a16:creationId xmlns:a16="http://schemas.microsoft.com/office/drawing/2014/main" id="{534AA742-0C9F-F72E-977D-FFB6C121E03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995595" y="4832524"/>
            <a:ext cx="812800" cy="792480"/>
          </a:xfrm>
          <a:prstGeom prst="rect">
            <a:avLst/>
          </a:prstGeom>
        </p:spPr>
      </p:pic>
      <p:pic>
        <p:nvPicPr>
          <p:cNvPr id="23" name="Graphic 22">
            <a:extLst>
              <a:ext uri="{FF2B5EF4-FFF2-40B4-BE49-F238E27FC236}">
                <a16:creationId xmlns:a16="http://schemas.microsoft.com/office/drawing/2014/main" id="{72262497-1558-AE6F-D02C-A6270E73C16F}"/>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8330" y="3204258"/>
            <a:ext cx="914400" cy="914400"/>
          </a:xfrm>
          <a:prstGeom prst="rect">
            <a:avLst/>
          </a:prstGeom>
        </p:spPr>
      </p:pic>
      <p:pic>
        <p:nvPicPr>
          <p:cNvPr id="24" name="Graphic 23">
            <a:extLst>
              <a:ext uri="{FF2B5EF4-FFF2-40B4-BE49-F238E27FC236}">
                <a16:creationId xmlns:a16="http://schemas.microsoft.com/office/drawing/2014/main" id="{82B4DF39-D9D6-B4D0-5CF3-80F2D631EE9A}"/>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8385" y="1597857"/>
            <a:ext cx="914400" cy="914400"/>
          </a:xfrm>
          <a:prstGeom prst="rect">
            <a:avLst/>
          </a:prstGeom>
        </p:spPr>
      </p:pic>
      <p:pic>
        <p:nvPicPr>
          <p:cNvPr id="25" name="Graphic 24">
            <a:extLst>
              <a:ext uri="{FF2B5EF4-FFF2-40B4-BE49-F238E27FC236}">
                <a16:creationId xmlns:a16="http://schemas.microsoft.com/office/drawing/2014/main" id="{1E86214A-19EC-9BDA-8B08-D3436C2DD1AC}"/>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78330" y="4946531"/>
            <a:ext cx="914400" cy="914400"/>
          </a:xfrm>
          <a:prstGeom prst="rect">
            <a:avLst/>
          </a:prstGeom>
        </p:spPr>
      </p:pic>
      <p:pic>
        <p:nvPicPr>
          <p:cNvPr id="26" name="Graphic 25">
            <a:extLst>
              <a:ext uri="{FF2B5EF4-FFF2-40B4-BE49-F238E27FC236}">
                <a16:creationId xmlns:a16="http://schemas.microsoft.com/office/drawing/2014/main" id="{ACA872CA-64F4-9383-B8F2-7697A06F7CE8}"/>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38994" y="1597857"/>
            <a:ext cx="914400" cy="914400"/>
          </a:xfrm>
          <a:prstGeom prst="rect">
            <a:avLst/>
          </a:prstGeom>
        </p:spPr>
      </p:pic>
      <p:pic>
        <p:nvPicPr>
          <p:cNvPr id="14" name="Picture 13">
            <a:extLst>
              <a:ext uri="{FF2B5EF4-FFF2-40B4-BE49-F238E27FC236}">
                <a16:creationId xmlns:a16="http://schemas.microsoft.com/office/drawing/2014/main" id="{7919862B-0579-6152-8863-DDE3D201D00C}"/>
              </a:ext>
              <a:ext uri="{C183D7F6-B498-43B3-948B-1728B52AA6E4}">
                <adec:decorative xmlns:adec="http://schemas.microsoft.com/office/drawing/2017/decorative" val="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053877" y="1434027"/>
            <a:ext cx="1280160" cy="1280160"/>
          </a:xfrm>
          <a:prstGeom prst="rect">
            <a:avLst/>
          </a:prstGeom>
        </p:spPr>
      </p:pic>
      <p:sp>
        <p:nvSpPr>
          <p:cNvPr id="18" name="Freeform: Shape 30">
            <a:extLst>
              <a:ext uri="{FF2B5EF4-FFF2-40B4-BE49-F238E27FC236}">
                <a16:creationId xmlns:a16="http://schemas.microsoft.com/office/drawing/2014/main" id="{C69CCCB5-E2CD-2B91-C0B0-06C2125F760D}"/>
              </a:ext>
              <a:ext uri="{C183D7F6-B498-43B3-948B-1728B52AA6E4}">
                <adec:decorative xmlns:adec="http://schemas.microsoft.com/office/drawing/2017/decorative" val="1"/>
              </a:ext>
            </a:extLst>
          </p:cNvPr>
          <p:cNvSpPr/>
          <p:nvPr/>
        </p:nvSpPr>
        <p:spPr>
          <a:xfrm>
            <a:off x="9079693" y="1454269"/>
            <a:ext cx="2742540" cy="1179756"/>
          </a:xfrm>
          <a:custGeom>
            <a:avLst/>
            <a:gdLst>
              <a:gd name="connsiteX0" fmla="*/ 0 w 5408676"/>
              <a:gd name="connsiteY0" fmla="*/ 0 h 1179756"/>
              <a:gd name="connsiteX1" fmla="*/ 5408676 w 5408676"/>
              <a:gd name="connsiteY1" fmla="*/ 0 h 1179756"/>
              <a:gd name="connsiteX2" fmla="*/ 5408676 w 5408676"/>
              <a:gd name="connsiteY2" fmla="*/ 1026364 h 1179756"/>
              <a:gd name="connsiteX3" fmla="*/ 5255284 w 5408676"/>
              <a:gd name="connsiteY3" fmla="*/ 1179756 h 1179756"/>
              <a:gd name="connsiteX4" fmla="*/ 153392 w 5408676"/>
              <a:gd name="connsiteY4" fmla="*/ 1179756 h 1179756"/>
              <a:gd name="connsiteX5" fmla="*/ 0 w 5408676"/>
              <a:gd name="connsiteY5" fmla="*/ 1026364 h 1179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8676" h="1179756">
                <a:moveTo>
                  <a:pt x="0" y="0"/>
                </a:moveTo>
                <a:lnTo>
                  <a:pt x="5408676" y="0"/>
                </a:lnTo>
                <a:lnTo>
                  <a:pt x="5408676" y="1026364"/>
                </a:lnTo>
                <a:cubicBezTo>
                  <a:pt x="5408676" y="1111080"/>
                  <a:pt x="5340000" y="1179756"/>
                  <a:pt x="5255284" y="1179756"/>
                </a:cubicBezTo>
                <a:lnTo>
                  <a:pt x="153392" y="1179756"/>
                </a:lnTo>
                <a:cubicBezTo>
                  <a:pt x="68676" y="1179756"/>
                  <a:pt x="0" y="1111080"/>
                  <a:pt x="0" y="1026364"/>
                </a:cubicBezTo>
                <a:close/>
              </a:path>
            </a:pathLst>
          </a:custGeom>
          <a:noFill/>
          <a:ln w="12700" cap="flat" cmpd="sng" algn="ctr">
            <a:solidFill>
              <a:srgbClr val="232F3E"/>
            </a:solidFill>
            <a:prstDash val="solid"/>
            <a:miter lim="800000"/>
          </a:ln>
          <a:effectLst/>
        </p:spPr>
        <p:txBody>
          <a:bodyPr wrap="square" lIns="45720" tIns="45720" rIns="4572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pic>
        <p:nvPicPr>
          <p:cNvPr id="13" name="Picture 12">
            <a:extLst>
              <a:ext uri="{FF2B5EF4-FFF2-40B4-BE49-F238E27FC236}">
                <a16:creationId xmlns:a16="http://schemas.microsoft.com/office/drawing/2014/main" id="{0E6E54F5-C4AF-33EF-0845-E34F5DB682F0}"/>
              </a:ext>
              <a:ext uri="{C183D7F6-B498-43B3-948B-1728B52AA6E4}">
                <adec:decorative xmlns:adec="http://schemas.microsoft.com/office/drawing/2017/decorative" val="1"/>
              </a:ext>
            </a:extLst>
          </p:cNvPr>
          <p:cNvPicPr>
            <a:picLocks noChangeAspect="1"/>
          </p:cNvPicPr>
          <p:nvPr/>
        </p:nvPicPr>
        <p:blipFill>
          <a:blip r:embed="rId15"/>
          <a:stretch>
            <a:fillRect/>
          </a:stretch>
        </p:blipFill>
        <p:spPr>
          <a:xfrm>
            <a:off x="7020169" y="3188799"/>
            <a:ext cx="916836" cy="914400"/>
          </a:xfrm>
          <a:prstGeom prst="rect">
            <a:avLst/>
          </a:prstGeom>
        </p:spPr>
      </p:pic>
      <p:sp>
        <p:nvSpPr>
          <p:cNvPr id="11" name="Freeform: Shape 30">
            <a:extLst>
              <a:ext uri="{FF2B5EF4-FFF2-40B4-BE49-F238E27FC236}">
                <a16:creationId xmlns:a16="http://schemas.microsoft.com/office/drawing/2014/main" id="{E91EDE8E-0D5D-B9BE-BF06-09CC6B0742AD}"/>
              </a:ext>
              <a:ext uri="{C183D7F6-B498-43B3-948B-1728B52AA6E4}">
                <adec:decorative xmlns:adec="http://schemas.microsoft.com/office/drawing/2017/decorative" val="1"/>
              </a:ext>
            </a:extLst>
          </p:cNvPr>
          <p:cNvSpPr/>
          <p:nvPr/>
        </p:nvSpPr>
        <p:spPr>
          <a:xfrm>
            <a:off x="4345189" y="1454269"/>
            <a:ext cx="4724399" cy="1179756"/>
          </a:xfrm>
          <a:custGeom>
            <a:avLst/>
            <a:gdLst>
              <a:gd name="connsiteX0" fmla="*/ 0 w 5408676"/>
              <a:gd name="connsiteY0" fmla="*/ 0 h 1179756"/>
              <a:gd name="connsiteX1" fmla="*/ 5408676 w 5408676"/>
              <a:gd name="connsiteY1" fmla="*/ 0 h 1179756"/>
              <a:gd name="connsiteX2" fmla="*/ 5408676 w 5408676"/>
              <a:gd name="connsiteY2" fmla="*/ 1026364 h 1179756"/>
              <a:gd name="connsiteX3" fmla="*/ 5255284 w 5408676"/>
              <a:gd name="connsiteY3" fmla="*/ 1179756 h 1179756"/>
              <a:gd name="connsiteX4" fmla="*/ 153392 w 5408676"/>
              <a:gd name="connsiteY4" fmla="*/ 1179756 h 1179756"/>
              <a:gd name="connsiteX5" fmla="*/ 0 w 5408676"/>
              <a:gd name="connsiteY5" fmla="*/ 1026364 h 1179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8676" h="1179756">
                <a:moveTo>
                  <a:pt x="0" y="0"/>
                </a:moveTo>
                <a:lnTo>
                  <a:pt x="5408676" y="0"/>
                </a:lnTo>
                <a:lnTo>
                  <a:pt x="5408676" y="1026364"/>
                </a:lnTo>
                <a:cubicBezTo>
                  <a:pt x="5408676" y="1111080"/>
                  <a:pt x="5340000" y="1179756"/>
                  <a:pt x="5255284" y="1179756"/>
                </a:cubicBezTo>
                <a:lnTo>
                  <a:pt x="153392" y="1179756"/>
                </a:lnTo>
                <a:cubicBezTo>
                  <a:pt x="68676" y="1179756"/>
                  <a:pt x="0" y="1111080"/>
                  <a:pt x="0" y="1026364"/>
                </a:cubicBezTo>
                <a:close/>
              </a:path>
            </a:pathLst>
          </a:custGeom>
          <a:noFill/>
          <a:ln w="12700" cap="flat" cmpd="sng" algn="ctr">
            <a:solidFill>
              <a:srgbClr val="232F3E"/>
            </a:solidFill>
            <a:prstDash val="solid"/>
            <a:miter lim="800000"/>
          </a:ln>
          <a:effectLst/>
        </p:spPr>
        <p:txBody>
          <a:bodyPr wrap="square" lIns="45720" tIns="45720" rIns="4572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Tree>
    <p:custDataLst>
      <p:tags r:id="rId1"/>
    </p:custDataLst>
    <p:extLst>
      <p:ext uri="{BB962C8B-B14F-4D97-AF65-F5344CB8AC3E}">
        <p14:creationId xmlns:p14="http://schemas.microsoft.com/office/powerpoint/2010/main" val="2579815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a:extLst>
              <a:ext uri="{FF2B5EF4-FFF2-40B4-BE49-F238E27FC236}">
                <a16:creationId xmlns:a16="http://schemas.microsoft.com/office/drawing/2014/main" id="{A853F943-7BD8-5E9C-7D95-841619CF2F1F}"/>
              </a:ext>
            </a:extLst>
          </p:cNvPr>
          <p:cNvSpPr>
            <a:spLocks noGrp="1"/>
          </p:cNvSpPr>
          <p:nvPr>
            <p:ph type="sldNum" idx="97"/>
          </p:nvPr>
        </p:nvSpPr>
        <p:spPr/>
        <p:txBody>
          <a:bodyPr/>
          <a:lstStyle/>
          <a:p>
            <a:fld id="{930176A1-BCF0-4712-97A6-6B495F55390B}" type="slidenum">
              <a:rPr lang="en-US" smtClean="0"/>
              <a:pPr/>
              <a:t>17</a:t>
            </a:fld>
            <a:endParaRPr lang="en-US" dirty="0"/>
          </a:p>
        </p:txBody>
      </p:sp>
      <p:sp>
        <p:nvSpPr>
          <p:cNvPr id="5" name="Title">
            <a:extLst>
              <a:ext uri="{FF2B5EF4-FFF2-40B4-BE49-F238E27FC236}">
                <a16:creationId xmlns:a16="http://schemas.microsoft.com/office/drawing/2014/main" id="{0BF6119C-01A1-8C9F-014B-6CDA49CD9A8E}"/>
              </a:ext>
            </a:extLst>
          </p:cNvPr>
          <p:cNvSpPr>
            <a:spLocks noGrp="1"/>
          </p:cNvSpPr>
          <p:nvPr>
            <p:ph type="title" idx="1"/>
          </p:nvPr>
        </p:nvSpPr>
        <p:spPr/>
        <p:txBody>
          <a:bodyPr/>
          <a:lstStyle/>
          <a:p>
            <a:r>
              <a:rPr lang="en-US" dirty="0"/>
              <a:t>Key benefits of Amazon Bedrock</a:t>
            </a:r>
          </a:p>
        </p:txBody>
      </p:sp>
      <p:pic>
        <p:nvPicPr>
          <p:cNvPr id="81" name="Picture Placeholder 80">
            <a:extLst>
              <a:ext uri="{FF2B5EF4-FFF2-40B4-BE49-F238E27FC236}">
                <a16:creationId xmlns:a16="http://schemas.microsoft.com/office/drawing/2014/main" id="{81CBF04A-7E98-6261-CA6C-4E4712AD9D25}"/>
              </a:ext>
              <a:ext uri="{C183D7F6-B498-43B3-948B-1728B52AA6E4}">
                <adec:decorative xmlns:adec="http://schemas.microsoft.com/office/drawing/2017/decorative" val="1"/>
              </a:ext>
            </a:extLst>
          </p:cNvPr>
          <p:cNvPicPr>
            <a:picLocks noGrp="1" noChangeAspect="1"/>
          </p:cNvPicPr>
          <p:nvPr>
            <p:ph type="pic" idx="22"/>
          </p:nvPr>
        </p:nvPicPr>
        <p:blipFill rotWithShape="1">
          <a:blip r:embed="rId4"/>
          <a:srcRect t="-6800" b="-6800"/>
          <a:stretch>
            <a:fillRect/>
          </a:stretch>
        </p:blipFill>
        <p:spPr>
          <a:xfrm>
            <a:off x="1097280" y="1249679"/>
            <a:ext cx="2286000" cy="2286000"/>
          </a:xfrm>
          <a:prstGeom prst="rect">
            <a:avLst/>
          </a:prstGeom>
        </p:spPr>
      </p:pic>
      <p:sp>
        <p:nvSpPr>
          <p:cNvPr id="2" name="Text Placeholder 1">
            <a:extLst>
              <a:ext uri="{FF2B5EF4-FFF2-40B4-BE49-F238E27FC236}">
                <a16:creationId xmlns:a16="http://schemas.microsoft.com/office/drawing/2014/main" id="{C73D1284-9007-2FD6-244B-0F7F3A3DD7B3}"/>
              </a:ext>
            </a:extLst>
          </p:cNvPr>
          <p:cNvSpPr>
            <a:spLocks noGrp="1"/>
          </p:cNvSpPr>
          <p:nvPr>
            <p:ph type="body" idx="2"/>
          </p:nvPr>
        </p:nvSpPr>
        <p:spPr>
          <a:xfrm>
            <a:off x="365760" y="3581399"/>
            <a:ext cx="3749040" cy="1311235"/>
          </a:xfrm>
        </p:spPr>
        <p:txBody>
          <a:bodyPr/>
          <a:lstStyle/>
          <a:p>
            <a:pPr marL="0" indent="0" algn="ctr">
              <a:buNone/>
            </a:pPr>
            <a:r>
              <a:rPr lang="en-US" dirty="0">
                <a:solidFill>
                  <a:srgbClr val="232F3E"/>
                </a:solidFill>
              </a:rPr>
              <a:t>Efficiently build </a:t>
            </a:r>
            <a:br>
              <a:rPr lang="en-US" dirty="0">
                <a:solidFill>
                  <a:srgbClr val="232F3E"/>
                </a:solidFill>
              </a:rPr>
            </a:br>
            <a:r>
              <a:rPr lang="en-US" dirty="0">
                <a:solidFill>
                  <a:srgbClr val="232F3E"/>
                </a:solidFill>
              </a:rPr>
              <a:t>with API-based access to hundreds of FMs</a:t>
            </a:r>
          </a:p>
        </p:txBody>
      </p:sp>
      <p:sp>
        <p:nvSpPr>
          <p:cNvPr id="3" name="Text Placeholder 2">
            <a:extLst>
              <a:ext uri="{FF2B5EF4-FFF2-40B4-BE49-F238E27FC236}">
                <a16:creationId xmlns:a16="http://schemas.microsoft.com/office/drawing/2014/main" id="{54D504D0-1631-D6BF-A292-869AB6C88E67}"/>
              </a:ext>
            </a:extLst>
          </p:cNvPr>
          <p:cNvSpPr>
            <a:spLocks noGrp="1"/>
          </p:cNvSpPr>
          <p:nvPr>
            <p:ph type="body" idx="3"/>
          </p:nvPr>
        </p:nvSpPr>
        <p:spPr>
          <a:xfrm>
            <a:off x="4224528" y="3581399"/>
            <a:ext cx="3749040" cy="1311235"/>
          </a:xfrm>
        </p:spPr>
        <p:txBody>
          <a:bodyPr/>
          <a:lstStyle/>
          <a:p>
            <a:pPr marL="0" indent="0" algn="ctr">
              <a:buNone/>
            </a:pPr>
            <a:r>
              <a:rPr lang="en-US" sz="2400" dirty="0">
                <a:solidFill>
                  <a:srgbClr val="232F3E"/>
                </a:solidFill>
              </a:rPr>
              <a:t>Securely build </a:t>
            </a:r>
            <a:br>
              <a:rPr lang="en-US" sz="2400" dirty="0">
                <a:solidFill>
                  <a:srgbClr val="232F3E"/>
                </a:solidFill>
              </a:rPr>
            </a:br>
            <a:r>
              <a:rPr lang="en-US" sz="2400" dirty="0">
                <a:solidFill>
                  <a:srgbClr val="232F3E"/>
                </a:solidFill>
              </a:rPr>
              <a:t>generative AI </a:t>
            </a:r>
            <a:br>
              <a:rPr lang="en-US" sz="2400" dirty="0">
                <a:solidFill>
                  <a:srgbClr val="232F3E"/>
                </a:solidFill>
              </a:rPr>
            </a:br>
            <a:r>
              <a:rPr lang="en-US" sz="2400" dirty="0">
                <a:solidFill>
                  <a:srgbClr val="232F3E"/>
                </a:solidFill>
              </a:rPr>
              <a:t>applications</a:t>
            </a:r>
          </a:p>
        </p:txBody>
      </p:sp>
      <p:pic>
        <p:nvPicPr>
          <p:cNvPr id="83" name="Picture Placeholder 82">
            <a:extLst>
              <a:ext uri="{FF2B5EF4-FFF2-40B4-BE49-F238E27FC236}">
                <a16:creationId xmlns:a16="http://schemas.microsoft.com/office/drawing/2014/main" id="{577CE025-02DF-1E2E-CB2A-0E1F60133EB3}"/>
              </a:ext>
              <a:ext uri="{C183D7F6-B498-43B3-948B-1728B52AA6E4}">
                <adec:decorative xmlns:adec="http://schemas.microsoft.com/office/drawing/2017/decorative" val="1"/>
              </a:ext>
            </a:extLst>
          </p:cNvPr>
          <p:cNvPicPr>
            <a:picLocks noGrp="1" noChangeAspect="1"/>
          </p:cNvPicPr>
          <p:nvPr>
            <p:ph type="pic" idx="24"/>
          </p:nvPr>
        </p:nvPicPr>
        <p:blipFill rotWithShape="1">
          <a:blip r:embed="rId5"/>
          <a:srcRect t="-15131" b="-15131"/>
          <a:stretch>
            <a:fillRect/>
          </a:stretch>
        </p:blipFill>
        <p:spPr>
          <a:xfrm>
            <a:off x="8814816" y="1249679"/>
            <a:ext cx="2286000" cy="2286000"/>
          </a:xfrm>
          <a:prstGeom prst="rect">
            <a:avLst/>
          </a:prstGeom>
        </p:spPr>
      </p:pic>
      <p:sp>
        <p:nvSpPr>
          <p:cNvPr id="4" name="Text Placeholder 3">
            <a:extLst>
              <a:ext uri="{FF2B5EF4-FFF2-40B4-BE49-F238E27FC236}">
                <a16:creationId xmlns:a16="http://schemas.microsoft.com/office/drawing/2014/main" id="{480E02F8-1443-B6C5-09E2-9D31C36BF16C}"/>
              </a:ext>
            </a:extLst>
          </p:cNvPr>
          <p:cNvSpPr>
            <a:spLocks noGrp="1"/>
          </p:cNvSpPr>
          <p:nvPr>
            <p:ph type="body" idx="4"/>
          </p:nvPr>
        </p:nvSpPr>
        <p:spPr>
          <a:xfrm>
            <a:off x="8083296" y="3581399"/>
            <a:ext cx="3749040" cy="1311235"/>
          </a:xfrm>
        </p:spPr>
        <p:txBody>
          <a:bodyPr/>
          <a:lstStyle/>
          <a:p>
            <a:pPr marL="0" indent="0" algn="ctr">
              <a:buNone/>
            </a:pPr>
            <a:r>
              <a:rPr lang="en-US" dirty="0">
                <a:solidFill>
                  <a:srgbClr val="232F3E"/>
                </a:solidFill>
              </a:rPr>
              <a:t>Deliver customized experiences using your organization’s data</a:t>
            </a:r>
          </a:p>
        </p:txBody>
      </p:sp>
      <p:pic>
        <p:nvPicPr>
          <p:cNvPr id="82" name="Picture Placeholder 81">
            <a:extLst>
              <a:ext uri="{FF2B5EF4-FFF2-40B4-BE49-F238E27FC236}">
                <a16:creationId xmlns:a16="http://schemas.microsoft.com/office/drawing/2014/main" id="{F724F125-CF49-EEDA-6588-20DAECF301A4}"/>
              </a:ext>
              <a:ext uri="{C183D7F6-B498-43B3-948B-1728B52AA6E4}">
                <adec:decorative xmlns:adec="http://schemas.microsoft.com/office/drawing/2017/decorative" val="1"/>
              </a:ext>
            </a:extLst>
          </p:cNvPr>
          <p:cNvPicPr>
            <a:picLocks noGrp="1" noChangeAspect="1"/>
          </p:cNvPicPr>
          <p:nvPr>
            <p:ph type="pic" idx="3"/>
          </p:nvPr>
        </p:nvPicPr>
        <p:blipFill rotWithShape="1">
          <a:blip r:embed="rId6"/>
          <a:srcRect l="-36858" r="-36858"/>
          <a:stretch>
            <a:fillRect/>
          </a:stretch>
        </p:blipFill>
        <p:spPr>
          <a:xfrm>
            <a:off x="4956048" y="1249679"/>
            <a:ext cx="2286000" cy="2286000"/>
          </a:xfrm>
          <a:prstGeom prst="rect">
            <a:avLst/>
          </a:prstGeom>
        </p:spPr>
      </p:pic>
    </p:spTree>
    <p:custDataLst>
      <p:tags r:id="rId1"/>
    </p:custDataLst>
    <p:extLst>
      <p:ext uri="{BB962C8B-B14F-4D97-AF65-F5344CB8AC3E}">
        <p14:creationId xmlns:p14="http://schemas.microsoft.com/office/powerpoint/2010/main" val="2333069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1FDFBD8-4A0E-D20D-E072-0991FC208023}"/>
              </a:ext>
            </a:extLst>
          </p:cNvPr>
          <p:cNvSpPr>
            <a:spLocks noGrp="1"/>
          </p:cNvSpPr>
          <p:nvPr>
            <p:ph type="sldNum" idx="97"/>
          </p:nvPr>
        </p:nvSpPr>
        <p:spPr/>
        <p:txBody>
          <a:bodyPr/>
          <a:lstStyle/>
          <a:p>
            <a:fld id="{930176A1-BCF0-4712-97A6-6B495F55390B}" type="slidenum">
              <a:rPr lang="en-US" smtClean="0"/>
              <a:pPr/>
              <a:t>18</a:t>
            </a:fld>
            <a:endParaRPr lang="en-US" dirty="0"/>
          </a:p>
        </p:txBody>
      </p:sp>
      <p:sp>
        <p:nvSpPr>
          <p:cNvPr id="13" name="Title">
            <a:extLst>
              <a:ext uri="{FF2B5EF4-FFF2-40B4-BE49-F238E27FC236}">
                <a16:creationId xmlns:a16="http://schemas.microsoft.com/office/drawing/2014/main" id="{E23CCDE9-8470-ACB6-D9BC-F1E96F5F30CC}"/>
              </a:ext>
            </a:extLst>
          </p:cNvPr>
          <p:cNvSpPr>
            <a:spLocks noGrp="1"/>
          </p:cNvSpPr>
          <p:nvPr>
            <p:ph type="title" idx="1"/>
          </p:nvPr>
        </p:nvSpPr>
        <p:spPr/>
        <p:txBody>
          <a:bodyPr>
            <a:normAutofit fontScale="90000"/>
          </a:bodyPr>
          <a:lstStyle/>
          <a:p>
            <a:r>
              <a:rPr lang="en-US" dirty="0"/>
              <a:t>Build with comprehensive data protection and privacy</a:t>
            </a:r>
          </a:p>
        </p:txBody>
      </p:sp>
      <p:pic>
        <p:nvPicPr>
          <p:cNvPr id="11" name="Picture Placeholder 10">
            <a:extLst>
              <a:ext uri="{FF2B5EF4-FFF2-40B4-BE49-F238E27FC236}">
                <a16:creationId xmlns:a16="http://schemas.microsoft.com/office/drawing/2014/main" id="{2D6D3948-8072-253E-D6C2-C87EE6E1ADA9}"/>
              </a:ext>
              <a:ext uri="{C183D7F6-B498-43B3-948B-1728B52AA6E4}">
                <adec:decorative xmlns:adec="http://schemas.microsoft.com/office/drawing/2017/decorative" val="1"/>
              </a:ext>
            </a:extLst>
          </p:cNvPr>
          <p:cNvPicPr>
            <a:picLocks noGrp="1" noChangeAspect="1"/>
          </p:cNvPicPr>
          <p:nvPr>
            <p:ph type="pic" idx="22"/>
          </p:nvPr>
        </p:nvPicPr>
        <p:blipFill>
          <a:blip r:embed="rId4"/>
          <a:srcRect/>
          <a:stretch>
            <a:fillRect/>
          </a:stretch>
        </p:blipFill>
        <p:spPr>
          <a:prstGeom prst="rect">
            <a:avLst/>
          </a:prstGeom>
        </p:spPr>
      </p:pic>
      <p:sp>
        <p:nvSpPr>
          <p:cNvPr id="7" name="Text Placeholder 6">
            <a:extLst>
              <a:ext uri="{FF2B5EF4-FFF2-40B4-BE49-F238E27FC236}">
                <a16:creationId xmlns:a16="http://schemas.microsoft.com/office/drawing/2014/main" id="{942E21B3-1DF3-A8FC-5059-9472724ECC3F}"/>
              </a:ext>
            </a:extLst>
          </p:cNvPr>
          <p:cNvSpPr>
            <a:spLocks noGrp="1"/>
          </p:cNvSpPr>
          <p:nvPr>
            <p:ph type="body" idx="12"/>
          </p:nvPr>
        </p:nvSpPr>
        <p:spPr>
          <a:xfrm>
            <a:off x="365760" y="3438166"/>
            <a:ext cx="5669280" cy="1032234"/>
          </a:xfrm>
        </p:spPr>
        <p:txBody>
          <a:bodyPr>
            <a:normAutofit/>
          </a:bodyPr>
          <a:lstStyle/>
          <a:p>
            <a:pPr algn="ctr"/>
            <a:r>
              <a:rPr lang="en-US" b="1" dirty="0">
                <a:latin typeface="Amazon Ember" panose="020B0603020204020204" pitchFamily="34" charset="0"/>
                <a:ea typeface="Amazon Ember" panose="020B0603020204020204" pitchFamily="34" charset="0"/>
                <a:cs typeface="Amazon Ember" panose="020B0603020204020204" pitchFamily="34" charset="0"/>
              </a:rPr>
              <a:t>Secure your generative AI applications</a:t>
            </a:r>
          </a:p>
        </p:txBody>
      </p:sp>
      <p:pic>
        <p:nvPicPr>
          <p:cNvPr id="12" name="Picture Placeholder 11">
            <a:extLst>
              <a:ext uri="{FF2B5EF4-FFF2-40B4-BE49-F238E27FC236}">
                <a16:creationId xmlns:a16="http://schemas.microsoft.com/office/drawing/2014/main" id="{C6248CEC-66E4-F2CD-D8B5-A9FA7156FF67}"/>
              </a:ext>
              <a:ext uri="{C183D7F6-B498-43B3-948B-1728B52AA6E4}">
                <adec:decorative xmlns:adec="http://schemas.microsoft.com/office/drawing/2017/decorative" val="1"/>
              </a:ext>
            </a:extLst>
          </p:cNvPr>
          <p:cNvPicPr>
            <a:picLocks noGrp="1" noChangeAspect="1"/>
          </p:cNvPicPr>
          <p:nvPr>
            <p:ph type="pic" idx="23"/>
          </p:nvPr>
        </p:nvPicPr>
        <p:blipFill>
          <a:blip r:embed="rId5"/>
          <a:srcRect/>
          <a:stretch>
            <a:fillRect/>
          </a:stretch>
        </p:blipFill>
        <p:spPr>
          <a:prstGeom prst="rect">
            <a:avLst/>
          </a:prstGeom>
        </p:spPr>
      </p:pic>
      <p:sp>
        <p:nvSpPr>
          <p:cNvPr id="8" name="Text Placeholder 7">
            <a:extLst>
              <a:ext uri="{FF2B5EF4-FFF2-40B4-BE49-F238E27FC236}">
                <a16:creationId xmlns:a16="http://schemas.microsoft.com/office/drawing/2014/main" id="{0E626DE2-8B33-9AF4-DE42-F52C80805B83}"/>
              </a:ext>
            </a:extLst>
          </p:cNvPr>
          <p:cNvSpPr>
            <a:spLocks noGrp="1"/>
          </p:cNvSpPr>
          <p:nvPr>
            <p:ph type="body" idx="13"/>
          </p:nvPr>
        </p:nvSpPr>
        <p:spPr>
          <a:xfrm>
            <a:off x="6163056" y="3438166"/>
            <a:ext cx="5669280" cy="1032234"/>
          </a:xfrm>
        </p:spPr>
        <p:txBody>
          <a:bodyPr>
            <a:normAutofit/>
          </a:bodyPr>
          <a:lstStyle/>
          <a:p>
            <a:pPr algn="ctr"/>
            <a:r>
              <a:rPr lang="en-US" b="1" dirty="0"/>
              <a:t>Access support for governance and auditability</a:t>
            </a:r>
          </a:p>
        </p:txBody>
      </p:sp>
    </p:spTree>
    <p:custDataLst>
      <p:tags r:id="rId1"/>
    </p:custDataLst>
    <p:extLst>
      <p:ext uri="{BB962C8B-B14F-4D97-AF65-F5344CB8AC3E}">
        <p14:creationId xmlns:p14="http://schemas.microsoft.com/office/powerpoint/2010/main" val="1562358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89C28-58EC-1130-F9B1-BF8C7594CB72}"/>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8F633923-2C2B-3A5B-97F8-F45B7CA85B18}"/>
              </a:ext>
            </a:extLst>
          </p:cNvPr>
          <p:cNvSpPr>
            <a:spLocks noGrp="1"/>
          </p:cNvSpPr>
          <p:nvPr>
            <p:ph type="sldNum" idx="97"/>
          </p:nvPr>
        </p:nvSpPr>
        <p:spPr/>
        <p:txBody>
          <a:bodyPr/>
          <a:lstStyle/>
          <a:p>
            <a:fld id="{930176A1-BCF0-4712-97A6-6B495F55390B}" type="slidenum">
              <a:rPr lang="en-US" smtClean="0"/>
              <a:pPr/>
              <a:t>19</a:t>
            </a:fld>
            <a:endParaRPr lang="en-US" dirty="0"/>
          </a:p>
        </p:txBody>
      </p:sp>
      <p:sp>
        <p:nvSpPr>
          <p:cNvPr id="3" name="Title">
            <a:extLst>
              <a:ext uri="{FF2B5EF4-FFF2-40B4-BE49-F238E27FC236}">
                <a16:creationId xmlns:a16="http://schemas.microsoft.com/office/drawing/2014/main" id="{11C6FF73-844A-42A4-3D96-2B1C9233E8BD}"/>
              </a:ext>
            </a:extLst>
          </p:cNvPr>
          <p:cNvSpPr>
            <a:spLocks noGrp="1"/>
          </p:cNvSpPr>
          <p:nvPr>
            <p:ph type="title" idx="1"/>
          </p:nvPr>
        </p:nvSpPr>
        <p:spPr/>
        <p:txBody>
          <a:bodyPr>
            <a:normAutofit/>
          </a:bodyPr>
          <a:lstStyle/>
          <a:p>
            <a:r>
              <a:rPr lang="en-US" dirty="0"/>
              <a:t>Demonstration: Amazon Bedrock</a:t>
            </a:r>
          </a:p>
        </p:txBody>
      </p:sp>
      <p:pic>
        <p:nvPicPr>
          <p:cNvPr id="9" name="Content Placeholder 8">
            <a:extLst>
              <a:ext uri="{FF2B5EF4-FFF2-40B4-BE49-F238E27FC236}">
                <a16:creationId xmlns:a16="http://schemas.microsoft.com/office/drawing/2014/main" id="{05BDB24C-5562-9E5B-E136-24568CAF302A}"/>
              </a:ext>
              <a:ext uri="{C183D7F6-B498-43B3-948B-1728B52AA6E4}">
                <adec:decorative xmlns:adec="http://schemas.microsoft.com/office/drawing/2017/decorative" val="1"/>
              </a:ext>
            </a:extLst>
          </p:cNvPr>
          <p:cNvPicPr>
            <a:picLocks noGrp="1" noChangeAspect="1"/>
          </p:cNvPicPr>
          <p:nvPr>
            <p:ph idx="2"/>
          </p:nvPr>
        </p:nvPicPr>
        <p:blipFill>
          <a:blip r:embed="rId4">
            <a:extLst>
              <a:ext uri="{28A0092B-C50C-407E-A947-70E740481C1C}">
                <a14:useLocalDpi xmlns:a14="http://schemas.microsoft.com/office/drawing/2010/main" val="0"/>
              </a:ext>
            </a:extLst>
          </a:blip>
          <a:stretch>
            <a:fillRect/>
          </a:stretch>
        </p:blipFill>
        <p:spPr>
          <a:xfrm>
            <a:off x="448469" y="2435225"/>
            <a:ext cx="3657600" cy="3657600"/>
          </a:xfrm>
        </p:spPr>
      </p:pic>
      <p:sp>
        <p:nvSpPr>
          <p:cNvPr id="7" name="Text Placeholder 6">
            <a:extLst>
              <a:ext uri="{FF2B5EF4-FFF2-40B4-BE49-F238E27FC236}">
                <a16:creationId xmlns:a16="http://schemas.microsoft.com/office/drawing/2014/main" id="{4FEF1CCE-5566-9A42-3B85-C6D1BC8E0310}"/>
              </a:ext>
            </a:extLst>
          </p:cNvPr>
          <p:cNvSpPr>
            <a:spLocks noGrp="1"/>
          </p:cNvSpPr>
          <p:nvPr>
            <p:ph type="body" idx="3"/>
          </p:nvPr>
        </p:nvSpPr>
        <p:spPr/>
        <p:txBody>
          <a:bodyPr/>
          <a:lstStyle/>
          <a:p>
            <a:pPr marL="0" indent="0">
              <a:buNone/>
            </a:pPr>
            <a:r>
              <a:rPr lang="en-US" dirty="0">
                <a:latin typeface="+mj-lt"/>
              </a:rPr>
              <a:t>Setting up Amazon Bedrock access and using playgrounds</a:t>
            </a:r>
          </a:p>
          <a:p>
            <a:pPr marL="0" indent="0">
              <a:buNone/>
            </a:pPr>
            <a:r>
              <a:rPr lang="en-US" dirty="0"/>
              <a:t>In this demonstration, your instructor will show you the following things:</a:t>
            </a:r>
          </a:p>
          <a:p>
            <a:r>
              <a:rPr lang="en-US" dirty="0"/>
              <a:t>Amazon Bedrock model catalog</a:t>
            </a:r>
          </a:p>
          <a:p>
            <a:r>
              <a:rPr lang="en-US" dirty="0"/>
              <a:t>Amazon Bedrock model access</a:t>
            </a:r>
          </a:p>
          <a:p>
            <a:r>
              <a:rPr lang="en-US" dirty="0"/>
              <a:t>Amazon Bedrock playgrounds</a:t>
            </a:r>
          </a:p>
        </p:txBody>
      </p:sp>
    </p:spTree>
    <p:custDataLst>
      <p:tags r:id="rId1"/>
    </p:custDataLst>
    <p:extLst>
      <p:ext uri="{BB962C8B-B14F-4D97-AF65-F5344CB8AC3E}">
        <p14:creationId xmlns:p14="http://schemas.microsoft.com/office/powerpoint/2010/main" val="2138088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A3F-78AB-B2D1-6314-ACB619D822AB}"/>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7BA20C59-52CE-183C-04C1-185147EF43B4}"/>
              </a:ext>
            </a:extLst>
          </p:cNvPr>
          <p:cNvSpPr>
            <a:spLocks noGrp="1"/>
          </p:cNvSpPr>
          <p:nvPr>
            <p:ph type="title" idx="1"/>
          </p:nvPr>
        </p:nvSpPr>
        <p:spPr/>
        <p:txBody>
          <a:bodyPr/>
          <a:lstStyle/>
          <a:p>
            <a:r>
              <a:rPr lang="en-US" dirty="0"/>
              <a:t>Topic C: Designing generative AI application components</a:t>
            </a:r>
          </a:p>
        </p:txBody>
      </p:sp>
      <p:sp>
        <p:nvSpPr>
          <p:cNvPr id="3" name="SlideNumber">
            <a:extLst>
              <a:ext uri="{FF2B5EF4-FFF2-40B4-BE49-F238E27FC236}">
                <a16:creationId xmlns:a16="http://schemas.microsoft.com/office/drawing/2014/main" id="{782B7863-39E6-F63D-77E1-DB2B09319EF5}"/>
              </a:ext>
            </a:extLst>
          </p:cNvPr>
          <p:cNvSpPr>
            <a:spLocks noGrp="1"/>
          </p:cNvSpPr>
          <p:nvPr>
            <p:ph type="sldNum" idx="97"/>
          </p:nvPr>
        </p:nvSpPr>
        <p:spPr/>
        <p:txBody>
          <a:bodyPr/>
          <a:lstStyle/>
          <a:p>
            <a:fld id="{4037B1B0-0345-4E15-985A-6BECCDBE474F}" type="slidenum">
              <a:rPr lang="en-US" smtClean="0"/>
              <a:pPr/>
              <a:t>20</a:t>
            </a:fld>
            <a:endParaRPr lang="en-US" dirty="0"/>
          </a:p>
        </p:txBody>
      </p:sp>
    </p:spTree>
    <p:custDataLst>
      <p:tags r:id="rId1"/>
    </p:custDataLst>
    <p:extLst>
      <p:ext uri="{BB962C8B-B14F-4D97-AF65-F5344CB8AC3E}">
        <p14:creationId xmlns:p14="http://schemas.microsoft.com/office/powerpoint/2010/main" val="1512040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70C9ABB5-DF5A-4E06-B47A-2988AFD488B3}"/>
              </a:ext>
            </a:extLst>
          </p:cNvPr>
          <p:cNvSpPr>
            <a:spLocks noGrp="1"/>
          </p:cNvSpPr>
          <p:nvPr>
            <p:ph type="sldNum" idx="97"/>
          </p:nvPr>
        </p:nvSpPr>
        <p:spPr/>
        <p:txBody>
          <a:bodyPr/>
          <a:lstStyle/>
          <a:p>
            <a:fld id="{4037B1B0-0345-4E15-985A-6BECCDBE474F}" type="slidenum">
              <a:rPr lang="en-US" smtClean="0"/>
              <a:pPr/>
              <a:t>21</a:t>
            </a:fld>
            <a:endParaRPr lang="en-US" dirty="0"/>
          </a:p>
        </p:txBody>
      </p:sp>
      <p:sp>
        <p:nvSpPr>
          <p:cNvPr id="5" name="Title">
            <a:extLst>
              <a:ext uri="{FF2B5EF4-FFF2-40B4-BE49-F238E27FC236}">
                <a16:creationId xmlns:a16="http://schemas.microsoft.com/office/drawing/2014/main" id="{52701BEB-C080-4AC7-86B8-D55C1CAEB746}"/>
              </a:ext>
            </a:extLst>
          </p:cNvPr>
          <p:cNvSpPr>
            <a:spLocks noGrp="1"/>
          </p:cNvSpPr>
          <p:nvPr>
            <p:ph type="title" idx="1"/>
          </p:nvPr>
        </p:nvSpPr>
        <p:spPr/>
        <p:txBody>
          <a:bodyPr>
            <a:normAutofit/>
          </a:bodyPr>
          <a:lstStyle/>
          <a:p>
            <a:r>
              <a:rPr lang="en-US" dirty="0"/>
              <a:t>Planning a generative AI project</a:t>
            </a:r>
          </a:p>
        </p:txBody>
      </p:sp>
      <p:sp>
        <p:nvSpPr>
          <p:cNvPr id="4" name="Freeform 3">
            <a:extLst>
              <a:ext uri="{FF2B5EF4-FFF2-40B4-BE49-F238E27FC236}">
                <a16:creationId xmlns:a16="http://schemas.microsoft.com/office/drawing/2014/main" id="{458CFB27-3681-3B47-DD74-DCFBCE84802E}"/>
              </a:ext>
            </a:extLst>
          </p:cNvPr>
          <p:cNvSpPr/>
          <p:nvPr/>
        </p:nvSpPr>
        <p:spPr>
          <a:xfrm>
            <a:off x="364639" y="1577943"/>
            <a:ext cx="2203160" cy="1321896"/>
          </a:xfrm>
          <a:custGeom>
            <a:avLst/>
            <a:gdLst>
              <a:gd name="connsiteX0" fmla="*/ 0 w 2203160"/>
              <a:gd name="connsiteY0" fmla="*/ 132190 h 1321896"/>
              <a:gd name="connsiteX1" fmla="*/ 132190 w 2203160"/>
              <a:gd name="connsiteY1" fmla="*/ 0 h 1321896"/>
              <a:gd name="connsiteX2" fmla="*/ 2070970 w 2203160"/>
              <a:gd name="connsiteY2" fmla="*/ 0 h 1321896"/>
              <a:gd name="connsiteX3" fmla="*/ 2203160 w 2203160"/>
              <a:gd name="connsiteY3" fmla="*/ 132190 h 1321896"/>
              <a:gd name="connsiteX4" fmla="*/ 2203160 w 2203160"/>
              <a:gd name="connsiteY4" fmla="*/ 1189706 h 1321896"/>
              <a:gd name="connsiteX5" fmla="*/ 2070970 w 2203160"/>
              <a:gd name="connsiteY5" fmla="*/ 1321896 h 1321896"/>
              <a:gd name="connsiteX6" fmla="*/ 132190 w 2203160"/>
              <a:gd name="connsiteY6" fmla="*/ 1321896 h 1321896"/>
              <a:gd name="connsiteX7" fmla="*/ 0 w 2203160"/>
              <a:gd name="connsiteY7" fmla="*/ 1189706 h 1321896"/>
              <a:gd name="connsiteX8" fmla="*/ 0 w 2203160"/>
              <a:gd name="connsiteY8" fmla="*/ 132190 h 1321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3160" h="1321896">
                <a:moveTo>
                  <a:pt x="0" y="132190"/>
                </a:moveTo>
                <a:cubicBezTo>
                  <a:pt x="0" y="59183"/>
                  <a:pt x="59183" y="0"/>
                  <a:pt x="132190" y="0"/>
                </a:cubicBezTo>
                <a:lnTo>
                  <a:pt x="2070970" y="0"/>
                </a:lnTo>
                <a:cubicBezTo>
                  <a:pt x="2143977" y="0"/>
                  <a:pt x="2203160" y="59183"/>
                  <a:pt x="2203160" y="132190"/>
                </a:cubicBezTo>
                <a:lnTo>
                  <a:pt x="2203160" y="1189706"/>
                </a:lnTo>
                <a:cubicBezTo>
                  <a:pt x="2203160" y="1262713"/>
                  <a:pt x="2143977" y="1321896"/>
                  <a:pt x="2070970" y="1321896"/>
                </a:cubicBezTo>
                <a:lnTo>
                  <a:pt x="132190" y="1321896"/>
                </a:lnTo>
                <a:cubicBezTo>
                  <a:pt x="59183" y="1321896"/>
                  <a:pt x="0" y="1262713"/>
                  <a:pt x="0" y="1189706"/>
                </a:cubicBezTo>
                <a:lnTo>
                  <a:pt x="0" y="13219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0157" tIns="130157" rIns="130157" bIns="130157" numCol="1" spcCol="1270" anchor="ctr" anchorCtr="0">
            <a:noAutofit/>
          </a:bodyPr>
          <a:lstStyle/>
          <a:p>
            <a:pPr marL="0" lvl="0" indent="0" algn="ctr" defTabSz="1066800">
              <a:lnSpc>
                <a:spcPct val="90000"/>
              </a:lnSpc>
              <a:spcBef>
                <a:spcPct val="0"/>
              </a:spcBef>
              <a:spcAft>
                <a:spcPct val="35000"/>
              </a:spcAft>
              <a:buNone/>
            </a:pPr>
            <a:r>
              <a:rPr lang="en-US" sz="2400" kern="1200" dirty="0"/>
              <a:t>Step 1: Define the scope</a:t>
            </a:r>
          </a:p>
        </p:txBody>
      </p:sp>
      <p:sp>
        <p:nvSpPr>
          <p:cNvPr id="9" name="Text Placeholder 5">
            <a:extLst>
              <a:ext uri="{FF2B5EF4-FFF2-40B4-BE49-F238E27FC236}">
                <a16:creationId xmlns:a16="http://schemas.microsoft.com/office/drawing/2014/main" id="{8EAFD8B4-CAD8-DF70-668E-99A2D3919A33}"/>
              </a:ext>
            </a:extLst>
          </p:cNvPr>
          <p:cNvSpPr txBox="1">
            <a:spLocks/>
          </p:cNvSpPr>
          <p:nvPr/>
        </p:nvSpPr>
        <p:spPr>
          <a:xfrm>
            <a:off x="301752" y="2987090"/>
            <a:ext cx="2801110" cy="2616252"/>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spcAft>
                <a:spcPts val="600"/>
              </a:spcAft>
              <a:buFont typeface="Amazon Ember Display"/>
              <a:buChar char="•"/>
              <a:defRPr lang="en-US" sz="2800" kern="1200">
                <a:solidFill>
                  <a:srgbClr val="232F3E"/>
                </a:solidFill>
                <a:latin typeface="Amazon Ember Display"/>
              </a:defRPr>
            </a:lvl1pPr>
            <a:lvl2pPr marL="461963" indent="-228600" algn="l" defTabSz="914400" rtl="0" eaLnBrk="1" latinLnBrk="0" hangingPunct="1">
              <a:lnSpc>
                <a:spcPct val="100000"/>
              </a:lnSpc>
              <a:spcBef>
                <a:spcPts val="500"/>
              </a:spcBef>
              <a:spcAft>
                <a:spcPts val="600"/>
              </a:spcAft>
              <a:buFont typeface="Amazon Ember Display"/>
              <a:buChar char="•"/>
              <a:defRPr lang="en-US" sz="2400" kern="1200">
                <a:solidFill>
                  <a:srgbClr val="232F3E"/>
                </a:solidFill>
                <a:latin typeface="Amazon Ember Display"/>
              </a:defRPr>
            </a:lvl2pPr>
            <a:lvl3pPr marL="682625" indent="-228600" algn="l" defTabSz="914400" rtl="0" eaLnBrk="1" latinLnBrk="0" hangingPunct="1">
              <a:lnSpc>
                <a:spcPct val="100000"/>
              </a:lnSpc>
              <a:spcBef>
                <a:spcPts val="500"/>
              </a:spcBef>
              <a:spcAft>
                <a:spcPts val="600"/>
              </a:spcAft>
              <a:buFont typeface="Amazon Ember Display"/>
              <a:buChar char="•"/>
              <a:defRPr lang="en-US" sz="2000" kern="1200">
                <a:solidFill>
                  <a:srgbClr val="232F3E"/>
                </a:solidFill>
                <a:latin typeface="Amazon Ember Display"/>
              </a:defRPr>
            </a:lvl3pPr>
            <a:lvl4pPr marL="914400" indent="-228600" algn="l" defTabSz="914400" rtl="0" eaLnBrk="1" latinLnBrk="0" hangingPunct="1">
              <a:lnSpc>
                <a:spcPct val="100000"/>
              </a:lnSpc>
              <a:spcBef>
                <a:spcPts val="500"/>
              </a:spcBef>
              <a:spcAft>
                <a:spcPts val="600"/>
              </a:spcAft>
              <a:buFont typeface="Amazon Ember Display"/>
              <a:buChar char="•"/>
              <a:defRPr lang="en-US" sz="1800" kern="1200">
                <a:solidFill>
                  <a:srgbClr val="232F3E"/>
                </a:solidFill>
                <a:latin typeface="Amazon Ember Display"/>
              </a:defRPr>
            </a:lvl4pPr>
            <a:lvl5pPr marL="1146175" indent="-228600" algn="l" defTabSz="914400" rtl="0" eaLnBrk="1" latinLnBrk="0" hangingPunct="1">
              <a:lnSpc>
                <a:spcPct val="100000"/>
              </a:lnSpc>
              <a:spcBef>
                <a:spcPts val="500"/>
              </a:spcBef>
              <a:spcAft>
                <a:spcPts val="600"/>
              </a:spcAft>
              <a:buFont typeface="Amazon Ember Display"/>
              <a:buChar char="•"/>
              <a:defRPr lang="en-US" sz="1800" kern="120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a:lstStyle>
          <a:p>
            <a:pPr marL="228600" marR="0" lvl="0" indent="-228600" algn="l" defTabSz="914400" rtl="0" eaLnBrk="1" fontAlgn="auto" latinLnBrk="0" hangingPunct="1">
              <a:lnSpc>
                <a:spcPct val="100000"/>
              </a:lnSpc>
              <a:spcBef>
                <a:spcPts val="1000"/>
              </a:spcBef>
              <a:spcAft>
                <a:spcPts val="600"/>
              </a:spcAft>
              <a:buClrTx/>
              <a:buSzTx/>
              <a:buFont typeface="Amazon Ember Display"/>
              <a:buChar char="•"/>
              <a:tabLst/>
              <a:defRPr/>
            </a:pPr>
            <a:r>
              <a:rPr lang="en-US" sz="2400" dirty="0"/>
              <a:t>Understand customer needs</a:t>
            </a:r>
          </a:p>
          <a:p>
            <a:pPr marL="228600" marR="0" lvl="0" indent="-228600" algn="l" defTabSz="914400" rtl="0" eaLnBrk="1" fontAlgn="auto" latinLnBrk="0" hangingPunct="1">
              <a:lnSpc>
                <a:spcPct val="100000"/>
              </a:lnSpc>
              <a:spcBef>
                <a:spcPts val="1000"/>
              </a:spcBef>
              <a:spcAft>
                <a:spcPts val="600"/>
              </a:spcAft>
              <a:buClrTx/>
              <a:buSzTx/>
              <a:buFont typeface="Amazon Ember Display"/>
              <a:buChar char="•"/>
              <a:tabLst/>
              <a:defRPr/>
            </a:pPr>
            <a:r>
              <a:rPr lang="en-US" sz="2400" dirty="0"/>
              <a:t>Consider organization capabilities</a:t>
            </a:r>
          </a:p>
        </p:txBody>
      </p:sp>
      <p:sp>
        <p:nvSpPr>
          <p:cNvPr id="6" name="Freeform 5">
            <a:extLst>
              <a:ext uri="{FF2B5EF4-FFF2-40B4-BE49-F238E27FC236}">
                <a16:creationId xmlns:a16="http://schemas.microsoft.com/office/drawing/2014/main" id="{A3782762-3133-A955-3EEB-CC9B0144EB68}"/>
              </a:ext>
              <a:ext uri="{C183D7F6-B498-43B3-948B-1728B52AA6E4}">
                <adec:decorative xmlns:adec="http://schemas.microsoft.com/office/drawing/2017/decorative" val="1"/>
              </a:ext>
            </a:extLst>
          </p:cNvPr>
          <p:cNvSpPr/>
          <p:nvPr/>
        </p:nvSpPr>
        <p:spPr>
          <a:xfrm>
            <a:off x="2788116" y="1965700"/>
            <a:ext cx="467070" cy="546383"/>
          </a:xfrm>
          <a:custGeom>
            <a:avLst/>
            <a:gdLst>
              <a:gd name="connsiteX0" fmla="*/ 0 w 467070"/>
              <a:gd name="connsiteY0" fmla="*/ 109277 h 546383"/>
              <a:gd name="connsiteX1" fmla="*/ 233535 w 467070"/>
              <a:gd name="connsiteY1" fmla="*/ 109277 h 546383"/>
              <a:gd name="connsiteX2" fmla="*/ 233535 w 467070"/>
              <a:gd name="connsiteY2" fmla="*/ 0 h 546383"/>
              <a:gd name="connsiteX3" fmla="*/ 467070 w 467070"/>
              <a:gd name="connsiteY3" fmla="*/ 273192 h 546383"/>
              <a:gd name="connsiteX4" fmla="*/ 233535 w 467070"/>
              <a:gd name="connsiteY4" fmla="*/ 546383 h 546383"/>
              <a:gd name="connsiteX5" fmla="*/ 233535 w 467070"/>
              <a:gd name="connsiteY5" fmla="*/ 437106 h 546383"/>
              <a:gd name="connsiteX6" fmla="*/ 0 w 467070"/>
              <a:gd name="connsiteY6" fmla="*/ 437106 h 546383"/>
              <a:gd name="connsiteX7" fmla="*/ 0 w 467070"/>
              <a:gd name="connsiteY7" fmla="*/ 109277 h 546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7070" h="546383">
                <a:moveTo>
                  <a:pt x="0" y="109277"/>
                </a:moveTo>
                <a:lnTo>
                  <a:pt x="233535" y="109277"/>
                </a:lnTo>
                <a:lnTo>
                  <a:pt x="233535" y="0"/>
                </a:lnTo>
                <a:lnTo>
                  <a:pt x="467070" y="273192"/>
                </a:lnTo>
                <a:lnTo>
                  <a:pt x="233535" y="546383"/>
                </a:lnTo>
                <a:lnTo>
                  <a:pt x="233535" y="437106"/>
                </a:lnTo>
                <a:lnTo>
                  <a:pt x="0" y="437106"/>
                </a:lnTo>
                <a:lnTo>
                  <a:pt x="0" y="109277"/>
                </a:lnTo>
                <a:close/>
              </a:path>
            </a:pathLst>
          </a:custGeom>
          <a:solidFill>
            <a:schemeClr val="tx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109277" rIns="140121" bIns="109277" numCol="1" spcCol="1270" anchor="ctr" anchorCtr="0">
            <a:noAutofit/>
          </a:bodyPr>
          <a:lstStyle/>
          <a:p>
            <a:pPr marL="0" lvl="0" indent="0" algn="ctr" defTabSz="844550">
              <a:lnSpc>
                <a:spcPct val="90000"/>
              </a:lnSpc>
              <a:spcBef>
                <a:spcPct val="0"/>
              </a:spcBef>
              <a:spcAft>
                <a:spcPct val="35000"/>
              </a:spcAft>
              <a:buNone/>
            </a:pPr>
            <a:endParaRPr lang="en-US" sz="1900" kern="1200" dirty="0"/>
          </a:p>
        </p:txBody>
      </p:sp>
      <p:sp>
        <p:nvSpPr>
          <p:cNvPr id="8" name="Freeform 7">
            <a:extLst>
              <a:ext uri="{FF2B5EF4-FFF2-40B4-BE49-F238E27FC236}">
                <a16:creationId xmlns:a16="http://schemas.microsoft.com/office/drawing/2014/main" id="{74075756-3191-BE43-75F8-EC7A0F11985F}"/>
              </a:ext>
            </a:extLst>
          </p:cNvPr>
          <p:cNvSpPr/>
          <p:nvPr/>
        </p:nvSpPr>
        <p:spPr>
          <a:xfrm>
            <a:off x="3449064" y="1577943"/>
            <a:ext cx="2203160" cy="1321896"/>
          </a:xfrm>
          <a:custGeom>
            <a:avLst/>
            <a:gdLst>
              <a:gd name="connsiteX0" fmla="*/ 0 w 2203160"/>
              <a:gd name="connsiteY0" fmla="*/ 132190 h 1321896"/>
              <a:gd name="connsiteX1" fmla="*/ 132190 w 2203160"/>
              <a:gd name="connsiteY1" fmla="*/ 0 h 1321896"/>
              <a:gd name="connsiteX2" fmla="*/ 2070970 w 2203160"/>
              <a:gd name="connsiteY2" fmla="*/ 0 h 1321896"/>
              <a:gd name="connsiteX3" fmla="*/ 2203160 w 2203160"/>
              <a:gd name="connsiteY3" fmla="*/ 132190 h 1321896"/>
              <a:gd name="connsiteX4" fmla="*/ 2203160 w 2203160"/>
              <a:gd name="connsiteY4" fmla="*/ 1189706 h 1321896"/>
              <a:gd name="connsiteX5" fmla="*/ 2070970 w 2203160"/>
              <a:gd name="connsiteY5" fmla="*/ 1321896 h 1321896"/>
              <a:gd name="connsiteX6" fmla="*/ 132190 w 2203160"/>
              <a:gd name="connsiteY6" fmla="*/ 1321896 h 1321896"/>
              <a:gd name="connsiteX7" fmla="*/ 0 w 2203160"/>
              <a:gd name="connsiteY7" fmla="*/ 1189706 h 1321896"/>
              <a:gd name="connsiteX8" fmla="*/ 0 w 2203160"/>
              <a:gd name="connsiteY8" fmla="*/ 132190 h 1321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3160" h="1321896">
                <a:moveTo>
                  <a:pt x="0" y="132190"/>
                </a:moveTo>
                <a:cubicBezTo>
                  <a:pt x="0" y="59183"/>
                  <a:pt x="59183" y="0"/>
                  <a:pt x="132190" y="0"/>
                </a:cubicBezTo>
                <a:lnTo>
                  <a:pt x="2070970" y="0"/>
                </a:lnTo>
                <a:cubicBezTo>
                  <a:pt x="2143977" y="0"/>
                  <a:pt x="2203160" y="59183"/>
                  <a:pt x="2203160" y="132190"/>
                </a:cubicBezTo>
                <a:lnTo>
                  <a:pt x="2203160" y="1189706"/>
                </a:lnTo>
                <a:cubicBezTo>
                  <a:pt x="2203160" y="1262713"/>
                  <a:pt x="2143977" y="1321896"/>
                  <a:pt x="2070970" y="1321896"/>
                </a:cubicBezTo>
                <a:lnTo>
                  <a:pt x="132190" y="1321896"/>
                </a:lnTo>
                <a:cubicBezTo>
                  <a:pt x="59183" y="1321896"/>
                  <a:pt x="0" y="1262713"/>
                  <a:pt x="0" y="1189706"/>
                </a:cubicBezTo>
                <a:lnTo>
                  <a:pt x="0" y="13219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0157" tIns="130157" rIns="130157" bIns="130157" numCol="1" spcCol="1270" anchor="ctr" anchorCtr="0">
            <a:noAutofit/>
          </a:bodyPr>
          <a:lstStyle/>
          <a:p>
            <a:pPr marL="0" lvl="0" indent="0" algn="ctr" defTabSz="1066800">
              <a:lnSpc>
                <a:spcPct val="90000"/>
              </a:lnSpc>
              <a:spcBef>
                <a:spcPct val="0"/>
              </a:spcBef>
              <a:spcAft>
                <a:spcPct val="35000"/>
              </a:spcAft>
              <a:buNone/>
            </a:pPr>
            <a:r>
              <a:rPr lang="en-US" sz="2400" kern="1200" dirty="0"/>
              <a:t>Step 2: Select data and model</a:t>
            </a:r>
          </a:p>
        </p:txBody>
      </p:sp>
      <p:sp>
        <p:nvSpPr>
          <p:cNvPr id="10" name="Text Placeholder 8">
            <a:extLst>
              <a:ext uri="{FF2B5EF4-FFF2-40B4-BE49-F238E27FC236}">
                <a16:creationId xmlns:a16="http://schemas.microsoft.com/office/drawing/2014/main" id="{52A0107E-97BE-F241-1B18-B6FA465A7DE6}"/>
              </a:ext>
            </a:extLst>
          </p:cNvPr>
          <p:cNvSpPr txBox="1">
            <a:spLocks/>
          </p:cNvSpPr>
          <p:nvPr/>
        </p:nvSpPr>
        <p:spPr>
          <a:xfrm>
            <a:off x="3224089" y="2983500"/>
            <a:ext cx="2798064" cy="2616252"/>
          </a:xfrm>
          <a:prstGeom prst="rect">
            <a:avLst/>
          </a:prstGeom>
        </p:spPr>
        <p:txBody>
          <a:bodyPr/>
          <a:lstStyle>
            <a:lvl1pPr marL="228600" indent="-228600" algn="l" defTabSz="914400" rtl="0" eaLnBrk="1" latinLnBrk="0" hangingPunct="1">
              <a:lnSpc>
                <a:spcPct val="90000"/>
              </a:lnSpc>
              <a:spcBef>
                <a:spcPts val="1000"/>
              </a:spcBef>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500"/>
              </a:spcBef>
              <a:buFont typeface="Amazon Ember Display"/>
              <a:buChar char="•"/>
              <a:defRPr lang="en-US" sz="2000" kern="1200" dirty="0">
                <a:solidFill>
                  <a:srgbClr val="232F3E"/>
                </a:solidFill>
                <a:latin typeface="Amazon Ember Display"/>
              </a:defRPr>
            </a:lvl3pPr>
            <a:lvl4pPr marL="1600200" indent="-228600" algn="l" defTabSz="914400" rtl="0" eaLnBrk="1" latinLnBrk="0" hangingPunct="1">
              <a:lnSpc>
                <a:spcPct val="90000"/>
              </a:lnSpc>
              <a:spcBef>
                <a:spcPts val="500"/>
              </a:spcBef>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500"/>
              </a:spcBef>
              <a:buFont typeface="Amazon Ember Display"/>
              <a:buChar char="•"/>
              <a:defRPr lang="en-US" sz="18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a:lstStyle>
          <a:p>
            <a:pPr marL="228600" marR="0" lvl="0" indent="-228600" algn="l" defTabSz="914400" rtl="0" eaLnBrk="1" fontAlgn="auto" latinLnBrk="0" hangingPunct="1">
              <a:lnSpc>
                <a:spcPct val="90000"/>
              </a:lnSpc>
              <a:spcBef>
                <a:spcPts val="1000"/>
              </a:spcBef>
              <a:spcAft>
                <a:spcPts val="0"/>
              </a:spcAft>
              <a:buClrTx/>
              <a:buSzTx/>
              <a:buFont typeface="Amazon Ember Display"/>
              <a:buChar char="•"/>
              <a:tabLst/>
              <a:defRPr/>
            </a:pPr>
            <a:r>
              <a:rPr lang="en-US" sz="2400" dirty="0"/>
              <a:t>Identify and curate enterprise data</a:t>
            </a:r>
          </a:p>
          <a:p>
            <a:pPr marL="228600" marR="0" lvl="0" indent="-228600" algn="l" defTabSz="914400" rtl="0" eaLnBrk="1" fontAlgn="auto" latinLnBrk="0" hangingPunct="1">
              <a:lnSpc>
                <a:spcPct val="90000"/>
              </a:lnSpc>
              <a:spcBef>
                <a:spcPts val="1000"/>
              </a:spcBef>
              <a:spcAft>
                <a:spcPts val="0"/>
              </a:spcAft>
              <a:buClrTx/>
              <a:buSzTx/>
              <a:buFont typeface="Amazon Ember Display"/>
              <a:buChar char="•"/>
              <a:tabLst/>
              <a:defRPr/>
            </a:pPr>
            <a:r>
              <a:rPr lang="en-US" sz="2400" dirty="0"/>
              <a:t>Select a pre-trained model</a:t>
            </a:r>
          </a:p>
        </p:txBody>
      </p:sp>
      <p:sp>
        <p:nvSpPr>
          <p:cNvPr id="13" name="Freeform 12">
            <a:extLst>
              <a:ext uri="{FF2B5EF4-FFF2-40B4-BE49-F238E27FC236}">
                <a16:creationId xmlns:a16="http://schemas.microsoft.com/office/drawing/2014/main" id="{C65C3EF8-380D-28DA-BD71-7DE77C7131F8}"/>
              </a:ext>
              <a:ext uri="{C183D7F6-B498-43B3-948B-1728B52AA6E4}">
                <adec:decorative xmlns:adec="http://schemas.microsoft.com/office/drawing/2017/decorative" val="1"/>
              </a:ext>
            </a:extLst>
          </p:cNvPr>
          <p:cNvSpPr/>
          <p:nvPr/>
        </p:nvSpPr>
        <p:spPr>
          <a:xfrm>
            <a:off x="5872541" y="1965700"/>
            <a:ext cx="467070" cy="546383"/>
          </a:xfrm>
          <a:custGeom>
            <a:avLst/>
            <a:gdLst>
              <a:gd name="connsiteX0" fmla="*/ 0 w 467070"/>
              <a:gd name="connsiteY0" fmla="*/ 109277 h 546383"/>
              <a:gd name="connsiteX1" fmla="*/ 233535 w 467070"/>
              <a:gd name="connsiteY1" fmla="*/ 109277 h 546383"/>
              <a:gd name="connsiteX2" fmla="*/ 233535 w 467070"/>
              <a:gd name="connsiteY2" fmla="*/ 0 h 546383"/>
              <a:gd name="connsiteX3" fmla="*/ 467070 w 467070"/>
              <a:gd name="connsiteY3" fmla="*/ 273192 h 546383"/>
              <a:gd name="connsiteX4" fmla="*/ 233535 w 467070"/>
              <a:gd name="connsiteY4" fmla="*/ 546383 h 546383"/>
              <a:gd name="connsiteX5" fmla="*/ 233535 w 467070"/>
              <a:gd name="connsiteY5" fmla="*/ 437106 h 546383"/>
              <a:gd name="connsiteX6" fmla="*/ 0 w 467070"/>
              <a:gd name="connsiteY6" fmla="*/ 437106 h 546383"/>
              <a:gd name="connsiteX7" fmla="*/ 0 w 467070"/>
              <a:gd name="connsiteY7" fmla="*/ 109277 h 546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7070" h="546383">
                <a:moveTo>
                  <a:pt x="0" y="109277"/>
                </a:moveTo>
                <a:lnTo>
                  <a:pt x="233535" y="109277"/>
                </a:lnTo>
                <a:lnTo>
                  <a:pt x="233535" y="0"/>
                </a:lnTo>
                <a:lnTo>
                  <a:pt x="467070" y="273192"/>
                </a:lnTo>
                <a:lnTo>
                  <a:pt x="233535" y="546383"/>
                </a:lnTo>
                <a:lnTo>
                  <a:pt x="233535" y="437106"/>
                </a:lnTo>
                <a:lnTo>
                  <a:pt x="0" y="437106"/>
                </a:lnTo>
                <a:lnTo>
                  <a:pt x="0" y="109277"/>
                </a:lnTo>
                <a:close/>
              </a:path>
            </a:pathLst>
          </a:custGeom>
          <a:solidFill>
            <a:schemeClr val="tx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109277" rIns="140121" bIns="109277" numCol="1" spcCol="1270" anchor="ctr" anchorCtr="0">
            <a:noAutofit/>
          </a:bodyPr>
          <a:lstStyle/>
          <a:p>
            <a:pPr marL="0" lvl="0" indent="0" algn="ctr" defTabSz="844550">
              <a:lnSpc>
                <a:spcPct val="90000"/>
              </a:lnSpc>
              <a:spcBef>
                <a:spcPct val="0"/>
              </a:spcBef>
              <a:spcAft>
                <a:spcPct val="35000"/>
              </a:spcAft>
              <a:buNone/>
            </a:pPr>
            <a:endParaRPr lang="en-US" sz="1900" kern="1200" dirty="0"/>
          </a:p>
        </p:txBody>
      </p:sp>
      <p:sp>
        <p:nvSpPr>
          <p:cNvPr id="14" name="Freeform 13">
            <a:extLst>
              <a:ext uri="{FF2B5EF4-FFF2-40B4-BE49-F238E27FC236}">
                <a16:creationId xmlns:a16="http://schemas.microsoft.com/office/drawing/2014/main" id="{1E20CF6B-1A21-6F5F-B604-D16E9E20115B}"/>
              </a:ext>
            </a:extLst>
          </p:cNvPr>
          <p:cNvSpPr/>
          <p:nvPr/>
        </p:nvSpPr>
        <p:spPr>
          <a:xfrm>
            <a:off x="6533489" y="1577943"/>
            <a:ext cx="2203160" cy="1321896"/>
          </a:xfrm>
          <a:custGeom>
            <a:avLst/>
            <a:gdLst>
              <a:gd name="connsiteX0" fmla="*/ 0 w 2203160"/>
              <a:gd name="connsiteY0" fmla="*/ 132190 h 1321896"/>
              <a:gd name="connsiteX1" fmla="*/ 132190 w 2203160"/>
              <a:gd name="connsiteY1" fmla="*/ 0 h 1321896"/>
              <a:gd name="connsiteX2" fmla="*/ 2070970 w 2203160"/>
              <a:gd name="connsiteY2" fmla="*/ 0 h 1321896"/>
              <a:gd name="connsiteX3" fmla="*/ 2203160 w 2203160"/>
              <a:gd name="connsiteY3" fmla="*/ 132190 h 1321896"/>
              <a:gd name="connsiteX4" fmla="*/ 2203160 w 2203160"/>
              <a:gd name="connsiteY4" fmla="*/ 1189706 h 1321896"/>
              <a:gd name="connsiteX5" fmla="*/ 2070970 w 2203160"/>
              <a:gd name="connsiteY5" fmla="*/ 1321896 h 1321896"/>
              <a:gd name="connsiteX6" fmla="*/ 132190 w 2203160"/>
              <a:gd name="connsiteY6" fmla="*/ 1321896 h 1321896"/>
              <a:gd name="connsiteX7" fmla="*/ 0 w 2203160"/>
              <a:gd name="connsiteY7" fmla="*/ 1189706 h 1321896"/>
              <a:gd name="connsiteX8" fmla="*/ 0 w 2203160"/>
              <a:gd name="connsiteY8" fmla="*/ 132190 h 1321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3160" h="1321896">
                <a:moveTo>
                  <a:pt x="0" y="132190"/>
                </a:moveTo>
                <a:cubicBezTo>
                  <a:pt x="0" y="59183"/>
                  <a:pt x="59183" y="0"/>
                  <a:pt x="132190" y="0"/>
                </a:cubicBezTo>
                <a:lnTo>
                  <a:pt x="2070970" y="0"/>
                </a:lnTo>
                <a:cubicBezTo>
                  <a:pt x="2143977" y="0"/>
                  <a:pt x="2203160" y="59183"/>
                  <a:pt x="2203160" y="132190"/>
                </a:cubicBezTo>
                <a:lnTo>
                  <a:pt x="2203160" y="1189706"/>
                </a:lnTo>
                <a:cubicBezTo>
                  <a:pt x="2203160" y="1262713"/>
                  <a:pt x="2143977" y="1321896"/>
                  <a:pt x="2070970" y="1321896"/>
                </a:cubicBezTo>
                <a:lnTo>
                  <a:pt x="132190" y="1321896"/>
                </a:lnTo>
                <a:cubicBezTo>
                  <a:pt x="59183" y="1321896"/>
                  <a:pt x="0" y="1262713"/>
                  <a:pt x="0" y="1189706"/>
                </a:cubicBezTo>
                <a:lnTo>
                  <a:pt x="0" y="13219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0157" tIns="130157" rIns="130157" bIns="130157" numCol="1" spcCol="1270" anchor="ctr" anchorCtr="0">
            <a:noAutofit/>
          </a:bodyPr>
          <a:lstStyle/>
          <a:p>
            <a:pPr marL="0" lvl="0" indent="0" algn="ctr" defTabSz="1066800">
              <a:lnSpc>
                <a:spcPct val="90000"/>
              </a:lnSpc>
              <a:spcBef>
                <a:spcPct val="0"/>
              </a:spcBef>
              <a:spcAft>
                <a:spcPct val="35000"/>
              </a:spcAft>
              <a:buNone/>
            </a:pPr>
            <a:r>
              <a:rPr lang="en-US" sz="2400" i="0" kern="1200" dirty="0"/>
              <a:t>Step 3: Adapt the model</a:t>
            </a:r>
            <a:endParaRPr lang="en-US" sz="2400" kern="1200" dirty="0"/>
          </a:p>
        </p:txBody>
      </p:sp>
      <p:sp>
        <p:nvSpPr>
          <p:cNvPr id="11" name="Text Placeholder 11">
            <a:extLst>
              <a:ext uri="{FF2B5EF4-FFF2-40B4-BE49-F238E27FC236}">
                <a16:creationId xmlns:a16="http://schemas.microsoft.com/office/drawing/2014/main" id="{ED30AC2A-B039-DE60-F94E-01FCD553DEC6}"/>
              </a:ext>
            </a:extLst>
          </p:cNvPr>
          <p:cNvSpPr txBox="1">
            <a:spLocks/>
          </p:cNvSpPr>
          <p:nvPr/>
        </p:nvSpPr>
        <p:spPr>
          <a:xfrm>
            <a:off x="6224272" y="2983499"/>
            <a:ext cx="2798064" cy="3337089"/>
          </a:xfrm>
          <a:prstGeom prst="rect">
            <a:avLst/>
          </a:prstGeom>
        </p:spPr>
        <p:txBody>
          <a:bodyPr vert="horz" lIns="91440" tIns="45720" rIns="91440" bIns="45720" rtlCol="0">
            <a:noAutofit/>
          </a:bodyPr>
          <a:lstStyle>
            <a:defPPr>
              <a:defRPr lang="en-US"/>
            </a:defPPr>
            <a:lvl1pPr marL="228600" marR="0" lvl="0" indent="-228600" fontAlgn="auto">
              <a:lnSpc>
                <a:spcPct val="100000"/>
              </a:lnSpc>
              <a:spcBef>
                <a:spcPts val="1000"/>
              </a:spcBef>
              <a:spcAft>
                <a:spcPts val="600"/>
              </a:spcAft>
              <a:buClrTx/>
              <a:buSzTx/>
              <a:buFont typeface="Amazon Ember Display"/>
              <a:buChar char="•"/>
              <a:tabLst/>
              <a:defRPr sz="2400">
                <a:solidFill>
                  <a:srgbClr val="232F3E"/>
                </a:solidFill>
                <a:latin typeface="Amazon Ember Display"/>
              </a:defRPr>
            </a:lvl1pPr>
            <a:lvl2pPr marL="461963" indent="-228600">
              <a:lnSpc>
                <a:spcPct val="100000"/>
              </a:lnSpc>
              <a:spcBef>
                <a:spcPts val="500"/>
              </a:spcBef>
              <a:spcAft>
                <a:spcPts val="600"/>
              </a:spcAft>
              <a:buFont typeface="Amazon Ember Display"/>
              <a:buChar char="•"/>
              <a:defRPr sz="2400">
                <a:solidFill>
                  <a:srgbClr val="232F3E"/>
                </a:solidFill>
                <a:latin typeface="Amazon Ember Display"/>
              </a:defRPr>
            </a:lvl2pPr>
            <a:lvl3pPr marL="682625" indent="-228600">
              <a:lnSpc>
                <a:spcPct val="100000"/>
              </a:lnSpc>
              <a:spcBef>
                <a:spcPts val="500"/>
              </a:spcBef>
              <a:spcAft>
                <a:spcPts val="600"/>
              </a:spcAft>
              <a:buFont typeface="Amazon Ember Display"/>
              <a:buChar char="•"/>
              <a:defRPr sz="2000">
                <a:solidFill>
                  <a:srgbClr val="232F3E"/>
                </a:solidFill>
                <a:latin typeface="Amazon Ember Display"/>
              </a:defRPr>
            </a:lvl3pPr>
            <a:lvl4pPr marL="914400" indent="-228600">
              <a:lnSpc>
                <a:spcPct val="100000"/>
              </a:lnSpc>
              <a:spcBef>
                <a:spcPts val="500"/>
              </a:spcBef>
              <a:spcAft>
                <a:spcPts val="600"/>
              </a:spcAft>
              <a:buFont typeface="Amazon Ember Display"/>
              <a:buChar char="•"/>
              <a:defRPr>
                <a:solidFill>
                  <a:srgbClr val="232F3E"/>
                </a:solidFill>
                <a:latin typeface="Amazon Ember Display"/>
              </a:defRPr>
            </a:lvl4pPr>
            <a:lvl5pPr marL="1146175" indent="-228600">
              <a:lnSpc>
                <a:spcPct val="100000"/>
              </a:lnSpc>
              <a:spcBef>
                <a:spcPts val="500"/>
              </a:spcBef>
              <a:spcAft>
                <a:spcPts val="600"/>
              </a:spcAft>
              <a:buFont typeface="Amazon Ember Display"/>
              <a:buChar char="•"/>
              <a:defRPr>
                <a:solidFill>
                  <a:srgbClr val="232F3E"/>
                </a:solidFill>
                <a:latin typeface="Amazon Ember Display"/>
              </a:defRPr>
            </a:lvl5pPr>
            <a:lvl6pPr marL="2514600" indent="-228600">
              <a:lnSpc>
                <a:spcPct val="90000"/>
              </a:lnSpc>
              <a:spcBef>
                <a:spcPts val="500"/>
              </a:spcBef>
              <a:buFont typeface="Amazon Ember Display"/>
              <a:buChar char="•"/>
              <a:defRPr>
                <a:latin typeface="Amazon Ember Display"/>
              </a:defRPr>
            </a:lvl6pPr>
            <a:lvl7pPr marL="2971800" indent="-228600">
              <a:lnSpc>
                <a:spcPct val="90000"/>
              </a:lnSpc>
              <a:spcBef>
                <a:spcPts val="500"/>
              </a:spcBef>
              <a:buFont typeface="Amazon Ember Display"/>
              <a:buChar char="•"/>
              <a:defRPr>
                <a:latin typeface="Amazon Ember Display"/>
              </a:defRPr>
            </a:lvl7pPr>
            <a:lvl8pPr marL="3429000" indent="-228600">
              <a:lnSpc>
                <a:spcPct val="90000"/>
              </a:lnSpc>
              <a:spcBef>
                <a:spcPts val="500"/>
              </a:spcBef>
              <a:buFont typeface="Amazon Ember Display"/>
              <a:buChar char="•"/>
              <a:defRPr>
                <a:latin typeface="Amazon Ember Display"/>
              </a:defRPr>
            </a:lvl8pPr>
            <a:lvl9pPr marL="3886200" indent="-228600">
              <a:lnSpc>
                <a:spcPct val="90000"/>
              </a:lnSpc>
              <a:spcBef>
                <a:spcPts val="500"/>
              </a:spcBef>
              <a:buFont typeface="Amazon Ember Display"/>
              <a:buChar char="•"/>
              <a:defRPr>
                <a:latin typeface="Amazon Ember Display"/>
              </a:defRPr>
            </a:lvl9pPr>
          </a:lstStyle>
          <a:p>
            <a:r>
              <a:rPr lang="en-US" dirty="0"/>
              <a:t>Apply prompt engineering</a:t>
            </a:r>
          </a:p>
          <a:p>
            <a:r>
              <a:rPr lang="en-US" dirty="0"/>
              <a:t>Use augmentation</a:t>
            </a:r>
          </a:p>
          <a:p>
            <a:r>
              <a:rPr lang="en-US" dirty="0"/>
              <a:t>Customize a model</a:t>
            </a:r>
          </a:p>
          <a:p>
            <a:r>
              <a:rPr lang="en-US" dirty="0"/>
              <a:t>Employ agents</a:t>
            </a:r>
          </a:p>
        </p:txBody>
      </p:sp>
      <p:sp>
        <p:nvSpPr>
          <p:cNvPr id="15" name="Freeform 14">
            <a:extLst>
              <a:ext uri="{FF2B5EF4-FFF2-40B4-BE49-F238E27FC236}">
                <a16:creationId xmlns:a16="http://schemas.microsoft.com/office/drawing/2014/main" id="{D5B29F04-B84A-6ED0-1A70-5BC718A59164}"/>
              </a:ext>
              <a:ext uri="{C183D7F6-B498-43B3-948B-1728B52AA6E4}">
                <adec:decorative xmlns:adec="http://schemas.microsoft.com/office/drawing/2017/decorative" val="1"/>
              </a:ext>
            </a:extLst>
          </p:cNvPr>
          <p:cNvSpPr/>
          <p:nvPr/>
        </p:nvSpPr>
        <p:spPr>
          <a:xfrm>
            <a:off x="8956966" y="1965700"/>
            <a:ext cx="467070" cy="546383"/>
          </a:xfrm>
          <a:custGeom>
            <a:avLst/>
            <a:gdLst>
              <a:gd name="connsiteX0" fmla="*/ 0 w 467070"/>
              <a:gd name="connsiteY0" fmla="*/ 109277 h 546383"/>
              <a:gd name="connsiteX1" fmla="*/ 233535 w 467070"/>
              <a:gd name="connsiteY1" fmla="*/ 109277 h 546383"/>
              <a:gd name="connsiteX2" fmla="*/ 233535 w 467070"/>
              <a:gd name="connsiteY2" fmla="*/ 0 h 546383"/>
              <a:gd name="connsiteX3" fmla="*/ 467070 w 467070"/>
              <a:gd name="connsiteY3" fmla="*/ 273192 h 546383"/>
              <a:gd name="connsiteX4" fmla="*/ 233535 w 467070"/>
              <a:gd name="connsiteY4" fmla="*/ 546383 h 546383"/>
              <a:gd name="connsiteX5" fmla="*/ 233535 w 467070"/>
              <a:gd name="connsiteY5" fmla="*/ 437106 h 546383"/>
              <a:gd name="connsiteX6" fmla="*/ 0 w 467070"/>
              <a:gd name="connsiteY6" fmla="*/ 437106 h 546383"/>
              <a:gd name="connsiteX7" fmla="*/ 0 w 467070"/>
              <a:gd name="connsiteY7" fmla="*/ 109277 h 546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7070" h="546383">
                <a:moveTo>
                  <a:pt x="0" y="109277"/>
                </a:moveTo>
                <a:lnTo>
                  <a:pt x="233535" y="109277"/>
                </a:lnTo>
                <a:lnTo>
                  <a:pt x="233535" y="0"/>
                </a:lnTo>
                <a:lnTo>
                  <a:pt x="467070" y="273192"/>
                </a:lnTo>
                <a:lnTo>
                  <a:pt x="233535" y="546383"/>
                </a:lnTo>
                <a:lnTo>
                  <a:pt x="233535" y="437106"/>
                </a:lnTo>
                <a:lnTo>
                  <a:pt x="0" y="437106"/>
                </a:lnTo>
                <a:lnTo>
                  <a:pt x="0" y="109277"/>
                </a:lnTo>
                <a:close/>
              </a:path>
            </a:pathLst>
          </a:custGeom>
          <a:solidFill>
            <a:schemeClr val="tx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109277" rIns="140121" bIns="109277" numCol="1" spcCol="1270" anchor="ctr" anchorCtr="0">
            <a:noAutofit/>
          </a:bodyPr>
          <a:lstStyle/>
          <a:p>
            <a:pPr marL="0" lvl="0" indent="0" algn="ctr" defTabSz="844550">
              <a:lnSpc>
                <a:spcPct val="90000"/>
              </a:lnSpc>
              <a:spcBef>
                <a:spcPct val="0"/>
              </a:spcBef>
              <a:spcAft>
                <a:spcPct val="35000"/>
              </a:spcAft>
              <a:buNone/>
            </a:pPr>
            <a:endParaRPr lang="en-US" sz="1900" kern="1200" dirty="0"/>
          </a:p>
        </p:txBody>
      </p:sp>
      <p:sp>
        <p:nvSpPr>
          <p:cNvPr id="16" name="Freeform 15">
            <a:extLst>
              <a:ext uri="{FF2B5EF4-FFF2-40B4-BE49-F238E27FC236}">
                <a16:creationId xmlns:a16="http://schemas.microsoft.com/office/drawing/2014/main" id="{92F47948-3C29-77C2-28C7-4963F1B0B2C2}"/>
              </a:ext>
            </a:extLst>
          </p:cNvPr>
          <p:cNvSpPr/>
          <p:nvPr/>
        </p:nvSpPr>
        <p:spPr>
          <a:xfrm>
            <a:off x="9617914" y="1577943"/>
            <a:ext cx="2203160" cy="1321896"/>
          </a:xfrm>
          <a:custGeom>
            <a:avLst/>
            <a:gdLst>
              <a:gd name="connsiteX0" fmla="*/ 0 w 2203160"/>
              <a:gd name="connsiteY0" fmla="*/ 132190 h 1321896"/>
              <a:gd name="connsiteX1" fmla="*/ 132190 w 2203160"/>
              <a:gd name="connsiteY1" fmla="*/ 0 h 1321896"/>
              <a:gd name="connsiteX2" fmla="*/ 2070970 w 2203160"/>
              <a:gd name="connsiteY2" fmla="*/ 0 h 1321896"/>
              <a:gd name="connsiteX3" fmla="*/ 2203160 w 2203160"/>
              <a:gd name="connsiteY3" fmla="*/ 132190 h 1321896"/>
              <a:gd name="connsiteX4" fmla="*/ 2203160 w 2203160"/>
              <a:gd name="connsiteY4" fmla="*/ 1189706 h 1321896"/>
              <a:gd name="connsiteX5" fmla="*/ 2070970 w 2203160"/>
              <a:gd name="connsiteY5" fmla="*/ 1321896 h 1321896"/>
              <a:gd name="connsiteX6" fmla="*/ 132190 w 2203160"/>
              <a:gd name="connsiteY6" fmla="*/ 1321896 h 1321896"/>
              <a:gd name="connsiteX7" fmla="*/ 0 w 2203160"/>
              <a:gd name="connsiteY7" fmla="*/ 1189706 h 1321896"/>
              <a:gd name="connsiteX8" fmla="*/ 0 w 2203160"/>
              <a:gd name="connsiteY8" fmla="*/ 132190 h 1321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3160" h="1321896">
                <a:moveTo>
                  <a:pt x="0" y="132190"/>
                </a:moveTo>
                <a:cubicBezTo>
                  <a:pt x="0" y="59183"/>
                  <a:pt x="59183" y="0"/>
                  <a:pt x="132190" y="0"/>
                </a:cubicBezTo>
                <a:lnTo>
                  <a:pt x="2070970" y="0"/>
                </a:lnTo>
                <a:cubicBezTo>
                  <a:pt x="2143977" y="0"/>
                  <a:pt x="2203160" y="59183"/>
                  <a:pt x="2203160" y="132190"/>
                </a:cubicBezTo>
                <a:lnTo>
                  <a:pt x="2203160" y="1189706"/>
                </a:lnTo>
                <a:cubicBezTo>
                  <a:pt x="2203160" y="1262713"/>
                  <a:pt x="2143977" y="1321896"/>
                  <a:pt x="2070970" y="1321896"/>
                </a:cubicBezTo>
                <a:lnTo>
                  <a:pt x="132190" y="1321896"/>
                </a:lnTo>
                <a:cubicBezTo>
                  <a:pt x="59183" y="1321896"/>
                  <a:pt x="0" y="1262713"/>
                  <a:pt x="0" y="1189706"/>
                </a:cubicBezTo>
                <a:lnTo>
                  <a:pt x="0" y="13219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0157" tIns="130157" rIns="130157" bIns="130157" numCol="1" spcCol="1270" anchor="ctr" anchorCtr="0">
            <a:noAutofit/>
          </a:bodyPr>
          <a:lstStyle/>
          <a:p>
            <a:pPr marL="0" lvl="0" indent="0" algn="ctr" defTabSz="1066800">
              <a:lnSpc>
                <a:spcPct val="90000"/>
              </a:lnSpc>
              <a:spcBef>
                <a:spcPct val="0"/>
              </a:spcBef>
              <a:spcAft>
                <a:spcPct val="35000"/>
              </a:spcAft>
              <a:buNone/>
            </a:pPr>
            <a:r>
              <a:rPr lang="en-US" sz="2400" i="0" kern="1200" dirty="0"/>
              <a:t>Step 4: Use the model</a:t>
            </a:r>
            <a:endParaRPr lang="en-US" sz="2400" kern="1200" dirty="0"/>
          </a:p>
        </p:txBody>
      </p:sp>
      <p:sp>
        <p:nvSpPr>
          <p:cNvPr id="12" name="Text Placeholder 14">
            <a:extLst>
              <a:ext uri="{FF2B5EF4-FFF2-40B4-BE49-F238E27FC236}">
                <a16:creationId xmlns:a16="http://schemas.microsoft.com/office/drawing/2014/main" id="{923443E0-5AB7-99CE-70C0-2765E6F08848}"/>
              </a:ext>
            </a:extLst>
          </p:cNvPr>
          <p:cNvSpPr txBox="1">
            <a:spLocks/>
          </p:cNvSpPr>
          <p:nvPr/>
        </p:nvSpPr>
        <p:spPr>
          <a:xfrm>
            <a:off x="9230301" y="2983500"/>
            <a:ext cx="2798064" cy="2616252"/>
          </a:xfrm>
          <a:prstGeom prst="rect">
            <a:avLst/>
          </a:prstGeom>
        </p:spPr>
        <p:txBody>
          <a:bodyPr vert="horz" lIns="91440" tIns="45720" rIns="91440" bIns="45720" rtlCol="0">
            <a:noAutofit/>
          </a:bodyPr>
          <a:lstStyle>
            <a:defPPr>
              <a:defRPr lang="en-US"/>
            </a:defPPr>
            <a:lvl1pPr marL="228600" marR="0" lvl="0" indent="-228600" fontAlgn="auto">
              <a:lnSpc>
                <a:spcPct val="100000"/>
              </a:lnSpc>
              <a:spcBef>
                <a:spcPts val="1000"/>
              </a:spcBef>
              <a:spcAft>
                <a:spcPts val="600"/>
              </a:spcAft>
              <a:buClrTx/>
              <a:buSzTx/>
              <a:buFont typeface="Amazon Ember Display"/>
              <a:buChar char="•"/>
              <a:tabLst/>
              <a:defRPr sz="2400">
                <a:solidFill>
                  <a:srgbClr val="232F3E"/>
                </a:solidFill>
                <a:latin typeface="Amazon Ember Display"/>
              </a:defRPr>
            </a:lvl1pPr>
            <a:lvl2pPr marL="461963" indent="-228600">
              <a:lnSpc>
                <a:spcPct val="100000"/>
              </a:lnSpc>
              <a:spcBef>
                <a:spcPts val="500"/>
              </a:spcBef>
              <a:spcAft>
                <a:spcPts val="600"/>
              </a:spcAft>
              <a:buFont typeface="Amazon Ember Display"/>
              <a:buChar char="•"/>
              <a:defRPr sz="2400">
                <a:solidFill>
                  <a:srgbClr val="232F3E"/>
                </a:solidFill>
                <a:latin typeface="Amazon Ember Display"/>
              </a:defRPr>
            </a:lvl2pPr>
            <a:lvl3pPr marL="682625" indent="-228600">
              <a:lnSpc>
                <a:spcPct val="100000"/>
              </a:lnSpc>
              <a:spcBef>
                <a:spcPts val="500"/>
              </a:spcBef>
              <a:spcAft>
                <a:spcPts val="600"/>
              </a:spcAft>
              <a:buFont typeface="Amazon Ember Display"/>
              <a:buChar char="•"/>
              <a:defRPr sz="2000">
                <a:solidFill>
                  <a:srgbClr val="232F3E"/>
                </a:solidFill>
                <a:latin typeface="Amazon Ember Display"/>
              </a:defRPr>
            </a:lvl3pPr>
            <a:lvl4pPr marL="914400" indent="-228600">
              <a:lnSpc>
                <a:spcPct val="100000"/>
              </a:lnSpc>
              <a:spcBef>
                <a:spcPts val="500"/>
              </a:spcBef>
              <a:spcAft>
                <a:spcPts val="600"/>
              </a:spcAft>
              <a:buFont typeface="Amazon Ember Display"/>
              <a:buChar char="•"/>
              <a:defRPr>
                <a:solidFill>
                  <a:srgbClr val="232F3E"/>
                </a:solidFill>
                <a:latin typeface="Amazon Ember Display"/>
              </a:defRPr>
            </a:lvl4pPr>
            <a:lvl5pPr marL="1146175" indent="-228600">
              <a:lnSpc>
                <a:spcPct val="100000"/>
              </a:lnSpc>
              <a:spcBef>
                <a:spcPts val="500"/>
              </a:spcBef>
              <a:spcAft>
                <a:spcPts val="600"/>
              </a:spcAft>
              <a:buFont typeface="Amazon Ember Display"/>
              <a:buChar char="•"/>
              <a:defRPr>
                <a:solidFill>
                  <a:srgbClr val="232F3E"/>
                </a:solidFill>
                <a:latin typeface="Amazon Ember Display"/>
              </a:defRPr>
            </a:lvl5pPr>
            <a:lvl6pPr marL="2514600" indent="-228600">
              <a:lnSpc>
                <a:spcPct val="90000"/>
              </a:lnSpc>
              <a:spcBef>
                <a:spcPts val="500"/>
              </a:spcBef>
              <a:buFont typeface="Amazon Ember Display"/>
              <a:buChar char="•"/>
              <a:defRPr>
                <a:latin typeface="Amazon Ember Display"/>
              </a:defRPr>
            </a:lvl6pPr>
            <a:lvl7pPr marL="2971800" indent="-228600">
              <a:lnSpc>
                <a:spcPct val="90000"/>
              </a:lnSpc>
              <a:spcBef>
                <a:spcPts val="500"/>
              </a:spcBef>
              <a:buFont typeface="Amazon Ember Display"/>
              <a:buChar char="•"/>
              <a:defRPr>
                <a:latin typeface="Amazon Ember Display"/>
              </a:defRPr>
            </a:lvl7pPr>
            <a:lvl8pPr marL="3429000" indent="-228600">
              <a:lnSpc>
                <a:spcPct val="90000"/>
              </a:lnSpc>
              <a:spcBef>
                <a:spcPts val="500"/>
              </a:spcBef>
              <a:buFont typeface="Amazon Ember Display"/>
              <a:buChar char="•"/>
              <a:defRPr>
                <a:latin typeface="Amazon Ember Display"/>
              </a:defRPr>
            </a:lvl8pPr>
            <a:lvl9pPr marL="3886200" indent="-228600">
              <a:lnSpc>
                <a:spcPct val="90000"/>
              </a:lnSpc>
              <a:spcBef>
                <a:spcPts val="500"/>
              </a:spcBef>
              <a:buFont typeface="Amazon Ember Display"/>
              <a:buChar char="•"/>
              <a:defRPr>
                <a:latin typeface="Amazon Ember Display"/>
              </a:defRPr>
            </a:lvl9pPr>
          </a:lstStyle>
          <a:p>
            <a:r>
              <a:rPr lang="en-US" dirty="0"/>
              <a:t>Consider responsible AI concerns</a:t>
            </a:r>
          </a:p>
          <a:p>
            <a:r>
              <a:rPr lang="en-US" dirty="0"/>
              <a:t>Track performance and changes</a:t>
            </a:r>
          </a:p>
        </p:txBody>
      </p:sp>
    </p:spTree>
    <p:extLst>
      <p:ext uri="{BB962C8B-B14F-4D97-AF65-F5344CB8AC3E}">
        <p14:creationId xmlns:p14="http://schemas.microsoft.com/office/powerpoint/2010/main" val="2393869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EE2C7-A35C-A848-50FF-145CB85A5574}"/>
            </a:ext>
          </a:extLst>
        </p:cNvPr>
        <p:cNvGrpSpPr/>
        <p:nvPr/>
      </p:nvGrpSpPr>
      <p:grpSpPr>
        <a:xfrm>
          <a:off x="0" y="0"/>
          <a:ext cx="0" cy="0"/>
          <a:chOff x="0" y="0"/>
          <a:chExt cx="0" cy="0"/>
        </a:xfrm>
      </p:grpSpPr>
      <p:sp>
        <p:nvSpPr>
          <p:cNvPr id="4" name="Slide Number">
            <a:extLst>
              <a:ext uri="{FF2B5EF4-FFF2-40B4-BE49-F238E27FC236}">
                <a16:creationId xmlns:a16="http://schemas.microsoft.com/office/drawing/2014/main" id="{085F1274-53AD-0E2D-932E-D47E3F8F2FE5}"/>
              </a:ext>
            </a:extLst>
          </p:cNvPr>
          <p:cNvSpPr>
            <a:spLocks noGrp="1"/>
          </p:cNvSpPr>
          <p:nvPr>
            <p:ph type="sldNum" idx="97"/>
          </p:nvPr>
        </p:nvSpPr>
        <p:spPr/>
        <p:txBody>
          <a:bodyPr/>
          <a:lstStyle/>
          <a:p>
            <a:fld id="{930176A1-BCF0-4712-97A6-6B495F55390B}" type="slidenum">
              <a:rPr lang="en-US" smtClean="0"/>
              <a:pPr/>
              <a:t>22</a:t>
            </a:fld>
            <a:endParaRPr lang="en-US" dirty="0"/>
          </a:p>
        </p:txBody>
      </p:sp>
      <p:sp>
        <p:nvSpPr>
          <p:cNvPr id="2" name="Title">
            <a:extLst>
              <a:ext uri="{FF2B5EF4-FFF2-40B4-BE49-F238E27FC236}">
                <a16:creationId xmlns:a16="http://schemas.microsoft.com/office/drawing/2014/main" id="{29D6760D-030F-49CE-8996-A17F85B5F153}"/>
              </a:ext>
            </a:extLst>
          </p:cNvPr>
          <p:cNvSpPr>
            <a:spLocks noGrp="1"/>
          </p:cNvSpPr>
          <p:nvPr>
            <p:ph type="title" idx="1"/>
          </p:nvPr>
        </p:nvSpPr>
        <p:spPr/>
        <p:txBody>
          <a:bodyPr/>
          <a:lstStyle/>
          <a:p>
            <a:r>
              <a:rPr lang="en-US" dirty="0"/>
              <a:t>FM is at the core of generative AI applications</a:t>
            </a:r>
          </a:p>
        </p:txBody>
      </p:sp>
      <p:sp>
        <p:nvSpPr>
          <p:cNvPr id="3" name="Text Placeholder 2">
            <a:extLst>
              <a:ext uri="{FF2B5EF4-FFF2-40B4-BE49-F238E27FC236}">
                <a16:creationId xmlns:a16="http://schemas.microsoft.com/office/drawing/2014/main" id="{670E7ADA-A1A7-FC93-0D37-C602576EDB14}"/>
              </a:ext>
            </a:extLst>
          </p:cNvPr>
          <p:cNvSpPr>
            <a:spLocks noGrp="1"/>
          </p:cNvSpPr>
          <p:nvPr>
            <p:ph type="body" idx="12"/>
          </p:nvPr>
        </p:nvSpPr>
        <p:spPr/>
        <p:txBody>
          <a:bodyPr/>
          <a:lstStyle/>
          <a:p>
            <a:r>
              <a:rPr lang="en-US" dirty="0"/>
              <a:t>Core application components</a:t>
            </a:r>
          </a:p>
        </p:txBody>
      </p:sp>
      <p:pic>
        <p:nvPicPr>
          <p:cNvPr id="10" name="Graphic 9">
            <a:extLst>
              <a:ext uri="{FF2B5EF4-FFF2-40B4-BE49-F238E27FC236}">
                <a16:creationId xmlns:a16="http://schemas.microsoft.com/office/drawing/2014/main" id="{180C9BAD-3B70-EF8C-DDB2-58D911BCD6BB}"/>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9181" y="1612870"/>
            <a:ext cx="1248478" cy="1248478"/>
          </a:xfrm>
          <a:prstGeom prst="rect">
            <a:avLst/>
          </a:prstGeom>
        </p:spPr>
      </p:pic>
      <p:sp>
        <p:nvSpPr>
          <p:cNvPr id="39" name="TextBox 38">
            <a:extLst>
              <a:ext uri="{FF2B5EF4-FFF2-40B4-BE49-F238E27FC236}">
                <a16:creationId xmlns:a16="http://schemas.microsoft.com/office/drawing/2014/main" id="{378766E6-CCCF-ECCA-4182-2CE3AD056BCF}"/>
              </a:ext>
            </a:extLst>
          </p:cNvPr>
          <p:cNvSpPr txBox="1"/>
          <p:nvPr/>
        </p:nvSpPr>
        <p:spPr>
          <a:xfrm>
            <a:off x="1637806" y="1981355"/>
            <a:ext cx="4468868" cy="523220"/>
          </a:xfrm>
          <a:prstGeom prst="rect">
            <a:avLst/>
          </a:prstGeom>
          <a:noFill/>
        </p:spPr>
        <p:txBody>
          <a:bodyPr wrap="square">
            <a:spAutoFit/>
          </a:bodyPr>
          <a:lstStyle/>
          <a:p>
            <a:r>
              <a:rPr lang="en-US" sz="2800" dirty="0">
                <a:solidFill>
                  <a:srgbClr val="232F3E"/>
                </a:solidFill>
                <a:ea typeface="Amazon Ember" panose="020B0603020204020204" pitchFamily="34" charset="0"/>
                <a:cs typeface="Amazon Ember" panose="020B0603020204020204" pitchFamily="34" charset="0"/>
              </a:rPr>
              <a:t>Application frontend</a:t>
            </a:r>
          </a:p>
        </p:txBody>
      </p:sp>
      <p:pic>
        <p:nvPicPr>
          <p:cNvPr id="12" name="Graphic 11">
            <a:extLst>
              <a:ext uri="{FF2B5EF4-FFF2-40B4-BE49-F238E27FC236}">
                <a16:creationId xmlns:a16="http://schemas.microsoft.com/office/drawing/2014/main" id="{C89FA83A-1863-D247-C7FA-2CEFFE275FEA}"/>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9557" y="2894370"/>
            <a:ext cx="1267726" cy="1267726"/>
          </a:xfrm>
          <a:prstGeom prst="rect">
            <a:avLst/>
          </a:prstGeom>
        </p:spPr>
      </p:pic>
      <p:sp>
        <p:nvSpPr>
          <p:cNvPr id="40" name="TextBox 39">
            <a:extLst>
              <a:ext uri="{FF2B5EF4-FFF2-40B4-BE49-F238E27FC236}">
                <a16:creationId xmlns:a16="http://schemas.microsoft.com/office/drawing/2014/main" id="{D237F71D-2C13-769C-A1E4-AB18BBF3B048}"/>
              </a:ext>
            </a:extLst>
          </p:cNvPr>
          <p:cNvSpPr txBox="1"/>
          <p:nvPr/>
        </p:nvSpPr>
        <p:spPr>
          <a:xfrm>
            <a:off x="1637806" y="3266623"/>
            <a:ext cx="4468868" cy="523220"/>
          </a:xfrm>
          <a:prstGeom prst="rect">
            <a:avLst/>
          </a:prstGeom>
          <a:noFill/>
        </p:spPr>
        <p:txBody>
          <a:bodyPr wrap="square">
            <a:spAutoFit/>
          </a:bodyPr>
          <a:lstStyle/>
          <a:p>
            <a:r>
              <a:rPr lang="en-US" sz="2800" dirty="0">
                <a:solidFill>
                  <a:srgbClr val="232F3E"/>
                </a:solidFill>
                <a:ea typeface="Amazon Ember" panose="020B0603020204020204" pitchFamily="34" charset="0"/>
                <a:cs typeface="Amazon Ember" panose="020B0603020204020204" pitchFamily="34" charset="0"/>
              </a:rPr>
              <a:t>Application logic</a:t>
            </a:r>
          </a:p>
        </p:txBody>
      </p:sp>
      <p:sp>
        <p:nvSpPr>
          <p:cNvPr id="48" name="TextBox 47">
            <a:extLst>
              <a:ext uri="{FF2B5EF4-FFF2-40B4-BE49-F238E27FC236}">
                <a16:creationId xmlns:a16="http://schemas.microsoft.com/office/drawing/2014/main" id="{5DCDDE49-0246-86A6-03FB-EECE884FA69D}"/>
              </a:ext>
            </a:extLst>
          </p:cNvPr>
          <p:cNvSpPr txBox="1"/>
          <p:nvPr/>
        </p:nvSpPr>
        <p:spPr>
          <a:xfrm>
            <a:off x="2134213" y="3916165"/>
            <a:ext cx="4468868" cy="523220"/>
          </a:xfrm>
          <a:prstGeom prst="rect">
            <a:avLst/>
          </a:prstGeom>
          <a:noFill/>
        </p:spPr>
        <p:txBody>
          <a:bodyPr wrap="square">
            <a:spAutoFit/>
          </a:bodyPr>
          <a:lstStyle/>
          <a:p>
            <a:r>
              <a:rPr lang="en-US" sz="2800" dirty="0">
                <a:solidFill>
                  <a:srgbClr val="232F3E"/>
                </a:solidFill>
                <a:ea typeface="Amazon Ember" panose="020B0603020204020204" pitchFamily="34" charset="0"/>
                <a:cs typeface="Amazon Ember" panose="020B0603020204020204" pitchFamily="34" charset="0"/>
              </a:rPr>
              <a:t>FM interface</a:t>
            </a:r>
          </a:p>
        </p:txBody>
      </p:sp>
      <p:pic>
        <p:nvPicPr>
          <p:cNvPr id="11" name="Graphic 10">
            <a:extLst>
              <a:ext uri="{FF2B5EF4-FFF2-40B4-BE49-F238E27FC236}">
                <a16:creationId xmlns:a16="http://schemas.microsoft.com/office/drawing/2014/main" id="{D0258F8E-DBFA-5A26-23C3-F84CC533E750}"/>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9181" y="4176117"/>
            <a:ext cx="1268625" cy="1268625"/>
          </a:xfrm>
          <a:prstGeom prst="rect">
            <a:avLst/>
          </a:prstGeom>
        </p:spPr>
      </p:pic>
      <p:sp>
        <p:nvSpPr>
          <p:cNvPr id="41" name="TextBox 40">
            <a:extLst>
              <a:ext uri="{FF2B5EF4-FFF2-40B4-BE49-F238E27FC236}">
                <a16:creationId xmlns:a16="http://schemas.microsoft.com/office/drawing/2014/main" id="{14AD8E81-9B51-024A-0961-3F710F9F3AE3}"/>
              </a:ext>
            </a:extLst>
          </p:cNvPr>
          <p:cNvSpPr txBox="1"/>
          <p:nvPr/>
        </p:nvSpPr>
        <p:spPr>
          <a:xfrm>
            <a:off x="1611626" y="4547705"/>
            <a:ext cx="4468868" cy="523220"/>
          </a:xfrm>
          <a:prstGeom prst="rect">
            <a:avLst/>
          </a:prstGeom>
          <a:noFill/>
        </p:spPr>
        <p:txBody>
          <a:bodyPr wrap="square">
            <a:spAutoFit/>
          </a:bodyPr>
          <a:lstStyle/>
          <a:p>
            <a:r>
              <a:rPr lang="en-US" sz="2800" dirty="0">
                <a:solidFill>
                  <a:srgbClr val="232F3E"/>
                </a:solidFill>
                <a:ea typeface="Amazon Ember" panose="020B0603020204020204" pitchFamily="34" charset="0"/>
                <a:cs typeface="Amazon Ember" panose="020B0603020204020204" pitchFamily="34" charset="0"/>
              </a:rPr>
              <a:t>Foundation model</a:t>
            </a:r>
          </a:p>
        </p:txBody>
      </p:sp>
      <p:cxnSp>
        <p:nvCxnSpPr>
          <p:cNvPr id="45" name="Straight Arrow Connector 44">
            <a:extLst>
              <a:ext uri="{FF2B5EF4-FFF2-40B4-BE49-F238E27FC236}">
                <a16:creationId xmlns:a16="http://schemas.microsoft.com/office/drawing/2014/main" id="{549439A9-6C11-0CF2-E39F-45B3F8A6E3AB}"/>
              </a:ext>
              <a:ext uri="{C183D7F6-B498-43B3-948B-1728B52AA6E4}">
                <adec:decorative xmlns:adec="http://schemas.microsoft.com/office/drawing/2017/decorative" val="1"/>
              </a:ext>
            </a:extLst>
          </p:cNvPr>
          <p:cNvCxnSpPr>
            <a:cxnSpLocks/>
          </p:cNvCxnSpPr>
          <p:nvPr/>
        </p:nvCxnSpPr>
        <p:spPr>
          <a:xfrm>
            <a:off x="1903649" y="2544679"/>
            <a:ext cx="0" cy="633338"/>
          </a:xfrm>
          <a:prstGeom prst="straightConnector1">
            <a:avLst/>
          </a:prstGeom>
          <a:ln w="44450" cmpd="sng">
            <a:solidFill>
              <a:schemeClr val="tx1"/>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1C9DF596-C88C-B554-A116-EB7717651A8E}"/>
              </a:ext>
              <a:ext uri="{C183D7F6-B498-43B3-948B-1728B52AA6E4}">
                <adec:decorative xmlns:adec="http://schemas.microsoft.com/office/drawing/2017/decorative" val="1"/>
              </a:ext>
            </a:extLst>
          </p:cNvPr>
          <p:cNvCxnSpPr>
            <a:cxnSpLocks/>
          </p:cNvCxnSpPr>
          <p:nvPr/>
        </p:nvCxnSpPr>
        <p:spPr>
          <a:xfrm>
            <a:off x="1903649" y="3845427"/>
            <a:ext cx="0" cy="633338"/>
          </a:xfrm>
          <a:prstGeom prst="straightConnector1">
            <a:avLst/>
          </a:prstGeom>
          <a:ln w="44450" cmpd="sng">
            <a:solidFill>
              <a:schemeClr val="tx1"/>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9196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D85C0-E32C-E975-043A-37F20F5F8E75}"/>
            </a:ext>
          </a:extLst>
        </p:cNvPr>
        <p:cNvGrpSpPr/>
        <p:nvPr/>
      </p:nvGrpSpPr>
      <p:grpSpPr>
        <a:xfrm>
          <a:off x="0" y="0"/>
          <a:ext cx="0" cy="0"/>
          <a:chOff x="0" y="0"/>
          <a:chExt cx="0" cy="0"/>
        </a:xfrm>
      </p:grpSpPr>
      <p:sp>
        <p:nvSpPr>
          <p:cNvPr id="4" name="Slide Number">
            <a:extLst>
              <a:ext uri="{FF2B5EF4-FFF2-40B4-BE49-F238E27FC236}">
                <a16:creationId xmlns:a16="http://schemas.microsoft.com/office/drawing/2014/main" id="{0BED69C4-8D27-3A0D-4006-58C5ADB2F923}"/>
              </a:ext>
            </a:extLst>
          </p:cNvPr>
          <p:cNvSpPr>
            <a:spLocks noGrp="1"/>
          </p:cNvSpPr>
          <p:nvPr>
            <p:ph type="sldNum" idx="97"/>
          </p:nvPr>
        </p:nvSpPr>
        <p:spPr/>
        <p:txBody>
          <a:bodyPr/>
          <a:lstStyle/>
          <a:p>
            <a:fld id="{930176A1-BCF0-4712-97A6-6B495F55390B}" type="slidenum">
              <a:rPr lang="en-US" smtClean="0"/>
              <a:pPr/>
              <a:t>23</a:t>
            </a:fld>
            <a:endParaRPr lang="en-US" dirty="0"/>
          </a:p>
        </p:txBody>
      </p:sp>
      <p:sp>
        <p:nvSpPr>
          <p:cNvPr id="2" name="Title">
            <a:extLst>
              <a:ext uri="{FF2B5EF4-FFF2-40B4-BE49-F238E27FC236}">
                <a16:creationId xmlns:a16="http://schemas.microsoft.com/office/drawing/2014/main" id="{1F6309FA-3EBE-CC73-11C7-E14C705C53D2}"/>
              </a:ext>
            </a:extLst>
          </p:cNvPr>
          <p:cNvSpPr>
            <a:spLocks noGrp="1"/>
          </p:cNvSpPr>
          <p:nvPr>
            <p:ph type="title" idx="1"/>
          </p:nvPr>
        </p:nvSpPr>
        <p:spPr/>
        <p:txBody>
          <a:bodyPr>
            <a:normAutofit fontScale="90000"/>
          </a:bodyPr>
          <a:lstStyle/>
          <a:p>
            <a:r>
              <a:rPr lang="en-US" dirty="0"/>
              <a:t>Integrating enterprise data and complex workflows</a:t>
            </a:r>
          </a:p>
        </p:txBody>
      </p:sp>
      <p:grpSp>
        <p:nvGrpSpPr>
          <p:cNvPr id="26" name="FlattenCore">
            <a:extLst>
              <a:ext uri="{FF2B5EF4-FFF2-40B4-BE49-F238E27FC236}">
                <a16:creationId xmlns:a16="http://schemas.microsoft.com/office/drawing/2014/main" id="{7E384A63-6685-E17B-2EA5-C8B4A4AEB96C}"/>
              </a:ext>
              <a:ext uri="{C183D7F6-B498-43B3-948B-1728B52AA6E4}">
                <adec:decorative xmlns:adec="http://schemas.microsoft.com/office/drawing/2017/decorative" val="1"/>
              </a:ext>
            </a:extLst>
          </p:cNvPr>
          <p:cNvGrpSpPr/>
          <p:nvPr/>
        </p:nvGrpSpPr>
        <p:grpSpPr>
          <a:xfrm>
            <a:off x="359557" y="1053041"/>
            <a:ext cx="6243524" cy="4391701"/>
            <a:chOff x="359557" y="1053041"/>
            <a:chExt cx="6243524" cy="4391701"/>
          </a:xfrm>
        </p:grpSpPr>
        <p:grpSp>
          <p:nvGrpSpPr>
            <p:cNvPr id="6" name="Group 5">
              <a:extLst>
                <a:ext uri="{FF2B5EF4-FFF2-40B4-BE49-F238E27FC236}">
                  <a16:creationId xmlns:a16="http://schemas.microsoft.com/office/drawing/2014/main" id="{30761057-E612-3BAD-BA8F-315FA66E50B5}"/>
                </a:ext>
              </a:extLst>
            </p:cNvPr>
            <p:cNvGrpSpPr/>
            <p:nvPr/>
          </p:nvGrpSpPr>
          <p:grpSpPr>
            <a:xfrm>
              <a:off x="359557" y="1612870"/>
              <a:ext cx="6243524" cy="3831872"/>
              <a:chOff x="359557" y="1612870"/>
              <a:chExt cx="6243524" cy="3831872"/>
            </a:xfrm>
          </p:grpSpPr>
          <p:sp>
            <p:nvSpPr>
              <p:cNvPr id="39" name="TextBox 38">
                <a:extLst>
                  <a:ext uri="{FF2B5EF4-FFF2-40B4-BE49-F238E27FC236}">
                    <a16:creationId xmlns:a16="http://schemas.microsoft.com/office/drawing/2014/main" id="{F21F9C4E-91C2-93F7-B641-8E25E6B0BF16}"/>
                  </a:ext>
                </a:extLst>
              </p:cNvPr>
              <p:cNvSpPr txBox="1"/>
              <p:nvPr/>
            </p:nvSpPr>
            <p:spPr>
              <a:xfrm>
                <a:off x="1637806" y="2021189"/>
                <a:ext cx="4468868" cy="523220"/>
              </a:xfrm>
              <a:prstGeom prst="rect">
                <a:avLst/>
              </a:prstGeom>
              <a:noFill/>
            </p:spPr>
            <p:txBody>
              <a:bodyPr wrap="square">
                <a:spAutoFit/>
              </a:bodyPr>
              <a:lstStyle/>
              <a:p>
                <a:r>
                  <a:rPr lang="en-US" sz="2800" dirty="0">
                    <a:solidFill>
                      <a:srgbClr val="232F3E"/>
                    </a:solidFill>
                    <a:ea typeface="Amazon Ember" panose="020B0603020204020204" pitchFamily="34" charset="0"/>
                    <a:cs typeface="Amazon Ember" panose="020B0603020204020204" pitchFamily="34" charset="0"/>
                  </a:rPr>
                  <a:t>Application frontend</a:t>
                </a:r>
              </a:p>
            </p:txBody>
          </p:sp>
          <p:sp>
            <p:nvSpPr>
              <p:cNvPr id="40" name="TextBox 39">
                <a:extLst>
                  <a:ext uri="{FF2B5EF4-FFF2-40B4-BE49-F238E27FC236}">
                    <a16:creationId xmlns:a16="http://schemas.microsoft.com/office/drawing/2014/main" id="{06DC0D65-E7BE-A991-0E03-02FBF728CCBE}"/>
                  </a:ext>
                </a:extLst>
              </p:cNvPr>
              <p:cNvSpPr txBox="1"/>
              <p:nvPr/>
            </p:nvSpPr>
            <p:spPr>
              <a:xfrm>
                <a:off x="1637806" y="3306457"/>
                <a:ext cx="4468868" cy="523220"/>
              </a:xfrm>
              <a:prstGeom prst="rect">
                <a:avLst/>
              </a:prstGeom>
              <a:noFill/>
            </p:spPr>
            <p:txBody>
              <a:bodyPr wrap="square">
                <a:spAutoFit/>
              </a:bodyPr>
              <a:lstStyle/>
              <a:p>
                <a:r>
                  <a:rPr lang="en-US" sz="2800" dirty="0">
                    <a:solidFill>
                      <a:srgbClr val="232F3E"/>
                    </a:solidFill>
                    <a:ea typeface="Amazon Ember" panose="020B0603020204020204" pitchFamily="34" charset="0"/>
                    <a:cs typeface="Amazon Ember" panose="020B0603020204020204" pitchFamily="34" charset="0"/>
                  </a:rPr>
                  <a:t>Application logic</a:t>
                </a:r>
              </a:p>
            </p:txBody>
          </p:sp>
          <p:sp>
            <p:nvSpPr>
              <p:cNvPr id="48" name="TextBox 47">
                <a:extLst>
                  <a:ext uri="{FF2B5EF4-FFF2-40B4-BE49-F238E27FC236}">
                    <a16:creationId xmlns:a16="http://schemas.microsoft.com/office/drawing/2014/main" id="{C8977AE1-A682-E6CD-207B-CD415AB13ED2}"/>
                  </a:ext>
                </a:extLst>
              </p:cNvPr>
              <p:cNvSpPr txBox="1"/>
              <p:nvPr/>
            </p:nvSpPr>
            <p:spPr>
              <a:xfrm>
                <a:off x="2134213" y="3955999"/>
                <a:ext cx="4468868" cy="523220"/>
              </a:xfrm>
              <a:prstGeom prst="rect">
                <a:avLst/>
              </a:prstGeom>
              <a:noFill/>
            </p:spPr>
            <p:txBody>
              <a:bodyPr wrap="square">
                <a:spAutoFit/>
              </a:bodyPr>
              <a:lstStyle/>
              <a:p>
                <a:r>
                  <a:rPr lang="en-US" sz="2800" i="1" dirty="0">
                    <a:solidFill>
                      <a:srgbClr val="232F3E"/>
                    </a:solidFill>
                    <a:ea typeface="Amazon Ember" panose="020B0603020204020204" pitchFamily="34" charset="0"/>
                    <a:cs typeface="Amazon Ember" panose="020B0603020204020204" pitchFamily="34" charset="0"/>
                  </a:rPr>
                  <a:t>FM interface</a:t>
                </a:r>
              </a:p>
            </p:txBody>
          </p:sp>
          <p:sp>
            <p:nvSpPr>
              <p:cNvPr id="41" name="TextBox 40">
                <a:extLst>
                  <a:ext uri="{FF2B5EF4-FFF2-40B4-BE49-F238E27FC236}">
                    <a16:creationId xmlns:a16="http://schemas.microsoft.com/office/drawing/2014/main" id="{63D03FFC-A3C2-2F52-1964-EF448A2883FD}"/>
                  </a:ext>
                </a:extLst>
              </p:cNvPr>
              <p:cNvSpPr txBox="1"/>
              <p:nvPr/>
            </p:nvSpPr>
            <p:spPr>
              <a:xfrm>
                <a:off x="1611626" y="4587539"/>
                <a:ext cx="4468868" cy="523220"/>
              </a:xfrm>
              <a:prstGeom prst="rect">
                <a:avLst/>
              </a:prstGeom>
              <a:noFill/>
            </p:spPr>
            <p:txBody>
              <a:bodyPr wrap="square">
                <a:spAutoFit/>
              </a:bodyPr>
              <a:lstStyle/>
              <a:p>
                <a:r>
                  <a:rPr lang="en-US" sz="2800" dirty="0">
                    <a:solidFill>
                      <a:srgbClr val="232F3E"/>
                    </a:solidFill>
                    <a:ea typeface="Amazon Ember" panose="020B0603020204020204" pitchFamily="34" charset="0"/>
                    <a:cs typeface="Amazon Ember" panose="020B0603020204020204" pitchFamily="34" charset="0"/>
                  </a:rPr>
                  <a:t>Foundation model</a:t>
                </a:r>
              </a:p>
            </p:txBody>
          </p:sp>
          <p:pic>
            <p:nvPicPr>
              <p:cNvPr id="10" name="Graphic 9">
                <a:extLst>
                  <a:ext uri="{FF2B5EF4-FFF2-40B4-BE49-F238E27FC236}">
                    <a16:creationId xmlns:a16="http://schemas.microsoft.com/office/drawing/2014/main" id="{10A72E3A-B74F-AEDC-97E7-A1FFD9008B6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9181" y="1612870"/>
                <a:ext cx="1248478" cy="1248478"/>
              </a:xfrm>
              <a:prstGeom prst="rect">
                <a:avLst/>
              </a:prstGeom>
            </p:spPr>
          </p:pic>
          <p:pic>
            <p:nvPicPr>
              <p:cNvPr id="11" name="Graphic 10">
                <a:extLst>
                  <a:ext uri="{FF2B5EF4-FFF2-40B4-BE49-F238E27FC236}">
                    <a16:creationId xmlns:a16="http://schemas.microsoft.com/office/drawing/2014/main" id="{3BEE01B3-3F8E-56AB-64ED-00577107EC62}"/>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9181" y="4176117"/>
                <a:ext cx="1268625" cy="1268625"/>
              </a:xfrm>
              <a:prstGeom prst="rect">
                <a:avLst/>
              </a:prstGeom>
            </p:spPr>
          </p:pic>
          <p:pic>
            <p:nvPicPr>
              <p:cNvPr id="12" name="Graphic 11">
                <a:extLst>
                  <a:ext uri="{FF2B5EF4-FFF2-40B4-BE49-F238E27FC236}">
                    <a16:creationId xmlns:a16="http://schemas.microsoft.com/office/drawing/2014/main" id="{3FBD3FE5-D239-31E8-47D5-B8B123652070}"/>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59557" y="2894370"/>
                <a:ext cx="1267726" cy="1267726"/>
              </a:xfrm>
              <a:prstGeom prst="rect">
                <a:avLst/>
              </a:prstGeom>
            </p:spPr>
          </p:pic>
          <p:cxnSp>
            <p:nvCxnSpPr>
              <p:cNvPr id="45" name="Straight Arrow Connector 44">
                <a:extLst>
                  <a:ext uri="{FF2B5EF4-FFF2-40B4-BE49-F238E27FC236}">
                    <a16:creationId xmlns:a16="http://schemas.microsoft.com/office/drawing/2014/main" id="{A0800A60-03A2-F668-7E57-BB2549241FAB}"/>
                  </a:ext>
                  <a:ext uri="{C183D7F6-B498-43B3-948B-1728B52AA6E4}">
                    <adec:decorative xmlns:adec="http://schemas.microsoft.com/office/drawing/2017/decorative" val="1"/>
                  </a:ext>
                </a:extLst>
              </p:cNvPr>
              <p:cNvCxnSpPr>
                <a:cxnSpLocks/>
              </p:cNvCxnSpPr>
              <p:nvPr/>
            </p:nvCxnSpPr>
            <p:spPr>
              <a:xfrm>
                <a:off x="1903649" y="2544679"/>
                <a:ext cx="0" cy="633338"/>
              </a:xfrm>
              <a:prstGeom prst="straightConnector1">
                <a:avLst/>
              </a:prstGeom>
              <a:ln w="44450" cmpd="sng">
                <a:solidFill>
                  <a:schemeClr val="tx1"/>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A29BADA-C6FE-4234-DF2C-A9CD34741C86}"/>
                  </a:ext>
                  <a:ext uri="{C183D7F6-B498-43B3-948B-1728B52AA6E4}">
                    <adec:decorative xmlns:adec="http://schemas.microsoft.com/office/drawing/2017/decorative" val="1"/>
                  </a:ext>
                </a:extLst>
              </p:cNvPr>
              <p:cNvCxnSpPr>
                <a:cxnSpLocks/>
              </p:cNvCxnSpPr>
              <p:nvPr/>
            </p:nvCxnSpPr>
            <p:spPr>
              <a:xfrm>
                <a:off x="1903649" y="3845427"/>
                <a:ext cx="0" cy="633338"/>
              </a:xfrm>
              <a:prstGeom prst="straightConnector1">
                <a:avLst/>
              </a:prstGeom>
              <a:ln w="44450" cmpd="sng">
                <a:solidFill>
                  <a:schemeClr val="tx1"/>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grpSp>
        <p:sp>
          <p:nvSpPr>
            <p:cNvPr id="9" name="Text Placeholder 2">
              <a:extLst>
                <a:ext uri="{FF2B5EF4-FFF2-40B4-BE49-F238E27FC236}">
                  <a16:creationId xmlns:a16="http://schemas.microsoft.com/office/drawing/2014/main" id="{25D007DA-A029-6B96-9CD7-1350D21BAE74}"/>
                </a:ext>
              </a:extLst>
            </p:cNvPr>
            <p:cNvSpPr txBox="1">
              <a:spLocks/>
            </p:cNvSpPr>
            <p:nvPr/>
          </p:nvSpPr>
          <p:spPr>
            <a:xfrm>
              <a:off x="359557" y="1053041"/>
              <a:ext cx="5669280" cy="440329"/>
            </a:xfrm>
            <a:prstGeom prst="rect">
              <a:avLst/>
            </a:prstGeom>
            <a:blipFill>
              <a:blip r:embed="rId9"/>
              <a:stretch>
                <a:fillRect/>
              </a:stretch>
            </a:blipFill>
            <a:ln>
              <a:noFill/>
            </a:ln>
          </p:spPr>
          <p:txBody>
            <a:bodyPr vert="horz" lIns="91440" tIns="45720" rIns="91440" bIns="45720" rtlCol="0" anchor="ctr">
              <a:noAutofit/>
            </a:bodyPr>
            <a:lstStyle>
              <a:lvl1pPr marL="60325" indent="0" algn="l" defTabSz="914400" rtl="0" eaLnBrk="1" latinLnBrk="0" hangingPunct="1">
                <a:lnSpc>
                  <a:spcPct val="90000"/>
                </a:lnSpc>
                <a:spcBef>
                  <a:spcPts val="0"/>
                </a:spcBef>
                <a:spcAft>
                  <a:spcPts val="0"/>
                </a:spcAft>
                <a:buFont typeface="Arial" panose="020B0604020202020204" pitchFamily="34" charset="0"/>
                <a:buNone/>
                <a:defRPr sz="2400" b="0" kern="12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Core application components</a:t>
              </a:r>
            </a:p>
          </p:txBody>
        </p:sp>
      </p:grpSp>
      <p:sp>
        <p:nvSpPr>
          <p:cNvPr id="5" name="Text Placeholder 4">
            <a:extLst>
              <a:ext uri="{FF2B5EF4-FFF2-40B4-BE49-F238E27FC236}">
                <a16:creationId xmlns:a16="http://schemas.microsoft.com/office/drawing/2014/main" id="{5B334F60-9B41-7833-476F-E67EB7636101}"/>
              </a:ext>
            </a:extLst>
          </p:cNvPr>
          <p:cNvSpPr>
            <a:spLocks noGrp="1"/>
          </p:cNvSpPr>
          <p:nvPr>
            <p:ph type="body" idx="13"/>
          </p:nvPr>
        </p:nvSpPr>
        <p:spPr/>
        <p:txBody>
          <a:bodyPr/>
          <a:lstStyle/>
          <a:p>
            <a:r>
              <a:rPr lang="en-US" dirty="0"/>
              <a:t>Optional application components</a:t>
            </a:r>
          </a:p>
        </p:txBody>
      </p:sp>
      <p:pic>
        <p:nvPicPr>
          <p:cNvPr id="14" name="Graphic 13">
            <a:extLst>
              <a:ext uri="{FF2B5EF4-FFF2-40B4-BE49-F238E27FC236}">
                <a16:creationId xmlns:a16="http://schemas.microsoft.com/office/drawing/2014/main" id="{71B68E63-770E-2D1A-AA99-B877656F6AF4}"/>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267339" y="1551315"/>
            <a:ext cx="762000" cy="762000"/>
          </a:xfrm>
          <a:prstGeom prst="rect">
            <a:avLst/>
          </a:prstGeom>
        </p:spPr>
      </p:pic>
      <p:sp>
        <p:nvSpPr>
          <p:cNvPr id="31" name="TextBox 30">
            <a:extLst>
              <a:ext uri="{FF2B5EF4-FFF2-40B4-BE49-F238E27FC236}">
                <a16:creationId xmlns:a16="http://schemas.microsoft.com/office/drawing/2014/main" id="{A210203A-DFB4-DACF-9C3E-AF38C223DE76}"/>
              </a:ext>
            </a:extLst>
          </p:cNvPr>
          <p:cNvSpPr txBox="1"/>
          <p:nvPr/>
        </p:nvSpPr>
        <p:spPr>
          <a:xfrm>
            <a:off x="7219838" y="1750637"/>
            <a:ext cx="4468868" cy="523220"/>
          </a:xfrm>
          <a:prstGeom prst="rect">
            <a:avLst/>
          </a:prstGeom>
          <a:noFill/>
        </p:spPr>
        <p:txBody>
          <a:bodyPr wrap="square">
            <a:spAutoFit/>
          </a:bodyPr>
          <a:lstStyle/>
          <a:p>
            <a:r>
              <a:rPr lang="en-US" sz="2800" dirty="0">
                <a:solidFill>
                  <a:srgbClr val="232F3E"/>
                </a:solidFill>
                <a:ea typeface="Amazon Ember" panose="020B0603020204020204" pitchFamily="34" charset="0"/>
                <a:cs typeface="Amazon Ember" panose="020B0603020204020204" pitchFamily="34" charset="0"/>
              </a:rPr>
              <a:t>Enterprise datasets</a:t>
            </a:r>
          </a:p>
        </p:txBody>
      </p:sp>
      <p:grpSp>
        <p:nvGrpSpPr>
          <p:cNvPr id="29" name="Group 28">
            <a:extLst>
              <a:ext uri="{FF2B5EF4-FFF2-40B4-BE49-F238E27FC236}">
                <a16:creationId xmlns:a16="http://schemas.microsoft.com/office/drawing/2014/main" id="{9FD3D06A-7CE6-67FD-69BA-469E2AA1F320}"/>
              </a:ext>
              <a:ext uri="{C183D7F6-B498-43B3-948B-1728B52AA6E4}">
                <adec:decorative xmlns:adec="http://schemas.microsoft.com/office/drawing/2017/decorative" val="1"/>
              </a:ext>
            </a:extLst>
          </p:cNvPr>
          <p:cNvGrpSpPr>
            <a:grpSpLocks noChangeAspect="1"/>
          </p:cNvGrpSpPr>
          <p:nvPr/>
        </p:nvGrpSpPr>
        <p:grpSpPr>
          <a:xfrm>
            <a:off x="6386089" y="2331399"/>
            <a:ext cx="767965" cy="552944"/>
            <a:chOff x="10834413" y="1711290"/>
            <a:chExt cx="1317489" cy="948609"/>
          </a:xfrm>
        </p:grpSpPr>
        <p:pic>
          <p:nvPicPr>
            <p:cNvPr id="19" name="Graphic 18">
              <a:extLst>
                <a:ext uri="{FF2B5EF4-FFF2-40B4-BE49-F238E27FC236}">
                  <a16:creationId xmlns:a16="http://schemas.microsoft.com/office/drawing/2014/main" id="{DC88589B-D911-5750-C9ED-E1B5A5AEA29A}"/>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203293" y="1711290"/>
              <a:ext cx="948609" cy="948609"/>
            </a:xfrm>
            <a:prstGeom prst="rect">
              <a:avLst/>
            </a:prstGeom>
          </p:spPr>
        </p:pic>
        <p:grpSp>
          <p:nvGrpSpPr>
            <p:cNvPr id="23" name="Graphic 20" descr="Brain">
              <a:extLst>
                <a:ext uri="{FF2B5EF4-FFF2-40B4-BE49-F238E27FC236}">
                  <a16:creationId xmlns:a16="http://schemas.microsoft.com/office/drawing/2014/main" id="{F3BDADE4-FAF9-2600-5BC9-F44F1C7A4D82}"/>
                </a:ext>
              </a:extLst>
            </p:cNvPr>
            <p:cNvGrpSpPr/>
            <p:nvPr/>
          </p:nvGrpSpPr>
          <p:grpSpPr>
            <a:xfrm>
              <a:off x="10834413" y="1711290"/>
              <a:ext cx="474933" cy="948608"/>
              <a:chOff x="10834413" y="1685284"/>
              <a:chExt cx="474933" cy="948608"/>
            </a:xfrm>
            <a:noFill/>
          </p:grpSpPr>
          <p:sp>
            <p:nvSpPr>
              <p:cNvPr id="24" name="Freeform 23">
                <a:extLst>
                  <a:ext uri="{FF2B5EF4-FFF2-40B4-BE49-F238E27FC236}">
                    <a16:creationId xmlns:a16="http://schemas.microsoft.com/office/drawing/2014/main" id="{4658DBD2-B110-BDAE-591D-7EF9570838D9}"/>
                  </a:ext>
                  <a:ext uri="{C183D7F6-B498-43B3-948B-1728B52AA6E4}">
                    <adec:decorative xmlns:adec="http://schemas.microsoft.com/office/drawing/2017/decorative" val="1"/>
                  </a:ext>
                </a:extLst>
              </p:cNvPr>
              <p:cNvSpPr/>
              <p:nvPr/>
            </p:nvSpPr>
            <p:spPr>
              <a:xfrm>
                <a:off x="11206811" y="2075924"/>
                <a:ext cx="102535" cy="59759"/>
              </a:xfrm>
              <a:custGeom>
                <a:avLst/>
                <a:gdLst>
                  <a:gd name="connsiteX0" fmla="*/ 102535 w 102535"/>
                  <a:gd name="connsiteY0" fmla="*/ 59760 h 59759"/>
                  <a:gd name="connsiteX1" fmla="*/ 0 w 102535"/>
                  <a:gd name="connsiteY1" fmla="*/ 0 h 59759"/>
                </a:gdLst>
                <a:ahLst/>
                <a:cxnLst>
                  <a:cxn ang="0">
                    <a:pos x="connsiteX0" y="connsiteY0"/>
                  </a:cxn>
                  <a:cxn ang="0">
                    <a:pos x="connsiteX1" y="connsiteY1"/>
                  </a:cxn>
                </a:cxnLst>
                <a:rect l="l" t="t" r="r" b="b"/>
                <a:pathLst>
                  <a:path w="102535" h="59759">
                    <a:moveTo>
                      <a:pt x="102535" y="59760"/>
                    </a:moveTo>
                    <a:lnTo>
                      <a:pt x="0" y="0"/>
                    </a:lnTo>
                  </a:path>
                </a:pathLst>
              </a:custGeom>
              <a:ln w="25400" cap="flat">
                <a:solidFill>
                  <a:srgbClr val="232F3E"/>
                </a:solidFill>
                <a:prstDash val="solid"/>
                <a:round/>
              </a:ln>
            </p:spPr>
            <p:txBody>
              <a:bodyPr rtlCol="0" anchor="ctr"/>
              <a:lstStyle/>
              <a:p>
                <a:endParaRPr lang="en-US" dirty="0"/>
              </a:p>
            </p:txBody>
          </p:sp>
          <p:sp>
            <p:nvSpPr>
              <p:cNvPr id="25" name="Freeform 24">
                <a:extLst>
                  <a:ext uri="{FF2B5EF4-FFF2-40B4-BE49-F238E27FC236}">
                    <a16:creationId xmlns:a16="http://schemas.microsoft.com/office/drawing/2014/main" id="{5CE0D1ED-7427-8C17-0752-1DD0D866F73A}"/>
                  </a:ext>
                  <a:ext uri="{C183D7F6-B498-43B3-948B-1728B52AA6E4}">
                    <adec:decorative xmlns:adec="http://schemas.microsoft.com/office/drawing/2017/decorative" val="1"/>
                  </a:ext>
                </a:extLst>
              </p:cNvPr>
              <p:cNvSpPr/>
              <p:nvPr/>
            </p:nvSpPr>
            <p:spPr>
              <a:xfrm>
                <a:off x="10834413" y="1685284"/>
                <a:ext cx="474933" cy="948608"/>
              </a:xfrm>
              <a:custGeom>
                <a:avLst/>
                <a:gdLst>
                  <a:gd name="connsiteX0" fmla="*/ 0 w 474933"/>
                  <a:gd name="connsiteY0" fmla="*/ 569920 h 948608"/>
                  <a:gd name="connsiteX1" fmla="*/ 0 w 474933"/>
                  <a:gd name="connsiteY1" fmla="*/ 569920 h 948608"/>
                  <a:gd name="connsiteX2" fmla="*/ 246588 w 474933"/>
                  <a:gd name="connsiteY2" fmla="*/ 454804 h 948608"/>
                  <a:gd name="connsiteX3" fmla="*/ 246588 w 474933"/>
                  <a:gd name="connsiteY3" fmla="*/ 344720 h 948608"/>
                  <a:gd name="connsiteX4" fmla="*/ 369882 w 474933"/>
                  <a:gd name="connsiteY4" fmla="*/ 276153 h 948608"/>
                  <a:gd name="connsiteX5" fmla="*/ 369882 w 474933"/>
                  <a:gd name="connsiteY5" fmla="*/ 123294 h 948608"/>
                  <a:gd name="connsiteX6" fmla="*/ 246588 w 474933"/>
                  <a:gd name="connsiteY6" fmla="*/ 344091 h 948608"/>
                  <a:gd name="connsiteX7" fmla="*/ 123923 w 474933"/>
                  <a:gd name="connsiteY7" fmla="*/ 275524 h 948608"/>
                  <a:gd name="connsiteX8" fmla="*/ 246588 w 474933"/>
                  <a:gd name="connsiteY8" fmla="*/ 193748 h 948608"/>
                  <a:gd name="connsiteX9" fmla="*/ 246588 w 474933"/>
                  <a:gd name="connsiteY9" fmla="*/ 57873 h 948608"/>
                  <a:gd name="connsiteX10" fmla="*/ 0 w 474933"/>
                  <a:gd name="connsiteY10" fmla="*/ 464240 h 948608"/>
                  <a:gd name="connsiteX11" fmla="*/ 118262 w 474933"/>
                  <a:gd name="connsiteY11" fmla="*/ 395673 h 948608"/>
                  <a:gd name="connsiteX12" fmla="*/ 118891 w 474933"/>
                  <a:gd name="connsiteY12" fmla="*/ 659245 h 948608"/>
                  <a:gd name="connsiteX13" fmla="*/ 237152 w 474933"/>
                  <a:gd name="connsiteY13" fmla="*/ 590679 h 948608"/>
                  <a:gd name="connsiteX14" fmla="*/ 235894 w 474933"/>
                  <a:gd name="connsiteY14" fmla="*/ 873752 h 948608"/>
                  <a:gd name="connsiteX15" fmla="*/ 378060 w 474933"/>
                  <a:gd name="connsiteY15" fmla="*/ 788830 h 948608"/>
                  <a:gd name="connsiteX16" fmla="*/ 232749 w 474933"/>
                  <a:gd name="connsiteY16" fmla="*/ 741022 h 948608"/>
                  <a:gd name="connsiteX17" fmla="*/ 474934 w 474933"/>
                  <a:gd name="connsiteY17" fmla="*/ 601373 h 948608"/>
                  <a:gd name="connsiteX18" fmla="*/ 120778 w 474933"/>
                  <a:gd name="connsiteY18" fmla="*/ 526516 h 948608"/>
                  <a:gd name="connsiteX19" fmla="*/ 245959 w 474933"/>
                  <a:gd name="connsiteY19" fmla="*/ 454175 h 948608"/>
                  <a:gd name="connsiteX20" fmla="*/ 360446 w 474933"/>
                  <a:gd name="connsiteY20" fmla="*/ 0 h 948608"/>
                  <a:gd name="connsiteX21" fmla="*/ 123294 w 474933"/>
                  <a:gd name="connsiteY21" fmla="*/ 119520 h 948608"/>
                  <a:gd name="connsiteX22" fmla="*/ 123294 w 474933"/>
                  <a:gd name="connsiteY22" fmla="*/ 275524 h 948608"/>
                  <a:gd name="connsiteX23" fmla="*/ 0 w 474933"/>
                  <a:gd name="connsiteY23" fmla="*/ 344091 h 948608"/>
                  <a:gd name="connsiteX24" fmla="*/ 0 w 474933"/>
                  <a:gd name="connsiteY24" fmla="*/ 580614 h 948608"/>
                  <a:gd name="connsiteX25" fmla="*/ 123294 w 474933"/>
                  <a:gd name="connsiteY25" fmla="*/ 656729 h 948608"/>
                  <a:gd name="connsiteX26" fmla="*/ 123294 w 474933"/>
                  <a:gd name="connsiteY26" fmla="*/ 804556 h 948608"/>
                  <a:gd name="connsiteX27" fmla="*/ 360446 w 474933"/>
                  <a:gd name="connsiteY27" fmla="*/ 948609 h 948608"/>
                  <a:gd name="connsiteX28" fmla="*/ 474934 w 474933"/>
                  <a:gd name="connsiteY28" fmla="*/ 895769 h 948608"/>
                  <a:gd name="connsiteX29" fmla="*/ 474934 w 474933"/>
                  <a:gd name="connsiteY29" fmla="*/ 52840 h 948608"/>
                  <a:gd name="connsiteX30" fmla="*/ 360446 w 474933"/>
                  <a:gd name="connsiteY30" fmla="*/ 0 h 948608"/>
                  <a:gd name="connsiteX31" fmla="*/ 369253 w 474933"/>
                  <a:gd name="connsiteY31" fmla="*/ 661762 h 948608"/>
                  <a:gd name="connsiteX32" fmla="*/ 369253 w 474933"/>
                  <a:gd name="connsiteY32" fmla="*/ 520854 h 948608"/>
                  <a:gd name="connsiteX33" fmla="*/ 243443 w 474933"/>
                  <a:gd name="connsiteY33" fmla="*/ 452288 h 94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4933" h="948608">
                    <a:moveTo>
                      <a:pt x="0" y="569920"/>
                    </a:moveTo>
                    <a:lnTo>
                      <a:pt x="0" y="569920"/>
                    </a:lnTo>
                    <a:close/>
                    <a:moveTo>
                      <a:pt x="246588" y="454804"/>
                    </a:moveTo>
                    <a:lnTo>
                      <a:pt x="246588" y="344720"/>
                    </a:lnTo>
                    <a:lnTo>
                      <a:pt x="369882" y="276153"/>
                    </a:lnTo>
                    <a:lnTo>
                      <a:pt x="369882" y="123294"/>
                    </a:lnTo>
                    <a:moveTo>
                      <a:pt x="246588" y="344091"/>
                    </a:moveTo>
                    <a:lnTo>
                      <a:pt x="123923" y="275524"/>
                    </a:lnTo>
                    <a:moveTo>
                      <a:pt x="246588" y="193748"/>
                    </a:moveTo>
                    <a:lnTo>
                      <a:pt x="246588" y="57873"/>
                    </a:lnTo>
                    <a:moveTo>
                      <a:pt x="0" y="464240"/>
                    </a:moveTo>
                    <a:lnTo>
                      <a:pt x="118262" y="395673"/>
                    </a:lnTo>
                    <a:moveTo>
                      <a:pt x="118891" y="659245"/>
                    </a:moveTo>
                    <a:lnTo>
                      <a:pt x="237152" y="590679"/>
                    </a:lnTo>
                    <a:moveTo>
                      <a:pt x="235894" y="873752"/>
                    </a:moveTo>
                    <a:lnTo>
                      <a:pt x="378060" y="788830"/>
                    </a:lnTo>
                    <a:moveTo>
                      <a:pt x="232749" y="741022"/>
                    </a:moveTo>
                    <a:lnTo>
                      <a:pt x="474934" y="601373"/>
                    </a:lnTo>
                    <a:moveTo>
                      <a:pt x="120778" y="526516"/>
                    </a:moveTo>
                    <a:lnTo>
                      <a:pt x="245959" y="454175"/>
                    </a:lnTo>
                    <a:moveTo>
                      <a:pt x="360446" y="0"/>
                    </a:moveTo>
                    <a:lnTo>
                      <a:pt x="123294" y="119520"/>
                    </a:lnTo>
                    <a:lnTo>
                      <a:pt x="123294" y="275524"/>
                    </a:lnTo>
                    <a:lnTo>
                      <a:pt x="0" y="344091"/>
                    </a:lnTo>
                    <a:lnTo>
                      <a:pt x="0" y="580614"/>
                    </a:lnTo>
                    <a:lnTo>
                      <a:pt x="123294" y="656729"/>
                    </a:lnTo>
                    <a:lnTo>
                      <a:pt x="123294" y="804556"/>
                    </a:lnTo>
                    <a:lnTo>
                      <a:pt x="360446" y="948609"/>
                    </a:lnTo>
                    <a:lnTo>
                      <a:pt x="474934" y="895769"/>
                    </a:lnTo>
                    <a:lnTo>
                      <a:pt x="474934" y="52840"/>
                    </a:lnTo>
                    <a:lnTo>
                      <a:pt x="360446" y="0"/>
                    </a:lnTo>
                    <a:close/>
                    <a:moveTo>
                      <a:pt x="369253" y="661762"/>
                    </a:moveTo>
                    <a:lnTo>
                      <a:pt x="369253" y="520854"/>
                    </a:lnTo>
                    <a:lnTo>
                      <a:pt x="243443" y="452288"/>
                    </a:lnTo>
                  </a:path>
                </a:pathLst>
              </a:custGeom>
              <a:noFill/>
              <a:ln w="25400" cap="flat">
                <a:solidFill>
                  <a:srgbClr val="232F3E"/>
                </a:solidFill>
                <a:prstDash val="solid"/>
                <a:round/>
              </a:ln>
            </p:spPr>
            <p:txBody>
              <a:bodyPr rtlCol="0" anchor="ctr"/>
              <a:lstStyle/>
              <a:p>
                <a:endParaRPr lang="en-US" dirty="0"/>
              </a:p>
            </p:txBody>
          </p:sp>
        </p:grpSp>
      </p:grpSp>
      <p:sp>
        <p:nvSpPr>
          <p:cNvPr id="32" name="TextBox 31">
            <a:extLst>
              <a:ext uri="{FF2B5EF4-FFF2-40B4-BE49-F238E27FC236}">
                <a16:creationId xmlns:a16="http://schemas.microsoft.com/office/drawing/2014/main" id="{0CBFDA70-7A8C-B1EB-970F-920259AD2919}"/>
              </a:ext>
            </a:extLst>
          </p:cNvPr>
          <p:cNvSpPr txBox="1"/>
          <p:nvPr/>
        </p:nvSpPr>
        <p:spPr>
          <a:xfrm>
            <a:off x="7219838" y="2434290"/>
            <a:ext cx="4701401" cy="523220"/>
          </a:xfrm>
          <a:prstGeom prst="rect">
            <a:avLst/>
          </a:prstGeom>
          <a:noFill/>
        </p:spPr>
        <p:txBody>
          <a:bodyPr wrap="square">
            <a:spAutoFit/>
          </a:bodyPr>
          <a:lstStyle/>
          <a:p>
            <a:r>
              <a:rPr lang="en-US" sz="2800" dirty="0">
                <a:solidFill>
                  <a:srgbClr val="232F3E"/>
                </a:solidFill>
                <a:ea typeface="Amazon Ember" panose="020B0603020204020204" pitchFamily="34" charset="0"/>
                <a:cs typeface="Amazon Ember" panose="020B0603020204020204" pitchFamily="34" charset="0"/>
              </a:rPr>
              <a:t>Embedding models</a:t>
            </a:r>
          </a:p>
        </p:txBody>
      </p:sp>
      <p:pic>
        <p:nvPicPr>
          <p:cNvPr id="17" name="Graphic 16">
            <a:extLst>
              <a:ext uri="{FF2B5EF4-FFF2-40B4-BE49-F238E27FC236}">
                <a16:creationId xmlns:a16="http://schemas.microsoft.com/office/drawing/2014/main" id="{D0ACC48B-5FAF-2070-7813-7B7B5822260B}"/>
              </a:ext>
              <a:ext uri="{C183D7F6-B498-43B3-948B-1728B52AA6E4}">
                <adec:decorative xmlns:adec="http://schemas.microsoft.com/office/drawing/2017/decorative" val="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267339" y="2807427"/>
            <a:ext cx="762000" cy="762000"/>
          </a:xfrm>
          <a:prstGeom prst="rect">
            <a:avLst/>
          </a:prstGeom>
        </p:spPr>
      </p:pic>
      <p:sp>
        <p:nvSpPr>
          <p:cNvPr id="33" name="TextBox 32">
            <a:extLst>
              <a:ext uri="{FF2B5EF4-FFF2-40B4-BE49-F238E27FC236}">
                <a16:creationId xmlns:a16="http://schemas.microsoft.com/office/drawing/2014/main" id="{D06A7A10-5916-CB78-C5D8-5A977E6BF30A}"/>
              </a:ext>
            </a:extLst>
          </p:cNvPr>
          <p:cNvSpPr txBox="1"/>
          <p:nvPr/>
        </p:nvSpPr>
        <p:spPr>
          <a:xfrm>
            <a:off x="7219838" y="3117943"/>
            <a:ext cx="4468868" cy="523220"/>
          </a:xfrm>
          <a:prstGeom prst="rect">
            <a:avLst/>
          </a:prstGeom>
          <a:noFill/>
        </p:spPr>
        <p:txBody>
          <a:bodyPr wrap="square">
            <a:spAutoFit/>
          </a:bodyPr>
          <a:lstStyle/>
          <a:p>
            <a:r>
              <a:rPr lang="en-US" sz="2800" dirty="0">
                <a:solidFill>
                  <a:srgbClr val="232F3E"/>
                </a:solidFill>
                <a:ea typeface="Amazon Ember" panose="020B0603020204020204" pitchFamily="34" charset="0"/>
                <a:cs typeface="Amazon Ember" panose="020B0603020204020204" pitchFamily="34" charset="0"/>
              </a:rPr>
              <a:t>Vector stores</a:t>
            </a:r>
          </a:p>
        </p:txBody>
      </p:sp>
      <p:pic>
        <p:nvPicPr>
          <p:cNvPr id="18" name="Graphic 17">
            <a:extLst>
              <a:ext uri="{FF2B5EF4-FFF2-40B4-BE49-F238E27FC236}">
                <a16:creationId xmlns:a16="http://schemas.microsoft.com/office/drawing/2014/main" id="{4AC578FD-7C08-6D44-68F3-2C43A3F80900}"/>
              </a:ext>
              <a:ext uri="{C183D7F6-B498-43B3-948B-1728B52AA6E4}">
                <adec:decorative xmlns:adec="http://schemas.microsoft.com/office/drawing/2017/decorative" val="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267339" y="3397511"/>
            <a:ext cx="952500" cy="952500"/>
          </a:xfrm>
          <a:prstGeom prst="rect">
            <a:avLst/>
          </a:prstGeom>
        </p:spPr>
      </p:pic>
      <p:sp>
        <p:nvSpPr>
          <p:cNvPr id="34" name="TextBox 33">
            <a:extLst>
              <a:ext uri="{FF2B5EF4-FFF2-40B4-BE49-F238E27FC236}">
                <a16:creationId xmlns:a16="http://schemas.microsoft.com/office/drawing/2014/main" id="{0D65D340-D664-DEF3-99A2-D5E85687D5ED}"/>
              </a:ext>
            </a:extLst>
          </p:cNvPr>
          <p:cNvSpPr txBox="1"/>
          <p:nvPr/>
        </p:nvSpPr>
        <p:spPr>
          <a:xfrm>
            <a:off x="7219838" y="3826791"/>
            <a:ext cx="4468868" cy="523220"/>
          </a:xfrm>
          <a:prstGeom prst="rect">
            <a:avLst/>
          </a:prstGeom>
          <a:noFill/>
        </p:spPr>
        <p:txBody>
          <a:bodyPr wrap="square">
            <a:spAutoFit/>
          </a:bodyPr>
          <a:lstStyle/>
          <a:p>
            <a:r>
              <a:rPr lang="en-US" sz="2800" dirty="0">
                <a:solidFill>
                  <a:srgbClr val="232F3E"/>
                </a:solidFill>
                <a:ea typeface="Amazon Ember" panose="020B0603020204020204" pitchFamily="34" charset="0"/>
                <a:cs typeface="Amazon Ember" panose="020B0603020204020204" pitchFamily="34" charset="0"/>
              </a:rPr>
              <a:t>Memory</a:t>
            </a:r>
          </a:p>
        </p:txBody>
      </p:sp>
      <p:pic>
        <p:nvPicPr>
          <p:cNvPr id="20" name="Graphic 19">
            <a:extLst>
              <a:ext uri="{FF2B5EF4-FFF2-40B4-BE49-F238E27FC236}">
                <a16:creationId xmlns:a16="http://schemas.microsoft.com/office/drawing/2014/main" id="{2E639E21-3D33-83D9-D4DA-97AE97261E16}"/>
              </a:ext>
              <a:ext uri="{C183D7F6-B498-43B3-948B-1728B52AA6E4}">
                <adec:decorative xmlns:adec="http://schemas.microsoft.com/office/drawing/2017/decorative" val="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410968" y="4366834"/>
            <a:ext cx="762000" cy="762000"/>
          </a:xfrm>
          <a:prstGeom prst="rect">
            <a:avLst/>
          </a:prstGeom>
        </p:spPr>
      </p:pic>
      <p:sp>
        <p:nvSpPr>
          <p:cNvPr id="36" name="TextBox 35">
            <a:extLst>
              <a:ext uri="{FF2B5EF4-FFF2-40B4-BE49-F238E27FC236}">
                <a16:creationId xmlns:a16="http://schemas.microsoft.com/office/drawing/2014/main" id="{1119057D-F08F-0449-D10C-444BBFDAC4FB}"/>
              </a:ext>
            </a:extLst>
          </p:cNvPr>
          <p:cNvSpPr txBox="1"/>
          <p:nvPr/>
        </p:nvSpPr>
        <p:spPr>
          <a:xfrm>
            <a:off x="7219838" y="4562917"/>
            <a:ext cx="4468868" cy="523220"/>
          </a:xfrm>
          <a:prstGeom prst="rect">
            <a:avLst/>
          </a:prstGeom>
          <a:noFill/>
        </p:spPr>
        <p:txBody>
          <a:bodyPr wrap="square">
            <a:spAutoFit/>
          </a:bodyPr>
          <a:lstStyle/>
          <a:p>
            <a:r>
              <a:rPr lang="en-US" sz="2800" dirty="0">
                <a:solidFill>
                  <a:srgbClr val="232F3E"/>
                </a:solidFill>
                <a:ea typeface="Amazon Ember" panose="020B0603020204020204" pitchFamily="34" charset="0"/>
                <a:cs typeface="Amazon Ember" panose="020B0603020204020204" pitchFamily="34" charset="0"/>
              </a:rPr>
              <a:t>Agents</a:t>
            </a:r>
          </a:p>
        </p:txBody>
      </p:sp>
      <p:pic>
        <p:nvPicPr>
          <p:cNvPr id="44" name="Graphic 43">
            <a:extLst>
              <a:ext uri="{FF2B5EF4-FFF2-40B4-BE49-F238E27FC236}">
                <a16:creationId xmlns:a16="http://schemas.microsoft.com/office/drawing/2014/main" id="{40203E34-4661-244C-E107-AE4780BA83CB}"/>
              </a:ext>
              <a:ext uri="{C183D7F6-B498-43B3-948B-1728B52AA6E4}">
                <adec:decorative xmlns:adec="http://schemas.microsoft.com/office/drawing/2017/decorative" val="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280620" y="5853654"/>
            <a:ext cx="762000" cy="762000"/>
          </a:xfrm>
          <a:prstGeom prst="rect">
            <a:avLst/>
          </a:prstGeom>
        </p:spPr>
      </p:pic>
      <p:cxnSp>
        <p:nvCxnSpPr>
          <p:cNvPr id="8" name="Straight Arrow Connector 7">
            <a:extLst>
              <a:ext uri="{FF2B5EF4-FFF2-40B4-BE49-F238E27FC236}">
                <a16:creationId xmlns:a16="http://schemas.microsoft.com/office/drawing/2014/main" id="{7F439783-0B10-F223-AA1C-E9315256913B}"/>
              </a:ext>
              <a:ext uri="{C183D7F6-B498-43B3-948B-1728B52AA6E4}">
                <adec:decorative xmlns:adec="http://schemas.microsoft.com/office/drawing/2017/decorative" val="1"/>
              </a:ext>
            </a:extLst>
          </p:cNvPr>
          <p:cNvCxnSpPr>
            <a:cxnSpLocks/>
          </p:cNvCxnSpPr>
          <p:nvPr/>
        </p:nvCxnSpPr>
        <p:spPr>
          <a:xfrm>
            <a:off x="826412" y="5804689"/>
            <a:ext cx="10514523" cy="0"/>
          </a:xfrm>
          <a:prstGeom prst="straightConnector1">
            <a:avLst/>
          </a:prstGeom>
          <a:ln w="44450" cmpd="sng">
            <a:solidFill>
              <a:schemeClr val="tx1"/>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C197D29-D682-3577-CAAB-54A86833398D}"/>
              </a:ext>
            </a:extLst>
          </p:cNvPr>
          <p:cNvSpPr txBox="1"/>
          <p:nvPr/>
        </p:nvSpPr>
        <p:spPr>
          <a:xfrm>
            <a:off x="1908510" y="5973044"/>
            <a:ext cx="8977138" cy="523220"/>
          </a:xfrm>
          <a:prstGeom prst="rect">
            <a:avLst/>
          </a:prstGeom>
          <a:noFill/>
        </p:spPr>
        <p:txBody>
          <a:bodyPr wrap="none" rtlCol="0">
            <a:spAutoFit/>
          </a:bodyPr>
          <a:lstStyle/>
          <a:p>
            <a:pPr algn="ctr"/>
            <a:r>
              <a:rPr lang="en-US" sz="2800" dirty="0">
                <a:solidFill>
                  <a:srgbClr val="232F3E"/>
                </a:solidFill>
                <a:ea typeface="Amazon Ember" panose="020B0603020204020204" pitchFamily="34" charset="0"/>
                <a:cs typeface="Amazon Ember" panose="020B0603020204020204" pitchFamily="34" charset="0"/>
              </a:rPr>
              <a:t>Governance and security integrated in all components</a:t>
            </a:r>
          </a:p>
        </p:txBody>
      </p:sp>
    </p:spTree>
    <p:extLst>
      <p:ext uri="{BB962C8B-B14F-4D97-AF65-F5344CB8AC3E}">
        <p14:creationId xmlns:p14="http://schemas.microsoft.com/office/powerpoint/2010/main" val="4046596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F4DAC-0BF2-64C0-EA5D-40DD77D4ECB4}"/>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A9D8DF09-553F-38B7-806C-1EC52AE1E89B}"/>
              </a:ext>
            </a:extLst>
          </p:cNvPr>
          <p:cNvSpPr>
            <a:spLocks noGrp="1"/>
          </p:cNvSpPr>
          <p:nvPr>
            <p:ph type="sldNum" idx="97"/>
          </p:nvPr>
        </p:nvSpPr>
        <p:spPr/>
        <p:txBody>
          <a:bodyPr/>
          <a:lstStyle/>
          <a:p>
            <a:fld id="{930176A1-BCF0-4712-97A6-6B495F55390B}" type="slidenum">
              <a:rPr lang="en-US" smtClean="0"/>
              <a:pPr/>
              <a:t>24</a:t>
            </a:fld>
            <a:endParaRPr lang="en-US" dirty="0"/>
          </a:p>
        </p:txBody>
      </p:sp>
      <p:sp>
        <p:nvSpPr>
          <p:cNvPr id="2" name="Title">
            <a:extLst>
              <a:ext uri="{FF2B5EF4-FFF2-40B4-BE49-F238E27FC236}">
                <a16:creationId xmlns:a16="http://schemas.microsoft.com/office/drawing/2014/main" id="{E03D4E35-4904-35A8-714F-7D0949BFA8C2}"/>
              </a:ext>
            </a:extLst>
          </p:cNvPr>
          <p:cNvSpPr>
            <a:spLocks noGrp="1"/>
          </p:cNvSpPr>
          <p:nvPr>
            <p:ph type="title"/>
          </p:nvPr>
        </p:nvSpPr>
        <p:spPr/>
        <p:txBody>
          <a:bodyPr/>
          <a:lstStyle/>
          <a:p>
            <a:r>
              <a:rPr lang="en-US" dirty="0"/>
              <a:t>Basic generative AI application architecture</a:t>
            </a:r>
          </a:p>
        </p:txBody>
      </p:sp>
      <p:grpSp>
        <p:nvGrpSpPr>
          <p:cNvPr id="5" name="FlattenEntire">
            <a:extLst>
              <a:ext uri="{FF2B5EF4-FFF2-40B4-BE49-F238E27FC236}">
                <a16:creationId xmlns:a16="http://schemas.microsoft.com/office/drawing/2014/main" id="{1552B1A9-3485-FF5F-38BB-C1445FCA1CA5}"/>
              </a:ext>
              <a:ext uri="{C183D7F6-B498-43B3-948B-1728B52AA6E4}">
                <adec:decorative xmlns:adec="http://schemas.microsoft.com/office/drawing/2017/decorative" val="1"/>
              </a:ext>
            </a:extLst>
          </p:cNvPr>
          <p:cNvGrpSpPr/>
          <p:nvPr/>
        </p:nvGrpSpPr>
        <p:grpSpPr>
          <a:xfrm>
            <a:off x="399722" y="1336127"/>
            <a:ext cx="11843870" cy="4713482"/>
            <a:chOff x="399722" y="1336127"/>
            <a:chExt cx="11843870" cy="4713482"/>
          </a:xfrm>
        </p:grpSpPr>
        <p:pic>
          <p:nvPicPr>
            <p:cNvPr id="4" name="Graphic 3">
              <a:extLst>
                <a:ext uri="{FF2B5EF4-FFF2-40B4-BE49-F238E27FC236}">
                  <a16:creationId xmlns:a16="http://schemas.microsoft.com/office/drawing/2014/main" id="{76142324-0829-0B31-B5A7-D0D41A114133}"/>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9722" y="1345751"/>
              <a:ext cx="1248478" cy="1248478"/>
            </a:xfrm>
            <a:prstGeom prst="rect">
              <a:avLst/>
            </a:prstGeom>
          </p:spPr>
        </p:pic>
        <p:pic>
          <p:nvPicPr>
            <p:cNvPr id="6" name="Graphic 5">
              <a:extLst>
                <a:ext uri="{FF2B5EF4-FFF2-40B4-BE49-F238E27FC236}">
                  <a16:creationId xmlns:a16="http://schemas.microsoft.com/office/drawing/2014/main" id="{EAE6ABA4-9FCC-D0E3-CA79-3FBAC797911A}"/>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94366" y="1336127"/>
              <a:ext cx="1267726" cy="1267726"/>
            </a:xfrm>
            <a:prstGeom prst="rect">
              <a:avLst/>
            </a:prstGeom>
          </p:spPr>
        </p:pic>
        <p:pic>
          <p:nvPicPr>
            <p:cNvPr id="14" name="Graphic 13">
              <a:extLst>
                <a:ext uri="{FF2B5EF4-FFF2-40B4-BE49-F238E27FC236}">
                  <a16:creationId xmlns:a16="http://schemas.microsoft.com/office/drawing/2014/main" id="{CA0CC707-2A59-0330-3721-F2179F21A86A}"/>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07238" y="1488518"/>
              <a:ext cx="914400" cy="914400"/>
            </a:xfrm>
            <a:prstGeom prst="rect">
              <a:avLst/>
            </a:prstGeom>
          </p:spPr>
        </p:pic>
        <p:sp>
          <p:nvSpPr>
            <p:cNvPr id="17" name="TextBox 16">
              <a:extLst>
                <a:ext uri="{FF2B5EF4-FFF2-40B4-BE49-F238E27FC236}">
                  <a16:creationId xmlns:a16="http://schemas.microsoft.com/office/drawing/2014/main" id="{80157D61-6FA3-E526-3722-2E0AF338ECE5}"/>
                </a:ext>
              </a:extLst>
            </p:cNvPr>
            <p:cNvSpPr txBox="1"/>
            <p:nvPr/>
          </p:nvSpPr>
          <p:spPr>
            <a:xfrm>
              <a:off x="695986" y="2536156"/>
              <a:ext cx="655950" cy="369332"/>
            </a:xfrm>
            <a:prstGeom prst="rect">
              <a:avLst/>
            </a:prstGeom>
            <a:noFill/>
          </p:spPr>
          <p:txBody>
            <a:bodyPr wrap="none" rtlCol="0">
              <a:spAutoFit/>
            </a:bodyPr>
            <a:lstStyle/>
            <a:p>
              <a:pPr algn="ctr"/>
              <a:r>
                <a:rPr lang="en-US" dirty="0">
                  <a:solidFill>
                    <a:srgbClr val="232F3E"/>
                  </a:solidFill>
                </a:rPr>
                <a:t>User</a:t>
              </a:r>
            </a:p>
          </p:txBody>
        </p:sp>
        <p:sp>
          <p:nvSpPr>
            <p:cNvPr id="18" name="TextBox 17">
              <a:extLst>
                <a:ext uri="{FF2B5EF4-FFF2-40B4-BE49-F238E27FC236}">
                  <a16:creationId xmlns:a16="http://schemas.microsoft.com/office/drawing/2014/main" id="{FAEA2A76-D190-E96E-90E9-A9332BE155CC}"/>
                </a:ext>
              </a:extLst>
            </p:cNvPr>
            <p:cNvSpPr txBox="1"/>
            <p:nvPr/>
          </p:nvSpPr>
          <p:spPr>
            <a:xfrm>
              <a:off x="2940380" y="2519491"/>
              <a:ext cx="1375698" cy="646331"/>
            </a:xfrm>
            <a:prstGeom prst="rect">
              <a:avLst/>
            </a:prstGeom>
            <a:noFill/>
          </p:spPr>
          <p:txBody>
            <a:bodyPr wrap="none" rtlCol="0">
              <a:spAutoFit/>
            </a:bodyPr>
            <a:lstStyle/>
            <a:p>
              <a:pPr algn="ctr"/>
              <a:r>
                <a:rPr lang="en-US" dirty="0">
                  <a:solidFill>
                    <a:srgbClr val="232F3E"/>
                  </a:solidFill>
                </a:rPr>
                <a:t>Application</a:t>
              </a:r>
            </a:p>
            <a:p>
              <a:pPr algn="ctr"/>
              <a:r>
                <a:rPr lang="en-US" dirty="0">
                  <a:solidFill>
                    <a:srgbClr val="232F3E"/>
                  </a:solidFill>
                </a:rPr>
                <a:t>frontend</a:t>
              </a:r>
            </a:p>
          </p:txBody>
        </p:sp>
        <p:sp>
          <p:nvSpPr>
            <p:cNvPr id="22" name="TextBox 21">
              <a:extLst>
                <a:ext uri="{FF2B5EF4-FFF2-40B4-BE49-F238E27FC236}">
                  <a16:creationId xmlns:a16="http://schemas.microsoft.com/office/drawing/2014/main" id="{9D628B90-C435-049E-5F5D-6AE02CF41830}"/>
                </a:ext>
              </a:extLst>
            </p:cNvPr>
            <p:cNvSpPr txBox="1"/>
            <p:nvPr/>
          </p:nvSpPr>
          <p:spPr>
            <a:xfrm>
              <a:off x="9888850" y="2541834"/>
              <a:ext cx="1951175" cy="369332"/>
            </a:xfrm>
            <a:prstGeom prst="rect">
              <a:avLst/>
            </a:prstGeom>
            <a:noFill/>
          </p:spPr>
          <p:txBody>
            <a:bodyPr wrap="none" rtlCol="0">
              <a:spAutoFit/>
            </a:bodyPr>
            <a:lstStyle/>
            <a:p>
              <a:pPr algn="ctr"/>
              <a:r>
                <a:rPr lang="en-US" dirty="0">
                  <a:solidFill>
                    <a:srgbClr val="232F3E"/>
                  </a:solidFill>
                </a:rPr>
                <a:t>Amazon Bedrock</a:t>
              </a:r>
            </a:p>
          </p:txBody>
        </p:sp>
        <p:cxnSp>
          <p:nvCxnSpPr>
            <p:cNvPr id="29" name="Straight Arrow Connector 28">
              <a:extLst>
                <a:ext uri="{FF2B5EF4-FFF2-40B4-BE49-F238E27FC236}">
                  <a16:creationId xmlns:a16="http://schemas.microsoft.com/office/drawing/2014/main" id="{C125ED1F-8F5D-9B19-16E1-CD652E4649C6}"/>
                </a:ext>
                <a:ext uri="{C183D7F6-B498-43B3-948B-1728B52AA6E4}">
                  <adec:decorative xmlns:adec="http://schemas.microsoft.com/office/drawing/2017/decorative" val="1"/>
                </a:ext>
              </a:extLst>
            </p:cNvPr>
            <p:cNvCxnSpPr>
              <a:cxnSpLocks/>
            </p:cNvCxnSpPr>
            <p:nvPr/>
          </p:nvCxnSpPr>
          <p:spPr>
            <a:xfrm>
              <a:off x="1797380" y="1955556"/>
              <a:ext cx="1143000"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C5C3967-7ECB-226C-3EFC-BE5111D0FA16}"/>
                </a:ext>
                <a:ext uri="{C183D7F6-B498-43B3-948B-1728B52AA6E4}">
                  <adec:decorative xmlns:adec="http://schemas.microsoft.com/office/drawing/2017/decorative" val="1"/>
                </a:ext>
              </a:extLst>
            </p:cNvPr>
            <p:cNvCxnSpPr>
              <a:cxnSpLocks/>
            </p:cNvCxnSpPr>
            <p:nvPr/>
          </p:nvCxnSpPr>
          <p:spPr>
            <a:xfrm flipV="1">
              <a:off x="4316078" y="1949982"/>
              <a:ext cx="5874524" cy="5574"/>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953CE9EC-8461-B25C-E3AE-15E4DE238DE4}"/>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223653" y="4138582"/>
              <a:ext cx="1268625" cy="1268625"/>
            </a:xfrm>
            <a:prstGeom prst="rect">
              <a:avLst/>
            </a:prstGeom>
          </p:spPr>
        </p:pic>
        <p:sp>
          <p:nvSpPr>
            <p:cNvPr id="9" name="TextBox 8">
              <a:extLst>
                <a:ext uri="{FF2B5EF4-FFF2-40B4-BE49-F238E27FC236}">
                  <a16:creationId xmlns:a16="http://schemas.microsoft.com/office/drawing/2014/main" id="{7F5A8542-6AB5-D432-D8A9-ABDD6A232613}"/>
                </a:ext>
              </a:extLst>
            </p:cNvPr>
            <p:cNvSpPr txBox="1"/>
            <p:nvPr/>
          </p:nvSpPr>
          <p:spPr>
            <a:xfrm>
              <a:off x="9472337" y="5403278"/>
              <a:ext cx="2771255" cy="646331"/>
            </a:xfrm>
            <a:prstGeom prst="rect">
              <a:avLst/>
            </a:prstGeom>
            <a:noFill/>
          </p:spPr>
          <p:txBody>
            <a:bodyPr wrap="square">
              <a:spAutoFit/>
            </a:bodyPr>
            <a:lstStyle/>
            <a:p>
              <a:pPr algn="ctr"/>
              <a:r>
                <a:rPr lang="en-US" dirty="0">
                  <a:solidFill>
                    <a:srgbClr val="232F3E"/>
                  </a:solidFill>
                  <a:ea typeface="Amazon Ember" panose="020B0603020204020204" pitchFamily="34" charset="0"/>
                  <a:cs typeface="Amazon Ember" panose="020B0603020204020204" pitchFamily="34" charset="0"/>
                </a:rPr>
                <a:t>Foundation</a:t>
              </a:r>
            </a:p>
            <a:p>
              <a:pPr algn="ctr"/>
              <a:r>
                <a:rPr lang="en-US" dirty="0">
                  <a:solidFill>
                    <a:srgbClr val="232F3E"/>
                  </a:solidFill>
                  <a:ea typeface="Amazon Ember" panose="020B0603020204020204" pitchFamily="34" charset="0"/>
                  <a:cs typeface="Amazon Ember" panose="020B0603020204020204" pitchFamily="34" charset="0"/>
                </a:rPr>
                <a:t>model</a:t>
              </a:r>
            </a:p>
          </p:txBody>
        </p:sp>
        <p:cxnSp>
          <p:nvCxnSpPr>
            <p:cNvPr id="11" name="Straight Arrow Connector 10">
              <a:extLst>
                <a:ext uri="{FF2B5EF4-FFF2-40B4-BE49-F238E27FC236}">
                  <a16:creationId xmlns:a16="http://schemas.microsoft.com/office/drawing/2014/main" id="{95DE34A1-36AD-45AE-20BF-12D3DBAD7019}"/>
                </a:ext>
                <a:ext uri="{C183D7F6-B498-43B3-948B-1728B52AA6E4}">
                  <adec:decorative xmlns:adec="http://schemas.microsoft.com/office/drawing/2017/decorative" val="1"/>
                </a:ext>
              </a:extLst>
            </p:cNvPr>
            <p:cNvCxnSpPr>
              <a:cxnSpLocks/>
            </p:cNvCxnSpPr>
            <p:nvPr/>
          </p:nvCxnSpPr>
          <p:spPr>
            <a:xfrm rot="5400000">
              <a:off x="10289548" y="3602489"/>
              <a:ext cx="1143000"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506732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9A110460-F749-2D66-B87A-4E18C42355ED}"/>
              </a:ext>
            </a:extLst>
          </p:cNvPr>
          <p:cNvSpPr>
            <a:spLocks noGrp="1"/>
          </p:cNvSpPr>
          <p:nvPr>
            <p:ph type="sldNum" idx="97"/>
          </p:nvPr>
        </p:nvSpPr>
        <p:spPr/>
        <p:txBody>
          <a:bodyPr/>
          <a:lstStyle/>
          <a:p>
            <a:fld id="{930176A1-BCF0-4712-97A6-6B495F55390B}" type="slidenum">
              <a:rPr lang="en-US" smtClean="0"/>
              <a:pPr/>
              <a:t>25</a:t>
            </a:fld>
            <a:endParaRPr lang="en-US" dirty="0"/>
          </a:p>
        </p:txBody>
      </p:sp>
      <p:sp>
        <p:nvSpPr>
          <p:cNvPr id="2" name="Title">
            <a:extLst>
              <a:ext uri="{FF2B5EF4-FFF2-40B4-BE49-F238E27FC236}">
                <a16:creationId xmlns:a16="http://schemas.microsoft.com/office/drawing/2014/main" id="{44709B84-2160-7A55-19DB-4285D6ACC5B3}"/>
              </a:ext>
            </a:extLst>
          </p:cNvPr>
          <p:cNvSpPr>
            <a:spLocks noGrp="1"/>
          </p:cNvSpPr>
          <p:nvPr>
            <p:ph type="title" idx="1"/>
          </p:nvPr>
        </p:nvSpPr>
        <p:spPr/>
        <p:txBody>
          <a:bodyPr/>
          <a:lstStyle/>
          <a:p>
            <a:r>
              <a:rPr lang="en-US" dirty="0"/>
              <a:t>Example serverless application architecture</a:t>
            </a:r>
          </a:p>
        </p:txBody>
      </p:sp>
      <p:grpSp>
        <p:nvGrpSpPr>
          <p:cNvPr id="5" name="FlattenEntire">
            <a:extLst>
              <a:ext uri="{FF2B5EF4-FFF2-40B4-BE49-F238E27FC236}">
                <a16:creationId xmlns:a16="http://schemas.microsoft.com/office/drawing/2014/main" id="{8C284AC0-C179-496E-65EA-DE172C4726B4}"/>
              </a:ext>
              <a:ext uri="{C183D7F6-B498-43B3-948B-1728B52AA6E4}">
                <adec:decorative xmlns:adec="http://schemas.microsoft.com/office/drawing/2017/decorative" val="1"/>
              </a:ext>
            </a:extLst>
          </p:cNvPr>
          <p:cNvGrpSpPr/>
          <p:nvPr/>
        </p:nvGrpSpPr>
        <p:grpSpPr>
          <a:xfrm>
            <a:off x="399722" y="1336127"/>
            <a:ext cx="11843870" cy="4806516"/>
            <a:chOff x="399722" y="1336127"/>
            <a:chExt cx="11843870" cy="4806516"/>
          </a:xfrm>
        </p:grpSpPr>
        <p:pic>
          <p:nvPicPr>
            <p:cNvPr id="4" name="Graphic 3">
              <a:extLst>
                <a:ext uri="{FF2B5EF4-FFF2-40B4-BE49-F238E27FC236}">
                  <a16:creationId xmlns:a16="http://schemas.microsoft.com/office/drawing/2014/main" id="{00288BE1-1B1B-B981-44F4-685457BA31BA}"/>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9722" y="1345751"/>
              <a:ext cx="1248478" cy="1248478"/>
            </a:xfrm>
            <a:prstGeom prst="rect">
              <a:avLst/>
            </a:prstGeom>
          </p:spPr>
        </p:pic>
        <p:pic>
          <p:nvPicPr>
            <p:cNvPr id="6" name="Graphic 5">
              <a:extLst>
                <a:ext uri="{FF2B5EF4-FFF2-40B4-BE49-F238E27FC236}">
                  <a16:creationId xmlns:a16="http://schemas.microsoft.com/office/drawing/2014/main" id="{F1ADCFE8-73C5-148C-D1D3-F0FDC077277A}"/>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94366" y="1336127"/>
              <a:ext cx="1267726" cy="1267726"/>
            </a:xfrm>
            <a:prstGeom prst="rect">
              <a:avLst/>
            </a:prstGeom>
          </p:spPr>
        </p:pic>
        <p:pic>
          <p:nvPicPr>
            <p:cNvPr id="8" name="Graphic 7">
              <a:extLst>
                <a:ext uri="{FF2B5EF4-FFF2-40B4-BE49-F238E27FC236}">
                  <a16:creationId xmlns:a16="http://schemas.microsoft.com/office/drawing/2014/main" id="{C4D9FC60-90A8-9CA8-813A-68B1549F18F5}"/>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71029" y="4477143"/>
              <a:ext cx="914400" cy="914400"/>
            </a:xfrm>
            <a:prstGeom prst="rect">
              <a:avLst/>
            </a:prstGeom>
          </p:spPr>
        </p:pic>
        <p:pic>
          <p:nvPicPr>
            <p:cNvPr id="10" name="Graphic 9">
              <a:extLst>
                <a:ext uri="{FF2B5EF4-FFF2-40B4-BE49-F238E27FC236}">
                  <a16:creationId xmlns:a16="http://schemas.microsoft.com/office/drawing/2014/main" id="{D124599A-3FC5-CFC6-F098-82825235751C}"/>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23019" y="1484299"/>
              <a:ext cx="914400" cy="914400"/>
            </a:xfrm>
            <a:prstGeom prst="rect">
              <a:avLst/>
            </a:prstGeom>
          </p:spPr>
        </p:pic>
        <p:pic>
          <p:nvPicPr>
            <p:cNvPr id="12" name="Graphic 11">
              <a:extLst>
                <a:ext uri="{FF2B5EF4-FFF2-40B4-BE49-F238E27FC236}">
                  <a16:creationId xmlns:a16="http://schemas.microsoft.com/office/drawing/2014/main" id="{58259434-A49A-ADC4-D882-8706B1CFF896}"/>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638800" y="1488518"/>
              <a:ext cx="914400" cy="914400"/>
            </a:xfrm>
            <a:prstGeom prst="rect">
              <a:avLst/>
            </a:prstGeom>
          </p:spPr>
        </p:pic>
        <p:pic>
          <p:nvPicPr>
            <p:cNvPr id="14" name="Graphic 13">
              <a:extLst>
                <a:ext uri="{FF2B5EF4-FFF2-40B4-BE49-F238E27FC236}">
                  <a16:creationId xmlns:a16="http://schemas.microsoft.com/office/drawing/2014/main" id="{8B961E3E-EBBE-9822-A8FA-44F1D3C109C2}"/>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407238" y="1488518"/>
              <a:ext cx="914400" cy="914400"/>
            </a:xfrm>
            <a:prstGeom prst="rect">
              <a:avLst/>
            </a:prstGeom>
          </p:spPr>
        </p:pic>
        <p:sp>
          <p:nvSpPr>
            <p:cNvPr id="17" name="TextBox 16">
              <a:extLst>
                <a:ext uri="{FF2B5EF4-FFF2-40B4-BE49-F238E27FC236}">
                  <a16:creationId xmlns:a16="http://schemas.microsoft.com/office/drawing/2014/main" id="{D44520FB-7C9C-3FBC-8C42-1EEB94EFFC4E}"/>
                </a:ext>
              </a:extLst>
            </p:cNvPr>
            <p:cNvSpPr txBox="1"/>
            <p:nvPr/>
          </p:nvSpPr>
          <p:spPr>
            <a:xfrm>
              <a:off x="695986" y="2536156"/>
              <a:ext cx="655950" cy="369332"/>
            </a:xfrm>
            <a:prstGeom prst="rect">
              <a:avLst/>
            </a:prstGeom>
            <a:noFill/>
          </p:spPr>
          <p:txBody>
            <a:bodyPr wrap="none" rtlCol="0">
              <a:spAutoFit/>
            </a:bodyPr>
            <a:lstStyle/>
            <a:p>
              <a:pPr algn="ctr"/>
              <a:r>
                <a:rPr lang="en-US" dirty="0">
                  <a:solidFill>
                    <a:srgbClr val="232F3E"/>
                  </a:solidFill>
                </a:rPr>
                <a:t>User</a:t>
              </a:r>
            </a:p>
          </p:txBody>
        </p:sp>
        <p:sp>
          <p:nvSpPr>
            <p:cNvPr id="18" name="TextBox 17">
              <a:extLst>
                <a:ext uri="{FF2B5EF4-FFF2-40B4-BE49-F238E27FC236}">
                  <a16:creationId xmlns:a16="http://schemas.microsoft.com/office/drawing/2014/main" id="{2A1F6005-22AB-CF80-5B01-A68DA812056A}"/>
                </a:ext>
              </a:extLst>
            </p:cNvPr>
            <p:cNvSpPr txBox="1"/>
            <p:nvPr/>
          </p:nvSpPr>
          <p:spPr>
            <a:xfrm>
              <a:off x="2940380" y="2519491"/>
              <a:ext cx="1375698" cy="646331"/>
            </a:xfrm>
            <a:prstGeom prst="rect">
              <a:avLst/>
            </a:prstGeom>
            <a:noFill/>
          </p:spPr>
          <p:txBody>
            <a:bodyPr wrap="none" rtlCol="0">
              <a:spAutoFit/>
            </a:bodyPr>
            <a:lstStyle/>
            <a:p>
              <a:pPr algn="ctr"/>
              <a:r>
                <a:rPr lang="en-US" dirty="0">
                  <a:solidFill>
                    <a:srgbClr val="232F3E"/>
                  </a:solidFill>
                </a:rPr>
                <a:t>Application</a:t>
              </a:r>
            </a:p>
            <a:p>
              <a:pPr algn="ctr"/>
              <a:r>
                <a:rPr lang="en-US" dirty="0">
                  <a:solidFill>
                    <a:srgbClr val="232F3E"/>
                  </a:solidFill>
                </a:rPr>
                <a:t>frontend</a:t>
              </a:r>
            </a:p>
          </p:txBody>
        </p:sp>
        <p:sp>
          <p:nvSpPr>
            <p:cNvPr id="19" name="TextBox 18">
              <a:extLst>
                <a:ext uri="{FF2B5EF4-FFF2-40B4-BE49-F238E27FC236}">
                  <a16:creationId xmlns:a16="http://schemas.microsoft.com/office/drawing/2014/main" id="{D58C4315-B5A1-EE8A-0D45-8A5D1DD4886D}"/>
                </a:ext>
              </a:extLst>
            </p:cNvPr>
            <p:cNvSpPr txBox="1"/>
            <p:nvPr/>
          </p:nvSpPr>
          <p:spPr>
            <a:xfrm>
              <a:off x="2027257" y="5496312"/>
              <a:ext cx="3509294" cy="646331"/>
            </a:xfrm>
            <a:prstGeom prst="rect">
              <a:avLst/>
            </a:prstGeom>
            <a:noFill/>
          </p:spPr>
          <p:txBody>
            <a:bodyPr wrap="none" rtlCol="0">
              <a:spAutoFit/>
            </a:bodyPr>
            <a:lstStyle/>
            <a:p>
              <a:pPr algn="ctr"/>
              <a:r>
                <a:rPr lang="en-US" dirty="0">
                  <a:solidFill>
                    <a:srgbClr val="232F3E"/>
                  </a:solidFill>
                </a:rPr>
                <a:t>Amazon Simple Storage Service</a:t>
              </a:r>
              <a:br>
                <a:rPr lang="en-US" dirty="0">
                  <a:solidFill>
                    <a:srgbClr val="232F3E"/>
                  </a:solidFill>
                </a:rPr>
              </a:br>
              <a:r>
                <a:rPr lang="en-US" dirty="0">
                  <a:solidFill>
                    <a:srgbClr val="232F3E"/>
                  </a:solidFill>
                </a:rPr>
                <a:t>(Amazon S3)</a:t>
              </a:r>
            </a:p>
          </p:txBody>
        </p:sp>
        <p:sp>
          <p:nvSpPr>
            <p:cNvPr id="20" name="TextBox 19">
              <a:extLst>
                <a:ext uri="{FF2B5EF4-FFF2-40B4-BE49-F238E27FC236}">
                  <a16:creationId xmlns:a16="http://schemas.microsoft.com/office/drawing/2014/main" id="{03D9A899-5EA4-0C38-82FC-7E8F921A6F5E}"/>
                </a:ext>
              </a:extLst>
            </p:cNvPr>
            <p:cNvSpPr txBox="1"/>
            <p:nvPr/>
          </p:nvSpPr>
          <p:spPr>
            <a:xfrm>
              <a:off x="4884770" y="2541854"/>
              <a:ext cx="2422459" cy="369332"/>
            </a:xfrm>
            <a:prstGeom prst="rect">
              <a:avLst/>
            </a:prstGeom>
            <a:noFill/>
          </p:spPr>
          <p:txBody>
            <a:bodyPr wrap="none" rtlCol="0">
              <a:spAutoFit/>
            </a:bodyPr>
            <a:lstStyle/>
            <a:p>
              <a:pPr algn="ctr"/>
              <a:r>
                <a:rPr lang="en-US" dirty="0">
                  <a:solidFill>
                    <a:srgbClr val="232F3E"/>
                  </a:solidFill>
                </a:rPr>
                <a:t>Amazon API Gateway</a:t>
              </a:r>
            </a:p>
          </p:txBody>
        </p:sp>
        <p:sp>
          <p:nvSpPr>
            <p:cNvPr id="21" name="TextBox 20">
              <a:extLst>
                <a:ext uri="{FF2B5EF4-FFF2-40B4-BE49-F238E27FC236}">
                  <a16:creationId xmlns:a16="http://schemas.microsoft.com/office/drawing/2014/main" id="{4F1628A4-F700-83DF-9F21-60AF4614A241}"/>
                </a:ext>
              </a:extLst>
            </p:cNvPr>
            <p:cNvSpPr txBox="1"/>
            <p:nvPr/>
          </p:nvSpPr>
          <p:spPr>
            <a:xfrm>
              <a:off x="7683199" y="2541854"/>
              <a:ext cx="1582484" cy="369332"/>
            </a:xfrm>
            <a:prstGeom prst="rect">
              <a:avLst/>
            </a:prstGeom>
            <a:noFill/>
          </p:spPr>
          <p:txBody>
            <a:bodyPr wrap="none" rtlCol="0">
              <a:spAutoFit/>
            </a:bodyPr>
            <a:lstStyle/>
            <a:p>
              <a:pPr algn="ctr"/>
              <a:r>
                <a:rPr lang="en-US" dirty="0">
                  <a:solidFill>
                    <a:srgbClr val="232F3E"/>
                  </a:solidFill>
                </a:rPr>
                <a:t>AWS Lambda</a:t>
              </a:r>
            </a:p>
          </p:txBody>
        </p:sp>
        <p:sp>
          <p:nvSpPr>
            <p:cNvPr id="22" name="TextBox 21">
              <a:extLst>
                <a:ext uri="{FF2B5EF4-FFF2-40B4-BE49-F238E27FC236}">
                  <a16:creationId xmlns:a16="http://schemas.microsoft.com/office/drawing/2014/main" id="{D89F88BC-67F7-EA32-04D4-ED15D1BF3D0C}"/>
                </a:ext>
              </a:extLst>
            </p:cNvPr>
            <p:cNvSpPr txBox="1"/>
            <p:nvPr/>
          </p:nvSpPr>
          <p:spPr>
            <a:xfrm>
              <a:off x="9888850" y="2541834"/>
              <a:ext cx="1951175" cy="369332"/>
            </a:xfrm>
            <a:prstGeom prst="rect">
              <a:avLst/>
            </a:prstGeom>
            <a:noFill/>
          </p:spPr>
          <p:txBody>
            <a:bodyPr wrap="none" rtlCol="0">
              <a:spAutoFit/>
            </a:bodyPr>
            <a:lstStyle/>
            <a:p>
              <a:pPr algn="ctr"/>
              <a:r>
                <a:rPr lang="en-US" dirty="0">
                  <a:solidFill>
                    <a:srgbClr val="232F3E"/>
                  </a:solidFill>
                </a:rPr>
                <a:t>Amazon Bedrock</a:t>
              </a:r>
            </a:p>
          </p:txBody>
        </p:sp>
        <p:cxnSp>
          <p:nvCxnSpPr>
            <p:cNvPr id="27" name="Straight Arrow Connector 26">
              <a:extLst>
                <a:ext uri="{FF2B5EF4-FFF2-40B4-BE49-F238E27FC236}">
                  <a16:creationId xmlns:a16="http://schemas.microsoft.com/office/drawing/2014/main" id="{F56D2EBA-C665-9DC2-3940-C2669BC44C07}"/>
                </a:ext>
                <a:ext uri="{C183D7F6-B498-43B3-948B-1728B52AA6E4}">
                  <adec:decorative xmlns:adec="http://schemas.microsoft.com/office/drawing/2017/decorative" val="1"/>
                </a:ext>
              </a:extLst>
            </p:cNvPr>
            <p:cNvCxnSpPr>
              <a:cxnSpLocks/>
            </p:cNvCxnSpPr>
            <p:nvPr/>
          </p:nvCxnSpPr>
          <p:spPr>
            <a:xfrm>
              <a:off x="9091656" y="1961031"/>
              <a:ext cx="1143000"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FEC1AA4-6893-4D57-4402-04B412AEB4AE}"/>
                </a:ext>
                <a:ext uri="{C183D7F6-B498-43B3-948B-1728B52AA6E4}">
                  <adec:decorative xmlns:adec="http://schemas.microsoft.com/office/drawing/2017/decorative" val="1"/>
                </a:ext>
              </a:extLst>
            </p:cNvPr>
            <p:cNvCxnSpPr>
              <a:cxnSpLocks/>
            </p:cNvCxnSpPr>
            <p:nvPr/>
          </p:nvCxnSpPr>
          <p:spPr>
            <a:xfrm rot="5400000">
              <a:off x="3040204" y="3762422"/>
              <a:ext cx="1143000"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BA35AAA-5D94-1C3B-E508-C36D3F754479}"/>
                </a:ext>
                <a:ext uri="{C183D7F6-B498-43B3-948B-1728B52AA6E4}">
                  <adec:decorative xmlns:adec="http://schemas.microsoft.com/office/drawing/2017/decorative" val="1"/>
                </a:ext>
              </a:extLst>
            </p:cNvPr>
            <p:cNvCxnSpPr>
              <a:cxnSpLocks/>
            </p:cNvCxnSpPr>
            <p:nvPr/>
          </p:nvCxnSpPr>
          <p:spPr>
            <a:xfrm>
              <a:off x="1797380" y="1955556"/>
              <a:ext cx="1143000"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85B5630-A6BB-8643-DC72-044734AA1E63}"/>
                </a:ext>
                <a:ext uri="{C183D7F6-B498-43B3-948B-1728B52AA6E4}">
                  <adec:decorative xmlns:adec="http://schemas.microsoft.com/office/drawing/2017/decorative" val="1"/>
                </a:ext>
              </a:extLst>
            </p:cNvPr>
            <p:cNvCxnSpPr>
              <a:cxnSpLocks/>
            </p:cNvCxnSpPr>
            <p:nvPr/>
          </p:nvCxnSpPr>
          <p:spPr>
            <a:xfrm>
              <a:off x="4316078" y="1955556"/>
              <a:ext cx="1143000"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F0586B7-9EEB-02E6-CFEA-EFC26ED59220}"/>
                </a:ext>
                <a:ext uri="{C183D7F6-B498-43B3-948B-1728B52AA6E4}">
                  <adec:decorative xmlns:adec="http://schemas.microsoft.com/office/drawing/2017/decorative" val="1"/>
                </a:ext>
              </a:extLst>
            </p:cNvPr>
            <p:cNvCxnSpPr>
              <a:cxnSpLocks/>
            </p:cNvCxnSpPr>
            <p:nvPr/>
          </p:nvCxnSpPr>
          <p:spPr>
            <a:xfrm>
              <a:off x="6638567" y="1961031"/>
              <a:ext cx="1143000"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1C899533-F777-6E33-70A4-1DFEBFFDCD20}"/>
                </a:ext>
                <a:ext uri="{C183D7F6-B498-43B3-948B-1728B52AA6E4}">
                  <adec:decorative xmlns:adec="http://schemas.microsoft.com/office/drawing/2017/decorative" val="1"/>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223653" y="4138582"/>
              <a:ext cx="1268625" cy="1268625"/>
            </a:xfrm>
            <a:prstGeom prst="rect">
              <a:avLst/>
            </a:prstGeom>
          </p:spPr>
        </p:pic>
        <p:sp>
          <p:nvSpPr>
            <p:cNvPr id="35" name="TextBox 34">
              <a:extLst>
                <a:ext uri="{FF2B5EF4-FFF2-40B4-BE49-F238E27FC236}">
                  <a16:creationId xmlns:a16="http://schemas.microsoft.com/office/drawing/2014/main" id="{FAF29AD2-1FFD-F162-2EF4-9BD4347D80D7}"/>
                </a:ext>
              </a:extLst>
            </p:cNvPr>
            <p:cNvSpPr txBox="1"/>
            <p:nvPr/>
          </p:nvSpPr>
          <p:spPr>
            <a:xfrm>
              <a:off x="9472337" y="5403278"/>
              <a:ext cx="2771255" cy="646331"/>
            </a:xfrm>
            <a:prstGeom prst="rect">
              <a:avLst/>
            </a:prstGeom>
            <a:noFill/>
          </p:spPr>
          <p:txBody>
            <a:bodyPr wrap="square">
              <a:spAutoFit/>
            </a:bodyPr>
            <a:lstStyle/>
            <a:p>
              <a:pPr algn="ctr"/>
              <a:r>
                <a:rPr lang="en-US" dirty="0">
                  <a:solidFill>
                    <a:srgbClr val="232F3E"/>
                  </a:solidFill>
                  <a:ea typeface="Amazon Ember" panose="020B0603020204020204" pitchFamily="34" charset="0"/>
                  <a:cs typeface="Amazon Ember" panose="020B0603020204020204" pitchFamily="34" charset="0"/>
                </a:rPr>
                <a:t>Foundation</a:t>
              </a:r>
            </a:p>
            <a:p>
              <a:pPr algn="ctr"/>
              <a:r>
                <a:rPr lang="en-US" dirty="0">
                  <a:solidFill>
                    <a:srgbClr val="232F3E"/>
                  </a:solidFill>
                  <a:ea typeface="Amazon Ember" panose="020B0603020204020204" pitchFamily="34" charset="0"/>
                  <a:cs typeface="Amazon Ember" panose="020B0603020204020204" pitchFamily="34" charset="0"/>
                </a:rPr>
                <a:t>model</a:t>
              </a:r>
            </a:p>
          </p:txBody>
        </p:sp>
        <p:cxnSp>
          <p:nvCxnSpPr>
            <p:cNvPr id="36" name="Straight Arrow Connector 35">
              <a:extLst>
                <a:ext uri="{FF2B5EF4-FFF2-40B4-BE49-F238E27FC236}">
                  <a16:creationId xmlns:a16="http://schemas.microsoft.com/office/drawing/2014/main" id="{89E70009-6E3A-3AE9-539D-1A3E3AD963E7}"/>
                </a:ext>
                <a:ext uri="{C183D7F6-B498-43B3-948B-1728B52AA6E4}">
                  <adec:decorative xmlns:adec="http://schemas.microsoft.com/office/drawing/2017/decorative" val="1"/>
                </a:ext>
              </a:extLst>
            </p:cNvPr>
            <p:cNvCxnSpPr>
              <a:cxnSpLocks/>
            </p:cNvCxnSpPr>
            <p:nvPr/>
          </p:nvCxnSpPr>
          <p:spPr>
            <a:xfrm rot="5400000">
              <a:off x="10289548" y="3602489"/>
              <a:ext cx="1143000"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28763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6E371-F917-E9FD-545C-EBF0CD2F1008}"/>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2AA99574-CD05-EC4B-6FBA-D531E75148AB}"/>
              </a:ext>
            </a:extLst>
          </p:cNvPr>
          <p:cNvSpPr>
            <a:spLocks noGrp="1"/>
          </p:cNvSpPr>
          <p:nvPr>
            <p:ph type="sldNum" idx="97"/>
          </p:nvPr>
        </p:nvSpPr>
        <p:spPr/>
        <p:txBody>
          <a:bodyPr/>
          <a:lstStyle/>
          <a:p>
            <a:fld id="{930176A1-BCF0-4712-97A6-6B495F55390B}" type="slidenum">
              <a:rPr lang="en-US" smtClean="0"/>
              <a:pPr/>
              <a:t>26</a:t>
            </a:fld>
            <a:endParaRPr lang="en-US" dirty="0"/>
          </a:p>
        </p:txBody>
      </p:sp>
      <p:sp>
        <p:nvSpPr>
          <p:cNvPr id="2" name="Title">
            <a:extLst>
              <a:ext uri="{FF2B5EF4-FFF2-40B4-BE49-F238E27FC236}">
                <a16:creationId xmlns:a16="http://schemas.microsoft.com/office/drawing/2014/main" id="{260A6507-DC9F-333C-48A6-CEF7C8C1703F}"/>
              </a:ext>
            </a:extLst>
          </p:cNvPr>
          <p:cNvSpPr>
            <a:spLocks noGrp="1"/>
          </p:cNvSpPr>
          <p:nvPr>
            <p:ph type="title"/>
          </p:nvPr>
        </p:nvSpPr>
        <p:spPr/>
        <p:txBody>
          <a:bodyPr/>
          <a:lstStyle/>
          <a:p>
            <a:r>
              <a:rPr lang="en-US" dirty="0"/>
              <a:t>Conversational interfaces</a:t>
            </a:r>
          </a:p>
        </p:txBody>
      </p:sp>
      <p:grpSp>
        <p:nvGrpSpPr>
          <p:cNvPr id="36" name="FlattenEntire">
            <a:extLst>
              <a:ext uri="{FF2B5EF4-FFF2-40B4-BE49-F238E27FC236}">
                <a16:creationId xmlns:a16="http://schemas.microsoft.com/office/drawing/2014/main" id="{2DC26BB5-0A32-BAB5-28F9-2CF4C8AA8B3C}"/>
              </a:ext>
            </a:extLst>
          </p:cNvPr>
          <p:cNvGrpSpPr/>
          <p:nvPr/>
        </p:nvGrpSpPr>
        <p:grpSpPr>
          <a:xfrm>
            <a:off x="399722" y="1207131"/>
            <a:ext cx="11440456" cy="5027764"/>
            <a:chOff x="399722" y="1207131"/>
            <a:chExt cx="11440456" cy="5027764"/>
          </a:xfrm>
        </p:grpSpPr>
        <p:cxnSp>
          <p:nvCxnSpPr>
            <p:cNvPr id="35" name="Connector: Elbow 34">
              <a:extLst>
                <a:ext uri="{FF2B5EF4-FFF2-40B4-BE49-F238E27FC236}">
                  <a16:creationId xmlns:a16="http://schemas.microsoft.com/office/drawing/2014/main" id="{BFFEDE2D-2A64-C805-A082-B5622F8A458F}"/>
                </a:ext>
                <a:ext uri="{C183D7F6-B498-43B3-948B-1728B52AA6E4}">
                  <adec:decorative xmlns:adec="http://schemas.microsoft.com/office/drawing/2017/decorative" val="1"/>
                </a:ext>
              </a:extLst>
            </p:cNvPr>
            <p:cNvCxnSpPr>
              <a:cxnSpLocks/>
            </p:cNvCxnSpPr>
            <p:nvPr/>
          </p:nvCxnSpPr>
          <p:spPr>
            <a:xfrm rot="10800000">
              <a:off x="1222133" y="1853446"/>
              <a:ext cx="9185105" cy="12700"/>
            </a:xfrm>
            <a:prstGeom prst="bentConnector3">
              <a:avLst/>
            </a:prstGeom>
            <a:ln w="25400" cmpd="sng">
              <a:solidFill>
                <a:schemeClr val="tx2"/>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99935BD8-3D7F-76B6-E5BC-034980123C7B}"/>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8540" y="4057786"/>
              <a:ext cx="1905000" cy="1905000"/>
            </a:xfrm>
            <a:prstGeom prst="rect">
              <a:avLst/>
            </a:prstGeom>
          </p:spPr>
        </p:pic>
        <p:pic>
          <p:nvPicPr>
            <p:cNvPr id="7" name="Graphic 6">
              <a:extLst>
                <a:ext uri="{FF2B5EF4-FFF2-40B4-BE49-F238E27FC236}">
                  <a16:creationId xmlns:a16="http://schemas.microsoft.com/office/drawing/2014/main" id="{36B0BDF8-9F02-7E92-F15C-9544A2C943E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99722" y="1583143"/>
              <a:ext cx="1248478" cy="1248478"/>
            </a:xfrm>
            <a:prstGeom prst="rect">
              <a:avLst/>
            </a:prstGeom>
          </p:spPr>
        </p:pic>
        <p:pic>
          <p:nvPicPr>
            <p:cNvPr id="8" name="Graphic 7">
              <a:extLst>
                <a:ext uri="{FF2B5EF4-FFF2-40B4-BE49-F238E27FC236}">
                  <a16:creationId xmlns:a16="http://schemas.microsoft.com/office/drawing/2014/main" id="{BC16CE78-B610-3A40-A2BD-08A8B1F09995}"/>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2994366" y="1714377"/>
              <a:ext cx="1267726" cy="986009"/>
            </a:xfrm>
            <a:prstGeom prst="rect">
              <a:avLst/>
            </a:prstGeom>
          </p:spPr>
        </p:pic>
        <p:pic>
          <p:nvPicPr>
            <p:cNvPr id="9" name="Graphic 8">
              <a:extLst>
                <a:ext uri="{FF2B5EF4-FFF2-40B4-BE49-F238E27FC236}">
                  <a16:creationId xmlns:a16="http://schemas.microsoft.com/office/drawing/2014/main" id="{621192D7-13F7-FE4F-F6F6-3FD31947AD8E}"/>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71029" y="4714535"/>
              <a:ext cx="914400" cy="914400"/>
            </a:xfrm>
            <a:prstGeom prst="rect">
              <a:avLst/>
            </a:prstGeom>
          </p:spPr>
        </p:pic>
        <p:pic>
          <p:nvPicPr>
            <p:cNvPr id="10" name="Graphic 9">
              <a:extLst>
                <a:ext uri="{FF2B5EF4-FFF2-40B4-BE49-F238E27FC236}">
                  <a16:creationId xmlns:a16="http://schemas.microsoft.com/office/drawing/2014/main" id="{A71FC689-D689-09DA-89B0-BCB78AE93A87}"/>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83840" y="1721691"/>
              <a:ext cx="914400" cy="914400"/>
            </a:xfrm>
            <a:prstGeom prst="rect">
              <a:avLst/>
            </a:prstGeom>
          </p:spPr>
        </p:pic>
        <p:pic>
          <p:nvPicPr>
            <p:cNvPr id="11" name="Graphic 10">
              <a:extLst>
                <a:ext uri="{FF2B5EF4-FFF2-40B4-BE49-F238E27FC236}">
                  <a16:creationId xmlns:a16="http://schemas.microsoft.com/office/drawing/2014/main" id="{5D190587-195C-3DF6-EA5A-DFFC9DD1E977}"/>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219699" y="1725910"/>
              <a:ext cx="914400" cy="914400"/>
            </a:xfrm>
            <a:prstGeom prst="rect">
              <a:avLst/>
            </a:prstGeom>
          </p:spPr>
        </p:pic>
        <p:pic>
          <p:nvPicPr>
            <p:cNvPr id="12" name="Graphic 11">
              <a:extLst>
                <a:ext uri="{FF2B5EF4-FFF2-40B4-BE49-F238E27FC236}">
                  <a16:creationId xmlns:a16="http://schemas.microsoft.com/office/drawing/2014/main" id="{139CBB36-C564-78CE-6F47-714B18CF4685}"/>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407238" y="1725910"/>
              <a:ext cx="914400" cy="914400"/>
            </a:xfrm>
            <a:prstGeom prst="rect">
              <a:avLst/>
            </a:prstGeom>
          </p:spPr>
        </p:pic>
        <p:sp>
          <p:nvSpPr>
            <p:cNvPr id="13" name="TextBox 12">
              <a:extLst>
                <a:ext uri="{FF2B5EF4-FFF2-40B4-BE49-F238E27FC236}">
                  <a16:creationId xmlns:a16="http://schemas.microsoft.com/office/drawing/2014/main" id="{1A6F0CAB-230C-C3EE-DD26-74F9103BAB86}"/>
                </a:ext>
              </a:extLst>
            </p:cNvPr>
            <p:cNvSpPr txBox="1"/>
            <p:nvPr/>
          </p:nvSpPr>
          <p:spPr>
            <a:xfrm>
              <a:off x="695986" y="2773548"/>
              <a:ext cx="655950" cy="369332"/>
            </a:xfrm>
            <a:prstGeom prst="rect">
              <a:avLst/>
            </a:prstGeom>
            <a:noFill/>
          </p:spPr>
          <p:txBody>
            <a:bodyPr wrap="none" rtlCol="0">
              <a:spAutoFit/>
            </a:bodyPr>
            <a:lstStyle/>
            <a:p>
              <a:pPr algn="ctr"/>
              <a:r>
                <a:rPr lang="en-US" dirty="0">
                  <a:solidFill>
                    <a:srgbClr val="232F3E"/>
                  </a:solidFill>
                </a:rPr>
                <a:t>User</a:t>
              </a:r>
            </a:p>
          </p:txBody>
        </p:sp>
        <p:sp>
          <p:nvSpPr>
            <p:cNvPr id="14" name="TextBox 13">
              <a:extLst>
                <a:ext uri="{FF2B5EF4-FFF2-40B4-BE49-F238E27FC236}">
                  <a16:creationId xmlns:a16="http://schemas.microsoft.com/office/drawing/2014/main" id="{801D99D7-6BB4-E1E0-0787-05AFFB7EA849}"/>
                </a:ext>
              </a:extLst>
            </p:cNvPr>
            <p:cNvSpPr txBox="1"/>
            <p:nvPr/>
          </p:nvSpPr>
          <p:spPr>
            <a:xfrm>
              <a:off x="2940380" y="2756883"/>
              <a:ext cx="1375698" cy="646331"/>
            </a:xfrm>
            <a:prstGeom prst="rect">
              <a:avLst/>
            </a:prstGeom>
            <a:noFill/>
          </p:spPr>
          <p:txBody>
            <a:bodyPr wrap="none" rtlCol="0">
              <a:spAutoFit/>
            </a:bodyPr>
            <a:lstStyle/>
            <a:p>
              <a:pPr algn="ctr"/>
              <a:r>
                <a:rPr lang="en-US" dirty="0">
                  <a:solidFill>
                    <a:srgbClr val="232F3E"/>
                  </a:solidFill>
                </a:rPr>
                <a:t>Application</a:t>
              </a:r>
            </a:p>
            <a:p>
              <a:pPr algn="ctr"/>
              <a:r>
                <a:rPr lang="en-US" dirty="0">
                  <a:solidFill>
                    <a:srgbClr val="232F3E"/>
                  </a:solidFill>
                </a:rPr>
                <a:t>frontend</a:t>
              </a:r>
            </a:p>
          </p:txBody>
        </p:sp>
        <p:sp>
          <p:nvSpPr>
            <p:cNvPr id="15" name="TextBox 14">
              <a:extLst>
                <a:ext uri="{FF2B5EF4-FFF2-40B4-BE49-F238E27FC236}">
                  <a16:creationId xmlns:a16="http://schemas.microsoft.com/office/drawing/2014/main" id="{534E3336-2978-1545-C265-A7C362788C65}"/>
                </a:ext>
              </a:extLst>
            </p:cNvPr>
            <p:cNvSpPr txBox="1"/>
            <p:nvPr/>
          </p:nvSpPr>
          <p:spPr>
            <a:xfrm>
              <a:off x="2928664" y="5759265"/>
              <a:ext cx="1366080" cy="369332"/>
            </a:xfrm>
            <a:prstGeom prst="rect">
              <a:avLst/>
            </a:prstGeom>
            <a:noFill/>
          </p:spPr>
          <p:txBody>
            <a:bodyPr wrap="none" rtlCol="0">
              <a:spAutoFit/>
            </a:bodyPr>
            <a:lstStyle/>
            <a:p>
              <a:pPr algn="ctr"/>
              <a:r>
                <a:rPr lang="en-US" dirty="0">
                  <a:solidFill>
                    <a:srgbClr val="232F3E"/>
                  </a:solidFill>
                </a:rPr>
                <a:t>Amazon S3</a:t>
              </a:r>
            </a:p>
          </p:txBody>
        </p:sp>
        <p:sp>
          <p:nvSpPr>
            <p:cNvPr id="16" name="TextBox 15">
              <a:extLst>
                <a:ext uri="{FF2B5EF4-FFF2-40B4-BE49-F238E27FC236}">
                  <a16:creationId xmlns:a16="http://schemas.microsoft.com/office/drawing/2014/main" id="{88ED4A1F-E5C9-761F-F821-83E5336A568E}"/>
                </a:ext>
              </a:extLst>
            </p:cNvPr>
            <p:cNvSpPr txBox="1"/>
            <p:nvPr/>
          </p:nvSpPr>
          <p:spPr>
            <a:xfrm>
              <a:off x="4465670" y="2779246"/>
              <a:ext cx="2422459" cy="369332"/>
            </a:xfrm>
            <a:prstGeom prst="rect">
              <a:avLst/>
            </a:prstGeom>
            <a:noFill/>
          </p:spPr>
          <p:txBody>
            <a:bodyPr wrap="none" rtlCol="0">
              <a:spAutoFit/>
            </a:bodyPr>
            <a:lstStyle/>
            <a:p>
              <a:pPr algn="ctr"/>
              <a:r>
                <a:rPr lang="en-US" dirty="0">
                  <a:solidFill>
                    <a:srgbClr val="232F3E"/>
                  </a:solidFill>
                </a:rPr>
                <a:t>Amazon API Gateway</a:t>
              </a:r>
            </a:p>
          </p:txBody>
        </p:sp>
        <p:sp>
          <p:nvSpPr>
            <p:cNvPr id="17" name="TextBox 16">
              <a:extLst>
                <a:ext uri="{FF2B5EF4-FFF2-40B4-BE49-F238E27FC236}">
                  <a16:creationId xmlns:a16="http://schemas.microsoft.com/office/drawing/2014/main" id="{224C1E88-D507-735D-D5F0-8C9F15761390}"/>
                </a:ext>
              </a:extLst>
            </p:cNvPr>
            <p:cNvSpPr txBox="1"/>
            <p:nvPr/>
          </p:nvSpPr>
          <p:spPr>
            <a:xfrm>
              <a:off x="7149798" y="2779246"/>
              <a:ext cx="1582484" cy="369332"/>
            </a:xfrm>
            <a:prstGeom prst="rect">
              <a:avLst/>
            </a:prstGeom>
            <a:noFill/>
          </p:spPr>
          <p:txBody>
            <a:bodyPr wrap="none" rtlCol="0">
              <a:spAutoFit/>
            </a:bodyPr>
            <a:lstStyle/>
            <a:p>
              <a:pPr algn="ctr"/>
              <a:r>
                <a:rPr lang="en-US" dirty="0">
                  <a:solidFill>
                    <a:srgbClr val="232F3E"/>
                  </a:solidFill>
                </a:rPr>
                <a:t>AWS Lambda</a:t>
              </a:r>
            </a:p>
          </p:txBody>
        </p:sp>
        <p:sp>
          <p:nvSpPr>
            <p:cNvPr id="29" name="TextBox 28">
              <a:extLst>
                <a:ext uri="{FF2B5EF4-FFF2-40B4-BE49-F238E27FC236}">
                  <a16:creationId xmlns:a16="http://schemas.microsoft.com/office/drawing/2014/main" id="{CC524F51-60E4-F535-90D3-4D6FBEE7E2D4}"/>
                </a:ext>
              </a:extLst>
            </p:cNvPr>
            <p:cNvSpPr txBox="1"/>
            <p:nvPr/>
          </p:nvSpPr>
          <p:spPr>
            <a:xfrm>
              <a:off x="6555413" y="5588564"/>
              <a:ext cx="2771255" cy="646331"/>
            </a:xfrm>
            <a:prstGeom prst="rect">
              <a:avLst/>
            </a:prstGeom>
            <a:noFill/>
          </p:spPr>
          <p:txBody>
            <a:bodyPr wrap="square">
              <a:spAutoFit/>
            </a:bodyPr>
            <a:lstStyle/>
            <a:p>
              <a:pPr algn="ctr"/>
              <a:r>
                <a:rPr lang="en-US" dirty="0">
                  <a:solidFill>
                    <a:srgbClr val="232F3E"/>
                  </a:solidFill>
                  <a:ea typeface="Amazon Ember" panose="020B0603020204020204" pitchFamily="34" charset="0"/>
                  <a:cs typeface="Amazon Ember" panose="020B0603020204020204" pitchFamily="34" charset="0"/>
                </a:rPr>
                <a:t>Memory</a:t>
              </a:r>
            </a:p>
            <a:p>
              <a:pPr algn="ctr"/>
              <a:r>
                <a:rPr lang="en-US" dirty="0">
                  <a:solidFill>
                    <a:srgbClr val="232F3E"/>
                  </a:solidFill>
                  <a:ea typeface="Amazon Ember" panose="020B0603020204020204" pitchFamily="34" charset="0"/>
                  <a:cs typeface="Amazon Ember" panose="020B0603020204020204" pitchFamily="34" charset="0"/>
                </a:rPr>
                <a:t>(Conversation context)</a:t>
              </a:r>
            </a:p>
          </p:txBody>
        </p:sp>
        <p:cxnSp>
          <p:nvCxnSpPr>
            <p:cNvPr id="19" name="Straight Arrow Connector 18">
              <a:extLst>
                <a:ext uri="{FF2B5EF4-FFF2-40B4-BE49-F238E27FC236}">
                  <a16:creationId xmlns:a16="http://schemas.microsoft.com/office/drawing/2014/main" id="{BA102CAA-420B-88DB-5AA5-52426B8E3D99}"/>
                </a:ext>
                <a:ext uri="{C183D7F6-B498-43B3-948B-1728B52AA6E4}">
                  <adec:decorative xmlns:adec="http://schemas.microsoft.com/office/drawing/2017/decorative" val="1"/>
                </a:ext>
              </a:extLst>
            </p:cNvPr>
            <p:cNvCxnSpPr>
              <a:cxnSpLocks/>
            </p:cNvCxnSpPr>
            <p:nvPr/>
          </p:nvCxnSpPr>
          <p:spPr>
            <a:xfrm>
              <a:off x="8761456" y="2198423"/>
              <a:ext cx="1463040"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92C8AB4-A168-C598-2519-71D71D304000}"/>
                </a:ext>
                <a:ext uri="{C183D7F6-B498-43B3-948B-1728B52AA6E4}">
                  <adec:decorative xmlns:adec="http://schemas.microsoft.com/office/drawing/2017/decorative" val="1"/>
                </a:ext>
              </a:extLst>
            </p:cNvPr>
            <p:cNvCxnSpPr>
              <a:cxnSpLocks/>
            </p:cNvCxnSpPr>
            <p:nvPr/>
          </p:nvCxnSpPr>
          <p:spPr>
            <a:xfrm rot="5400000">
              <a:off x="3040204" y="3999814"/>
              <a:ext cx="1143000"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9112D12-E380-4C1E-CBA9-04FC7BC4B0BC}"/>
                </a:ext>
                <a:ext uri="{C183D7F6-B498-43B3-948B-1728B52AA6E4}">
                  <adec:decorative xmlns:adec="http://schemas.microsoft.com/office/drawing/2017/decorative" val="1"/>
                </a:ext>
              </a:extLst>
            </p:cNvPr>
            <p:cNvCxnSpPr>
              <a:cxnSpLocks/>
            </p:cNvCxnSpPr>
            <p:nvPr/>
          </p:nvCxnSpPr>
          <p:spPr>
            <a:xfrm>
              <a:off x="1797380" y="2192948"/>
              <a:ext cx="1143000"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A61B42D-CE99-5E9B-5EDA-933CF9FE61F4}"/>
                </a:ext>
                <a:ext uri="{C183D7F6-B498-43B3-948B-1728B52AA6E4}">
                  <adec:decorative xmlns:adec="http://schemas.microsoft.com/office/drawing/2017/decorative" val="1"/>
                </a:ext>
              </a:extLst>
            </p:cNvPr>
            <p:cNvCxnSpPr>
              <a:cxnSpLocks/>
            </p:cNvCxnSpPr>
            <p:nvPr/>
          </p:nvCxnSpPr>
          <p:spPr>
            <a:xfrm>
              <a:off x="4316078" y="2192948"/>
              <a:ext cx="822960"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CAAD7B8-429A-12D3-61A9-EB5844608482}"/>
                </a:ext>
                <a:ext uri="{C183D7F6-B498-43B3-948B-1728B52AA6E4}">
                  <adec:decorative xmlns:adec="http://schemas.microsoft.com/office/drawing/2017/decorative" val="1"/>
                </a:ext>
              </a:extLst>
            </p:cNvPr>
            <p:cNvCxnSpPr>
              <a:cxnSpLocks/>
            </p:cNvCxnSpPr>
            <p:nvPr/>
          </p:nvCxnSpPr>
          <p:spPr>
            <a:xfrm>
              <a:off x="6219467" y="2198423"/>
              <a:ext cx="1188720"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24" name="Graphic 23">
              <a:extLst>
                <a:ext uri="{FF2B5EF4-FFF2-40B4-BE49-F238E27FC236}">
                  <a16:creationId xmlns:a16="http://schemas.microsoft.com/office/drawing/2014/main" id="{ED6E1A36-AF95-CE10-73DE-49A18941D3BF}"/>
                </a:ext>
                <a:ext uri="{C183D7F6-B498-43B3-948B-1728B52AA6E4}">
                  <adec:decorative xmlns:adec="http://schemas.microsoft.com/office/drawing/2017/decorative" val="1"/>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223653" y="4375974"/>
              <a:ext cx="1268625" cy="1268625"/>
            </a:xfrm>
            <a:prstGeom prst="rect">
              <a:avLst/>
            </a:prstGeom>
          </p:spPr>
        </p:pic>
        <p:cxnSp>
          <p:nvCxnSpPr>
            <p:cNvPr id="25" name="Straight Arrow Connector 24">
              <a:extLst>
                <a:ext uri="{FF2B5EF4-FFF2-40B4-BE49-F238E27FC236}">
                  <a16:creationId xmlns:a16="http://schemas.microsoft.com/office/drawing/2014/main" id="{160E2B72-3DAD-69B5-62A9-467B753CB3F7}"/>
                </a:ext>
                <a:ext uri="{C183D7F6-B498-43B3-948B-1728B52AA6E4}">
                  <adec:decorative xmlns:adec="http://schemas.microsoft.com/office/drawing/2017/decorative" val="1"/>
                </a:ext>
              </a:extLst>
            </p:cNvPr>
            <p:cNvCxnSpPr>
              <a:cxnSpLocks/>
            </p:cNvCxnSpPr>
            <p:nvPr/>
          </p:nvCxnSpPr>
          <p:spPr>
            <a:xfrm rot="5400000">
              <a:off x="10289548" y="3839881"/>
              <a:ext cx="1143000"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72747CF-62FC-B706-9CAA-C128B969A093}"/>
                </a:ext>
                <a:ext uri="{C183D7F6-B498-43B3-948B-1728B52AA6E4}">
                  <adec:decorative xmlns:adec="http://schemas.microsoft.com/office/drawing/2017/decorative" val="1"/>
                </a:ext>
              </a:extLst>
            </p:cNvPr>
            <p:cNvCxnSpPr>
              <a:cxnSpLocks/>
            </p:cNvCxnSpPr>
            <p:nvPr/>
          </p:nvCxnSpPr>
          <p:spPr>
            <a:xfrm rot="5400000">
              <a:off x="7369540" y="3839881"/>
              <a:ext cx="1143000"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71F6FB38-7EC2-A455-28EC-0332652DFAC1}"/>
                </a:ext>
                <a:ext uri="{C183D7F6-B498-43B3-948B-1728B52AA6E4}">
                  <adec:decorative xmlns:adec="http://schemas.microsoft.com/office/drawing/2017/decorative" val="0"/>
                </a:ext>
              </a:extLst>
            </p:cNvPr>
            <p:cNvSpPr/>
            <p:nvPr/>
          </p:nvSpPr>
          <p:spPr>
            <a:xfrm>
              <a:off x="1341824" y="4991829"/>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2"/>
                  </a:solidFill>
                  <a:effectLst/>
                  <a:uLnTx/>
                  <a:uFillTx/>
                  <a:latin typeface="Amazon Ember Display"/>
                  <a:ea typeface="+mn-ea"/>
                  <a:cs typeface="+mn-cs"/>
                </a:rPr>
                <a:t>1</a:t>
              </a:r>
            </a:p>
          </p:txBody>
        </p:sp>
        <p:sp>
          <p:nvSpPr>
            <p:cNvPr id="27" name="Rounded Rectangular Callout 26">
              <a:extLst>
                <a:ext uri="{FF2B5EF4-FFF2-40B4-BE49-F238E27FC236}">
                  <a16:creationId xmlns:a16="http://schemas.microsoft.com/office/drawing/2014/main" id="{0E142789-E1CE-E98B-CA5C-9146A598D12C}"/>
                </a:ext>
                <a:ext uri="{C183D7F6-B498-43B3-948B-1728B52AA6E4}">
                  <adec:decorative xmlns:adec="http://schemas.microsoft.com/office/drawing/2017/decorative" val="0"/>
                </a:ext>
              </a:extLst>
            </p:cNvPr>
            <p:cNvSpPr/>
            <p:nvPr/>
          </p:nvSpPr>
          <p:spPr>
            <a:xfrm>
              <a:off x="695986" y="3716865"/>
              <a:ext cx="2099384" cy="914400"/>
            </a:xfrm>
            <a:prstGeom prst="wedgeRoundRectCallout">
              <a:avLst>
                <a:gd name="adj1" fmla="val -34323"/>
                <a:gd name="adj2" fmla="val -10462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a good place for pizza in this city?</a:t>
              </a:r>
            </a:p>
          </p:txBody>
        </p:sp>
        <p:sp>
          <p:nvSpPr>
            <p:cNvPr id="33" name="Oval 32">
              <a:extLst>
                <a:ext uri="{FF2B5EF4-FFF2-40B4-BE49-F238E27FC236}">
                  <a16:creationId xmlns:a16="http://schemas.microsoft.com/office/drawing/2014/main" id="{389F0AA2-4A1D-DAB2-FDA4-5F64BD5253BD}"/>
                </a:ext>
                <a:ext uri="{C183D7F6-B498-43B3-948B-1728B52AA6E4}">
                  <adec:decorative xmlns:adec="http://schemas.microsoft.com/office/drawing/2017/decorative" val="0"/>
                </a:ext>
              </a:extLst>
            </p:cNvPr>
            <p:cNvSpPr/>
            <p:nvPr/>
          </p:nvSpPr>
          <p:spPr>
            <a:xfrm>
              <a:off x="5734049" y="4991829"/>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2"/>
                  </a:solidFill>
                  <a:effectLst/>
                  <a:uLnTx/>
                  <a:uFillTx/>
                  <a:latin typeface="Amazon Ember Display"/>
                  <a:ea typeface="+mn-ea"/>
                  <a:cs typeface="+mn-cs"/>
                </a:rPr>
                <a:t>2</a:t>
              </a:r>
            </a:p>
          </p:txBody>
        </p:sp>
        <p:sp>
          <p:nvSpPr>
            <p:cNvPr id="30" name="Rounded Rectangular Callout 29">
              <a:extLst>
                <a:ext uri="{FF2B5EF4-FFF2-40B4-BE49-F238E27FC236}">
                  <a16:creationId xmlns:a16="http://schemas.microsoft.com/office/drawing/2014/main" id="{3EACD757-8A50-102D-3C2B-2592A6B5F091}"/>
                </a:ext>
              </a:extLst>
            </p:cNvPr>
            <p:cNvSpPr/>
            <p:nvPr/>
          </p:nvSpPr>
          <p:spPr>
            <a:xfrm>
              <a:off x="5185560" y="3716865"/>
              <a:ext cx="1668479" cy="914400"/>
            </a:xfrm>
            <a:prstGeom prst="wedgeRoundRectCallout">
              <a:avLst>
                <a:gd name="adj1" fmla="val 73388"/>
                <a:gd name="adj2" fmla="val 4307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 user is in Seattle.</a:t>
              </a:r>
            </a:p>
          </p:txBody>
        </p:sp>
        <p:sp>
          <p:nvSpPr>
            <p:cNvPr id="34" name="Oval 33">
              <a:extLst>
                <a:ext uri="{FF2B5EF4-FFF2-40B4-BE49-F238E27FC236}">
                  <a16:creationId xmlns:a16="http://schemas.microsoft.com/office/drawing/2014/main" id="{AA9EE5A6-5EAF-4A37-92A8-5DA4423043DA}"/>
                </a:ext>
                <a:ext uri="{C183D7F6-B498-43B3-948B-1728B52AA6E4}">
                  <adec:decorative xmlns:adec="http://schemas.microsoft.com/office/drawing/2017/decorative" val="0"/>
                </a:ext>
              </a:extLst>
            </p:cNvPr>
            <p:cNvSpPr/>
            <p:nvPr/>
          </p:nvSpPr>
          <p:spPr>
            <a:xfrm>
              <a:off x="9235944" y="4991829"/>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2"/>
                  </a:solidFill>
                  <a:effectLst/>
                  <a:uLnTx/>
                  <a:uFillTx/>
                  <a:latin typeface="Amazon Ember Display"/>
                  <a:ea typeface="+mn-ea"/>
                  <a:cs typeface="+mn-cs"/>
                </a:rPr>
                <a:t>3</a:t>
              </a:r>
            </a:p>
          </p:txBody>
        </p:sp>
        <p:sp>
          <p:nvSpPr>
            <p:cNvPr id="38" name="Oval 37">
              <a:extLst>
                <a:ext uri="{FF2B5EF4-FFF2-40B4-BE49-F238E27FC236}">
                  <a16:creationId xmlns:a16="http://schemas.microsoft.com/office/drawing/2014/main" id="{E227DFEB-EC00-D0AF-3794-23E79207F032}"/>
                </a:ext>
                <a:ext uri="{C183D7F6-B498-43B3-948B-1728B52AA6E4}">
                  <adec:decorative xmlns:adec="http://schemas.microsoft.com/office/drawing/2017/decorative" val="0"/>
                </a:ext>
              </a:extLst>
            </p:cNvPr>
            <p:cNvSpPr/>
            <p:nvPr/>
          </p:nvSpPr>
          <p:spPr>
            <a:xfrm>
              <a:off x="9292178" y="1207131"/>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2"/>
                  </a:solidFill>
                  <a:effectLst/>
                  <a:uLnTx/>
                  <a:uFillTx/>
                  <a:latin typeface="Amazon Ember Display"/>
                  <a:ea typeface="+mn-ea"/>
                  <a:cs typeface="+mn-cs"/>
                </a:rPr>
                <a:t>4</a:t>
              </a:r>
            </a:p>
          </p:txBody>
        </p:sp>
        <p:sp>
          <p:nvSpPr>
            <p:cNvPr id="18" name="TextBox 17">
              <a:extLst>
                <a:ext uri="{FF2B5EF4-FFF2-40B4-BE49-F238E27FC236}">
                  <a16:creationId xmlns:a16="http://schemas.microsoft.com/office/drawing/2014/main" id="{319A904F-1920-7BF6-B653-834BB487D231}"/>
                </a:ext>
              </a:extLst>
            </p:cNvPr>
            <p:cNvSpPr txBox="1"/>
            <p:nvPr/>
          </p:nvSpPr>
          <p:spPr>
            <a:xfrm>
              <a:off x="9888850" y="2779226"/>
              <a:ext cx="1951175" cy="369332"/>
            </a:xfrm>
            <a:prstGeom prst="rect">
              <a:avLst/>
            </a:prstGeom>
            <a:noFill/>
          </p:spPr>
          <p:txBody>
            <a:bodyPr wrap="none" rtlCol="0">
              <a:spAutoFit/>
            </a:bodyPr>
            <a:lstStyle/>
            <a:p>
              <a:pPr algn="ctr"/>
              <a:r>
                <a:rPr lang="en-US" dirty="0">
                  <a:solidFill>
                    <a:srgbClr val="232F3E"/>
                  </a:solidFill>
                </a:rPr>
                <a:t>Amazon Bedrock</a:t>
              </a:r>
            </a:p>
          </p:txBody>
        </p:sp>
        <p:sp>
          <p:nvSpPr>
            <p:cNvPr id="28" name="TextBox 27">
              <a:extLst>
                <a:ext uri="{FF2B5EF4-FFF2-40B4-BE49-F238E27FC236}">
                  <a16:creationId xmlns:a16="http://schemas.microsoft.com/office/drawing/2014/main" id="{71BEA0D8-0D96-652F-F19C-E48711202D55}"/>
                </a:ext>
              </a:extLst>
            </p:cNvPr>
            <p:cNvSpPr txBox="1"/>
            <p:nvPr/>
          </p:nvSpPr>
          <p:spPr>
            <a:xfrm>
              <a:off x="9820238" y="5588564"/>
              <a:ext cx="2019940" cy="646331"/>
            </a:xfrm>
            <a:prstGeom prst="rect">
              <a:avLst/>
            </a:prstGeom>
            <a:noFill/>
          </p:spPr>
          <p:txBody>
            <a:bodyPr wrap="square">
              <a:spAutoFit/>
            </a:bodyPr>
            <a:lstStyle/>
            <a:p>
              <a:pPr algn="ctr"/>
              <a:r>
                <a:rPr lang="en-US" dirty="0">
                  <a:solidFill>
                    <a:srgbClr val="232F3E"/>
                  </a:solidFill>
                  <a:ea typeface="Amazon Ember" panose="020B0603020204020204" pitchFamily="34" charset="0"/>
                  <a:cs typeface="Amazon Ember" panose="020B0603020204020204" pitchFamily="34" charset="0"/>
                </a:rPr>
                <a:t>Foundation</a:t>
              </a:r>
            </a:p>
            <a:p>
              <a:pPr algn="ctr"/>
              <a:r>
                <a:rPr lang="en-US" dirty="0">
                  <a:solidFill>
                    <a:srgbClr val="232F3E"/>
                  </a:solidFill>
                  <a:ea typeface="Amazon Ember" panose="020B0603020204020204" pitchFamily="34" charset="0"/>
                  <a:cs typeface="Amazon Ember" panose="020B0603020204020204" pitchFamily="34" charset="0"/>
                </a:rPr>
                <a:t>model</a:t>
              </a:r>
            </a:p>
          </p:txBody>
        </p:sp>
        <p:sp>
          <p:nvSpPr>
            <p:cNvPr id="6" name="Rounded Rectangular Callout 29">
              <a:extLst>
                <a:ext uri="{FF2B5EF4-FFF2-40B4-BE49-F238E27FC236}">
                  <a16:creationId xmlns:a16="http://schemas.microsoft.com/office/drawing/2014/main" id="{02E5BFD4-C5CD-50BE-B91C-65C8525A795B}"/>
                </a:ext>
              </a:extLst>
            </p:cNvPr>
            <p:cNvSpPr/>
            <p:nvPr/>
          </p:nvSpPr>
          <p:spPr>
            <a:xfrm>
              <a:off x="8687455" y="3716865"/>
              <a:ext cx="1668479" cy="914400"/>
            </a:xfrm>
            <a:prstGeom prst="wedgeRoundRectCallout">
              <a:avLst>
                <a:gd name="adj1" fmla="val 62732"/>
                <a:gd name="adj2" fmla="val 3474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Try Serios Pie</a:t>
              </a:r>
            </a:p>
          </p:txBody>
        </p:sp>
      </p:grpSp>
    </p:spTree>
    <p:extLst>
      <p:ext uri="{BB962C8B-B14F-4D97-AF65-F5344CB8AC3E}">
        <p14:creationId xmlns:p14="http://schemas.microsoft.com/office/powerpoint/2010/main" val="17044913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CCB52-8F1C-0059-EF37-AB59B6F708D5}"/>
            </a:ext>
          </a:extLst>
        </p:cNvPr>
        <p:cNvGrpSpPr/>
        <p:nvPr/>
      </p:nvGrpSpPr>
      <p:grpSpPr>
        <a:xfrm>
          <a:off x="0" y="0"/>
          <a:ext cx="0" cy="0"/>
          <a:chOff x="0" y="0"/>
          <a:chExt cx="0" cy="0"/>
        </a:xfrm>
      </p:grpSpPr>
      <p:sp>
        <p:nvSpPr>
          <p:cNvPr id="4" name="Title">
            <a:extLst>
              <a:ext uri="{FF2B5EF4-FFF2-40B4-BE49-F238E27FC236}">
                <a16:creationId xmlns:a16="http://schemas.microsoft.com/office/drawing/2014/main" id="{45852967-C3C0-A86C-5670-CC5CA832AA8D}"/>
              </a:ext>
            </a:extLst>
          </p:cNvPr>
          <p:cNvSpPr>
            <a:spLocks noGrp="1"/>
          </p:cNvSpPr>
          <p:nvPr>
            <p:ph type="title" idx="1"/>
          </p:nvPr>
        </p:nvSpPr>
        <p:spPr/>
        <p:txBody>
          <a:bodyPr/>
          <a:lstStyle/>
          <a:p>
            <a:r>
              <a:rPr lang="en-US" dirty="0"/>
              <a:t>Knowledge check</a:t>
            </a:r>
          </a:p>
        </p:txBody>
      </p:sp>
      <p:sp>
        <p:nvSpPr>
          <p:cNvPr id="3" name="SlideNumber">
            <a:extLst>
              <a:ext uri="{FF2B5EF4-FFF2-40B4-BE49-F238E27FC236}">
                <a16:creationId xmlns:a16="http://schemas.microsoft.com/office/drawing/2014/main" id="{358800B5-01FC-B3C6-AAAF-3A3F914B0186}"/>
              </a:ext>
            </a:extLst>
          </p:cNvPr>
          <p:cNvSpPr>
            <a:spLocks noGrp="1"/>
          </p:cNvSpPr>
          <p:nvPr>
            <p:ph type="sldNum" idx="97"/>
          </p:nvPr>
        </p:nvSpPr>
        <p:spPr/>
        <p:txBody>
          <a:bodyPr/>
          <a:lstStyle/>
          <a:p>
            <a:fld id="{4037B1B0-0345-4E15-985A-6BECCDBE474F}" type="slidenum">
              <a:rPr lang="en-US" smtClean="0"/>
              <a:pPr/>
              <a:t>27</a:t>
            </a:fld>
            <a:endParaRPr lang="en-US" dirty="0"/>
          </a:p>
        </p:txBody>
      </p:sp>
    </p:spTree>
    <p:custDataLst>
      <p:tags r:id="rId1"/>
    </p:custDataLst>
    <p:extLst>
      <p:ext uri="{BB962C8B-B14F-4D97-AF65-F5344CB8AC3E}">
        <p14:creationId xmlns:p14="http://schemas.microsoft.com/office/powerpoint/2010/main" val="36123040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F7ACF2A9-8698-FBB8-1D6D-055342289540}"/>
              </a:ext>
            </a:extLst>
          </p:cNvPr>
          <p:cNvSpPr>
            <a:spLocks noGrp="1"/>
          </p:cNvSpPr>
          <p:nvPr>
            <p:ph type="sldNum" idx="97"/>
          </p:nvPr>
        </p:nvSpPr>
        <p:spPr/>
        <p:txBody>
          <a:bodyPr/>
          <a:lstStyle/>
          <a:p>
            <a:fld id="{4037B1B0-0345-4E15-985A-6BECCDBE474F}" type="slidenum">
              <a:rPr lang="en-US" smtClean="0"/>
              <a:pPr/>
              <a:t>28</a:t>
            </a:fld>
            <a:endParaRPr lang="en-US" dirty="0"/>
          </a:p>
        </p:txBody>
      </p:sp>
      <p:sp>
        <p:nvSpPr>
          <p:cNvPr id="3" name="Title">
            <a:extLst>
              <a:ext uri="{FF2B5EF4-FFF2-40B4-BE49-F238E27FC236}">
                <a16:creationId xmlns:a16="http://schemas.microsoft.com/office/drawing/2014/main" id="{FCE8BAAD-842F-978D-AB2B-B5B68C41FFA1}"/>
              </a:ext>
            </a:extLst>
          </p:cNvPr>
          <p:cNvSpPr>
            <a:spLocks noGrp="1"/>
          </p:cNvSpPr>
          <p:nvPr>
            <p:ph type="title" idx="1"/>
          </p:nvPr>
        </p:nvSpPr>
        <p:spPr/>
        <p:txBody>
          <a:bodyPr/>
          <a:lstStyle/>
          <a:p>
            <a:r>
              <a:rPr lang="en-US" dirty="0"/>
              <a:t>Question 1</a:t>
            </a:r>
          </a:p>
        </p:txBody>
      </p:sp>
      <p:sp>
        <p:nvSpPr>
          <p:cNvPr id="4" name="Text Placeholder 3">
            <a:extLst>
              <a:ext uri="{FF2B5EF4-FFF2-40B4-BE49-F238E27FC236}">
                <a16:creationId xmlns:a16="http://schemas.microsoft.com/office/drawing/2014/main" id="{876B51CA-DBC4-484E-338C-D166F083C0F3}"/>
              </a:ext>
            </a:extLst>
          </p:cNvPr>
          <p:cNvSpPr>
            <a:spLocks noGrp="1"/>
          </p:cNvSpPr>
          <p:nvPr>
            <p:ph type="body" idx="2"/>
          </p:nvPr>
        </p:nvSpPr>
        <p:spPr/>
        <p:txBody>
          <a:bodyPr/>
          <a:lstStyle/>
          <a:p>
            <a:r>
              <a:rPr lang="en-US" dirty="0"/>
              <a:t>What is the main step after  tokenization and encoding when a foundation model (FM) is processing text? </a:t>
            </a:r>
          </a:p>
        </p:txBody>
      </p:sp>
      <p:sp>
        <p:nvSpPr>
          <p:cNvPr id="5" name="Text Placeholder 4">
            <a:extLst>
              <a:ext uri="{FF2B5EF4-FFF2-40B4-BE49-F238E27FC236}">
                <a16:creationId xmlns:a16="http://schemas.microsoft.com/office/drawing/2014/main" id="{8851B7DB-566B-6027-9E2D-59F0B2C95067}"/>
              </a:ext>
            </a:extLst>
          </p:cNvPr>
          <p:cNvSpPr>
            <a:spLocks noGrp="1"/>
          </p:cNvSpPr>
          <p:nvPr>
            <p:ph type="body" idx="11"/>
          </p:nvPr>
        </p:nvSpPr>
        <p:spPr/>
        <p:txBody>
          <a:bodyPr/>
          <a:lstStyle/>
          <a:p>
            <a:r>
              <a:rPr lang="en-US" dirty="0"/>
              <a:t>Choice</a:t>
            </a:r>
          </a:p>
        </p:txBody>
      </p:sp>
      <p:sp>
        <p:nvSpPr>
          <p:cNvPr id="6" name="Text Placeholder 5">
            <a:extLst>
              <a:ext uri="{FF2B5EF4-FFF2-40B4-BE49-F238E27FC236}">
                <a16:creationId xmlns:a16="http://schemas.microsoft.com/office/drawing/2014/main" id="{B58CEAF9-582B-56F9-9C59-A302893E00A2}"/>
              </a:ext>
            </a:extLst>
          </p:cNvPr>
          <p:cNvSpPr>
            <a:spLocks noGrp="1"/>
          </p:cNvSpPr>
          <p:nvPr>
            <p:ph type="body" idx="12"/>
          </p:nvPr>
        </p:nvSpPr>
        <p:spPr/>
        <p:txBody>
          <a:bodyPr/>
          <a:lstStyle/>
          <a:p>
            <a:r>
              <a:rPr lang="en-US" dirty="0"/>
              <a:t>Response</a:t>
            </a:r>
          </a:p>
        </p:txBody>
      </p:sp>
      <p:sp>
        <p:nvSpPr>
          <p:cNvPr id="7" name="Text Placeholder 6">
            <a:extLst>
              <a:ext uri="{FF2B5EF4-FFF2-40B4-BE49-F238E27FC236}">
                <a16:creationId xmlns:a16="http://schemas.microsoft.com/office/drawing/2014/main" id="{33BE49F9-EE8F-8E8B-5418-3D0FF35EFE09}"/>
              </a:ext>
            </a:extLst>
          </p:cNvPr>
          <p:cNvSpPr>
            <a:spLocks noGrp="1"/>
          </p:cNvSpPr>
          <p:nvPr>
            <p:ph type="body" idx="3"/>
          </p:nvPr>
        </p:nvSpPr>
        <p:spPr/>
        <p:txBody>
          <a:bodyPr/>
          <a:lstStyle/>
          <a:p>
            <a:r>
              <a:rPr lang="en-US" dirty="0"/>
              <a:t>A</a:t>
            </a:r>
          </a:p>
        </p:txBody>
      </p:sp>
      <p:sp>
        <p:nvSpPr>
          <p:cNvPr id="8" name="Text Placeholder 7">
            <a:extLst>
              <a:ext uri="{FF2B5EF4-FFF2-40B4-BE49-F238E27FC236}">
                <a16:creationId xmlns:a16="http://schemas.microsoft.com/office/drawing/2014/main" id="{FDD09F73-BE1A-D867-4413-E30077829D15}"/>
              </a:ext>
            </a:extLst>
          </p:cNvPr>
          <p:cNvSpPr>
            <a:spLocks noGrp="1"/>
          </p:cNvSpPr>
          <p:nvPr>
            <p:ph type="body" idx="4"/>
          </p:nvPr>
        </p:nvSpPr>
        <p:spPr/>
        <p:txBody>
          <a:bodyPr/>
          <a:lstStyle/>
          <a:p>
            <a:r>
              <a:rPr lang="en-US" dirty="0">
                <a:solidFill>
                  <a:srgbClr val="232F3E"/>
                </a:solidFill>
              </a:rPr>
              <a:t>Categorization</a:t>
            </a:r>
          </a:p>
        </p:txBody>
      </p:sp>
      <p:sp>
        <p:nvSpPr>
          <p:cNvPr id="9" name="Text Placeholder 8">
            <a:extLst>
              <a:ext uri="{FF2B5EF4-FFF2-40B4-BE49-F238E27FC236}">
                <a16:creationId xmlns:a16="http://schemas.microsoft.com/office/drawing/2014/main" id="{865F951E-7732-C891-6C58-3ECD01E0E6EE}"/>
              </a:ext>
            </a:extLst>
          </p:cNvPr>
          <p:cNvSpPr>
            <a:spLocks noGrp="1"/>
          </p:cNvSpPr>
          <p:nvPr>
            <p:ph type="body" idx="5"/>
          </p:nvPr>
        </p:nvSpPr>
        <p:spPr/>
        <p:txBody>
          <a:bodyPr/>
          <a:lstStyle/>
          <a:p>
            <a:r>
              <a:rPr lang="en-US" dirty="0"/>
              <a:t>B</a:t>
            </a:r>
          </a:p>
        </p:txBody>
      </p:sp>
      <p:sp>
        <p:nvSpPr>
          <p:cNvPr id="10" name="Text Placeholder 9">
            <a:extLst>
              <a:ext uri="{FF2B5EF4-FFF2-40B4-BE49-F238E27FC236}">
                <a16:creationId xmlns:a16="http://schemas.microsoft.com/office/drawing/2014/main" id="{C8824BB5-937D-8AE7-5068-C46763F42AA4}"/>
              </a:ext>
            </a:extLst>
          </p:cNvPr>
          <p:cNvSpPr>
            <a:spLocks noGrp="1"/>
          </p:cNvSpPr>
          <p:nvPr>
            <p:ph type="body" idx="6"/>
          </p:nvPr>
        </p:nvSpPr>
        <p:spPr/>
        <p:txBody>
          <a:bodyPr/>
          <a:lstStyle/>
          <a:p>
            <a:r>
              <a:rPr lang="en-US" dirty="0">
                <a:solidFill>
                  <a:srgbClr val="232F3E"/>
                </a:solidFill>
              </a:rPr>
              <a:t>Embedding</a:t>
            </a:r>
          </a:p>
        </p:txBody>
      </p:sp>
      <p:sp>
        <p:nvSpPr>
          <p:cNvPr id="11" name="Text Placeholder 10">
            <a:extLst>
              <a:ext uri="{FF2B5EF4-FFF2-40B4-BE49-F238E27FC236}">
                <a16:creationId xmlns:a16="http://schemas.microsoft.com/office/drawing/2014/main" id="{0BC351C2-EF14-FE03-5AA7-36C8AB92CAC0}"/>
              </a:ext>
            </a:extLst>
          </p:cNvPr>
          <p:cNvSpPr>
            <a:spLocks noGrp="1"/>
          </p:cNvSpPr>
          <p:nvPr>
            <p:ph type="body" idx="7"/>
          </p:nvPr>
        </p:nvSpPr>
        <p:spPr/>
        <p:txBody>
          <a:bodyPr/>
          <a:lstStyle/>
          <a:p>
            <a:r>
              <a:rPr lang="en-US" dirty="0"/>
              <a:t>C</a:t>
            </a:r>
          </a:p>
        </p:txBody>
      </p:sp>
      <p:sp>
        <p:nvSpPr>
          <p:cNvPr id="12" name="Text Placeholder 11">
            <a:extLst>
              <a:ext uri="{FF2B5EF4-FFF2-40B4-BE49-F238E27FC236}">
                <a16:creationId xmlns:a16="http://schemas.microsoft.com/office/drawing/2014/main" id="{70023FA5-B0DC-F903-8C63-58465F1379D7}"/>
              </a:ext>
            </a:extLst>
          </p:cNvPr>
          <p:cNvSpPr>
            <a:spLocks noGrp="1"/>
          </p:cNvSpPr>
          <p:nvPr>
            <p:ph type="body" idx="8"/>
          </p:nvPr>
        </p:nvSpPr>
        <p:spPr/>
        <p:txBody>
          <a:bodyPr/>
          <a:lstStyle/>
          <a:p>
            <a:r>
              <a:rPr lang="en-US" dirty="0">
                <a:solidFill>
                  <a:srgbClr val="232F3E"/>
                </a:solidFill>
              </a:rPr>
              <a:t>Decoupling</a:t>
            </a:r>
          </a:p>
        </p:txBody>
      </p:sp>
      <p:sp>
        <p:nvSpPr>
          <p:cNvPr id="13" name="Text Placeholder 12">
            <a:extLst>
              <a:ext uri="{FF2B5EF4-FFF2-40B4-BE49-F238E27FC236}">
                <a16:creationId xmlns:a16="http://schemas.microsoft.com/office/drawing/2014/main" id="{F88099EE-C72B-A449-3FE4-D2E039B98441}"/>
              </a:ext>
            </a:extLst>
          </p:cNvPr>
          <p:cNvSpPr>
            <a:spLocks noGrp="1"/>
          </p:cNvSpPr>
          <p:nvPr>
            <p:ph type="body" idx="9"/>
          </p:nvPr>
        </p:nvSpPr>
        <p:spPr/>
        <p:txBody>
          <a:bodyPr/>
          <a:lstStyle/>
          <a:p>
            <a:r>
              <a:rPr lang="en-US" dirty="0"/>
              <a:t>D</a:t>
            </a:r>
          </a:p>
        </p:txBody>
      </p:sp>
      <p:sp>
        <p:nvSpPr>
          <p:cNvPr id="14" name="Text Placeholder 13">
            <a:extLst>
              <a:ext uri="{FF2B5EF4-FFF2-40B4-BE49-F238E27FC236}">
                <a16:creationId xmlns:a16="http://schemas.microsoft.com/office/drawing/2014/main" id="{5E6BFC9B-539F-20A7-2FAB-CA5743E8802C}"/>
              </a:ext>
            </a:extLst>
          </p:cNvPr>
          <p:cNvSpPr>
            <a:spLocks noGrp="1"/>
          </p:cNvSpPr>
          <p:nvPr>
            <p:ph type="body" idx="10"/>
          </p:nvPr>
        </p:nvSpPr>
        <p:spPr/>
        <p:txBody>
          <a:bodyPr/>
          <a:lstStyle/>
          <a:p>
            <a:r>
              <a:rPr lang="en-US" dirty="0">
                <a:solidFill>
                  <a:srgbClr val="232F3E"/>
                </a:solidFill>
              </a:rPr>
              <a:t>Correlation</a:t>
            </a:r>
          </a:p>
        </p:txBody>
      </p:sp>
    </p:spTree>
    <p:extLst>
      <p:ext uri="{BB962C8B-B14F-4D97-AF65-F5344CB8AC3E}">
        <p14:creationId xmlns:p14="http://schemas.microsoft.com/office/powerpoint/2010/main" val="14979117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0B166-155E-F2B0-7B97-55C21E082D54}"/>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3BAD39B1-8B67-7D09-405C-7C5B902D48DC}"/>
              </a:ext>
            </a:extLst>
          </p:cNvPr>
          <p:cNvSpPr>
            <a:spLocks noGrp="1"/>
          </p:cNvSpPr>
          <p:nvPr>
            <p:ph type="sldNum" idx="97"/>
          </p:nvPr>
        </p:nvSpPr>
        <p:spPr/>
        <p:txBody>
          <a:bodyPr/>
          <a:lstStyle/>
          <a:p>
            <a:fld id="{4037B1B0-0345-4E15-985A-6BECCDBE474F}" type="slidenum">
              <a:rPr lang="en-US" smtClean="0"/>
              <a:pPr/>
              <a:t>29</a:t>
            </a:fld>
            <a:endParaRPr lang="en-US" dirty="0"/>
          </a:p>
        </p:txBody>
      </p:sp>
      <p:sp>
        <p:nvSpPr>
          <p:cNvPr id="3" name="Title">
            <a:extLst>
              <a:ext uri="{FF2B5EF4-FFF2-40B4-BE49-F238E27FC236}">
                <a16:creationId xmlns:a16="http://schemas.microsoft.com/office/drawing/2014/main" id="{80AE9693-16C1-759D-9DA5-4C98B0B6D360}"/>
              </a:ext>
            </a:extLst>
          </p:cNvPr>
          <p:cNvSpPr>
            <a:spLocks noGrp="1"/>
          </p:cNvSpPr>
          <p:nvPr>
            <p:ph type="title" idx="1"/>
          </p:nvPr>
        </p:nvSpPr>
        <p:spPr/>
        <p:txBody>
          <a:bodyPr/>
          <a:lstStyle/>
          <a:p>
            <a:r>
              <a:rPr lang="en-US" dirty="0"/>
              <a:t>Question 1 answer</a:t>
            </a:r>
          </a:p>
        </p:txBody>
      </p:sp>
      <p:sp>
        <p:nvSpPr>
          <p:cNvPr id="4" name="Text Placeholder 3">
            <a:extLst>
              <a:ext uri="{FF2B5EF4-FFF2-40B4-BE49-F238E27FC236}">
                <a16:creationId xmlns:a16="http://schemas.microsoft.com/office/drawing/2014/main" id="{774AFE61-8743-64B6-AE50-6850E8845FC9}"/>
              </a:ext>
            </a:extLst>
          </p:cNvPr>
          <p:cNvSpPr>
            <a:spLocks noGrp="1"/>
          </p:cNvSpPr>
          <p:nvPr>
            <p:ph type="body" idx="2"/>
          </p:nvPr>
        </p:nvSpPr>
        <p:spPr/>
        <p:txBody>
          <a:bodyPr/>
          <a:lstStyle/>
          <a:p>
            <a:r>
              <a:rPr lang="en-US" dirty="0"/>
              <a:t>What is the main step after  tokenization and encoding when a foundation model (FM) is processing text? </a:t>
            </a:r>
          </a:p>
        </p:txBody>
      </p:sp>
      <p:sp>
        <p:nvSpPr>
          <p:cNvPr id="5" name="Text Placeholder 4">
            <a:extLst>
              <a:ext uri="{FF2B5EF4-FFF2-40B4-BE49-F238E27FC236}">
                <a16:creationId xmlns:a16="http://schemas.microsoft.com/office/drawing/2014/main" id="{09C6A229-60C5-6ED8-2CAF-6376082175BD}"/>
              </a:ext>
            </a:extLst>
          </p:cNvPr>
          <p:cNvSpPr>
            <a:spLocks noGrp="1"/>
          </p:cNvSpPr>
          <p:nvPr>
            <p:ph type="body" idx="11"/>
          </p:nvPr>
        </p:nvSpPr>
        <p:spPr/>
        <p:txBody>
          <a:bodyPr/>
          <a:lstStyle/>
          <a:p>
            <a:r>
              <a:rPr lang="en-US" dirty="0"/>
              <a:t>Choice</a:t>
            </a:r>
          </a:p>
        </p:txBody>
      </p:sp>
      <p:sp>
        <p:nvSpPr>
          <p:cNvPr id="6" name="Text Placeholder 5">
            <a:extLst>
              <a:ext uri="{FF2B5EF4-FFF2-40B4-BE49-F238E27FC236}">
                <a16:creationId xmlns:a16="http://schemas.microsoft.com/office/drawing/2014/main" id="{95828D19-A33F-7589-9927-352417265D87}"/>
              </a:ext>
            </a:extLst>
          </p:cNvPr>
          <p:cNvSpPr>
            <a:spLocks noGrp="1"/>
          </p:cNvSpPr>
          <p:nvPr>
            <p:ph type="body" idx="12"/>
          </p:nvPr>
        </p:nvSpPr>
        <p:spPr/>
        <p:txBody>
          <a:bodyPr/>
          <a:lstStyle/>
          <a:p>
            <a:r>
              <a:rPr lang="en-US" dirty="0"/>
              <a:t>Response</a:t>
            </a:r>
          </a:p>
        </p:txBody>
      </p:sp>
      <p:sp>
        <p:nvSpPr>
          <p:cNvPr id="7" name="Text Placeholder 6">
            <a:extLst>
              <a:ext uri="{FF2B5EF4-FFF2-40B4-BE49-F238E27FC236}">
                <a16:creationId xmlns:a16="http://schemas.microsoft.com/office/drawing/2014/main" id="{50F25DD9-F3FE-419B-3273-71FDD78D5494}"/>
              </a:ext>
            </a:extLst>
          </p:cNvPr>
          <p:cNvSpPr>
            <a:spLocks noGrp="1"/>
          </p:cNvSpPr>
          <p:nvPr>
            <p:ph type="body" idx="3"/>
          </p:nvPr>
        </p:nvSpPr>
        <p:spPr/>
        <p:txBody>
          <a:bodyPr/>
          <a:lstStyle/>
          <a:p>
            <a:r>
              <a:rPr lang="en-US" dirty="0"/>
              <a:t>A</a:t>
            </a:r>
          </a:p>
        </p:txBody>
      </p:sp>
      <p:sp>
        <p:nvSpPr>
          <p:cNvPr id="8" name="Text Placeholder 7">
            <a:extLst>
              <a:ext uri="{FF2B5EF4-FFF2-40B4-BE49-F238E27FC236}">
                <a16:creationId xmlns:a16="http://schemas.microsoft.com/office/drawing/2014/main" id="{77C3B169-9A91-32DF-3C07-0FCE03FE43C6}"/>
              </a:ext>
            </a:extLst>
          </p:cNvPr>
          <p:cNvSpPr>
            <a:spLocks noGrp="1"/>
          </p:cNvSpPr>
          <p:nvPr>
            <p:ph type="body" idx="4"/>
          </p:nvPr>
        </p:nvSpPr>
        <p:spPr>
          <a:solidFill>
            <a:schemeClr val="bg1"/>
          </a:solidFill>
        </p:spPr>
        <p:txBody>
          <a:bodyPr/>
          <a:lstStyle/>
          <a:p>
            <a:r>
              <a:rPr lang="en-US" dirty="0">
                <a:solidFill>
                  <a:srgbClr val="232F3E"/>
                </a:solidFill>
              </a:rPr>
              <a:t>Categorization</a:t>
            </a:r>
          </a:p>
        </p:txBody>
      </p:sp>
      <p:sp>
        <p:nvSpPr>
          <p:cNvPr id="9" name="Text Placeholder 8">
            <a:extLst>
              <a:ext uri="{FF2B5EF4-FFF2-40B4-BE49-F238E27FC236}">
                <a16:creationId xmlns:a16="http://schemas.microsoft.com/office/drawing/2014/main" id="{5F6EC877-6881-75EB-5251-73A07D39318E}"/>
              </a:ext>
            </a:extLst>
          </p:cNvPr>
          <p:cNvSpPr>
            <a:spLocks noGrp="1"/>
          </p:cNvSpPr>
          <p:nvPr>
            <p:ph type="body" idx="5"/>
          </p:nvPr>
        </p:nvSpPr>
        <p:spPr/>
        <p:txBody>
          <a:bodyPr/>
          <a:lstStyle/>
          <a:p>
            <a:r>
              <a:rPr lang="en-US" dirty="0"/>
              <a:t>B</a:t>
            </a:r>
          </a:p>
          <a:p>
            <a:r>
              <a:rPr lang="en-US" sz="1800" dirty="0"/>
              <a:t>Correct</a:t>
            </a:r>
            <a:endParaRPr lang="en-US" dirty="0"/>
          </a:p>
        </p:txBody>
      </p:sp>
      <p:sp>
        <p:nvSpPr>
          <p:cNvPr id="10" name="Text Placeholder 9">
            <a:extLst>
              <a:ext uri="{FF2B5EF4-FFF2-40B4-BE49-F238E27FC236}">
                <a16:creationId xmlns:a16="http://schemas.microsoft.com/office/drawing/2014/main" id="{834E97BD-B39D-96BB-D696-BB4E3FF4F192}"/>
              </a:ext>
            </a:extLst>
          </p:cNvPr>
          <p:cNvSpPr>
            <a:spLocks noGrp="1"/>
          </p:cNvSpPr>
          <p:nvPr>
            <p:ph type="body" idx="6"/>
          </p:nvPr>
        </p:nvSpPr>
        <p:spPr>
          <a:solidFill>
            <a:schemeClr val="accent3"/>
          </a:solidFill>
        </p:spPr>
        <p:txBody>
          <a:bodyPr/>
          <a:lstStyle/>
          <a:p>
            <a:r>
              <a:rPr lang="en-US" dirty="0">
                <a:solidFill>
                  <a:srgbClr val="232F3E"/>
                </a:solidFill>
              </a:rPr>
              <a:t>Embedding</a:t>
            </a:r>
          </a:p>
        </p:txBody>
      </p:sp>
      <p:sp>
        <p:nvSpPr>
          <p:cNvPr id="11" name="Text Placeholder 10">
            <a:extLst>
              <a:ext uri="{FF2B5EF4-FFF2-40B4-BE49-F238E27FC236}">
                <a16:creationId xmlns:a16="http://schemas.microsoft.com/office/drawing/2014/main" id="{A0A72C1D-357A-AB3F-36F7-ACBC7F27CC0A}"/>
              </a:ext>
            </a:extLst>
          </p:cNvPr>
          <p:cNvSpPr>
            <a:spLocks noGrp="1"/>
          </p:cNvSpPr>
          <p:nvPr>
            <p:ph type="body" idx="7"/>
          </p:nvPr>
        </p:nvSpPr>
        <p:spPr/>
        <p:txBody>
          <a:bodyPr/>
          <a:lstStyle/>
          <a:p>
            <a:r>
              <a:rPr lang="en-US" dirty="0"/>
              <a:t>C</a:t>
            </a:r>
          </a:p>
        </p:txBody>
      </p:sp>
      <p:sp>
        <p:nvSpPr>
          <p:cNvPr id="12" name="Text Placeholder 11">
            <a:extLst>
              <a:ext uri="{FF2B5EF4-FFF2-40B4-BE49-F238E27FC236}">
                <a16:creationId xmlns:a16="http://schemas.microsoft.com/office/drawing/2014/main" id="{E8482771-6637-26F6-37AA-9B8542AE0690}"/>
              </a:ext>
            </a:extLst>
          </p:cNvPr>
          <p:cNvSpPr>
            <a:spLocks noGrp="1"/>
          </p:cNvSpPr>
          <p:nvPr>
            <p:ph type="body" idx="8"/>
          </p:nvPr>
        </p:nvSpPr>
        <p:spPr>
          <a:solidFill>
            <a:schemeClr val="bg1"/>
          </a:solidFill>
        </p:spPr>
        <p:txBody>
          <a:bodyPr/>
          <a:lstStyle/>
          <a:p>
            <a:r>
              <a:rPr lang="en-US" dirty="0">
                <a:solidFill>
                  <a:srgbClr val="232F3E"/>
                </a:solidFill>
              </a:rPr>
              <a:t>Decoupling</a:t>
            </a:r>
          </a:p>
        </p:txBody>
      </p:sp>
      <p:sp>
        <p:nvSpPr>
          <p:cNvPr id="13" name="Text Placeholder 12">
            <a:extLst>
              <a:ext uri="{FF2B5EF4-FFF2-40B4-BE49-F238E27FC236}">
                <a16:creationId xmlns:a16="http://schemas.microsoft.com/office/drawing/2014/main" id="{D3FCB181-DF02-04F7-830D-C9DF85293A0F}"/>
              </a:ext>
            </a:extLst>
          </p:cNvPr>
          <p:cNvSpPr>
            <a:spLocks noGrp="1"/>
          </p:cNvSpPr>
          <p:nvPr>
            <p:ph type="body" idx="9"/>
          </p:nvPr>
        </p:nvSpPr>
        <p:spPr/>
        <p:txBody>
          <a:bodyPr/>
          <a:lstStyle/>
          <a:p>
            <a:r>
              <a:rPr lang="en-US" dirty="0"/>
              <a:t>D</a:t>
            </a:r>
          </a:p>
        </p:txBody>
      </p:sp>
      <p:sp>
        <p:nvSpPr>
          <p:cNvPr id="14" name="Text Placeholder 13">
            <a:extLst>
              <a:ext uri="{FF2B5EF4-FFF2-40B4-BE49-F238E27FC236}">
                <a16:creationId xmlns:a16="http://schemas.microsoft.com/office/drawing/2014/main" id="{471852F0-C3FB-9B93-F9A4-31BEA7A9FB70}"/>
              </a:ext>
            </a:extLst>
          </p:cNvPr>
          <p:cNvSpPr>
            <a:spLocks noGrp="1"/>
          </p:cNvSpPr>
          <p:nvPr>
            <p:ph type="body" idx="10"/>
          </p:nvPr>
        </p:nvSpPr>
        <p:spPr/>
        <p:txBody>
          <a:bodyPr/>
          <a:lstStyle/>
          <a:p>
            <a:r>
              <a:rPr lang="en-US" dirty="0">
                <a:solidFill>
                  <a:srgbClr val="232F3E"/>
                </a:solidFill>
              </a:rPr>
              <a:t>Correlation</a:t>
            </a:r>
          </a:p>
        </p:txBody>
      </p:sp>
    </p:spTree>
    <p:extLst>
      <p:ext uri="{BB962C8B-B14F-4D97-AF65-F5344CB8AC3E}">
        <p14:creationId xmlns:p14="http://schemas.microsoft.com/office/powerpoint/2010/main" val="15111033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0AAAE-82B7-245A-CD46-757E7F04B7DB}"/>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3D0821C7-C059-0D8F-7489-27019171BE60}"/>
              </a:ext>
            </a:extLst>
          </p:cNvPr>
          <p:cNvSpPr>
            <a:spLocks noGrp="1"/>
          </p:cNvSpPr>
          <p:nvPr>
            <p:ph type="sldNum" idx="97"/>
          </p:nvPr>
        </p:nvSpPr>
        <p:spPr/>
        <p:txBody>
          <a:bodyPr/>
          <a:lstStyle/>
          <a:p>
            <a:fld id="{4037B1B0-0345-4E15-985A-6BECCDBE474F}" type="slidenum">
              <a:rPr lang="en-US" smtClean="0"/>
              <a:pPr/>
              <a:t>30</a:t>
            </a:fld>
            <a:endParaRPr lang="en-US" dirty="0"/>
          </a:p>
        </p:txBody>
      </p:sp>
      <p:sp>
        <p:nvSpPr>
          <p:cNvPr id="3" name="Title">
            <a:extLst>
              <a:ext uri="{FF2B5EF4-FFF2-40B4-BE49-F238E27FC236}">
                <a16:creationId xmlns:a16="http://schemas.microsoft.com/office/drawing/2014/main" id="{50BAA859-217E-DA06-CC54-9F36821B8829}"/>
              </a:ext>
            </a:extLst>
          </p:cNvPr>
          <p:cNvSpPr>
            <a:spLocks noGrp="1"/>
          </p:cNvSpPr>
          <p:nvPr>
            <p:ph type="title" idx="1"/>
          </p:nvPr>
        </p:nvSpPr>
        <p:spPr/>
        <p:txBody>
          <a:bodyPr/>
          <a:lstStyle/>
          <a:p>
            <a:r>
              <a:rPr lang="en-US" dirty="0"/>
              <a:t>Question 2</a:t>
            </a:r>
          </a:p>
        </p:txBody>
      </p:sp>
      <p:sp>
        <p:nvSpPr>
          <p:cNvPr id="4" name="Text Placeholder 3">
            <a:extLst>
              <a:ext uri="{FF2B5EF4-FFF2-40B4-BE49-F238E27FC236}">
                <a16:creationId xmlns:a16="http://schemas.microsoft.com/office/drawing/2014/main" id="{119B7FD2-80F8-1914-7409-F7C7548ADE01}"/>
              </a:ext>
            </a:extLst>
          </p:cNvPr>
          <p:cNvSpPr>
            <a:spLocks noGrp="1"/>
          </p:cNvSpPr>
          <p:nvPr>
            <p:ph type="body" idx="2"/>
          </p:nvPr>
        </p:nvSpPr>
        <p:spPr/>
        <p:txBody>
          <a:bodyPr/>
          <a:lstStyle/>
          <a:p>
            <a:r>
              <a:rPr lang="en-US" dirty="0"/>
              <a:t>In which layer of the AWS generative AI stack is Amazon Bedrock categorized?</a:t>
            </a:r>
          </a:p>
        </p:txBody>
      </p:sp>
      <p:sp>
        <p:nvSpPr>
          <p:cNvPr id="5" name="Text Placeholder 4">
            <a:extLst>
              <a:ext uri="{FF2B5EF4-FFF2-40B4-BE49-F238E27FC236}">
                <a16:creationId xmlns:a16="http://schemas.microsoft.com/office/drawing/2014/main" id="{1FFC3B90-F7B6-183A-5EB5-2ECB4D784CC8}"/>
              </a:ext>
            </a:extLst>
          </p:cNvPr>
          <p:cNvSpPr>
            <a:spLocks noGrp="1"/>
          </p:cNvSpPr>
          <p:nvPr>
            <p:ph type="body" idx="11"/>
          </p:nvPr>
        </p:nvSpPr>
        <p:spPr/>
        <p:txBody>
          <a:bodyPr/>
          <a:lstStyle/>
          <a:p>
            <a:r>
              <a:rPr lang="en-US" dirty="0"/>
              <a:t>Choice</a:t>
            </a:r>
          </a:p>
        </p:txBody>
      </p:sp>
      <p:sp>
        <p:nvSpPr>
          <p:cNvPr id="6" name="Text Placeholder 5">
            <a:extLst>
              <a:ext uri="{FF2B5EF4-FFF2-40B4-BE49-F238E27FC236}">
                <a16:creationId xmlns:a16="http://schemas.microsoft.com/office/drawing/2014/main" id="{DDAC7386-2130-05BE-818E-AA36C47E0372}"/>
              </a:ext>
            </a:extLst>
          </p:cNvPr>
          <p:cNvSpPr>
            <a:spLocks noGrp="1"/>
          </p:cNvSpPr>
          <p:nvPr>
            <p:ph type="body" idx="12"/>
          </p:nvPr>
        </p:nvSpPr>
        <p:spPr/>
        <p:txBody>
          <a:bodyPr/>
          <a:lstStyle/>
          <a:p>
            <a:r>
              <a:rPr lang="en-US" dirty="0"/>
              <a:t>Response</a:t>
            </a:r>
          </a:p>
        </p:txBody>
      </p:sp>
      <p:sp>
        <p:nvSpPr>
          <p:cNvPr id="7" name="Text Placeholder 6">
            <a:extLst>
              <a:ext uri="{FF2B5EF4-FFF2-40B4-BE49-F238E27FC236}">
                <a16:creationId xmlns:a16="http://schemas.microsoft.com/office/drawing/2014/main" id="{C2B3DF42-86F2-39FA-1D5B-F72C5A063D8F}"/>
              </a:ext>
            </a:extLst>
          </p:cNvPr>
          <p:cNvSpPr>
            <a:spLocks noGrp="1"/>
          </p:cNvSpPr>
          <p:nvPr>
            <p:ph type="body" idx="3"/>
          </p:nvPr>
        </p:nvSpPr>
        <p:spPr/>
        <p:txBody>
          <a:bodyPr/>
          <a:lstStyle/>
          <a:p>
            <a:r>
              <a:rPr lang="en-US" dirty="0"/>
              <a:t>A</a:t>
            </a:r>
          </a:p>
        </p:txBody>
      </p:sp>
      <p:sp>
        <p:nvSpPr>
          <p:cNvPr id="8" name="Text Placeholder 7">
            <a:extLst>
              <a:ext uri="{FF2B5EF4-FFF2-40B4-BE49-F238E27FC236}">
                <a16:creationId xmlns:a16="http://schemas.microsoft.com/office/drawing/2014/main" id="{EE15CEC2-1D02-E8BB-82D9-9A796F0DBBFD}"/>
              </a:ext>
            </a:extLst>
          </p:cNvPr>
          <p:cNvSpPr>
            <a:spLocks noGrp="1"/>
          </p:cNvSpPr>
          <p:nvPr>
            <p:ph type="body" idx="4"/>
          </p:nvPr>
        </p:nvSpPr>
        <p:spPr/>
        <p:txBody>
          <a:bodyPr/>
          <a:lstStyle/>
          <a:p>
            <a:r>
              <a:rPr lang="en-US" dirty="0">
                <a:solidFill>
                  <a:srgbClr val="232F3E"/>
                </a:solidFill>
              </a:rPr>
              <a:t>Applications to boost productivity</a:t>
            </a:r>
          </a:p>
        </p:txBody>
      </p:sp>
      <p:sp>
        <p:nvSpPr>
          <p:cNvPr id="9" name="Text Placeholder 8">
            <a:extLst>
              <a:ext uri="{FF2B5EF4-FFF2-40B4-BE49-F238E27FC236}">
                <a16:creationId xmlns:a16="http://schemas.microsoft.com/office/drawing/2014/main" id="{F3E9AC28-5758-F4F8-93CE-47335D369A12}"/>
              </a:ext>
            </a:extLst>
          </p:cNvPr>
          <p:cNvSpPr>
            <a:spLocks noGrp="1"/>
          </p:cNvSpPr>
          <p:nvPr>
            <p:ph type="body" idx="5"/>
          </p:nvPr>
        </p:nvSpPr>
        <p:spPr/>
        <p:txBody>
          <a:bodyPr/>
          <a:lstStyle/>
          <a:p>
            <a:r>
              <a:rPr lang="en-US" dirty="0"/>
              <a:t>B</a:t>
            </a:r>
          </a:p>
        </p:txBody>
      </p:sp>
      <p:sp>
        <p:nvSpPr>
          <p:cNvPr id="10" name="Text Placeholder 9">
            <a:extLst>
              <a:ext uri="{FF2B5EF4-FFF2-40B4-BE49-F238E27FC236}">
                <a16:creationId xmlns:a16="http://schemas.microsoft.com/office/drawing/2014/main" id="{E6A84C8C-4F79-4E75-5D24-8A05EA652E39}"/>
              </a:ext>
            </a:extLst>
          </p:cNvPr>
          <p:cNvSpPr>
            <a:spLocks noGrp="1"/>
          </p:cNvSpPr>
          <p:nvPr>
            <p:ph type="body" idx="6"/>
          </p:nvPr>
        </p:nvSpPr>
        <p:spPr/>
        <p:txBody>
          <a:bodyPr/>
          <a:lstStyle/>
          <a:p>
            <a:r>
              <a:rPr lang="en-US" dirty="0">
                <a:solidFill>
                  <a:srgbClr val="232F3E"/>
                </a:solidFill>
              </a:rPr>
              <a:t>Models and tools to build generative AI applications</a:t>
            </a:r>
          </a:p>
        </p:txBody>
      </p:sp>
      <p:sp>
        <p:nvSpPr>
          <p:cNvPr id="11" name="Text Placeholder 10">
            <a:extLst>
              <a:ext uri="{FF2B5EF4-FFF2-40B4-BE49-F238E27FC236}">
                <a16:creationId xmlns:a16="http://schemas.microsoft.com/office/drawing/2014/main" id="{9075F0DB-A5D6-F2A0-E19D-C36148A5CDDE}"/>
              </a:ext>
            </a:extLst>
          </p:cNvPr>
          <p:cNvSpPr>
            <a:spLocks noGrp="1"/>
          </p:cNvSpPr>
          <p:nvPr>
            <p:ph type="body" idx="7"/>
          </p:nvPr>
        </p:nvSpPr>
        <p:spPr/>
        <p:txBody>
          <a:bodyPr/>
          <a:lstStyle/>
          <a:p>
            <a:r>
              <a:rPr lang="en-US" dirty="0"/>
              <a:t>C</a:t>
            </a:r>
          </a:p>
        </p:txBody>
      </p:sp>
      <p:sp>
        <p:nvSpPr>
          <p:cNvPr id="12" name="Text Placeholder 11">
            <a:extLst>
              <a:ext uri="{FF2B5EF4-FFF2-40B4-BE49-F238E27FC236}">
                <a16:creationId xmlns:a16="http://schemas.microsoft.com/office/drawing/2014/main" id="{761A7EAE-B1BB-C51E-271B-E3F1B91D6CED}"/>
              </a:ext>
            </a:extLst>
          </p:cNvPr>
          <p:cNvSpPr>
            <a:spLocks noGrp="1"/>
          </p:cNvSpPr>
          <p:nvPr>
            <p:ph type="body" idx="8"/>
          </p:nvPr>
        </p:nvSpPr>
        <p:spPr/>
        <p:txBody>
          <a:bodyPr/>
          <a:lstStyle/>
          <a:p>
            <a:r>
              <a:rPr lang="en-US" dirty="0">
                <a:solidFill>
                  <a:srgbClr val="232F3E"/>
                </a:solidFill>
              </a:rPr>
              <a:t>Infrastructure to build and train AI models</a:t>
            </a:r>
          </a:p>
        </p:txBody>
      </p:sp>
      <p:sp>
        <p:nvSpPr>
          <p:cNvPr id="13" name="Text Placeholder 12">
            <a:extLst>
              <a:ext uri="{FF2B5EF4-FFF2-40B4-BE49-F238E27FC236}">
                <a16:creationId xmlns:a16="http://schemas.microsoft.com/office/drawing/2014/main" id="{B81AEE26-8889-ACE7-863B-7A5D295D91C7}"/>
              </a:ext>
            </a:extLst>
          </p:cNvPr>
          <p:cNvSpPr>
            <a:spLocks noGrp="1"/>
          </p:cNvSpPr>
          <p:nvPr>
            <p:ph type="body" idx="9"/>
          </p:nvPr>
        </p:nvSpPr>
        <p:spPr/>
        <p:txBody>
          <a:bodyPr/>
          <a:lstStyle/>
          <a:p>
            <a:r>
              <a:rPr lang="en-US" dirty="0"/>
              <a:t>D</a:t>
            </a:r>
          </a:p>
        </p:txBody>
      </p:sp>
      <p:sp>
        <p:nvSpPr>
          <p:cNvPr id="14" name="Text Placeholder 13">
            <a:extLst>
              <a:ext uri="{FF2B5EF4-FFF2-40B4-BE49-F238E27FC236}">
                <a16:creationId xmlns:a16="http://schemas.microsoft.com/office/drawing/2014/main" id="{DB6C5CD8-427F-7F3A-CEA4-55CE293A5741}"/>
              </a:ext>
            </a:extLst>
          </p:cNvPr>
          <p:cNvSpPr>
            <a:spLocks noGrp="1"/>
          </p:cNvSpPr>
          <p:nvPr>
            <p:ph type="body" idx="10"/>
          </p:nvPr>
        </p:nvSpPr>
        <p:spPr/>
        <p:txBody>
          <a:bodyPr/>
          <a:lstStyle/>
          <a:p>
            <a:r>
              <a:rPr lang="en-US" dirty="0">
                <a:solidFill>
                  <a:srgbClr val="232F3E"/>
                </a:solidFill>
              </a:rPr>
              <a:t>High-performance compute</a:t>
            </a:r>
          </a:p>
        </p:txBody>
      </p:sp>
    </p:spTree>
    <p:extLst>
      <p:ext uri="{BB962C8B-B14F-4D97-AF65-F5344CB8AC3E}">
        <p14:creationId xmlns:p14="http://schemas.microsoft.com/office/powerpoint/2010/main" val="40853665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873E3-6E99-14FB-3AC2-610A15A85472}"/>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F0400391-7D35-57D0-4AA1-12EAA3E9AD77}"/>
              </a:ext>
            </a:extLst>
          </p:cNvPr>
          <p:cNvSpPr>
            <a:spLocks noGrp="1"/>
          </p:cNvSpPr>
          <p:nvPr>
            <p:ph type="sldNum" idx="97"/>
          </p:nvPr>
        </p:nvSpPr>
        <p:spPr/>
        <p:txBody>
          <a:bodyPr/>
          <a:lstStyle/>
          <a:p>
            <a:fld id="{4037B1B0-0345-4E15-985A-6BECCDBE474F}" type="slidenum">
              <a:rPr lang="en-US" smtClean="0"/>
              <a:pPr/>
              <a:t>31</a:t>
            </a:fld>
            <a:endParaRPr lang="en-US" dirty="0"/>
          </a:p>
        </p:txBody>
      </p:sp>
      <p:sp>
        <p:nvSpPr>
          <p:cNvPr id="3" name="Title">
            <a:extLst>
              <a:ext uri="{FF2B5EF4-FFF2-40B4-BE49-F238E27FC236}">
                <a16:creationId xmlns:a16="http://schemas.microsoft.com/office/drawing/2014/main" id="{861F72A4-A2EF-4021-5F5E-B247B5B1DA4C}"/>
              </a:ext>
            </a:extLst>
          </p:cNvPr>
          <p:cNvSpPr>
            <a:spLocks noGrp="1"/>
          </p:cNvSpPr>
          <p:nvPr>
            <p:ph type="title" idx="1"/>
          </p:nvPr>
        </p:nvSpPr>
        <p:spPr/>
        <p:txBody>
          <a:bodyPr/>
          <a:lstStyle/>
          <a:p>
            <a:r>
              <a:rPr lang="en-US" dirty="0"/>
              <a:t>Question 2 answer</a:t>
            </a:r>
          </a:p>
        </p:txBody>
      </p:sp>
      <p:sp>
        <p:nvSpPr>
          <p:cNvPr id="4" name="Text Placeholder 3">
            <a:extLst>
              <a:ext uri="{FF2B5EF4-FFF2-40B4-BE49-F238E27FC236}">
                <a16:creationId xmlns:a16="http://schemas.microsoft.com/office/drawing/2014/main" id="{0A18EB7D-E943-3D26-7A35-B146A629FA93}"/>
              </a:ext>
            </a:extLst>
          </p:cNvPr>
          <p:cNvSpPr>
            <a:spLocks noGrp="1"/>
          </p:cNvSpPr>
          <p:nvPr>
            <p:ph type="body" idx="2"/>
          </p:nvPr>
        </p:nvSpPr>
        <p:spPr/>
        <p:txBody>
          <a:bodyPr/>
          <a:lstStyle/>
          <a:p>
            <a:r>
              <a:rPr lang="en-US" dirty="0"/>
              <a:t>In which layer of the AWS generative AI stack is Amazon Bedrock categorized?</a:t>
            </a:r>
          </a:p>
        </p:txBody>
      </p:sp>
      <p:sp>
        <p:nvSpPr>
          <p:cNvPr id="5" name="Text Placeholder 4">
            <a:extLst>
              <a:ext uri="{FF2B5EF4-FFF2-40B4-BE49-F238E27FC236}">
                <a16:creationId xmlns:a16="http://schemas.microsoft.com/office/drawing/2014/main" id="{1D2C2D07-039C-269C-AB9B-F561611D7B04}"/>
              </a:ext>
            </a:extLst>
          </p:cNvPr>
          <p:cNvSpPr>
            <a:spLocks noGrp="1"/>
          </p:cNvSpPr>
          <p:nvPr>
            <p:ph type="body" idx="11"/>
          </p:nvPr>
        </p:nvSpPr>
        <p:spPr/>
        <p:txBody>
          <a:bodyPr/>
          <a:lstStyle/>
          <a:p>
            <a:r>
              <a:rPr lang="en-US" dirty="0"/>
              <a:t>Choice</a:t>
            </a:r>
          </a:p>
        </p:txBody>
      </p:sp>
      <p:sp>
        <p:nvSpPr>
          <p:cNvPr id="6" name="Text Placeholder 5">
            <a:extLst>
              <a:ext uri="{FF2B5EF4-FFF2-40B4-BE49-F238E27FC236}">
                <a16:creationId xmlns:a16="http://schemas.microsoft.com/office/drawing/2014/main" id="{F09C6923-9594-30E8-C488-2E2246D7CE63}"/>
              </a:ext>
            </a:extLst>
          </p:cNvPr>
          <p:cNvSpPr>
            <a:spLocks noGrp="1"/>
          </p:cNvSpPr>
          <p:nvPr>
            <p:ph type="body" idx="12"/>
          </p:nvPr>
        </p:nvSpPr>
        <p:spPr/>
        <p:txBody>
          <a:bodyPr/>
          <a:lstStyle/>
          <a:p>
            <a:r>
              <a:rPr lang="en-US" dirty="0"/>
              <a:t>Response</a:t>
            </a:r>
          </a:p>
        </p:txBody>
      </p:sp>
      <p:sp>
        <p:nvSpPr>
          <p:cNvPr id="7" name="Text Placeholder 6">
            <a:extLst>
              <a:ext uri="{FF2B5EF4-FFF2-40B4-BE49-F238E27FC236}">
                <a16:creationId xmlns:a16="http://schemas.microsoft.com/office/drawing/2014/main" id="{BB9B1C37-201B-114E-2F2B-602DC6539EB2}"/>
              </a:ext>
            </a:extLst>
          </p:cNvPr>
          <p:cNvSpPr>
            <a:spLocks noGrp="1"/>
          </p:cNvSpPr>
          <p:nvPr>
            <p:ph type="body" idx="3"/>
          </p:nvPr>
        </p:nvSpPr>
        <p:spPr/>
        <p:txBody>
          <a:bodyPr/>
          <a:lstStyle/>
          <a:p>
            <a:r>
              <a:rPr lang="en-US" dirty="0"/>
              <a:t>A</a:t>
            </a:r>
          </a:p>
        </p:txBody>
      </p:sp>
      <p:sp>
        <p:nvSpPr>
          <p:cNvPr id="8" name="Text Placeholder 7">
            <a:extLst>
              <a:ext uri="{FF2B5EF4-FFF2-40B4-BE49-F238E27FC236}">
                <a16:creationId xmlns:a16="http://schemas.microsoft.com/office/drawing/2014/main" id="{CA3A8BDB-C68D-F83D-0F26-44BD556B5289}"/>
              </a:ext>
            </a:extLst>
          </p:cNvPr>
          <p:cNvSpPr>
            <a:spLocks noGrp="1"/>
          </p:cNvSpPr>
          <p:nvPr>
            <p:ph type="body" idx="4"/>
          </p:nvPr>
        </p:nvSpPr>
        <p:spPr>
          <a:solidFill>
            <a:schemeClr val="bg1"/>
          </a:solidFill>
        </p:spPr>
        <p:txBody>
          <a:bodyPr/>
          <a:lstStyle/>
          <a:p>
            <a:r>
              <a:rPr lang="en-US" dirty="0">
                <a:solidFill>
                  <a:srgbClr val="232F3E"/>
                </a:solidFill>
              </a:rPr>
              <a:t>Applications to boost productivity</a:t>
            </a:r>
          </a:p>
        </p:txBody>
      </p:sp>
      <p:sp>
        <p:nvSpPr>
          <p:cNvPr id="9" name="Text Placeholder 8">
            <a:extLst>
              <a:ext uri="{FF2B5EF4-FFF2-40B4-BE49-F238E27FC236}">
                <a16:creationId xmlns:a16="http://schemas.microsoft.com/office/drawing/2014/main" id="{DA3BC132-BDEA-617A-AAF4-C69F28746DC1}"/>
              </a:ext>
            </a:extLst>
          </p:cNvPr>
          <p:cNvSpPr>
            <a:spLocks noGrp="1"/>
          </p:cNvSpPr>
          <p:nvPr>
            <p:ph type="body" idx="5"/>
          </p:nvPr>
        </p:nvSpPr>
        <p:spPr/>
        <p:txBody>
          <a:bodyPr/>
          <a:lstStyle/>
          <a:p>
            <a:r>
              <a:rPr lang="en-US" dirty="0"/>
              <a:t>B</a:t>
            </a:r>
          </a:p>
          <a:p>
            <a:r>
              <a:rPr lang="en-US" sz="1800" dirty="0"/>
              <a:t>Correct</a:t>
            </a:r>
            <a:endParaRPr lang="en-US" dirty="0"/>
          </a:p>
        </p:txBody>
      </p:sp>
      <p:sp>
        <p:nvSpPr>
          <p:cNvPr id="10" name="Text Placeholder 9">
            <a:extLst>
              <a:ext uri="{FF2B5EF4-FFF2-40B4-BE49-F238E27FC236}">
                <a16:creationId xmlns:a16="http://schemas.microsoft.com/office/drawing/2014/main" id="{EBC213E4-6DE2-0404-9323-7725B49F33DF}"/>
              </a:ext>
            </a:extLst>
          </p:cNvPr>
          <p:cNvSpPr>
            <a:spLocks noGrp="1"/>
          </p:cNvSpPr>
          <p:nvPr>
            <p:ph type="body" idx="6"/>
          </p:nvPr>
        </p:nvSpPr>
        <p:spPr>
          <a:solidFill>
            <a:schemeClr val="accent3"/>
          </a:solidFill>
        </p:spPr>
        <p:txBody>
          <a:bodyPr/>
          <a:lstStyle/>
          <a:p>
            <a:r>
              <a:rPr lang="en-US" dirty="0">
                <a:solidFill>
                  <a:srgbClr val="232F3E"/>
                </a:solidFill>
              </a:rPr>
              <a:t>Models and tools to build generative AI applications</a:t>
            </a:r>
          </a:p>
        </p:txBody>
      </p:sp>
      <p:sp>
        <p:nvSpPr>
          <p:cNvPr id="11" name="Text Placeholder 10">
            <a:extLst>
              <a:ext uri="{FF2B5EF4-FFF2-40B4-BE49-F238E27FC236}">
                <a16:creationId xmlns:a16="http://schemas.microsoft.com/office/drawing/2014/main" id="{B2999FE4-CABC-8C61-AF38-F8CF247B13A0}"/>
              </a:ext>
            </a:extLst>
          </p:cNvPr>
          <p:cNvSpPr>
            <a:spLocks noGrp="1"/>
          </p:cNvSpPr>
          <p:nvPr>
            <p:ph type="body" idx="7"/>
          </p:nvPr>
        </p:nvSpPr>
        <p:spPr/>
        <p:txBody>
          <a:bodyPr/>
          <a:lstStyle/>
          <a:p>
            <a:r>
              <a:rPr lang="en-US" dirty="0"/>
              <a:t>C</a:t>
            </a:r>
          </a:p>
        </p:txBody>
      </p:sp>
      <p:sp>
        <p:nvSpPr>
          <p:cNvPr id="12" name="Text Placeholder 11">
            <a:extLst>
              <a:ext uri="{FF2B5EF4-FFF2-40B4-BE49-F238E27FC236}">
                <a16:creationId xmlns:a16="http://schemas.microsoft.com/office/drawing/2014/main" id="{879AED22-B5D6-F10F-687D-3D6484498199}"/>
              </a:ext>
            </a:extLst>
          </p:cNvPr>
          <p:cNvSpPr>
            <a:spLocks noGrp="1"/>
          </p:cNvSpPr>
          <p:nvPr>
            <p:ph type="body" idx="8"/>
          </p:nvPr>
        </p:nvSpPr>
        <p:spPr>
          <a:solidFill>
            <a:schemeClr val="bg1"/>
          </a:solidFill>
        </p:spPr>
        <p:txBody>
          <a:bodyPr/>
          <a:lstStyle/>
          <a:p>
            <a:r>
              <a:rPr lang="en-US" dirty="0">
                <a:solidFill>
                  <a:srgbClr val="232F3E"/>
                </a:solidFill>
              </a:rPr>
              <a:t>Infrastructure to build and train AI models</a:t>
            </a:r>
          </a:p>
        </p:txBody>
      </p:sp>
      <p:sp>
        <p:nvSpPr>
          <p:cNvPr id="13" name="Text Placeholder 12">
            <a:extLst>
              <a:ext uri="{FF2B5EF4-FFF2-40B4-BE49-F238E27FC236}">
                <a16:creationId xmlns:a16="http://schemas.microsoft.com/office/drawing/2014/main" id="{6A400A01-5E58-DD9B-142D-954E4FF168A0}"/>
              </a:ext>
            </a:extLst>
          </p:cNvPr>
          <p:cNvSpPr>
            <a:spLocks noGrp="1"/>
          </p:cNvSpPr>
          <p:nvPr>
            <p:ph type="body" idx="9"/>
          </p:nvPr>
        </p:nvSpPr>
        <p:spPr/>
        <p:txBody>
          <a:bodyPr/>
          <a:lstStyle/>
          <a:p>
            <a:r>
              <a:rPr lang="en-US" dirty="0"/>
              <a:t>D</a:t>
            </a:r>
          </a:p>
        </p:txBody>
      </p:sp>
      <p:sp>
        <p:nvSpPr>
          <p:cNvPr id="14" name="Text Placeholder 13">
            <a:extLst>
              <a:ext uri="{FF2B5EF4-FFF2-40B4-BE49-F238E27FC236}">
                <a16:creationId xmlns:a16="http://schemas.microsoft.com/office/drawing/2014/main" id="{CCF120EA-DE65-EC3B-7AB7-C4C5A85D0579}"/>
              </a:ext>
            </a:extLst>
          </p:cNvPr>
          <p:cNvSpPr>
            <a:spLocks noGrp="1"/>
          </p:cNvSpPr>
          <p:nvPr>
            <p:ph type="body" idx="10"/>
          </p:nvPr>
        </p:nvSpPr>
        <p:spPr/>
        <p:txBody>
          <a:bodyPr/>
          <a:lstStyle/>
          <a:p>
            <a:r>
              <a:rPr lang="en-US" dirty="0">
                <a:solidFill>
                  <a:srgbClr val="232F3E"/>
                </a:solidFill>
              </a:rPr>
              <a:t>High-performance compute</a:t>
            </a:r>
          </a:p>
        </p:txBody>
      </p:sp>
    </p:spTree>
    <p:extLst>
      <p:ext uri="{BB962C8B-B14F-4D97-AF65-F5344CB8AC3E}">
        <p14:creationId xmlns:p14="http://schemas.microsoft.com/office/powerpoint/2010/main" val="21690599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ADB14-19C8-AA25-32D4-E6D32039EA13}"/>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AB98F41-5803-62E3-2B7C-1FDCD65DB31A}"/>
              </a:ext>
            </a:extLst>
          </p:cNvPr>
          <p:cNvSpPr>
            <a:spLocks noGrp="1"/>
          </p:cNvSpPr>
          <p:nvPr>
            <p:ph type="sldNum" idx="97"/>
          </p:nvPr>
        </p:nvSpPr>
        <p:spPr/>
        <p:txBody>
          <a:bodyPr/>
          <a:lstStyle/>
          <a:p>
            <a:fld id="{4037B1B0-0345-4E15-985A-6BECCDBE474F}" type="slidenum">
              <a:rPr lang="en-US" smtClean="0"/>
              <a:pPr/>
              <a:t>32</a:t>
            </a:fld>
            <a:endParaRPr lang="en-US" dirty="0"/>
          </a:p>
        </p:txBody>
      </p:sp>
      <p:sp>
        <p:nvSpPr>
          <p:cNvPr id="3" name="Title">
            <a:extLst>
              <a:ext uri="{FF2B5EF4-FFF2-40B4-BE49-F238E27FC236}">
                <a16:creationId xmlns:a16="http://schemas.microsoft.com/office/drawing/2014/main" id="{C914DB4D-455F-F0BF-4E84-E9D931BA8209}"/>
              </a:ext>
            </a:extLst>
          </p:cNvPr>
          <p:cNvSpPr>
            <a:spLocks noGrp="1"/>
          </p:cNvSpPr>
          <p:nvPr>
            <p:ph type="title" idx="1"/>
          </p:nvPr>
        </p:nvSpPr>
        <p:spPr/>
        <p:txBody>
          <a:bodyPr/>
          <a:lstStyle/>
          <a:p>
            <a:r>
              <a:rPr lang="en-US" dirty="0"/>
              <a:t>Question 3</a:t>
            </a:r>
          </a:p>
        </p:txBody>
      </p:sp>
      <p:sp>
        <p:nvSpPr>
          <p:cNvPr id="4" name="Text Placeholder 3">
            <a:extLst>
              <a:ext uri="{FF2B5EF4-FFF2-40B4-BE49-F238E27FC236}">
                <a16:creationId xmlns:a16="http://schemas.microsoft.com/office/drawing/2014/main" id="{7F783194-0DFA-AAEC-D82E-9EEC67C9CD84}"/>
              </a:ext>
            </a:extLst>
          </p:cNvPr>
          <p:cNvSpPr>
            <a:spLocks noGrp="1"/>
          </p:cNvSpPr>
          <p:nvPr>
            <p:ph type="body" idx="2"/>
          </p:nvPr>
        </p:nvSpPr>
        <p:spPr/>
        <p:txBody>
          <a:bodyPr/>
          <a:lstStyle/>
          <a:p>
            <a:r>
              <a:rPr lang="en-US" dirty="0"/>
              <a:t>Which optional application component could be used to make sure that the foundation model (FM) being used can appropriately handle pronouns such as </a:t>
            </a:r>
            <a:r>
              <a:rPr lang="en-US" i="1" dirty="0"/>
              <a:t>this</a:t>
            </a:r>
            <a:r>
              <a:rPr lang="en-US" dirty="0"/>
              <a:t>, </a:t>
            </a:r>
            <a:r>
              <a:rPr lang="en-US" i="1" dirty="0"/>
              <a:t>that</a:t>
            </a:r>
            <a:r>
              <a:rPr lang="en-US" dirty="0"/>
              <a:t>, and </a:t>
            </a:r>
            <a:r>
              <a:rPr lang="en-US" i="1" dirty="0"/>
              <a:t>it</a:t>
            </a:r>
            <a:r>
              <a:rPr lang="en-US" dirty="0"/>
              <a:t> in a conversational application?</a:t>
            </a:r>
          </a:p>
        </p:txBody>
      </p:sp>
      <p:sp>
        <p:nvSpPr>
          <p:cNvPr id="5" name="Text Placeholder 4">
            <a:extLst>
              <a:ext uri="{FF2B5EF4-FFF2-40B4-BE49-F238E27FC236}">
                <a16:creationId xmlns:a16="http://schemas.microsoft.com/office/drawing/2014/main" id="{2E4FFE03-A447-AEB7-6BAD-318E35B073DC}"/>
              </a:ext>
            </a:extLst>
          </p:cNvPr>
          <p:cNvSpPr>
            <a:spLocks noGrp="1"/>
          </p:cNvSpPr>
          <p:nvPr>
            <p:ph type="body" idx="11"/>
          </p:nvPr>
        </p:nvSpPr>
        <p:spPr/>
        <p:txBody>
          <a:bodyPr/>
          <a:lstStyle/>
          <a:p>
            <a:r>
              <a:rPr lang="en-US" dirty="0"/>
              <a:t>Choice</a:t>
            </a:r>
          </a:p>
        </p:txBody>
      </p:sp>
      <p:sp>
        <p:nvSpPr>
          <p:cNvPr id="6" name="Text Placeholder 5">
            <a:extLst>
              <a:ext uri="{FF2B5EF4-FFF2-40B4-BE49-F238E27FC236}">
                <a16:creationId xmlns:a16="http://schemas.microsoft.com/office/drawing/2014/main" id="{AA385046-28E2-99F0-569A-55A0549EF505}"/>
              </a:ext>
            </a:extLst>
          </p:cNvPr>
          <p:cNvSpPr>
            <a:spLocks noGrp="1"/>
          </p:cNvSpPr>
          <p:nvPr>
            <p:ph type="body" idx="12"/>
          </p:nvPr>
        </p:nvSpPr>
        <p:spPr/>
        <p:txBody>
          <a:bodyPr/>
          <a:lstStyle/>
          <a:p>
            <a:r>
              <a:rPr lang="en-US" dirty="0"/>
              <a:t>Response</a:t>
            </a:r>
          </a:p>
        </p:txBody>
      </p:sp>
      <p:sp>
        <p:nvSpPr>
          <p:cNvPr id="7" name="Text Placeholder 6">
            <a:extLst>
              <a:ext uri="{FF2B5EF4-FFF2-40B4-BE49-F238E27FC236}">
                <a16:creationId xmlns:a16="http://schemas.microsoft.com/office/drawing/2014/main" id="{930325AB-7E56-CBC4-C68D-44C8E6F3C293}"/>
              </a:ext>
            </a:extLst>
          </p:cNvPr>
          <p:cNvSpPr>
            <a:spLocks noGrp="1"/>
          </p:cNvSpPr>
          <p:nvPr>
            <p:ph type="body" idx="3"/>
          </p:nvPr>
        </p:nvSpPr>
        <p:spPr/>
        <p:txBody>
          <a:bodyPr/>
          <a:lstStyle/>
          <a:p>
            <a:r>
              <a:rPr lang="en-US" dirty="0"/>
              <a:t>A</a:t>
            </a:r>
          </a:p>
        </p:txBody>
      </p:sp>
      <p:sp>
        <p:nvSpPr>
          <p:cNvPr id="8" name="Text Placeholder 7">
            <a:extLst>
              <a:ext uri="{FF2B5EF4-FFF2-40B4-BE49-F238E27FC236}">
                <a16:creationId xmlns:a16="http://schemas.microsoft.com/office/drawing/2014/main" id="{DDDE994C-84DA-706C-80F3-3B3EBA52EEB8}"/>
              </a:ext>
            </a:extLst>
          </p:cNvPr>
          <p:cNvSpPr>
            <a:spLocks noGrp="1"/>
          </p:cNvSpPr>
          <p:nvPr>
            <p:ph type="body" idx="4"/>
          </p:nvPr>
        </p:nvSpPr>
        <p:spPr/>
        <p:txBody>
          <a:bodyPr/>
          <a:lstStyle/>
          <a:p>
            <a:r>
              <a:rPr lang="en-US" dirty="0">
                <a:solidFill>
                  <a:srgbClr val="232F3E"/>
                </a:solidFill>
              </a:rPr>
              <a:t>Enterprise datasets</a:t>
            </a:r>
          </a:p>
        </p:txBody>
      </p:sp>
      <p:sp>
        <p:nvSpPr>
          <p:cNvPr id="9" name="Text Placeholder 8">
            <a:extLst>
              <a:ext uri="{FF2B5EF4-FFF2-40B4-BE49-F238E27FC236}">
                <a16:creationId xmlns:a16="http://schemas.microsoft.com/office/drawing/2014/main" id="{8B02DAEE-0D0B-9499-F940-46E7E06B831D}"/>
              </a:ext>
            </a:extLst>
          </p:cNvPr>
          <p:cNvSpPr>
            <a:spLocks noGrp="1"/>
          </p:cNvSpPr>
          <p:nvPr>
            <p:ph type="body" idx="5"/>
          </p:nvPr>
        </p:nvSpPr>
        <p:spPr/>
        <p:txBody>
          <a:bodyPr/>
          <a:lstStyle/>
          <a:p>
            <a:r>
              <a:rPr lang="en-US" dirty="0"/>
              <a:t>B</a:t>
            </a:r>
          </a:p>
        </p:txBody>
      </p:sp>
      <p:sp>
        <p:nvSpPr>
          <p:cNvPr id="10" name="Text Placeholder 9">
            <a:extLst>
              <a:ext uri="{FF2B5EF4-FFF2-40B4-BE49-F238E27FC236}">
                <a16:creationId xmlns:a16="http://schemas.microsoft.com/office/drawing/2014/main" id="{C1B28E2A-BF72-D391-E736-CEC7D7403E46}"/>
              </a:ext>
            </a:extLst>
          </p:cNvPr>
          <p:cNvSpPr>
            <a:spLocks noGrp="1"/>
          </p:cNvSpPr>
          <p:nvPr>
            <p:ph type="body" idx="6"/>
          </p:nvPr>
        </p:nvSpPr>
        <p:spPr/>
        <p:txBody>
          <a:bodyPr/>
          <a:lstStyle/>
          <a:p>
            <a:r>
              <a:rPr lang="en-US" dirty="0">
                <a:solidFill>
                  <a:srgbClr val="232F3E"/>
                </a:solidFill>
              </a:rPr>
              <a:t>Vector stores</a:t>
            </a:r>
          </a:p>
        </p:txBody>
      </p:sp>
      <p:sp>
        <p:nvSpPr>
          <p:cNvPr id="11" name="Text Placeholder 10">
            <a:extLst>
              <a:ext uri="{FF2B5EF4-FFF2-40B4-BE49-F238E27FC236}">
                <a16:creationId xmlns:a16="http://schemas.microsoft.com/office/drawing/2014/main" id="{CA81B687-648B-C355-11F2-EAAA23690096}"/>
              </a:ext>
            </a:extLst>
          </p:cNvPr>
          <p:cNvSpPr>
            <a:spLocks noGrp="1"/>
          </p:cNvSpPr>
          <p:nvPr>
            <p:ph type="body" idx="7"/>
          </p:nvPr>
        </p:nvSpPr>
        <p:spPr/>
        <p:txBody>
          <a:bodyPr/>
          <a:lstStyle/>
          <a:p>
            <a:r>
              <a:rPr lang="en-US" dirty="0"/>
              <a:t>C</a:t>
            </a:r>
          </a:p>
        </p:txBody>
      </p:sp>
      <p:sp>
        <p:nvSpPr>
          <p:cNvPr id="12" name="Text Placeholder 11">
            <a:extLst>
              <a:ext uri="{FF2B5EF4-FFF2-40B4-BE49-F238E27FC236}">
                <a16:creationId xmlns:a16="http://schemas.microsoft.com/office/drawing/2014/main" id="{9656139E-702A-BC2A-CFAF-FB4544733D79}"/>
              </a:ext>
            </a:extLst>
          </p:cNvPr>
          <p:cNvSpPr>
            <a:spLocks noGrp="1"/>
          </p:cNvSpPr>
          <p:nvPr>
            <p:ph type="body" idx="8"/>
          </p:nvPr>
        </p:nvSpPr>
        <p:spPr/>
        <p:txBody>
          <a:bodyPr/>
          <a:lstStyle/>
          <a:p>
            <a:r>
              <a:rPr lang="en-US" dirty="0">
                <a:solidFill>
                  <a:srgbClr val="232F3E"/>
                </a:solidFill>
              </a:rPr>
              <a:t>Memory</a:t>
            </a:r>
          </a:p>
        </p:txBody>
      </p:sp>
      <p:sp>
        <p:nvSpPr>
          <p:cNvPr id="13" name="Text Placeholder 12">
            <a:extLst>
              <a:ext uri="{FF2B5EF4-FFF2-40B4-BE49-F238E27FC236}">
                <a16:creationId xmlns:a16="http://schemas.microsoft.com/office/drawing/2014/main" id="{670D4001-5D72-1727-DA19-E94ED9867C71}"/>
              </a:ext>
            </a:extLst>
          </p:cNvPr>
          <p:cNvSpPr>
            <a:spLocks noGrp="1"/>
          </p:cNvSpPr>
          <p:nvPr>
            <p:ph type="body" idx="9"/>
          </p:nvPr>
        </p:nvSpPr>
        <p:spPr/>
        <p:txBody>
          <a:bodyPr/>
          <a:lstStyle/>
          <a:p>
            <a:r>
              <a:rPr lang="en-US" dirty="0"/>
              <a:t>D</a:t>
            </a:r>
          </a:p>
        </p:txBody>
      </p:sp>
      <p:sp>
        <p:nvSpPr>
          <p:cNvPr id="14" name="Text Placeholder 13">
            <a:extLst>
              <a:ext uri="{FF2B5EF4-FFF2-40B4-BE49-F238E27FC236}">
                <a16:creationId xmlns:a16="http://schemas.microsoft.com/office/drawing/2014/main" id="{F4ACE2AE-5F98-01CA-91AB-EF3F7C6F27AC}"/>
              </a:ext>
            </a:extLst>
          </p:cNvPr>
          <p:cNvSpPr>
            <a:spLocks noGrp="1"/>
          </p:cNvSpPr>
          <p:nvPr>
            <p:ph type="body" idx="10"/>
          </p:nvPr>
        </p:nvSpPr>
        <p:spPr/>
        <p:txBody>
          <a:bodyPr/>
          <a:lstStyle/>
          <a:p>
            <a:r>
              <a:rPr lang="en-US" dirty="0">
                <a:solidFill>
                  <a:srgbClr val="232F3E"/>
                </a:solidFill>
              </a:rPr>
              <a:t>Agents</a:t>
            </a:r>
          </a:p>
        </p:txBody>
      </p:sp>
    </p:spTree>
    <p:extLst>
      <p:ext uri="{BB962C8B-B14F-4D97-AF65-F5344CB8AC3E}">
        <p14:creationId xmlns:p14="http://schemas.microsoft.com/office/powerpoint/2010/main" val="4093822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6E265-BBF1-2D0C-73D3-FFAADE659C6F}"/>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E85575B8-7242-BD0D-6084-AC767FA85FA8}"/>
              </a:ext>
            </a:extLst>
          </p:cNvPr>
          <p:cNvSpPr>
            <a:spLocks noGrp="1"/>
          </p:cNvSpPr>
          <p:nvPr>
            <p:ph type="sldNum" idx="97"/>
          </p:nvPr>
        </p:nvSpPr>
        <p:spPr/>
        <p:txBody>
          <a:bodyPr/>
          <a:lstStyle/>
          <a:p>
            <a:fld id="{4037B1B0-0345-4E15-985A-6BECCDBE474F}" type="slidenum">
              <a:rPr lang="en-US" smtClean="0"/>
              <a:pPr/>
              <a:t>33</a:t>
            </a:fld>
            <a:endParaRPr lang="en-US" dirty="0"/>
          </a:p>
        </p:txBody>
      </p:sp>
      <p:sp>
        <p:nvSpPr>
          <p:cNvPr id="3" name="Title">
            <a:extLst>
              <a:ext uri="{FF2B5EF4-FFF2-40B4-BE49-F238E27FC236}">
                <a16:creationId xmlns:a16="http://schemas.microsoft.com/office/drawing/2014/main" id="{ED7771DD-418A-15B8-9F06-3F42001F2235}"/>
              </a:ext>
            </a:extLst>
          </p:cNvPr>
          <p:cNvSpPr>
            <a:spLocks noGrp="1"/>
          </p:cNvSpPr>
          <p:nvPr>
            <p:ph type="title" idx="1"/>
          </p:nvPr>
        </p:nvSpPr>
        <p:spPr/>
        <p:txBody>
          <a:bodyPr/>
          <a:lstStyle/>
          <a:p>
            <a:r>
              <a:rPr lang="en-US" dirty="0"/>
              <a:t>Question 3 answer</a:t>
            </a:r>
          </a:p>
        </p:txBody>
      </p:sp>
      <p:sp>
        <p:nvSpPr>
          <p:cNvPr id="4" name="Text Placeholder 3">
            <a:extLst>
              <a:ext uri="{FF2B5EF4-FFF2-40B4-BE49-F238E27FC236}">
                <a16:creationId xmlns:a16="http://schemas.microsoft.com/office/drawing/2014/main" id="{DC9D494F-93B4-ADE0-7927-AD8B6C745FCA}"/>
              </a:ext>
            </a:extLst>
          </p:cNvPr>
          <p:cNvSpPr>
            <a:spLocks noGrp="1"/>
          </p:cNvSpPr>
          <p:nvPr>
            <p:ph type="body" idx="2"/>
          </p:nvPr>
        </p:nvSpPr>
        <p:spPr/>
        <p:txBody>
          <a:bodyPr/>
          <a:lstStyle/>
          <a:p>
            <a:r>
              <a:rPr lang="en-US" dirty="0"/>
              <a:t>Which optional application component could be used to make sure that the foundation model (FM) being used can appropriately handle pronouns such as </a:t>
            </a:r>
            <a:r>
              <a:rPr lang="en-US" i="1" dirty="0"/>
              <a:t>this</a:t>
            </a:r>
            <a:r>
              <a:rPr lang="en-US" dirty="0"/>
              <a:t>, </a:t>
            </a:r>
            <a:r>
              <a:rPr lang="en-US" i="1" dirty="0"/>
              <a:t>that</a:t>
            </a:r>
            <a:r>
              <a:rPr lang="en-US" dirty="0"/>
              <a:t>, and </a:t>
            </a:r>
            <a:r>
              <a:rPr lang="en-US" i="1" dirty="0"/>
              <a:t>it</a:t>
            </a:r>
            <a:r>
              <a:rPr lang="en-US" dirty="0"/>
              <a:t> in a conversational application?</a:t>
            </a:r>
          </a:p>
        </p:txBody>
      </p:sp>
      <p:sp>
        <p:nvSpPr>
          <p:cNvPr id="5" name="Text Placeholder 4">
            <a:extLst>
              <a:ext uri="{FF2B5EF4-FFF2-40B4-BE49-F238E27FC236}">
                <a16:creationId xmlns:a16="http://schemas.microsoft.com/office/drawing/2014/main" id="{15162558-9AB3-BB49-2738-7D3D0715684D}"/>
              </a:ext>
            </a:extLst>
          </p:cNvPr>
          <p:cNvSpPr>
            <a:spLocks noGrp="1"/>
          </p:cNvSpPr>
          <p:nvPr>
            <p:ph type="body" idx="11"/>
          </p:nvPr>
        </p:nvSpPr>
        <p:spPr/>
        <p:txBody>
          <a:bodyPr/>
          <a:lstStyle/>
          <a:p>
            <a:r>
              <a:rPr lang="en-US" dirty="0"/>
              <a:t>Choice</a:t>
            </a:r>
          </a:p>
        </p:txBody>
      </p:sp>
      <p:sp>
        <p:nvSpPr>
          <p:cNvPr id="6" name="Text Placeholder 5">
            <a:extLst>
              <a:ext uri="{FF2B5EF4-FFF2-40B4-BE49-F238E27FC236}">
                <a16:creationId xmlns:a16="http://schemas.microsoft.com/office/drawing/2014/main" id="{3B6CAB35-DDE6-51DC-D6DF-F4163410A78E}"/>
              </a:ext>
            </a:extLst>
          </p:cNvPr>
          <p:cNvSpPr>
            <a:spLocks noGrp="1"/>
          </p:cNvSpPr>
          <p:nvPr>
            <p:ph type="body" idx="12"/>
          </p:nvPr>
        </p:nvSpPr>
        <p:spPr/>
        <p:txBody>
          <a:bodyPr/>
          <a:lstStyle/>
          <a:p>
            <a:r>
              <a:rPr lang="en-US" dirty="0"/>
              <a:t>Response</a:t>
            </a:r>
          </a:p>
        </p:txBody>
      </p:sp>
      <p:sp>
        <p:nvSpPr>
          <p:cNvPr id="7" name="Text Placeholder 6">
            <a:extLst>
              <a:ext uri="{FF2B5EF4-FFF2-40B4-BE49-F238E27FC236}">
                <a16:creationId xmlns:a16="http://schemas.microsoft.com/office/drawing/2014/main" id="{103D516A-2203-0E79-B93B-CD1DFB57EFAA}"/>
              </a:ext>
            </a:extLst>
          </p:cNvPr>
          <p:cNvSpPr>
            <a:spLocks noGrp="1"/>
          </p:cNvSpPr>
          <p:nvPr>
            <p:ph type="body" idx="3"/>
          </p:nvPr>
        </p:nvSpPr>
        <p:spPr/>
        <p:txBody>
          <a:bodyPr/>
          <a:lstStyle/>
          <a:p>
            <a:r>
              <a:rPr lang="en-US" dirty="0"/>
              <a:t>A</a:t>
            </a:r>
          </a:p>
        </p:txBody>
      </p:sp>
      <p:sp>
        <p:nvSpPr>
          <p:cNvPr id="8" name="Text Placeholder 7">
            <a:extLst>
              <a:ext uri="{FF2B5EF4-FFF2-40B4-BE49-F238E27FC236}">
                <a16:creationId xmlns:a16="http://schemas.microsoft.com/office/drawing/2014/main" id="{C1FCAF3A-2A00-3C80-1967-066AA571FABA}"/>
              </a:ext>
            </a:extLst>
          </p:cNvPr>
          <p:cNvSpPr>
            <a:spLocks noGrp="1"/>
          </p:cNvSpPr>
          <p:nvPr>
            <p:ph type="body" idx="4"/>
          </p:nvPr>
        </p:nvSpPr>
        <p:spPr>
          <a:solidFill>
            <a:schemeClr val="bg1"/>
          </a:solidFill>
        </p:spPr>
        <p:txBody>
          <a:bodyPr/>
          <a:lstStyle/>
          <a:p>
            <a:r>
              <a:rPr lang="en-US" dirty="0">
                <a:solidFill>
                  <a:srgbClr val="232F3E"/>
                </a:solidFill>
              </a:rPr>
              <a:t>Enterprise datasets</a:t>
            </a:r>
          </a:p>
        </p:txBody>
      </p:sp>
      <p:sp>
        <p:nvSpPr>
          <p:cNvPr id="9" name="Text Placeholder 8">
            <a:extLst>
              <a:ext uri="{FF2B5EF4-FFF2-40B4-BE49-F238E27FC236}">
                <a16:creationId xmlns:a16="http://schemas.microsoft.com/office/drawing/2014/main" id="{35F3F70A-0E01-A2E1-A676-9DD9455C8B9A}"/>
              </a:ext>
            </a:extLst>
          </p:cNvPr>
          <p:cNvSpPr>
            <a:spLocks noGrp="1"/>
          </p:cNvSpPr>
          <p:nvPr>
            <p:ph type="body" idx="5"/>
          </p:nvPr>
        </p:nvSpPr>
        <p:spPr/>
        <p:txBody>
          <a:bodyPr/>
          <a:lstStyle/>
          <a:p>
            <a:r>
              <a:rPr lang="en-US" dirty="0"/>
              <a:t>B</a:t>
            </a:r>
          </a:p>
        </p:txBody>
      </p:sp>
      <p:sp>
        <p:nvSpPr>
          <p:cNvPr id="10" name="Text Placeholder 9">
            <a:extLst>
              <a:ext uri="{FF2B5EF4-FFF2-40B4-BE49-F238E27FC236}">
                <a16:creationId xmlns:a16="http://schemas.microsoft.com/office/drawing/2014/main" id="{E0445E8F-0D4D-F39F-93EF-863F6832E570}"/>
              </a:ext>
            </a:extLst>
          </p:cNvPr>
          <p:cNvSpPr>
            <a:spLocks noGrp="1"/>
          </p:cNvSpPr>
          <p:nvPr>
            <p:ph type="body" idx="6"/>
          </p:nvPr>
        </p:nvSpPr>
        <p:spPr>
          <a:solidFill>
            <a:schemeClr val="bg1"/>
          </a:solidFill>
        </p:spPr>
        <p:txBody>
          <a:bodyPr/>
          <a:lstStyle/>
          <a:p>
            <a:r>
              <a:rPr lang="en-US" dirty="0">
                <a:solidFill>
                  <a:srgbClr val="232F3E"/>
                </a:solidFill>
              </a:rPr>
              <a:t>Vector stores</a:t>
            </a:r>
          </a:p>
        </p:txBody>
      </p:sp>
      <p:sp>
        <p:nvSpPr>
          <p:cNvPr id="11" name="Text Placeholder 10">
            <a:extLst>
              <a:ext uri="{FF2B5EF4-FFF2-40B4-BE49-F238E27FC236}">
                <a16:creationId xmlns:a16="http://schemas.microsoft.com/office/drawing/2014/main" id="{E993BC05-7142-2FCC-23F0-4BA8FE3E8F26}"/>
              </a:ext>
            </a:extLst>
          </p:cNvPr>
          <p:cNvSpPr>
            <a:spLocks noGrp="1"/>
          </p:cNvSpPr>
          <p:nvPr>
            <p:ph type="body" idx="7"/>
          </p:nvPr>
        </p:nvSpPr>
        <p:spPr/>
        <p:txBody>
          <a:bodyPr/>
          <a:lstStyle/>
          <a:p>
            <a:r>
              <a:rPr lang="en-US" dirty="0"/>
              <a:t>C</a:t>
            </a:r>
          </a:p>
          <a:p>
            <a:r>
              <a:rPr lang="en-US" sz="1800" dirty="0"/>
              <a:t>Correct</a:t>
            </a:r>
            <a:endParaRPr lang="en-US" dirty="0"/>
          </a:p>
        </p:txBody>
      </p:sp>
      <p:sp>
        <p:nvSpPr>
          <p:cNvPr id="12" name="Text Placeholder 11">
            <a:extLst>
              <a:ext uri="{FF2B5EF4-FFF2-40B4-BE49-F238E27FC236}">
                <a16:creationId xmlns:a16="http://schemas.microsoft.com/office/drawing/2014/main" id="{95F314AC-A257-1DC2-A954-9572DE29A447}"/>
              </a:ext>
            </a:extLst>
          </p:cNvPr>
          <p:cNvSpPr>
            <a:spLocks noGrp="1"/>
          </p:cNvSpPr>
          <p:nvPr>
            <p:ph type="body" idx="8"/>
          </p:nvPr>
        </p:nvSpPr>
        <p:spPr>
          <a:solidFill>
            <a:schemeClr val="accent3"/>
          </a:solidFill>
        </p:spPr>
        <p:txBody>
          <a:bodyPr/>
          <a:lstStyle/>
          <a:p>
            <a:r>
              <a:rPr lang="en-US" dirty="0">
                <a:solidFill>
                  <a:srgbClr val="232F3E"/>
                </a:solidFill>
              </a:rPr>
              <a:t>Memory</a:t>
            </a:r>
          </a:p>
        </p:txBody>
      </p:sp>
      <p:sp>
        <p:nvSpPr>
          <p:cNvPr id="13" name="Text Placeholder 12">
            <a:extLst>
              <a:ext uri="{FF2B5EF4-FFF2-40B4-BE49-F238E27FC236}">
                <a16:creationId xmlns:a16="http://schemas.microsoft.com/office/drawing/2014/main" id="{8E14DF40-0A57-8512-4594-D6DCE6E675D1}"/>
              </a:ext>
            </a:extLst>
          </p:cNvPr>
          <p:cNvSpPr>
            <a:spLocks noGrp="1"/>
          </p:cNvSpPr>
          <p:nvPr>
            <p:ph type="body" idx="9"/>
          </p:nvPr>
        </p:nvSpPr>
        <p:spPr/>
        <p:txBody>
          <a:bodyPr/>
          <a:lstStyle/>
          <a:p>
            <a:r>
              <a:rPr lang="en-US" dirty="0"/>
              <a:t>D</a:t>
            </a:r>
          </a:p>
        </p:txBody>
      </p:sp>
      <p:sp>
        <p:nvSpPr>
          <p:cNvPr id="14" name="Text Placeholder 13">
            <a:extLst>
              <a:ext uri="{FF2B5EF4-FFF2-40B4-BE49-F238E27FC236}">
                <a16:creationId xmlns:a16="http://schemas.microsoft.com/office/drawing/2014/main" id="{97466341-9E37-68DD-7A1D-083DA6702039}"/>
              </a:ext>
            </a:extLst>
          </p:cNvPr>
          <p:cNvSpPr>
            <a:spLocks noGrp="1"/>
          </p:cNvSpPr>
          <p:nvPr>
            <p:ph type="body" idx="10"/>
          </p:nvPr>
        </p:nvSpPr>
        <p:spPr/>
        <p:txBody>
          <a:bodyPr/>
          <a:lstStyle/>
          <a:p>
            <a:r>
              <a:rPr lang="en-US" dirty="0">
                <a:solidFill>
                  <a:srgbClr val="232F3E"/>
                </a:solidFill>
              </a:rPr>
              <a:t>Agents</a:t>
            </a:r>
          </a:p>
        </p:txBody>
      </p:sp>
    </p:spTree>
    <p:extLst>
      <p:ext uri="{BB962C8B-B14F-4D97-AF65-F5344CB8AC3E}">
        <p14:creationId xmlns:p14="http://schemas.microsoft.com/office/powerpoint/2010/main" val="15271722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B7F18-CC15-5468-185A-DB33D800108E}"/>
            </a:ext>
          </a:extLst>
        </p:cNvPr>
        <p:cNvGrpSpPr/>
        <p:nvPr/>
      </p:nvGrpSpPr>
      <p:grpSpPr>
        <a:xfrm>
          <a:off x="0" y="0"/>
          <a:ext cx="0" cy="0"/>
          <a:chOff x="0" y="0"/>
          <a:chExt cx="0" cy="0"/>
        </a:xfrm>
      </p:grpSpPr>
      <p:sp>
        <p:nvSpPr>
          <p:cNvPr id="4" name="Slide Number">
            <a:extLst>
              <a:ext uri="{FF2B5EF4-FFF2-40B4-BE49-F238E27FC236}">
                <a16:creationId xmlns:a16="http://schemas.microsoft.com/office/drawing/2014/main" id="{B1970903-BBC4-0AC0-3F1C-9573318128FD}"/>
              </a:ext>
            </a:extLst>
          </p:cNvPr>
          <p:cNvSpPr>
            <a:spLocks noGrp="1"/>
          </p:cNvSpPr>
          <p:nvPr>
            <p:ph type="sldNum" idx="97"/>
          </p:nvPr>
        </p:nvSpPr>
        <p:spPr/>
        <p:txBody>
          <a:bodyPr/>
          <a:lstStyle/>
          <a:p>
            <a:fld id="{930176A1-BCF0-4712-97A6-6B495F55390B}" type="slidenum">
              <a:rPr lang="en-US" smtClean="0"/>
              <a:pPr/>
              <a:t>34</a:t>
            </a:fld>
            <a:endParaRPr lang="en-US" dirty="0"/>
          </a:p>
        </p:txBody>
      </p:sp>
      <p:sp>
        <p:nvSpPr>
          <p:cNvPr id="2" name="Title">
            <a:extLst>
              <a:ext uri="{FF2B5EF4-FFF2-40B4-BE49-F238E27FC236}">
                <a16:creationId xmlns:a16="http://schemas.microsoft.com/office/drawing/2014/main" id="{5F575C72-6DA6-69E7-E898-09730B46AC95}"/>
              </a:ext>
            </a:extLst>
          </p:cNvPr>
          <p:cNvSpPr>
            <a:spLocks noGrp="1"/>
          </p:cNvSpPr>
          <p:nvPr>
            <p:ph type="title" idx="1"/>
          </p:nvPr>
        </p:nvSpPr>
        <p:spPr/>
        <p:txBody>
          <a:bodyPr/>
          <a:lstStyle/>
          <a:p>
            <a:r>
              <a:rPr lang="en-US" dirty="0">
                <a:latin typeface="+mj-lt"/>
              </a:rPr>
              <a:t>Module summary</a:t>
            </a:r>
          </a:p>
        </p:txBody>
      </p:sp>
      <p:pic>
        <p:nvPicPr>
          <p:cNvPr id="5" name="Picture">
            <a:extLst>
              <a:ext uri="{FF2B5EF4-FFF2-40B4-BE49-F238E27FC236}">
                <a16:creationId xmlns:a16="http://schemas.microsoft.com/office/drawing/2014/main" id="{A08A747D-F82E-C3A3-A525-9C24B00AED1B}"/>
              </a:ext>
              <a:ext uri="{C183D7F6-B498-43B3-948B-1728B52AA6E4}">
                <adec:decorative xmlns:adec="http://schemas.microsoft.com/office/drawing/2017/decorative" val="1"/>
              </a:ext>
            </a:extLst>
          </p:cNvPr>
          <p:cNvPicPr>
            <a:picLocks noGrp="1" noChangeAspect="1"/>
          </p:cNvPicPr>
          <p:nvPr>
            <p:ph idx="2"/>
          </p:nvPr>
        </p:nvPicPr>
        <p:blipFill>
          <a:blip r:embed="rId4">
            <a:extLst>
              <a:ext uri="{28A0092B-C50C-407E-A947-70E740481C1C}">
                <a14:useLocalDpi xmlns:a14="http://schemas.microsoft.com/office/drawing/2010/main" val="0"/>
              </a:ext>
            </a:extLst>
          </a:blip>
          <a:stretch>
            <a:fillRect/>
          </a:stretch>
        </p:blipFill>
        <p:spPr>
          <a:xfrm>
            <a:off x="448469" y="2435225"/>
            <a:ext cx="3657600" cy="3657600"/>
          </a:xfrm>
        </p:spPr>
      </p:pic>
      <p:sp>
        <p:nvSpPr>
          <p:cNvPr id="3" name="Text">
            <a:extLst>
              <a:ext uri="{FF2B5EF4-FFF2-40B4-BE49-F238E27FC236}">
                <a16:creationId xmlns:a16="http://schemas.microsoft.com/office/drawing/2014/main" id="{4762A425-5345-98E7-F80F-CD5DE6B2362D}"/>
              </a:ext>
            </a:extLst>
          </p:cNvPr>
          <p:cNvSpPr>
            <a:spLocks noGrp="1"/>
          </p:cNvSpPr>
          <p:nvPr>
            <p:ph type="body" idx="3"/>
          </p:nvPr>
        </p:nvSpPr>
        <p:spPr/>
        <p:txBody>
          <a:bodyPr/>
          <a:lstStyle/>
          <a:p>
            <a:pPr marL="0" indent="0">
              <a:buNone/>
            </a:pPr>
            <a:r>
              <a:rPr lang="en-US" dirty="0"/>
              <a:t>You should now be able to do the following:</a:t>
            </a:r>
          </a:p>
          <a:p>
            <a:pPr lvl="1"/>
            <a:r>
              <a:rPr lang="en-US" dirty="0"/>
              <a:t>Explain the core concepts and principles of generative AI. </a:t>
            </a:r>
          </a:p>
          <a:p>
            <a:pPr lvl="1"/>
            <a:r>
              <a:rPr lang="en-US" dirty="0"/>
              <a:t>Identify the core components of an AWS generative AI technology stack.</a:t>
            </a:r>
          </a:p>
          <a:p>
            <a:pPr lvl="1"/>
            <a:r>
              <a:rPr lang="en-US" dirty="0"/>
              <a:t>Design basic generative AI application architectures. </a:t>
            </a:r>
          </a:p>
        </p:txBody>
      </p:sp>
    </p:spTree>
    <p:custDataLst>
      <p:tags r:id="rId1"/>
    </p:custDataLst>
    <p:extLst>
      <p:ext uri="{BB962C8B-B14F-4D97-AF65-F5344CB8AC3E}">
        <p14:creationId xmlns:p14="http://schemas.microsoft.com/office/powerpoint/2010/main" val="33171741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EE3A9-49A5-6481-8367-195E7CF587A1}"/>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8082CD11-0637-B935-0BE9-08363753E1B3}"/>
              </a:ext>
            </a:extLst>
          </p:cNvPr>
          <p:cNvSpPr>
            <a:spLocks noGrp="1"/>
          </p:cNvSpPr>
          <p:nvPr>
            <p:ph type="sldNum" idx="97"/>
          </p:nvPr>
        </p:nvSpPr>
        <p:spPr>
          <a:xfrm>
            <a:off x="11347704" y="6446520"/>
            <a:ext cx="484632" cy="228600"/>
          </a:xfrm>
        </p:spPr>
        <p:txBody>
          <a:bodyPr/>
          <a:lstStyle/>
          <a:p>
            <a:fld id="{4037B1B0-0345-4E15-985A-6BECCDBE474F}" type="slidenum">
              <a:rPr lang="en-US" smtClean="0"/>
              <a:pPr/>
              <a:t>35</a:t>
            </a:fld>
            <a:endParaRPr lang="en-US" dirty="0"/>
          </a:p>
        </p:txBody>
      </p:sp>
      <p:sp>
        <p:nvSpPr>
          <p:cNvPr id="3" name="Title">
            <a:extLst>
              <a:ext uri="{FF2B5EF4-FFF2-40B4-BE49-F238E27FC236}">
                <a16:creationId xmlns:a16="http://schemas.microsoft.com/office/drawing/2014/main" id="{0EFAB3FF-C3E8-D796-88C9-DC025E913FAA}"/>
              </a:ext>
            </a:extLst>
          </p:cNvPr>
          <p:cNvSpPr>
            <a:spLocks noGrp="1"/>
          </p:cNvSpPr>
          <p:nvPr>
            <p:ph type="title" idx="1"/>
          </p:nvPr>
        </p:nvSpPr>
        <p:spPr>
          <a:xfrm>
            <a:off x="457200" y="1256247"/>
            <a:ext cx="7998031" cy="3277653"/>
          </a:xfrm>
        </p:spPr>
        <p:txBody>
          <a:bodyPr/>
          <a:lstStyle/>
          <a:p>
            <a:r>
              <a:rPr lang="en-US" dirty="0"/>
              <a:t>Questions?</a:t>
            </a:r>
          </a:p>
        </p:txBody>
      </p:sp>
    </p:spTree>
    <p:custDataLst>
      <p:tags r:id="rId1"/>
    </p:custDataLst>
    <p:extLst>
      <p:ext uri="{BB962C8B-B14F-4D97-AF65-F5344CB8AC3E}">
        <p14:creationId xmlns:p14="http://schemas.microsoft.com/office/powerpoint/2010/main" val="34404609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heme2">
  <a:themeElements>
    <a:clrScheme name="OneBrand Color Set 3">
      <a:dk1>
        <a:sysClr val="windowText" lastClr="000000"/>
      </a:dk1>
      <a:lt1>
        <a:sysClr val="window" lastClr="FFFFFF"/>
      </a:lt1>
      <a:dk2>
        <a:srgbClr val="232F3E"/>
      </a:dk2>
      <a:lt2>
        <a:srgbClr val="F1F3F3"/>
      </a:lt2>
      <a:accent1>
        <a:srgbClr val="005276"/>
      </a:accent1>
      <a:accent2>
        <a:srgbClr val="007FAA"/>
      </a:accent2>
      <a:accent3>
        <a:srgbClr val="9FFCEA"/>
      </a:accent3>
      <a:accent4>
        <a:srgbClr val="1DB893"/>
      </a:accent4>
      <a:accent5>
        <a:srgbClr val="197956"/>
      </a:accent5>
      <a:accent6>
        <a:srgbClr val="19594E"/>
      </a:accent6>
      <a:hlink>
        <a:srgbClr val="19594E"/>
      </a:hlink>
      <a:folHlink>
        <a:srgbClr val="19594E"/>
      </a:folHlink>
    </a:clrScheme>
    <a:fontScheme name="AWS One Brand Evo">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lite">
      <a:srgbClr val="1A2F4C"/>
    </a:custClr>
    <a:custClr name="Anchor">
      <a:srgbClr val="003181"/>
    </a:custClr>
    <a:custClr name="Sea Blue">
      <a:srgbClr val="005276"/>
    </a:custClr>
    <a:custClr name="Sky">
      <a:srgbClr val="2074D5"/>
    </a:custClr>
    <a:custClr name="Aqua">
      <a:srgbClr val="007FAA"/>
    </a:custClr>
    <a:custClr name="Cyan">
      <a:srgbClr val="7CE8F4"/>
    </a:custClr>
    <a:custClr name="blank">
      <a:srgbClr val="FFFFFF"/>
    </a:custClr>
    <a:custClr name="blank">
      <a:srgbClr val="FFFFFF"/>
    </a:custClr>
    <a:custClr name="blank">
      <a:srgbClr val="FFFFFF"/>
    </a:custClr>
    <a:custClr name="blank">
      <a:srgbClr val="FFFFFF"/>
    </a:custClr>
    <a:custClr name="Galaxy">
      <a:srgbClr val="330066"/>
    </a:custClr>
    <a:custClr name="Dark Grape">
      <a:srgbClr val="563377"/>
    </a:custClr>
    <a:custClr name="Violet">
      <a:srgbClr val="7C5AED"/>
    </a:custClr>
    <a:custClr name="Bright Lilac">
      <a:srgbClr val="CC83EA"/>
    </a:custClr>
    <a:custClr name="Wine">
      <a:srgbClr val="8F1761"/>
    </a:custClr>
    <a:custClr name="Bloodthorn">
      <a:srgbClr val="B5335C"/>
    </a:custClr>
    <a:custClr name="Cosmos">
      <a:srgbClr val="DF2A5D"/>
    </a:custClr>
    <a:custClr name="Magenta">
      <a:srgbClr val="F46EBB"/>
    </a:custClr>
    <a:custClr name="blank">
      <a:srgbClr val="FFFFFF"/>
    </a:custClr>
    <a:custClr name="blank">
      <a:srgbClr val="FFFFFF"/>
    </a:custClr>
    <a:custClr name="Umber">
      <a:srgbClr val="BE4E2E"/>
    </a:custClr>
    <a:custClr name="Smile">
      <a:srgbClr val="FF9900"/>
    </a:custClr>
    <a:custClr name="Peach">
      <a:srgbClr val="FFAD97"/>
    </a:custClr>
    <a:custClr name="Rind">
      <a:srgbClr val="FBD8B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Evergreen">
      <a:srgbClr val="19594E"/>
    </a:custClr>
    <a:custClr name="Salem">
      <a:srgbClr val="197956"/>
    </a:custClr>
    <a:custClr name="Aloha">
      <a:srgbClr val="1DB893"/>
    </a:custClr>
    <a:custClr name="Mist">
      <a:srgbClr val="9FFCEA"/>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Dark Squid Ink">
      <a:srgbClr val="161E2D"/>
    </a:custClr>
    <a:custClr name="Squid Ink">
      <a:srgbClr val="232F3E"/>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TC Official Evolved ColorSet 3 (2023-Q2).potx" id="{3196AAA5-321B-48E3-8C71-DD2105FC2DE6}" vid="{1218DA1C-4E15-4169-96F4-0B3BBA748B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FD6BEAFD8B354490D8443429622229" ma:contentTypeVersion="9" ma:contentTypeDescription="Create a new document." ma:contentTypeScope="" ma:versionID="390913274301b6c23308f6079f0f8534">
  <xsd:schema xmlns:xsd="http://www.w3.org/2001/XMLSchema" xmlns:xs="http://www.w3.org/2001/XMLSchema" xmlns:p="http://schemas.microsoft.com/office/2006/metadata/properties" xmlns:ns2="2751d570-52fe-4117-8f2f-bbc04420ae4b" targetNamespace="http://schemas.microsoft.com/office/2006/metadata/properties" ma:root="true" ma:fieldsID="ffaacac9b6543522e3455e87065b11b8" ns2:_="">
    <xsd:import namespace="2751d570-52fe-4117-8f2f-bbc04420ae4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QI_x0020_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51d570-52fe-4117-8f2f-bbc04420ae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QI_x0020_Date" ma:index="16" nillable="true" ma:displayName="QI Date" ma:format="DateOnly" ma:internalName="QI_x0020_Dat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QI_x0020_Date xmlns="2751d570-52fe-4117-8f2f-bbc04420ae4b" xsi:nil="true"/>
  </documentManagement>
</p:properties>
</file>

<file path=customXml/itemProps1.xml><?xml version="1.0" encoding="utf-8"?>
<ds:datastoreItem xmlns:ds="http://schemas.openxmlformats.org/officeDocument/2006/customXml" ds:itemID="{691CAD3C-27E5-43D9-A39E-E3ABD1BB720A}">
  <ds:schemaRefs>
    <ds:schemaRef ds:uri="http://schemas.microsoft.com/sharepoint/v3/contenttype/forms"/>
  </ds:schemaRefs>
</ds:datastoreItem>
</file>

<file path=customXml/itemProps2.xml><?xml version="1.0" encoding="utf-8"?>
<ds:datastoreItem xmlns:ds="http://schemas.openxmlformats.org/officeDocument/2006/customXml" ds:itemID="{94396CA4-A92C-4383-A3E0-08337E3982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751d570-52fe-4117-8f2f-bbc04420ae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169FC8A-A451-42AB-A8EF-F46FF90AD7B7}">
  <ds:schemaRefs>
    <ds:schemaRef ds:uri="http://www.w3.org/XML/1998/namespace"/>
    <ds:schemaRef ds:uri="http://schemas.microsoft.com/office/2006/documentManagement/types"/>
    <ds:schemaRef ds:uri="http://schemas.microsoft.com/office/2006/metadata/properties"/>
    <ds:schemaRef ds:uri="http://purl.org/dc/elements/1.1/"/>
    <ds:schemaRef ds:uri="http://schemas.microsoft.com/office/infopath/2007/PartnerControls"/>
    <ds:schemaRef ds:uri="2751d570-52fe-4117-8f2f-bbc04420ae4b"/>
    <ds:schemaRef ds:uri="http://schemas.openxmlformats.org/package/2006/metadata/core-properties"/>
    <ds:schemaRef ds:uri="http://purl.org/dc/term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TC Official Evolved ColorSet 3 (2023-Q2)</Template>
  <TotalTime>23245</TotalTime>
  <Words>9102</Words>
  <Application>Microsoft Office PowerPoint</Application>
  <PresentationFormat>Widescreen</PresentationFormat>
  <Paragraphs>634</Paragraphs>
  <Slides>35</Slides>
  <Notes>35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Amazon Ember</vt:lpstr>
      <vt:lpstr>Amazon Ember Display</vt:lpstr>
      <vt:lpstr>Amazon Ember Display Heavy</vt:lpstr>
      <vt:lpstr>Arial</vt:lpstr>
      <vt:lpstr>Calibri</vt:lpstr>
      <vt:lpstr>Lucida Console</vt:lpstr>
      <vt:lpstr>Theme2</vt:lpstr>
      <vt:lpstr>Module 1: Exploring Components of Generative AI Applications on AWS</vt:lpstr>
      <vt:lpstr>Agenda</vt:lpstr>
      <vt:lpstr>Topic A: Understanding generative AI concepts</vt:lpstr>
      <vt:lpstr>Generative AI is a branch of machine learning</vt:lpstr>
      <vt:lpstr>Generative AI uses foundation models</vt:lpstr>
      <vt:lpstr>Pre-training a foundation model</vt:lpstr>
      <vt:lpstr>How a foundation model completes a sentence</vt:lpstr>
      <vt:lpstr>Inference and context</vt:lpstr>
      <vt:lpstr>Context example</vt:lpstr>
      <vt:lpstr>Foundation model functionality</vt:lpstr>
      <vt:lpstr>Applications of understanding models</vt:lpstr>
      <vt:lpstr>Applications of creative content generation models</vt:lpstr>
      <vt:lpstr>Generative AI can add value across the business</vt:lpstr>
      <vt:lpstr>Topic B: Identifying AWS generative AI stack components</vt:lpstr>
      <vt:lpstr>AWS AI services for common use cases</vt:lpstr>
      <vt:lpstr>Generative AI services and components on AWS</vt:lpstr>
      <vt:lpstr>Key benefits of Amazon Bedrock</vt:lpstr>
      <vt:lpstr>Build with comprehensive data protection and privacy</vt:lpstr>
      <vt:lpstr>Demonstration: Amazon Bedrock</vt:lpstr>
      <vt:lpstr>Topic C: Designing generative AI application components</vt:lpstr>
      <vt:lpstr>Planning a generative AI project</vt:lpstr>
      <vt:lpstr>FM is at the core of generative AI applications</vt:lpstr>
      <vt:lpstr>Integrating enterprise data and complex workflows</vt:lpstr>
      <vt:lpstr>Basic generative AI application architecture</vt:lpstr>
      <vt:lpstr>Example serverless application architecture</vt:lpstr>
      <vt:lpstr>Conversational interfaces</vt:lpstr>
      <vt:lpstr>Knowledge check</vt:lpstr>
      <vt:lpstr>Question 1</vt:lpstr>
      <vt:lpstr>Question 1 answer</vt:lpstr>
      <vt:lpstr>Question 2</vt:lpstr>
      <vt:lpstr>Question 2 answer</vt:lpstr>
      <vt:lpstr>Question 3</vt:lpstr>
      <vt:lpstr>Question 3 answer</vt:lpstr>
      <vt:lpstr>Module summary</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 Set 3</dc:title>
  <dc:creator>Bowen, Martha</dc:creator>
  <cp:lastModifiedBy>Raymond, Patty</cp:lastModifiedBy>
  <cp:revision>203</cp:revision>
  <cp:lastPrinted>2025-08-28T21:00:23Z</cp:lastPrinted>
  <dcterms:created xsi:type="dcterms:W3CDTF">2025-05-13T14:24:03Z</dcterms:created>
  <dcterms:modified xsi:type="dcterms:W3CDTF">2025-09-18T19:35:21Z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87FE6203-99AB-49AF-B8FB-1110D9098F70</vt:lpwstr>
  </property>
  <property fmtid="{D5CDD505-2E9C-101B-9397-08002B2CF9AE}" pid="3" name="ArticulatePath">
    <vt:lpwstr>Presentation6</vt:lpwstr>
  </property>
  <property fmtid="{D5CDD505-2E9C-101B-9397-08002B2CF9AE}" pid="4" name="MSIP_Label_929eed6f-34eb-4453-9f97-09510b9b219f_Enabled">
    <vt:lpwstr>true</vt:lpwstr>
  </property>
  <property fmtid="{D5CDD505-2E9C-101B-9397-08002B2CF9AE}" pid="5" name="MSIP_Label_929eed6f-34eb-4453-9f97-09510b9b219f_SetDate">
    <vt:lpwstr>2025-06-18T18:29:55Z</vt:lpwstr>
  </property>
  <property fmtid="{D5CDD505-2E9C-101B-9397-08002B2CF9AE}" pid="6" name="MSIP_Label_929eed6f-34eb-4453-9f97-09510b9b219f_Method">
    <vt:lpwstr>Standard</vt:lpwstr>
  </property>
  <property fmtid="{D5CDD505-2E9C-101B-9397-08002B2CF9AE}" pid="7" name="MSIP_Label_929eed6f-34eb-4453-9f97-09510b9b219f_Name">
    <vt:lpwstr>Amazon Pending_Classification</vt:lpwstr>
  </property>
  <property fmtid="{D5CDD505-2E9C-101B-9397-08002B2CF9AE}" pid="8" name="MSIP_Label_929eed6f-34eb-4453-9f97-09510b9b219f_SiteId">
    <vt:lpwstr>5280104a-472d-4538-9ccf-1e1d0efe8b1b</vt:lpwstr>
  </property>
  <property fmtid="{D5CDD505-2E9C-101B-9397-08002B2CF9AE}" pid="9" name="MSIP_Label_929eed6f-34eb-4453-9f97-09510b9b219f_ActionId">
    <vt:lpwstr>5b002ad4-687a-4496-895d-f3807b72345d</vt:lpwstr>
  </property>
  <property fmtid="{D5CDD505-2E9C-101B-9397-08002B2CF9AE}" pid="10" name="MSIP_Label_929eed6f-34eb-4453-9f97-09510b9b219f_ContentBits">
    <vt:lpwstr>0</vt:lpwstr>
  </property>
  <property fmtid="{D5CDD505-2E9C-101B-9397-08002B2CF9AE}" pid="11" name="MSIP_Label_929eed6f-34eb-4453-9f97-09510b9b219f_Tag">
    <vt:lpwstr>50, 3, 0, 1</vt:lpwstr>
  </property>
  <property fmtid="{D5CDD505-2E9C-101B-9397-08002B2CF9AE}" pid="12" name="ContentTypeId">
    <vt:lpwstr>0x0101009BFD6BEAFD8B354490D8443429622229</vt:lpwstr>
  </property>
</Properties>
</file>