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35"/>
  </p:notesMasterIdLst>
  <p:sldIdLst>
    <p:sldId id="2147477832" r:id="rId2"/>
    <p:sldId id="2147482430" r:id="rId3"/>
    <p:sldId id="2147482407" r:id="rId4"/>
    <p:sldId id="2147477823" r:id="rId5"/>
    <p:sldId id="4247" r:id="rId6"/>
    <p:sldId id="2147482414" r:id="rId7"/>
    <p:sldId id="2147482408" r:id="rId8"/>
    <p:sldId id="2147477828" r:id="rId9"/>
    <p:sldId id="2147482426" r:id="rId10"/>
    <p:sldId id="2147482428" r:id="rId11"/>
    <p:sldId id="2147482427" r:id="rId12"/>
    <p:sldId id="2147482425" r:id="rId13"/>
    <p:sldId id="2147482413" r:id="rId14"/>
    <p:sldId id="2147482417" r:id="rId15"/>
    <p:sldId id="2147482418" r:id="rId16"/>
    <p:sldId id="2147482409" r:id="rId17"/>
    <p:sldId id="2147482422" r:id="rId18"/>
    <p:sldId id="4249" r:id="rId19"/>
    <p:sldId id="2147482358" r:id="rId20"/>
    <p:sldId id="2038" r:id="rId21"/>
    <p:sldId id="2147482419" r:id="rId22"/>
    <p:sldId id="4253" r:id="rId23"/>
    <p:sldId id="2147482421" r:id="rId24"/>
    <p:sldId id="2147482420" r:id="rId25"/>
    <p:sldId id="2147482415" r:id="rId26"/>
    <p:sldId id="2147482416" r:id="rId27"/>
    <p:sldId id="2147477826" r:id="rId28"/>
    <p:sldId id="4248" r:id="rId29"/>
    <p:sldId id="2147482406" r:id="rId30"/>
    <p:sldId id="2147482429" r:id="rId31"/>
    <p:sldId id="2147482434" r:id="rId32"/>
    <p:sldId id="2147482410" r:id="rId33"/>
    <p:sldId id="2147482347" r:id="rId34"/>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3: Essentials of Prompt Engineering" id="{218C5704-50C1-409B-A9D6-387F97B49186}">
          <p14:sldIdLst>
            <p14:sldId id="2147477832"/>
            <p14:sldId id="2147482430"/>
          </p14:sldIdLst>
        </p14:section>
        <p14:section name="Introduction to prompt engineering" id="{5B2800B6-529C-43E2-86CF-6B92A44BA71A}">
          <p14:sldIdLst>
            <p14:sldId id="2147482407"/>
            <p14:sldId id="2147477823"/>
            <p14:sldId id="4247"/>
            <p14:sldId id="2147482414"/>
          </p14:sldIdLst>
        </p14:section>
        <p14:section name="Prompt design best practices" id="{7ACF0163-C6EE-40FD-80B9-E13E6D8BF9A7}">
          <p14:sldIdLst>
            <p14:sldId id="2147482408"/>
            <p14:sldId id="2147477828"/>
            <p14:sldId id="2147482426"/>
            <p14:sldId id="2147482428"/>
            <p14:sldId id="2147482427"/>
            <p14:sldId id="2147482425"/>
            <p14:sldId id="2147482413"/>
            <p14:sldId id="2147482417"/>
            <p14:sldId id="2147482418"/>
          </p14:sldIdLst>
        </p14:section>
        <p14:section name="Advancing prompting strategies" id="{AD5B32E5-FE19-4DB1-9BBD-0614AA77FEE0}">
          <p14:sldIdLst>
            <p14:sldId id="2147482409"/>
            <p14:sldId id="2147482422"/>
            <p14:sldId id="4249"/>
            <p14:sldId id="2147482358"/>
            <p14:sldId id="2038"/>
            <p14:sldId id="2147482419"/>
            <p14:sldId id="4253"/>
            <p14:sldId id="2147482421"/>
            <p14:sldId id="2147482420"/>
          </p14:sldIdLst>
        </p14:section>
        <p14:section name="Model settings and parameters" id="{D353B87D-70BA-4A03-BAF8-696193C91F26}">
          <p14:sldIdLst>
            <p14:sldId id="2147482415"/>
            <p14:sldId id="2147482416"/>
            <p14:sldId id="2147477826"/>
            <p14:sldId id="4248"/>
          </p14:sldIdLst>
        </p14:section>
        <p14:section name="Module summary" id="{6C6E842A-AB95-9248-AB78-EBEA306FF692}">
          <p14:sldIdLst>
            <p14:sldId id="2147482406"/>
            <p14:sldId id="2147482429"/>
            <p14:sldId id="2147482434"/>
          </p14:sldIdLst>
        </p14:section>
        <p14:section name="Lab: Prompt development and optimization" id="{8F6A7930-F4EE-48CD-A739-CA7E77DE908B}">
          <p14:sldIdLst>
            <p14:sldId id="2147482410"/>
            <p14:sldId id="214748234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8" autoAdjust="0"/>
    <p:restoredTop sz="46270" autoAdjust="0"/>
  </p:normalViewPr>
  <p:slideViewPr>
    <p:cSldViewPr snapToGrid="0">
      <p:cViewPr varScale="1">
        <p:scale>
          <a:sx n="58" d="100"/>
          <a:sy n="58" d="100"/>
        </p:scale>
        <p:origin x="954" y="66"/>
      </p:cViewPr>
      <p:guideLst/>
    </p:cSldViewPr>
  </p:slideViewPr>
  <p:notesTextViewPr>
    <p:cViewPr>
      <p:scale>
        <a:sx n="1" d="1"/>
        <a:sy n="1" d="1"/>
      </p:scale>
      <p:origin x="0" y="0"/>
    </p:cViewPr>
  </p:notesTextViewPr>
  <p:notesViewPr>
    <p:cSldViewPr snapToGrid="0">
      <p:cViewPr varScale="1">
        <p:scale>
          <a:sx n="87" d="100"/>
          <a:sy n="87" d="100"/>
        </p:scale>
        <p:origin x="1620" y="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9E251DC1-EC37-47BE-90C3-4BAF268D2F29}" type="datetimeFigureOut">
              <a:rPr lang="en-US" smtClean="0"/>
              <a:t>2/24/2025</a:t>
            </a:fld>
            <a:endParaRPr lang="en-US"/>
          </a:p>
        </p:txBody>
      </p:sp>
      <p:sp>
        <p:nvSpPr>
          <p:cNvPr id="5" name="Notes Placeholder 4"/>
          <p:cNvSpPr>
            <a:spLocks noGrp="1"/>
          </p:cNvSpPr>
          <p:nvPr>
            <p:ph type="body" sz="quarter" idx="3"/>
          </p:nvPr>
        </p:nvSpPr>
        <p:spPr>
          <a:xfrm>
            <a:off x="317499" y="3809999"/>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2797857"/>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aws.amazon.com/bedrock/latest/userguide/prompt-engineering-guidelines.html"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s://docs.aws.amazon.com/sagemaker/latest/dg/jumpstart-foundation-models-customize-prompt-engineering.html" TargetMode="Externa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|Timing: 45 minutes.  Lab 20 minutes.</a:t>
            </a:r>
          </a:p>
          <a:p>
            <a:pPr indent="-171450">
              <a:buChar char="•"/>
              <a:defRPr/>
            </a:pPr>
            <a:r>
              <a:rPr lang="en-US" dirty="0">
                <a:solidFill>
                  <a:srgbClr val="000000"/>
                </a:solidFill>
                <a:latin typeface="Calibri" panose="020F0502020204030204" pitchFamily="34" charset="0"/>
              </a:rPr>
              <a:t>|Introduce the module on prompt engineering</a:t>
            </a:r>
          </a:p>
          <a:p>
            <a:pPr indent="-171450">
              <a:buChar char="•"/>
              <a:defRPr/>
            </a:pPr>
            <a:r>
              <a:rPr lang="en-US" dirty="0">
                <a:solidFill>
                  <a:srgbClr val="000000"/>
                </a:solidFill>
                <a:latin typeface="Calibri" panose="020F0502020204030204" pitchFamily="34" charset="0"/>
              </a:rPr>
              <a:t>|Highlight the importance of effective prompting for generative AI</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In this module, you learn to design prompts that guide AI models to produce accurate, relevant, and useful outputs. We'll discuss the importance of clarity, context, and specificity in prompt creation, as well as advanced techniques like chain-of-thought reasoning and retrieval-augmented generation.</a:t>
            </a:r>
          </a:p>
        </p:txBody>
      </p:sp>
    </p:spTree>
    <p:extLst>
      <p:ext uri="{BB962C8B-B14F-4D97-AF65-F5344CB8AC3E}">
        <p14:creationId xmlns:p14="http://schemas.microsoft.com/office/powerpoint/2010/main" val="99906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endParaRPr lang="en-US" dirty="0"/>
          </a:p>
        </p:txBody>
      </p:sp>
    </p:spTree>
    <p:extLst>
      <p:ext uri="{BB962C8B-B14F-4D97-AF65-F5344CB8AC3E}">
        <p14:creationId xmlns:p14="http://schemas.microsoft.com/office/powerpoint/2010/main" val="1597889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|Define prompt engineering.</a:t>
            </a:r>
          </a:p>
          <a:p>
            <a:pPr indent="-171450">
              <a:buChar char="•"/>
              <a:defRPr/>
            </a:pPr>
            <a:r>
              <a:rPr lang="en-US" dirty="0">
                <a:solidFill>
                  <a:srgbClr val="000000"/>
                </a:solidFill>
                <a:latin typeface="Calibri" panose="020F0502020204030204" pitchFamily="34" charset="0"/>
              </a:rPr>
              <a:t>|Explain its importance in generative AI.</a:t>
            </a:r>
          </a:p>
          <a:p>
            <a:pPr indent="-171450">
              <a:buChar char="•"/>
              <a:defRPr/>
            </a:pPr>
            <a:r>
              <a:rPr lang="en-US" dirty="0">
                <a:solidFill>
                  <a:srgbClr val="000000"/>
                </a:solidFill>
                <a:latin typeface="Calibri" panose="020F0502020204030204" pitchFamily="34" charset="0"/>
              </a:rPr>
              <a:t>|Highlight key benefits of effective prompting.</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Prompt engineering is the practice of designing and refining inputs to AI models to generate desired outputs. It involves crafting clear, specific instructions that guide the model's behavior and responses. Effective prompt engineering is crucial for maximizing the potential of generative AI systems and making sure that they produce accurate, relevant, and useful results.</a:t>
            </a:r>
          </a:p>
        </p:txBody>
      </p:sp>
    </p:spTree>
    <p:extLst>
      <p:ext uri="{BB962C8B-B14F-4D97-AF65-F5344CB8AC3E}">
        <p14:creationId xmlns:p14="http://schemas.microsoft.com/office/powerpoint/2010/main" val="1634378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287919"/>
          </a:xfrm>
        </p:spPr>
        <p:txBody>
          <a:bodyPr/>
          <a:lstStyle/>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|INSTRUCTOR NOTES:</a:t>
            </a:r>
          </a:p>
          <a:p>
            <a:pPr marL="171450" indent="-171450">
              <a:buFont typeface="Arial" panose="020B0604020202020204" pitchFamily="34" charset="0"/>
              <a:buChar char="•"/>
              <a:defRPr/>
            </a:pPr>
            <a:r>
              <a:rPr lang="en-US" dirty="0">
                <a:latin typeface="Calibri" panose="020F0502020204030204" pitchFamily="34" charset="0"/>
              </a:rPr>
              <a:t>|Emphasize the importance of effective prompting.</a:t>
            </a:r>
          </a:p>
          <a:p>
            <a:pPr marL="171450" indent="-171450">
              <a:buFont typeface="Arial" panose="020B0604020202020204" pitchFamily="34" charset="0"/>
              <a:buChar char="•"/>
              <a:defRPr/>
            </a:pPr>
            <a:r>
              <a:rPr lang="en-US" dirty="0">
                <a:latin typeface="Calibri" panose="020F0502020204030204" pitchFamily="34" charset="0"/>
              </a:rPr>
              <a:t>|Discuss each benefit in detail.</a:t>
            </a:r>
          </a:p>
          <a:p>
            <a:pPr marL="171450" indent="-171450">
              <a:buFont typeface="Arial" panose="020B0604020202020204" pitchFamily="34" charset="0"/>
              <a:buChar char="•"/>
              <a:defRPr/>
            </a:pPr>
            <a:r>
              <a:rPr lang="en-US" dirty="0">
                <a:latin typeface="Calibri" panose="020F0502020204030204" pitchFamily="34" charset="0"/>
              </a:rPr>
              <a:t>|Provide examples of how these benefits apply in real-world scenarios.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|STUDENT NOTES: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Prompt engineering involves crafting and refining input instructions for AI systems. It aims to effectively communicate with large language models (LLMs) to obtain desired outputs or behaviors.</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Effective prompt engineering offers several key benefits when working with generative AI models:</a:t>
            </a:r>
          </a:p>
          <a:p>
            <a:pPr marL="171450" indent="-171450">
              <a:buFont typeface="Arial" panose="020B0604020202020204" pitchFamily="34" charset="0"/>
              <a:buChar char="•"/>
              <a:defRPr/>
            </a:pPr>
            <a:r>
              <a:rPr lang="en-US" b="1" dirty="0">
                <a:latin typeface="Calibri" panose="020F0502020204030204" pitchFamily="34" charset="0"/>
              </a:rPr>
              <a:t>Enhancing model capabilities</a:t>
            </a:r>
            <a:r>
              <a:rPr lang="en-US" dirty="0">
                <a:latin typeface="Calibri" panose="020F0502020204030204" pitchFamily="34" charset="0"/>
              </a:rPr>
              <a:t> – Well-crafted prompts can push AI models to perform tasks beyond their initial training, unlocking new possibilities and applications. For example, with a carefully designed prompt, a language model can perform complex reasoning tasks or generate creative solutions to problems.</a:t>
            </a:r>
          </a:p>
          <a:p>
            <a:pPr marL="171450" indent="-171450">
              <a:buFont typeface="Arial" panose="020B0604020202020204" pitchFamily="34" charset="0"/>
              <a:buChar char="•"/>
              <a:defRPr/>
            </a:pPr>
            <a:r>
              <a:rPr lang="en-US" b="1" dirty="0">
                <a:latin typeface="Calibri" panose="020F0502020204030204" pitchFamily="34" charset="0"/>
              </a:rPr>
              <a:t>Bolstering safety measures</a:t>
            </a:r>
            <a:r>
              <a:rPr lang="en-US" dirty="0">
                <a:latin typeface="Calibri" panose="020F0502020204030204" pitchFamily="34" charset="0"/>
              </a:rPr>
              <a:t> – Carefully designed prompts can help prevent harmful or biased outputs, which improves the overall safety and reliability of AI systems. This is particularly important in sensitive applications such as healthcare or financial services, where accuracy and ethical considerations are paramount.</a:t>
            </a:r>
          </a:p>
          <a:p>
            <a:pPr marL="171450" indent="-171450">
              <a:buFont typeface="Arial" panose="020B0604020202020204" pitchFamily="34" charset="0"/>
              <a:buChar char="•"/>
              <a:defRPr/>
            </a:pPr>
            <a:r>
              <a:rPr lang="en-US" b="1" dirty="0">
                <a:latin typeface="Calibri" panose="020F0502020204030204" pitchFamily="34" charset="0"/>
              </a:rPr>
              <a:t>Providing domain-specific knowledge</a:t>
            </a:r>
            <a:r>
              <a:rPr lang="en-US" dirty="0">
                <a:latin typeface="Calibri" panose="020F0502020204030204" pitchFamily="34" charset="0"/>
              </a:rPr>
              <a:t> – Prompts can incorporate specialized information, so that models can generate more accurate and relevant responses in specific fields or industries. This is especially valuable when working with AI models in specialized domains such as legal, medical, or technical fields.</a:t>
            </a:r>
          </a:p>
          <a:p>
            <a:pPr marL="171450" indent="-171450">
              <a:buFont typeface="Arial" panose="020B0604020202020204" pitchFamily="34" charset="0"/>
              <a:buChar char="•"/>
              <a:defRPr/>
            </a:pPr>
            <a:r>
              <a:rPr lang="en-US" b="1" dirty="0">
                <a:latin typeface="Calibri" panose="020F0502020204030204" pitchFamily="34" charset="0"/>
              </a:rPr>
              <a:t>Obtaining higher-quality outputs</a:t>
            </a:r>
            <a:r>
              <a:rPr lang="en-US" dirty="0">
                <a:latin typeface="Calibri" panose="020F0502020204030204" pitchFamily="34" charset="0"/>
              </a:rPr>
              <a:t> – By guiding the model with clear, specific instructions, effective prompts lead to more coherent, focused, and useful results. This improves the overall quality of AI-generated content and increases its value in real-world applications.</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These benefits demonstrate why mastering prompt engineering is crucial for cloud practitioners working with generative AI. By harnessing these advantages, you can significantly improve the performance and utility of AI models in various business applications, from customer service AI assistants to content generation and data analysis tools.</a:t>
            </a:r>
          </a:p>
        </p:txBody>
      </p:sp>
    </p:spTree>
    <p:extLst>
      <p:ext uri="{BB962C8B-B14F-4D97-AF65-F5344CB8AC3E}">
        <p14:creationId xmlns:p14="http://schemas.microsoft.com/office/powerpoint/2010/main" val="61098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pPr fontAlgn="base"/>
            <a:r>
              <a:rPr lang="en-US" dirty="0">
                <a:solidFill>
                  <a:srgbClr val="000000"/>
                </a:solidFill>
                <a:effectLst/>
                <a:latin typeface="Calibri" panose="020F0502020204030204" pitchFamily="34" charset="0"/>
              </a:rPr>
              <a:t>|INSTRUCTOR NOTES:</a:t>
            </a:r>
          </a:p>
          <a:p>
            <a:pPr indent="-171450" fontAlgn="base">
              <a:buChar char="•"/>
            </a:pPr>
            <a:r>
              <a:rPr lang="en-US" dirty="0">
                <a:solidFill>
                  <a:srgbClr val="000000"/>
                </a:solidFill>
                <a:effectLst/>
                <a:latin typeface="Calibri" panose="020F0502020204030204" pitchFamily="34" charset="0"/>
              </a:rPr>
              <a:t>|Walk through the prompt example and expected response.</a:t>
            </a:r>
          </a:p>
          <a:p>
            <a:pPr indent="-171450" fontAlgn="base">
              <a:buChar char="•"/>
            </a:pPr>
            <a:r>
              <a:rPr lang="en-US" dirty="0">
                <a:solidFill>
                  <a:srgbClr val="000000"/>
                </a:solidFill>
                <a:effectLst/>
                <a:latin typeface="Calibri" panose="020F0502020204030204" pitchFamily="34" charset="0"/>
              </a:rPr>
              <a:t>|Discuss the elements that make this a good prompt.</a:t>
            </a:r>
          </a:p>
          <a:p>
            <a:pPr indent="-171450" fontAlgn="base">
              <a:buChar char="•"/>
            </a:pPr>
            <a:r>
              <a:rPr lang="en-US" dirty="0">
                <a:solidFill>
                  <a:srgbClr val="000000"/>
                </a:solidFill>
                <a:effectLst/>
                <a:latin typeface="Calibri" panose="020F0502020204030204" pitchFamily="34" charset="0"/>
              </a:rPr>
              <a:t>|Highlight areas for potential improvement.</a:t>
            </a:r>
          </a:p>
          <a:p>
            <a:pPr fontAlgn="base"/>
            <a:endParaRPr lang="en-US" dirty="0">
              <a:solidFill>
                <a:srgbClr val="000000"/>
              </a:solidFill>
              <a:effectLst/>
              <a:latin typeface="Calibri" panose="020F0502020204030204" pitchFamily="34" charset="0"/>
            </a:endParaRPr>
          </a:p>
          <a:p>
            <a:pPr fontAlgn="base"/>
            <a:r>
              <a:rPr lang="en-US" dirty="0">
                <a:solidFill>
                  <a:srgbClr val="000000"/>
                </a:solidFill>
                <a:effectLst/>
                <a:latin typeface="Calibri" panose="020F0502020204030204" pitchFamily="34" charset="0"/>
              </a:rPr>
              <a:t>|STUDENT NOTES:</a:t>
            </a:r>
          </a:p>
          <a:p>
            <a:pPr fontAlgn="base"/>
            <a:r>
              <a:rPr lang="en-US" dirty="0">
                <a:solidFill>
                  <a:srgbClr val="000000"/>
                </a:solidFill>
                <a:effectLst/>
                <a:latin typeface="Calibri" panose="020F0502020204030204" pitchFamily="34" charset="0"/>
              </a:rPr>
              <a:t>This slide presents a basic prompt example focused on using generative AI for customer engagement. The prompt asks a specific question about how </a:t>
            </a:r>
            <a:r>
              <a:rPr lang="en-US" dirty="0" err="1">
                <a:solidFill>
                  <a:srgbClr val="000000"/>
                </a:solidFill>
                <a:effectLst/>
                <a:latin typeface="Calibri" panose="020F0502020204030204" pitchFamily="34" charset="0"/>
              </a:rPr>
              <a:t>AnyOrganization</a:t>
            </a:r>
            <a:r>
              <a:rPr lang="en-US" dirty="0">
                <a:solidFill>
                  <a:srgbClr val="000000"/>
                </a:solidFill>
                <a:effectLst/>
                <a:latin typeface="Calibri" panose="020F0502020204030204" pitchFamily="34" charset="0"/>
              </a:rPr>
              <a:t> can use generative AI to enhance customer engagement across various product lines and services.</a:t>
            </a:r>
          </a:p>
          <a:p>
            <a:pPr fontAlgn="base"/>
            <a:endParaRPr lang="en-US" dirty="0">
              <a:solidFill>
                <a:srgbClr val="000000"/>
              </a:solidFill>
              <a:effectLst/>
              <a:latin typeface="Calibri" panose="020F0502020204030204" pitchFamily="34" charset="0"/>
            </a:endParaRPr>
          </a:p>
          <a:p>
            <a:pPr fontAlgn="base"/>
            <a:r>
              <a:rPr lang="en-US" dirty="0">
                <a:solidFill>
                  <a:srgbClr val="000000"/>
                </a:solidFill>
                <a:effectLst/>
                <a:latin typeface="Calibri" panose="020F0502020204030204" pitchFamily="34" charset="0"/>
              </a:rPr>
              <a:t>The expected response outlines a concrete solution: implementing a conversational AI assistant. This AI-powered tool can be integrated into multiple customer touchpoints, including the company's website, mobile app, and support channels. The response highlights key benefits such as personalized assistance, efficient query resolution, and improved customer experience.</a:t>
            </a:r>
          </a:p>
          <a:p>
            <a:pPr fontAlgn="base"/>
            <a:endParaRPr lang="en-US" dirty="0">
              <a:solidFill>
                <a:srgbClr val="000000"/>
              </a:solidFill>
              <a:effectLst/>
              <a:latin typeface="Calibri" panose="020F0502020204030204" pitchFamily="34" charset="0"/>
            </a:endParaRPr>
          </a:p>
          <a:p>
            <a:pPr fontAlgn="base"/>
            <a:r>
              <a:rPr lang="en-US" dirty="0">
                <a:solidFill>
                  <a:srgbClr val="000000"/>
                </a:solidFill>
                <a:effectLst/>
                <a:latin typeface="Calibri" panose="020F0502020204030204" pitchFamily="34" charset="0"/>
              </a:rPr>
              <a:t>You can improve this prompt by doing the following:</a:t>
            </a:r>
          </a:p>
          <a:p>
            <a:pPr marL="171450" indent="-171450" fontAlgn="base">
              <a:buFont typeface="Arial" panose="020B0604020202020204" pitchFamily="34" charset="0"/>
              <a:buChar char="•"/>
            </a:pPr>
            <a:r>
              <a:rPr lang="en-US" dirty="0">
                <a:solidFill>
                  <a:srgbClr val="000000"/>
                </a:solidFill>
                <a:effectLst/>
                <a:latin typeface="Calibri" panose="020F0502020204030204" pitchFamily="34" charset="0"/>
              </a:rPr>
              <a:t>Provide more context about </a:t>
            </a:r>
            <a:r>
              <a:rPr lang="en-US" dirty="0" err="1">
                <a:solidFill>
                  <a:srgbClr val="000000"/>
                </a:solidFill>
                <a:effectLst/>
                <a:latin typeface="Calibri" panose="020F0502020204030204" pitchFamily="34" charset="0"/>
              </a:rPr>
              <a:t>AnyOrganization's</a:t>
            </a:r>
            <a:r>
              <a:rPr lang="en-US" dirty="0">
                <a:solidFill>
                  <a:srgbClr val="000000"/>
                </a:solidFill>
                <a:effectLst/>
                <a:latin typeface="Calibri" panose="020F0502020204030204" pitchFamily="34" charset="0"/>
              </a:rPr>
              <a:t> specific industry or customer base.</a:t>
            </a:r>
          </a:p>
          <a:p>
            <a:pPr marL="171450" indent="-171450" fontAlgn="base">
              <a:buFont typeface="Arial" panose="020B0604020202020204" pitchFamily="34" charset="0"/>
              <a:buChar char="•"/>
            </a:pPr>
            <a:r>
              <a:rPr lang="en-US" dirty="0">
                <a:solidFill>
                  <a:srgbClr val="000000"/>
                </a:solidFill>
                <a:effectLst/>
                <a:latin typeface="Calibri" panose="020F0502020204030204" pitchFamily="34" charset="0"/>
              </a:rPr>
              <a:t>Request multiple potential solutions or use cases.</a:t>
            </a:r>
          </a:p>
          <a:p>
            <a:pPr marL="171450" indent="-171450" fontAlgn="base">
              <a:buFont typeface="Arial" panose="020B0604020202020204" pitchFamily="34" charset="0"/>
              <a:buChar char="•"/>
            </a:pPr>
            <a:r>
              <a:rPr lang="en-US" dirty="0">
                <a:solidFill>
                  <a:srgbClr val="000000"/>
                </a:solidFill>
                <a:effectLst/>
                <a:latin typeface="Calibri" panose="020F0502020204030204" pitchFamily="34" charset="0"/>
              </a:rPr>
              <a:t>Ask for specific metrics or key performance indicators (KPIs) to measure the impact of the proposed solution.</a:t>
            </a:r>
          </a:p>
          <a:p>
            <a:pPr fontAlgn="base"/>
            <a:endParaRPr lang="en-US" dirty="0">
              <a:solidFill>
                <a:srgbClr val="000000"/>
              </a:solidFill>
              <a:effectLst/>
              <a:latin typeface="Calibri" panose="020F0502020204030204" pitchFamily="34" charset="0"/>
            </a:endParaRPr>
          </a:p>
          <a:p>
            <a:pPr fontAlgn="base"/>
            <a:r>
              <a:rPr lang="en-US" dirty="0">
                <a:solidFill>
                  <a:srgbClr val="000000"/>
                </a:solidFill>
                <a:effectLst/>
                <a:latin typeface="Calibri" panose="020F0502020204030204" pitchFamily="34" charset="0"/>
              </a:rPr>
              <a:t>By refining prompts in this way, you can elicit more detailed, relevant, and actionable responses from generative AI models. This approach can lead to more comprehensive and tailored solutions that address the unique needs of different organizations and industries.</a:t>
            </a:r>
          </a:p>
        </p:txBody>
      </p:sp>
    </p:spTree>
    <p:extLst>
      <p:ext uri="{BB962C8B-B14F-4D97-AF65-F5344CB8AC3E}">
        <p14:creationId xmlns:p14="http://schemas.microsoft.com/office/powerpoint/2010/main" val="3138694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|Compare this improved prompt to the previous example.</a:t>
            </a:r>
          </a:p>
          <a:p>
            <a:pPr indent="-171450">
              <a:buChar char="•"/>
            </a:pPr>
            <a:r>
              <a:rPr lang="en-US" dirty="0">
                <a:latin typeface="Calibri" panose="020F0502020204030204" pitchFamily="34" charset="0"/>
              </a:rPr>
              <a:t>|Highlight the specific elements that make this prompt more effective.</a:t>
            </a:r>
          </a:p>
          <a:p>
            <a:pPr indent="-171450">
              <a:buChar char="•"/>
            </a:pPr>
            <a:r>
              <a:rPr lang="en-US" dirty="0">
                <a:latin typeface="Calibri" panose="020F0502020204030204" pitchFamily="34" charset="0"/>
              </a:rPr>
              <a:t>|Discuss how the expected response demonstrates the benefits of a well-crafted prompt.</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effectLst/>
                <a:latin typeface="Calibri" panose="020F0502020204030204" pitchFamily="34" charset="0"/>
              </a:rPr>
              <a:t>Generative AI can create a personalized onboarding experience for new customers, increasing engagement and reducing churn in the first 90 days. By refining your prompts to focus on specific business challenges, clear objectives, and defined timeframes, you receive more detailed and actionable responses from AI models.</a:t>
            </a:r>
          </a:p>
          <a:p>
            <a:endParaRPr lang="en-US" dirty="0">
              <a:effectLst/>
              <a:latin typeface="Calibri" panose="020F0502020204030204" pitchFamily="34" charset="0"/>
            </a:endParaRPr>
          </a:p>
          <a:p>
            <a:r>
              <a:rPr lang="en-US" dirty="0">
                <a:effectLst/>
                <a:latin typeface="Calibri" panose="020F0502020204030204" pitchFamily="34" charset="0"/>
              </a:rPr>
              <a:t>The example prompt in this slide results in a comprehensive solution: a "Smart Onboarding Guide" powered by Generative AI. This guide includes personalized welcome messages, tailored tutorials, and adaptive communication. These features directly address the goals of improving engagement and reducing churn during the critical initial period.</a:t>
            </a:r>
          </a:p>
          <a:p>
            <a:endParaRPr lang="en-US" dirty="0">
              <a:effectLst/>
              <a:latin typeface="Calibri" panose="020F0502020204030204" pitchFamily="34" charset="0"/>
            </a:endParaRPr>
          </a:p>
          <a:p>
            <a:r>
              <a:rPr lang="en-US" dirty="0">
                <a:effectLst/>
                <a:latin typeface="Calibri" panose="020F0502020204030204" pitchFamily="34" charset="0"/>
              </a:rPr>
              <a:t>You can craft targeted, detailed prompts to get higher-quality responses from generative AI models. This approach produces more valuable insights and solutions that directly address your business needs and objectives. As a result, you improve the effectiveness of AI implementations in real-world scenarios.</a:t>
            </a:r>
            <a:endParaRPr lang="en-US" dirty="0">
              <a:latin typeface="Calibri" panose="020F0502020204030204" pitchFamily="34" charset="0"/>
            </a:endParaRPr>
          </a:p>
        </p:txBody>
      </p:sp>
    </p:spTree>
    <p:extLst>
      <p:ext uri="{BB962C8B-B14F-4D97-AF65-F5344CB8AC3E}">
        <p14:creationId xmlns:p14="http://schemas.microsoft.com/office/powerpoint/2010/main" val="1840171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|Introduce the concept of prompt design best practices.</a:t>
            </a:r>
          </a:p>
          <a:p>
            <a:pPr indent="-171450">
              <a:buChar char="•"/>
              <a:defRPr/>
            </a:pPr>
            <a:r>
              <a:rPr lang="en-US" dirty="0">
                <a:solidFill>
                  <a:srgbClr val="000000"/>
                </a:solidFill>
                <a:latin typeface="Calibri" panose="020F0502020204030204" pitchFamily="34" charset="0"/>
              </a:rPr>
              <a:t>|Emphasize the importance of following these guidelines for optimal results.</a:t>
            </a:r>
          </a:p>
          <a:p>
            <a:pPr indent="-171450">
              <a:buChar char="•"/>
              <a:defRPr/>
            </a:pPr>
            <a:r>
              <a:rPr lang="en-US" dirty="0">
                <a:solidFill>
                  <a:srgbClr val="000000"/>
                </a:solidFill>
                <a:latin typeface="Calibri" panose="020F0502020204030204" pitchFamily="34" charset="0"/>
              </a:rPr>
              <a:t>|Preview the key practices to be covered.</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Best practices for prompt design are essential guidelines for crafting effective prompts when working with generative AI models. These practices help ensure that your prompts elicit the most relevant, accurate, and useful responses from AI systems.</a:t>
            </a:r>
          </a:p>
        </p:txBody>
      </p:sp>
    </p:spTree>
    <p:extLst>
      <p:ext uri="{BB962C8B-B14F-4D97-AF65-F5344CB8AC3E}">
        <p14:creationId xmlns:p14="http://schemas.microsoft.com/office/powerpoint/2010/main" val="3763226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260055"/>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|Discuss each best practice in detail.</a:t>
            </a:r>
          </a:p>
          <a:p>
            <a:pPr indent="-171450">
              <a:buChar char="•"/>
            </a:pPr>
            <a:r>
              <a:rPr lang="en-US" dirty="0">
                <a:latin typeface="Calibri" panose="020F0502020204030204" pitchFamily="34" charset="0"/>
              </a:rPr>
              <a:t>|Provide examples of how to apply these practices.</a:t>
            </a:r>
          </a:p>
          <a:p>
            <a:pPr indent="-171450">
              <a:buChar char="•"/>
            </a:pPr>
            <a:r>
              <a:rPr lang="en-US" dirty="0">
                <a:latin typeface="Calibri" panose="020F0502020204030204" pitchFamily="34" charset="0"/>
              </a:rPr>
              <a:t>|Highlight the impact of each practice on AI model outputs.</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The top 5 best practices for effective prompting are the following:</a:t>
            </a:r>
          </a:p>
          <a:p>
            <a:pPr marL="228600" indent="-228600">
              <a:buFont typeface="+mj-lt"/>
              <a:buAutoNum type="arabicPeriod"/>
            </a:pPr>
            <a:r>
              <a:rPr lang="en-US" dirty="0">
                <a:latin typeface="Calibri" panose="020F0502020204030204" pitchFamily="34" charset="0"/>
              </a:rPr>
              <a:t>Be clear and concise – Use simple, straightforward language to communicate your request. Avoid ambiguity or unnecessary complexity.</a:t>
            </a:r>
          </a:p>
          <a:p>
            <a:pPr marL="228600" indent="-228600">
              <a:buFont typeface="+mj-lt"/>
              <a:buAutoNum type="arabicPeriod"/>
            </a:pPr>
            <a:r>
              <a:rPr lang="en-US" dirty="0">
                <a:latin typeface="Calibri" panose="020F0502020204030204" pitchFamily="34" charset="0"/>
              </a:rPr>
              <a:t>Include relevant context – Provide background information or specific details that help the AI model understand the context of your request.</a:t>
            </a:r>
          </a:p>
          <a:p>
            <a:pPr marL="228600" indent="-228600">
              <a:buFont typeface="+mj-lt"/>
              <a:buAutoNum type="arabicPeriod"/>
            </a:pPr>
            <a:r>
              <a:rPr lang="en-US" dirty="0">
                <a:latin typeface="Calibri" panose="020F0502020204030204" pitchFamily="34" charset="0"/>
              </a:rPr>
              <a:t>Use specific directives – Clearly state what you want the AI to do, using action-oriented language and explicit instructions.</a:t>
            </a:r>
          </a:p>
          <a:p>
            <a:pPr marL="228600" indent="-228600">
              <a:buFont typeface="+mj-lt"/>
              <a:buAutoNum type="arabicPeriod"/>
            </a:pPr>
            <a:r>
              <a:rPr lang="en-US" dirty="0">
                <a:latin typeface="Calibri" panose="020F0502020204030204" pitchFamily="34" charset="0"/>
              </a:rPr>
              <a:t>State outcome requirements – Specify the desired format, length, or characteristics of the output you're seeking.</a:t>
            </a:r>
          </a:p>
          <a:p>
            <a:pPr marL="228600" indent="-228600">
              <a:buFont typeface="+mj-lt"/>
              <a:buAutoNum type="arabicPeriod"/>
            </a:pPr>
            <a:r>
              <a:rPr lang="en-US" dirty="0">
                <a:latin typeface="Calibri" panose="020F0502020204030204" pitchFamily="34" charset="0"/>
              </a:rPr>
              <a:t>Provide example responses – When appropriate, include sample outputs to guide the AI's response style and content.</a:t>
            </a:r>
          </a:p>
          <a:p>
            <a:endParaRPr lang="en-US" dirty="0">
              <a:effectLst/>
              <a:latin typeface="Calibri" panose="020F0502020204030204" pitchFamily="34" charset="0"/>
            </a:endParaRPr>
          </a:p>
          <a:p>
            <a:r>
              <a:rPr lang="en-US" dirty="0">
                <a:effectLst/>
                <a:latin typeface="Calibri" panose="020F0502020204030204" pitchFamily="34" charset="0"/>
              </a:rPr>
              <a:t>Effective prompting practices include using clear language, providing context, giving specific instructions, stating desired outcomes, and offering example responses. These techniques help the AI model generate more accurate, relevant, and tailored outputs.</a:t>
            </a:r>
          </a:p>
          <a:p>
            <a:r>
              <a:rPr lang="en-US" dirty="0">
                <a:effectLst/>
                <a:latin typeface="Calibri" panose="020F0502020204030204" pitchFamily="34" charset="0"/>
              </a:rPr>
              <a:t>Generative AI can be used to create more effective responses across various cloud applications. You can refine your prompting techniques over time, adapting to specific AI models and tasks. By applying these best practices, you improve the quality and relevance of AI-generated content for your projects.</a:t>
            </a:r>
            <a:endParaRPr lang="en-US" dirty="0">
              <a:latin typeface="Calibri" panose="020F0502020204030204" pitchFamily="34" charset="0"/>
            </a:endParaRPr>
          </a:p>
        </p:txBody>
      </p:sp>
    </p:spTree>
    <p:extLst>
      <p:ext uri="{BB962C8B-B14F-4D97-AF65-F5344CB8AC3E}">
        <p14:creationId xmlns:p14="http://schemas.microsoft.com/office/powerpoint/2010/main" val="1755808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438231"/>
          </a:xfrm>
        </p:spPr>
        <p:txBody>
          <a:bodyPr/>
          <a:lstStyle/>
          <a:p>
            <a:r>
              <a:rPr lang="en-US">
                <a:effectLst/>
                <a:latin typeface="Calibri" panose="020F0502020204030204" pitchFamily="34" charset="0"/>
              </a:rPr>
              <a:t>|</a:t>
            </a:r>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each prompt component in detail.</a:t>
            </a:r>
          </a:p>
          <a:p>
            <a:pPr indent="-171450">
              <a:buChar char="•"/>
            </a:pPr>
            <a:r>
              <a:rPr lang="en-US" dirty="0">
                <a:effectLst/>
                <a:latin typeface="Calibri" panose="020F0502020204030204" pitchFamily="34" charset="0"/>
              </a:rPr>
              <a:t>|Provide examples to illustrate each component.</a:t>
            </a:r>
          </a:p>
          <a:p>
            <a:pPr indent="-171450">
              <a:buChar char="•"/>
            </a:pPr>
            <a:r>
              <a:rPr lang="en-US" dirty="0">
                <a:effectLst/>
                <a:latin typeface="Calibri" panose="020F0502020204030204" pitchFamily="34" charset="0"/>
              </a:rPr>
              <a:t>|Highlight the importance of structuring prompts effectively.</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b="1" dirty="0">
                <a:latin typeface="Calibri" panose="020F0502020204030204" pitchFamily="34" charset="0"/>
              </a:rPr>
              <a:t>Prompt components</a:t>
            </a:r>
            <a:r>
              <a:rPr lang="en-US" dirty="0">
                <a:latin typeface="Calibri" panose="020F0502020204030204" pitchFamily="34" charset="0"/>
              </a:rPr>
              <a:t> are the high-level categories or sections that structure the prompt. They provide a broad framework for the task.</a:t>
            </a:r>
          </a:p>
          <a:p>
            <a:endParaRPr lang="en-US" dirty="0">
              <a:effectLst/>
              <a:latin typeface="Calibri" panose="020F0502020204030204" pitchFamily="34" charset="0"/>
            </a:endParaRPr>
          </a:p>
          <a:p>
            <a:pPr marL="0" marR="0" lvl="0" indent="0" defTabSz="914400" rtl="0" eaLnBrk="1" fontAlgn="auto" latinLnBrk="0" hangingPunct="1">
              <a:buClrTx/>
              <a:buSzTx/>
              <a:buFontTx/>
              <a:buNone/>
              <a:tabLst/>
              <a:defRPr/>
            </a:pPr>
            <a:r>
              <a:rPr lang="en-US" dirty="0">
                <a:effectLst/>
                <a:latin typeface="Calibri" panose="020F0502020204030204" pitchFamily="34" charset="0"/>
              </a:rPr>
              <a:t>Prompt components include the following:</a:t>
            </a:r>
          </a:p>
          <a:p>
            <a:pPr marL="171450" indent="-171450">
              <a:buFont typeface="Arial" panose="020B0604020202020204" pitchFamily="34" charset="0"/>
              <a:buChar char="•"/>
            </a:pPr>
            <a:r>
              <a:rPr lang="en-US" b="1" dirty="0">
                <a:effectLst/>
                <a:latin typeface="Calibri" panose="020F0502020204030204" pitchFamily="34" charset="0"/>
              </a:rPr>
              <a:t>Task</a:t>
            </a:r>
            <a:r>
              <a:rPr lang="en-US" b="0" dirty="0">
                <a:effectLst/>
                <a:latin typeface="Calibri" panose="020F0502020204030204" pitchFamily="34" charset="0"/>
              </a:rPr>
              <a:t> – </a:t>
            </a:r>
            <a:r>
              <a:rPr lang="en-US" dirty="0">
                <a:effectLst/>
                <a:latin typeface="Calibri" panose="020F0502020204030204" pitchFamily="34" charset="0"/>
              </a:rPr>
              <a:t>The task description clearly defines the objective or problem the AI model should address—for example, "Analyze the current market trends in e-commerce."</a:t>
            </a:r>
          </a:p>
          <a:p>
            <a:pPr marL="171450" indent="-171450">
              <a:buFont typeface="Arial" panose="020B0604020202020204" pitchFamily="34" charset="0"/>
              <a:buChar char="•"/>
            </a:pPr>
            <a:r>
              <a:rPr lang="en-US" b="1" dirty="0">
                <a:effectLst/>
                <a:latin typeface="Calibri" panose="020F0502020204030204" pitchFamily="34" charset="0"/>
              </a:rPr>
              <a:t>Instruction</a:t>
            </a:r>
            <a:r>
              <a:rPr lang="en-US" b="0" dirty="0">
                <a:effectLst/>
                <a:latin typeface="Calibri" panose="020F0502020204030204" pitchFamily="34" charset="0"/>
              </a:rPr>
              <a:t> –</a:t>
            </a:r>
            <a:r>
              <a:rPr lang="en-US" b="1" dirty="0">
                <a:effectLst/>
                <a:latin typeface="Calibri" panose="020F0502020204030204" pitchFamily="34" charset="0"/>
              </a:rPr>
              <a:t> </a:t>
            </a:r>
            <a:r>
              <a:rPr lang="en-US" dirty="0">
                <a:effectLst/>
                <a:latin typeface="Calibri" panose="020F0502020204030204" pitchFamily="34" charset="0"/>
              </a:rPr>
              <a:t>The instruction provides detailed guidance on how to approach and complete the task. This might include steps to follow or specific aspects to consider, such as "Focus on the top three emerging technologies in the field."</a:t>
            </a:r>
          </a:p>
          <a:p>
            <a:pPr marL="171450" indent="-171450">
              <a:buFont typeface="Arial" panose="020B0604020202020204" pitchFamily="34" charset="0"/>
              <a:buChar char="•"/>
            </a:pPr>
            <a:r>
              <a:rPr lang="en-US" b="1" dirty="0">
                <a:effectLst/>
                <a:latin typeface="Calibri" panose="020F0502020204030204" pitchFamily="34" charset="0"/>
              </a:rPr>
              <a:t>Input </a:t>
            </a:r>
            <a:r>
              <a:rPr lang="en-US" b="0" dirty="0">
                <a:effectLst/>
                <a:latin typeface="Calibri" panose="020F0502020204030204" pitchFamily="34" charset="0"/>
              </a:rPr>
              <a:t>–</a:t>
            </a:r>
            <a:r>
              <a:rPr lang="en-US" b="1" dirty="0">
                <a:effectLst/>
                <a:latin typeface="Calibri" panose="020F0502020204030204" pitchFamily="34" charset="0"/>
              </a:rPr>
              <a:t> </a:t>
            </a:r>
            <a:r>
              <a:rPr lang="en-US" dirty="0">
                <a:effectLst/>
                <a:latin typeface="Calibri" panose="020F0502020204030204" pitchFamily="34" charset="0"/>
              </a:rPr>
              <a:t>The input data specifies the information or context the model should consider, such as relevant statistics, background information, or specific scenarios.</a:t>
            </a:r>
          </a:p>
          <a:p>
            <a:pPr marL="171450" indent="-171450">
              <a:buFont typeface="Arial" panose="020B0604020202020204" pitchFamily="34" charset="0"/>
              <a:buChar char="•"/>
            </a:pPr>
            <a:r>
              <a:rPr lang="en-US" b="1" dirty="0">
                <a:effectLst/>
                <a:latin typeface="Calibri" panose="020F0502020204030204" pitchFamily="34" charset="0"/>
              </a:rPr>
              <a:t>Output</a:t>
            </a:r>
            <a:r>
              <a:rPr lang="en-US" b="0" dirty="0">
                <a:effectLst/>
                <a:latin typeface="Calibri" panose="020F0502020204030204" pitchFamily="34" charset="0"/>
              </a:rPr>
              <a:t> – </a:t>
            </a:r>
            <a:r>
              <a:rPr lang="en-US" dirty="0">
                <a:effectLst/>
                <a:latin typeface="Calibri" panose="020F0502020204030204" pitchFamily="34" charset="0"/>
              </a:rPr>
              <a:t>The output formatting outlines the desired structure and presentation of the generated content. This could include specifying headings, bullet points, or a particular report format.</a:t>
            </a:r>
          </a:p>
          <a:p>
            <a:pPr marL="171450" indent="-171450">
              <a:buFont typeface="Arial" panose="020B0604020202020204" pitchFamily="34" charset="0"/>
              <a:buChar char="•"/>
            </a:pPr>
            <a:r>
              <a:rPr lang="en-US" b="1" dirty="0">
                <a:effectLst/>
                <a:latin typeface="Calibri" panose="020F0502020204030204" pitchFamily="34" charset="0"/>
              </a:rPr>
              <a:t>Tone and style</a:t>
            </a:r>
            <a:r>
              <a:rPr lang="en-US" b="0" dirty="0">
                <a:effectLst/>
                <a:latin typeface="Calibri" panose="020F0502020204030204" pitchFamily="34" charset="0"/>
              </a:rPr>
              <a:t> – </a:t>
            </a:r>
            <a:r>
              <a:rPr lang="en-US" dirty="0">
                <a:effectLst/>
                <a:latin typeface="Calibri" panose="020F0502020204030204" pitchFamily="34" charset="0"/>
              </a:rPr>
              <a:t>By using the tone and style component, you can set the voice, personality, or writing style for the AI's response, such as "professional and concise" or "friendly and conversational."</a:t>
            </a:r>
          </a:p>
          <a:p>
            <a:pPr marL="171450" indent="-171450">
              <a:buFont typeface="Arial" panose="020B0604020202020204" pitchFamily="34" charset="0"/>
              <a:buChar char="•"/>
            </a:pPr>
            <a:r>
              <a:rPr lang="en-US" b="1" dirty="0">
                <a:effectLst/>
                <a:latin typeface="Calibri" panose="020F0502020204030204" pitchFamily="34" charset="0"/>
              </a:rPr>
              <a:t>Constraints</a:t>
            </a:r>
            <a:r>
              <a:rPr lang="en-US" b="0" dirty="0">
                <a:effectLst/>
                <a:latin typeface="Calibri" panose="020F0502020204030204" pitchFamily="34" charset="0"/>
              </a:rPr>
              <a:t> – </a:t>
            </a:r>
            <a:r>
              <a:rPr lang="en-US" dirty="0">
                <a:effectLst/>
                <a:latin typeface="Calibri" panose="020F0502020204030204" pitchFamily="34" charset="0"/>
              </a:rPr>
              <a:t>Finally, constraints outline any limitations or restrictions the model should adhere to, such as avoiding certain topics or adhering to specific guidelines.</a:t>
            </a:r>
          </a:p>
          <a:p>
            <a:endParaRPr lang="en-US" dirty="0">
              <a:effectLst/>
              <a:latin typeface="Calibri" panose="020F0502020204030204" pitchFamily="34" charset="0"/>
            </a:endParaRPr>
          </a:p>
          <a:p>
            <a:r>
              <a:rPr lang="en-US" dirty="0">
                <a:effectLst/>
                <a:latin typeface="Calibri" panose="020F0502020204030204" pitchFamily="34" charset="0"/>
              </a:rPr>
              <a:t>Carefully crafting these components in a prompt improves AI-generated output quality, relevance, and usefulness for your needs.</a:t>
            </a:r>
          </a:p>
        </p:txBody>
      </p:sp>
    </p:spTree>
    <p:extLst>
      <p:ext uri="{BB962C8B-B14F-4D97-AF65-F5344CB8AC3E}">
        <p14:creationId xmlns:p14="http://schemas.microsoft.com/office/powerpoint/2010/main" val="1882735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a:effectLst/>
                <a:latin typeface="Calibri" panose="020F0502020204030204" pitchFamily="34" charset="0"/>
              </a:rPr>
              <a:t>|</a:t>
            </a:r>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the difference between prompt components and elements.</a:t>
            </a:r>
          </a:p>
          <a:p>
            <a:pPr indent="-171450">
              <a:buChar char="•"/>
            </a:pPr>
            <a:r>
              <a:rPr lang="en-US" dirty="0">
                <a:effectLst/>
                <a:latin typeface="Calibri" panose="020F0502020204030204" pitchFamily="34" charset="0"/>
              </a:rPr>
              <a:t>|Provide examples of each prompt element.</a:t>
            </a:r>
          </a:p>
          <a:p>
            <a:pPr indent="-171450">
              <a:buChar char="•"/>
            </a:pPr>
            <a:r>
              <a:rPr lang="en-US" dirty="0">
                <a:effectLst/>
                <a:latin typeface="Calibri" panose="020F0502020204030204" pitchFamily="34" charset="0"/>
              </a:rPr>
              <a:t>|Discuss how elements are used to build effective prompts.</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b="1" dirty="0">
                <a:solidFill>
                  <a:srgbClr val="0F141A"/>
                </a:solidFill>
                <a:latin typeface="Calibri" panose="020F0502020204030204" pitchFamily="34" charset="0"/>
              </a:rPr>
              <a:t>Prompt elements</a:t>
            </a:r>
            <a:r>
              <a:rPr lang="en-US" dirty="0">
                <a:solidFill>
                  <a:srgbClr val="0F141A"/>
                </a:solidFill>
                <a:latin typeface="Calibri" panose="020F0502020204030204" pitchFamily="34" charset="0"/>
              </a:rPr>
              <a:t> are the specific details or sub-components within a prompt that provide additional clarity or direction. These elements fit within the broader components to offer more granular instructions.</a:t>
            </a:r>
            <a:endParaRPr lang="en-US" dirty="0">
              <a:latin typeface="Calibri" panose="020F0502020204030204" pitchFamily="34" charset="0"/>
            </a:endParaRPr>
          </a:p>
          <a:p>
            <a:endParaRPr lang="en-US" dirty="0">
              <a:effectLst/>
              <a:latin typeface="Calibri" panose="020F0502020204030204" pitchFamily="34" charset="0"/>
            </a:endParaRPr>
          </a:p>
          <a:p>
            <a:r>
              <a:rPr lang="en-US" dirty="0">
                <a:effectLst/>
                <a:latin typeface="Calibri" panose="020F0502020204030204" pitchFamily="34" charset="0"/>
              </a:rPr>
              <a:t>Prompt elements include the following:</a:t>
            </a:r>
          </a:p>
          <a:p>
            <a:pPr marL="171450" indent="-171450">
              <a:buFont typeface="Arial" panose="020B0604020202020204" pitchFamily="34" charset="0"/>
              <a:buChar char="•"/>
            </a:pPr>
            <a:r>
              <a:rPr lang="en-US" b="1" dirty="0">
                <a:effectLst/>
                <a:latin typeface="Calibri" panose="020F0502020204030204" pitchFamily="34" charset="0"/>
              </a:rPr>
              <a:t>Role: </a:t>
            </a:r>
            <a:r>
              <a:rPr lang="en-US" dirty="0">
                <a:effectLst/>
                <a:latin typeface="Calibri" panose="020F0502020204030204" pitchFamily="34" charset="0"/>
              </a:rPr>
              <a:t>The perspective or expertise the AI should adopt (for example, "As a financial analyst...")</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Topic</a:t>
            </a:r>
            <a:r>
              <a:rPr lang="en-US" dirty="0">
                <a:effectLst/>
                <a:latin typeface="Calibri" panose="020F0502020204030204" pitchFamily="34" charset="0"/>
              </a:rPr>
              <a:t>: The subject matter or focus area of the task</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Output</a:t>
            </a:r>
            <a:r>
              <a:rPr lang="en-US" dirty="0">
                <a:effectLst/>
                <a:latin typeface="Calibri" panose="020F0502020204030204" pitchFamily="34" charset="0"/>
              </a:rPr>
              <a:t>: The desired format or type of response (for example, report, list, or analysis)</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Tokens</a:t>
            </a:r>
            <a:r>
              <a:rPr lang="en-US" dirty="0">
                <a:effectLst/>
                <a:latin typeface="Calibri" panose="020F0502020204030204" pitchFamily="34" charset="0"/>
              </a:rPr>
              <a:t>: Individual units of text that make up the prompt</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Structure</a:t>
            </a:r>
            <a:r>
              <a:rPr lang="en-US" dirty="0">
                <a:effectLst/>
                <a:latin typeface="Calibri" panose="020F0502020204030204" pitchFamily="34" charset="0"/>
              </a:rPr>
              <a:t>: The organization and flow of the prompt and expected response</a:t>
            </a:r>
          </a:p>
          <a:p>
            <a:pPr marL="171450" indent="-171450">
              <a:buFont typeface="Arial" panose="020B0604020202020204" pitchFamily="34" charset="0"/>
              <a:buChar char="•"/>
            </a:pPr>
            <a:r>
              <a:rPr lang="en-US" b="1" i="0" kern="1200" dirty="0">
                <a:solidFill>
                  <a:schemeClr val="tx1"/>
                </a:solidFill>
                <a:effectLst/>
                <a:latin typeface="Calibri" panose="020F0502020204030204" pitchFamily="34" charset="0"/>
                <a:ea typeface="+mn-ea"/>
                <a:cs typeface="+mn-cs"/>
              </a:rPr>
              <a:t>Exclusions</a:t>
            </a:r>
            <a:r>
              <a:rPr lang="en-US" b="0" i="0" kern="1200" dirty="0">
                <a:solidFill>
                  <a:schemeClr val="tx1"/>
                </a:solidFill>
                <a:effectLst/>
                <a:latin typeface="Calibri" panose="020F0502020204030204" pitchFamily="34" charset="0"/>
                <a:ea typeface="+mn-ea"/>
                <a:cs typeface="+mn-cs"/>
              </a:rPr>
              <a:t> refer to the specific items, topics, or conditions that are not to be included in the task or output.</a:t>
            </a:r>
            <a:endParaRPr lang="en-US" dirty="0">
              <a:effectLst/>
              <a:latin typeface="Calibri" panose="020F0502020204030204" pitchFamily="34" charset="0"/>
            </a:endParaRP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Audience</a:t>
            </a:r>
            <a:r>
              <a:rPr lang="en-US" dirty="0">
                <a:effectLst/>
                <a:latin typeface="Calibri" panose="020F0502020204030204" pitchFamily="34" charset="0"/>
              </a:rPr>
              <a:t>: The intended recipient or reader of the output</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Document</a:t>
            </a:r>
            <a:r>
              <a:rPr lang="en-US" dirty="0">
                <a:effectLst/>
                <a:latin typeface="Calibri" panose="020F0502020204030204" pitchFamily="34" charset="0"/>
              </a:rPr>
              <a:t>: References to external sources or materials</a:t>
            </a:r>
          </a:p>
          <a:p>
            <a:pPr marL="171450" indent="-171450">
              <a:buFont typeface="Arial" panose="020B0604020202020204" pitchFamily="34" charset="0"/>
              <a:buChar char="•"/>
            </a:pPr>
            <a:r>
              <a:rPr lang="en-US" b="1" kern="1200" dirty="0">
                <a:solidFill>
                  <a:schemeClr val="tx1"/>
                </a:solidFill>
                <a:effectLst/>
                <a:latin typeface="Calibri" panose="020F0502020204030204" pitchFamily="34" charset="0"/>
                <a:ea typeface="+mn-ea"/>
                <a:cs typeface="+mn-cs"/>
              </a:rPr>
              <a:t>Examples</a:t>
            </a:r>
            <a:r>
              <a:rPr lang="en-US" dirty="0">
                <a:effectLst/>
                <a:latin typeface="Calibri" panose="020F0502020204030204" pitchFamily="34" charset="0"/>
              </a:rPr>
              <a:t>: Sample outputs or illustrations to guide the AI's understanding</a:t>
            </a:r>
          </a:p>
          <a:p>
            <a:pPr marL="171450" marR="0" lvl="0" indent="-171450" defTabSz="914400" rtl="0" eaLnBrk="1" fontAlgn="auto" latinLnBrk="0" hangingPunct="1">
              <a:buClrTx/>
              <a:buSzTx/>
              <a:buFont typeface="Arial" panose="020B0604020202020204" pitchFamily="34" charset="0"/>
              <a:buChar char="•"/>
              <a:tabLst/>
              <a:defRPr/>
            </a:pPr>
            <a:r>
              <a:rPr lang="en-US" b="1" i="0" kern="1200" dirty="0">
                <a:solidFill>
                  <a:schemeClr val="tx1"/>
                </a:solidFill>
                <a:effectLst/>
                <a:latin typeface="Calibri" panose="020F0502020204030204" pitchFamily="34" charset="0"/>
                <a:ea typeface="+mn-ea"/>
                <a:cs typeface="+mn-cs"/>
              </a:rPr>
              <a:t>Length</a:t>
            </a:r>
            <a:r>
              <a:rPr lang="en-US" b="0" i="0" kern="1200" dirty="0">
                <a:solidFill>
                  <a:schemeClr val="tx1"/>
                </a:solidFill>
                <a:effectLst/>
                <a:latin typeface="Calibri" panose="020F0502020204030204" pitchFamily="34" charset="0"/>
                <a:ea typeface="+mn-ea"/>
                <a:cs typeface="+mn-cs"/>
              </a:rPr>
              <a:t> specifies the required size or duration of the output. This could be measured in terms of word count, page number, time duration, or any other quantifiable unit.</a:t>
            </a:r>
          </a:p>
          <a:p>
            <a:pPr marL="171450" marR="0" lvl="0" indent="-171450" defTabSz="914400" rtl="0" eaLnBrk="1" fontAlgn="auto" latinLnBrk="0" hangingPunct="1">
              <a:buClrTx/>
              <a:buSzTx/>
              <a:buFont typeface="Arial" panose="020B0604020202020204" pitchFamily="34" charset="0"/>
              <a:buChar char="•"/>
              <a:tabLst/>
              <a:defRPr/>
            </a:pPr>
            <a:r>
              <a:rPr lang="en-US" b="1" i="0" kern="1200" dirty="0">
                <a:solidFill>
                  <a:schemeClr val="tx1"/>
                </a:solidFill>
                <a:effectLst/>
                <a:latin typeface="Calibri" panose="020F0502020204030204" pitchFamily="34" charset="0"/>
                <a:ea typeface="+mn-ea"/>
                <a:cs typeface="+mn-cs"/>
              </a:rPr>
              <a:t>Format</a:t>
            </a:r>
            <a:r>
              <a:rPr lang="en-US" b="0" i="0" kern="1200" dirty="0">
                <a:solidFill>
                  <a:schemeClr val="tx1"/>
                </a:solidFill>
                <a:effectLst/>
                <a:latin typeface="Calibri" panose="020F0502020204030204" pitchFamily="34" charset="0"/>
                <a:ea typeface="+mn-ea"/>
                <a:cs typeface="+mn-cs"/>
              </a:rPr>
              <a:t> indicates the structure or style in which the output should be presented. This could include the type of document, sections to include, citation style, or any other structural requirements.</a:t>
            </a:r>
            <a:endParaRPr lang="en-US" dirty="0">
              <a:effectLst/>
              <a:latin typeface="Calibri" panose="020F0502020204030204" pitchFamily="34" charset="0"/>
            </a:endParaRPr>
          </a:p>
          <a:p>
            <a:pPr marL="171450" indent="-171450">
              <a:buFont typeface="Arial" panose="020B0604020202020204" pitchFamily="34" charset="0"/>
              <a:buChar char="•"/>
            </a:pPr>
            <a:r>
              <a:rPr lang="en-US" b="1" dirty="0">
                <a:effectLst/>
                <a:latin typeface="Calibri" panose="020F0502020204030204" pitchFamily="34" charset="0"/>
              </a:rPr>
              <a:t>Boundaries</a:t>
            </a:r>
            <a:r>
              <a:rPr lang="en-US" b="0" dirty="0">
                <a:effectLst/>
                <a:latin typeface="Calibri" panose="020F0502020204030204" pitchFamily="34" charset="0"/>
              </a:rPr>
              <a:t>: Limitations for the </a:t>
            </a:r>
            <a:r>
              <a:rPr lang="en-US" dirty="0">
                <a:effectLst/>
                <a:latin typeface="Calibri" panose="020F0502020204030204" pitchFamily="34" charset="0"/>
              </a:rPr>
              <a:t>AI's response</a:t>
            </a:r>
          </a:p>
          <a:p>
            <a:endParaRPr lang="en-US" dirty="0">
              <a:effectLst/>
              <a:latin typeface="Calibri" panose="020F0502020204030204" pitchFamily="34" charset="0"/>
            </a:endParaRPr>
          </a:p>
          <a:p>
            <a:r>
              <a:rPr lang="en-US" dirty="0">
                <a:effectLst/>
                <a:latin typeface="Calibri" panose="020F0502020204030204" pitchFamily="34" charset="0"/>
              </a:rPr>
              <a:t>You create specific, tailored prompts by carefully selecting and combining prompt elements. These effectively communicate your requirements to the AI model. This increases the likelihood of receiving accurate, relevant, and useful responses.</a:t>
            </a:r>
          </a:p>
          <a:p>
            <a:endParaRPr lang="en-US" dirty="0">
              <a:effectLst/>
              <a:latin typeface="Calibri" panose="020F0502020204030204" pitchFamily="34" charset="0"/>
            </a:endParaRPr>
          </a:p>
          <a:p>
            <a:r>
              <a:rPr lang="en-US" dirty="0">
                <a:effectLst/>
                <a:latin typeface="Calibri" panose="020F0502020204030204" pitchFamily="34" charset="0"/>
              </a:rPr>
              <a:t>For example, a well-crafted prompt might combine elements like this: "As a marketing strategist (role), analyze the effectiveness of social media campaigns (topic) for a B2B software company (audience). Provide a structured report (output) with three main sections (structure), including specific metrics and two case studies (examples). Maintain a professional tone and limit the response to 500 words (constraints)."</a:t>
            </a:r>
          </a:p>
        </p:txBody>
      </p:sp>
    </p:spTree>
    <p:extLst>
      <p:ext uri="{BB962C8B-B14F-4D97-AF65-F5344CB8AC3E}">
        <p14:creationId xmlns:p14="http://schemas.microsoft.com/office/powerpoint/2010/main" val="1235867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effectLst/>
                <a:latin typeface="Calibri" panose="020F0502020204030204" pitchFamily="34" charset="0"/>
              </a:rPr>
              <a:t>|INSTRUCTOR NOTES:</a:t>
            </a:r>
          </a:p>
          <a:p>
            <a:pPr marL="171450" indent="-171450">
              <a:buFont typeface="Arial" panose="020B0604020202020204" pitchFamily="34" charset="0"/>
              <a:buChar char="•"/>
            </a:pPr>
            <a:r>
              <a:rPr lang="en-US" dirty="0">
                <a:effectLst/>
                <a:latin typeface="Calibri" panose="020F0502020204030204" pitchFamily="34" charset="0"/>
              </a:rPr>
              <a:t>|Explain the importance of structured prompts.</a:t>
            </a:r>
          </a:p>
          <a:p>
            <a:pPr marL="171450" indent="-171450">
              <a:buFont typeface="Arial" panose="020B0604020202020204" pitchFamily="34" charset="0"/>
              <a:buChar char="•"/>
            </a:pPr>
            <a:r>
              <a:rPr lang="en-US" dirty="0">
                <a:effectLst/>
                <a:latin typeface="Calibri" panose="020F0502020204030204" pitchFamily="34" charset="0"/>
              </a:rPr>
              <a:t>|Discuss each component of the prompt structure.</a:t>
            </a:r>
          </a:p>
          <a:p>
            <a:pPr marL="171450" indent="-171450">
              <a:buFont typeface="Arial" panose="020B0604020202020204" pitchFamily="34" charset="0"/>
              <a:buChar char="•"/>
            </a:pPr>
            <a:r>
              <a:rPr lang="en-US" dirty="0">
                <a:effectLst/>
                <a:latin typeface="Calibri" panose="020F0502020204030204" pitchFamily="34" charset="0"/>
              </a:rPr>
              <a:t>|Highlight how this approach improves AI model output.</a:t>
            </a:r>
          </a:p>
          <a:p>
            <a:pPr marL="171450" indent="-171450">
              <a:buFont typeface="Arial" panose="020B0604020202020204" pitchFamily="34" charset="0"/>
              <a:buChar char="•"/>
            </a:pPr>
            <a:r>
              <a:rPr lang="en-US" dirty="0">
                <a:effectLst/>
                <a:latin typeface="Calibri" panose="020F0502020204030204" pitchFamily="34" charset="0"/>
              </a:rPr>
              <a:t>|Ask what prompt elements are in the example. For example, role, structure, document, audience, and so on.</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A well-structured prompt incorporates several key components of effective prompt engineering:</a:t>
            </a:r>
          </a:p>
          <a:p>
            <a:pPr marL="171450" indent="-171450">
              <a:buFont typeface="Arial" panose="020B0604020202020204" pitchFamily="34" charset="0"/>
              <a:buChar char="•"/>
            </a:pPr>
            <a:r>
              <a:rPr lang="en-US" b="1" dirty="0">
                <a:effectLst/>
                <a:latin typeface="Calibri" panose="020F0502020204030204" pitchFamily="34" charset="0"/>
              </a:rPr>
              <a:t>Role definition</a:t>
            </a:r>
            <a:r>
              <a:rPr lang="en-US" dirty="0">
                <a:effectLst/>
                <a:latin typeface="Calibri" panose="020F0502020204030204" pitchFamily="34" charset="0"/>
              </a:rPr>
              <a:t> – Clearly establishes the AI's role as an experienced business process analyst specializing in supply chain optimization. This sets the context and expertise level for the response.</a:t>
            </a:r>
          </a:p>
          <a:p>
            <a:pPr marL="171450" indent="-171450">
              <a:buFont typeface="Arial" panose="020B0604020202020204" pitchFamily="34" charset="0"/>
              <a:buChar char="•"/>
            </a:pPr>
            <a:r>
              <a:rPr lang="en-US" b="1" dirty="0">
                <a:effectLst/>
                <a:latin typeface="Calibri" panose="020F0502020204030204" pitchFamily="34" charset="0"/>
              </a:rPr>
              <a:t>Task instructions</a:t>
            </a:r>
            <a:r>
              <a:rPr lang="en-US" dirty="0">
                <a:effectLst/>
                <a:latin typeface="Calibri" panose="020F0502020204030204" pitchFamily="34" charset="0"/>
              </a:rPr>
              <a:t> – Provides specific guidance on reviewing and improving an inventory management process, including the required sections for the analysis. This ensures the AI focuses on the desired outcome.</a:t>
            </a:r>
          </a:p>
          <a:p>
            <a:pPr marL="171450" indent="-171450">
              <a:buFont typeface="Arial" panose="020B0604020202020204" pitchFamily="34" charset="0"/>
              <a:buChar char="•"/>
            </a:pPr>
            <a:r>
              <a:rPr lang="en-US" b="1" dirty="0">
                <a:effectLst/>
                <a:latin typeface="Calibri" panose="020F0502020204030204" pitchFamily="34" charset="0"/>
              </a:rPr>
              <a:t>Step-by-step explanation</a:t>
            </a:r>
            <a:r>
              <a:rPr lang="en-US" dirty="0">
                <a:effectLst/>
                <a:latin typeface="Calibri" panose="020F0502020204030204" pitchFamily="34" charset="0"/>
              </a:rPr>
              <a:t> – Breaks down the task into manageable sections, guiding the AI to provide a comprehensive and organized response. This structure helps ensure all relevant aspects are covered.</a:t>
            </a:r>
          </a:p>
          <a:p>
            <a:pPr marL="171450" indent="-171450">
              <a:buFont typeface="Arial" panose="020B0604020202020204" pitchFamily="34" charset="0"/>
              <a:buChar char="•"/>
            </a:pPr>
            <a:r>
              <a:rPr lang="en-US" b="1" dirty="0">
                <a:effectLst/>
                <a:latin typeface="Calibri" panose="020F0502020204030204" pitchFamily="34" charset="0"/>
              </a:rPr>
              <a:t>Formatting</a:t>
            </a:r>
            <a:r>
              <a:rPr lang="en-US" dirty="0">
                <a:effectLst/>
                <a:latin typeface="Calibri" panose="020F0502020204030204" pitchFamily="34" charset="0"/>
              </a:rPr>
              <a:t> – Specifies the desired output format, including the use of bullet points and text formatting markdown. This improves readability and usability of the output.</a:t>
            </a:r>
          </a:p>
          <a:p>
            <a:endParaRPr lang="en-US" dirty="0">
              <a:effectLst/>
              <a:latin typeface="Calibri" panose="020F0502020204030204" pitchFamily="34" charset="0"/>
            </a:endParaRPr>
          </a:p>
          <a:p>
            <a:r>
              <a:rPr lang="en-US" dirty="0">
                <a:effectLst/>
                <a:latin typeface="Calibri" panose="020F0502020204030204" pitchFamily="34" charset="0"/>
              </a:rPr>
              <a:t>This prompt structure helps you to do the following:</a:t>
            </a:r>
          </a:p>
          <a:p>
            <a:pPr indent="-171450">
              <a:buChar char="•"/>
            </a:pPr>
            <a:r>
              <a:rPr lang="en-US" dirty="0">
                <a:effectLst/>
                <a:latin typeface="Calibri" panose="020F0502020204030204" pitchFamily="34" charset="0"/>
              </a:rPr>
              <a:t>Improve the clarity and specificity of your requests.</a:t>
            </a:r>
          </a:p>
          <a:p>
            <a:pPr indent="-171450">
              <a:buChar char="•"/>
            </a:pPr>
            <a:r>
              <a:rPr lang="en-US" dirty="0">
                <a:effectLst/>
                <a:latin typeface="Calibri" panose="020F0502020204030204" pitchFamily="34" charset="0"/>
              </a:rPr>
              <a:t>Guide the AI model to provide more relevant and organized responses.</a:t>
            </a:r>
          </a:p>
          <a:p>
            <a:pPr indent="-171450">
              <a:buChar char="•"/>
            </a:pPr>
            <a:r>
              <a:rPr lang="en-US" dirty="0">
                <a:effectLst/>
                <a:latin typeface="Calibri" panose="020F0502020204030204" pitchFamily="34" charset="0"/>
              </a:rPr>
              <a:t>Ensure that outputs are tailored to you specific needs and use cases.</a:t>
            </a:r>
          </a:p>
          <a:p>
            <a:endParaRPr lang="en-US" dirty="0">
              <a:effectLst/>
              <a:latin typeface="Calibri" panose="020F0502020204030204" pitchFamily="34" charset="0"/>
            </a:endParaRPr>
          </a:p>
          <a:p>
            <a:r>
              <a:rPr lang="en-US" dirty="0">
                <a:effectLst/>
                <a:latin typeface="Calibri" panose="020F0502020204030204" pitchFamily="34" charset="0"/>
              </a:rPr>
              <a:t>This structured approach to prompt engineering is particularly valuable when working with complex business problems or when seeking detailed, actionable insights from generative AI models.</a:t>
            </a:r>
          </a:p>
        </p:txBody>
      </p:sp>
    </p:spTree>
    <p:extLst>
      <p:ext uri="{BB962C8B-B14F-4D97-AF65-F5344CB8AC3E}">
        <p14:creationId xmlns:p14="http://schemas.microsoft.com/office/powerpoint/2010/main" val="1830100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|INSTRUCTOR NOTES:</a:t>
            </a:r>
          </a:p>
          <a:p>
            <a:pPr marL="171450" indent="-171450">
              <a:buFont typeface="Arial" panose="020B0604020202020204" pitchFamily="34" charset="0"/>
              <a:buChar char="•"/>
              <a:defRPr/>
            </a:pPr>
            <a:r>
              <a:rPr lang="en-US" dirty="0">
                <a:latin typeface="Calibri" panose="020F0502020204030204" pitchFamily="34" charset="0"/>
              </a:rPr>
              <a:t>|Address each question in detail.</a:t>
            </a:r>
          </a:p>
          <a:p>
            <a:pPr marL="171450" indent="-171450">
              <a:buFont typeface="Arial" panose="020B0604020202020204" pitchFamily="34" charset="0"/>
              <a:buChar char="•"/>
              <a:defRPr/>
            </a:pPr>
            <a:r>
              <a:rPr lang="en-US" dirty="0">
                <a:latin typeface="Calibri" panose="020F0502020204030204" pitchFamily="34" charset="0"/>
              </a:rPr>
              <a:t>|Provide examples to illustrate key points.  Like Different AI models would be like different schools, they might have different results.</a:t>
            </a:r>
          </a:p>
          <a:p>
            <a:pPr marL="171450" indent="-171450">
              <a:buFont typeface="Arial" panose="020B0604020202020204" pitchFamily="34" charset="0"/>
              <a:buChar char="•"/>
              <a:defRPr/>
            </a:pPr>
            <a:r>
              <a:rPr lang="en-US" dirty="0">
                <a:latin typeface="Calibri" panose="020F0502020204030204" pitchFamily="34" charset="0"/>
              </a:rPr>
              <a:t>|Emphasize the importance of understanding these concepts for effective prompt engineering.</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|STUDENT NOTES: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When working with different foundation models, it's important to understand that while the core principles of prompt engineering remain consistent, the specific implementation might vary. The components and elements of prompts are generally similar across models, but you might need to adjust the positioning and exact phrasing for optimal results with each model.</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Response variability is a common occurrence in generative AI. Even when using the same prompt multiple times, you might receive slightly different responses. This is because of the probabilistic nature of language models, and it can be influenced by factors such as temperature settings and sampling methods. You must manage response variability for consistent results in production environments.</a:t>
            </a:r>
          </a:p>
          <a:p>
            <a:pPr marL="0" marR="0" lvl="0" indent="0" defTabSz="914400" rtl="0" eaLnBrk="1" fontAlgn="auto" latinLnBrk="0" hangingPunct="1">
              <a:buClrTx/>
              <a:buSzTx/>
              <a:buFont typeface="Arial" panose="020B0604020202020204" pitchFamily="34" charset="0"/>
              <a:buNone/>
              <a:tabLst/>
              <a:defRPr/>
            </a:pPr>
            <a:endParaRPr lang="en-US"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Regarding prompt components and elements, it's not always necessary to include all of them in every prompt. The selection depends on the specific task, model, and desired outcome. Some prompts might require more structure and detail, while others can be effective with minimal components. The key is to experiment and find the right balance for each use case, adapting your approach based on the model's performance and your specific requirements.</a:t>
            </a:r>
          </a:p>
        </p:txBody>
      </p:sp>
    </p:spTree>
    <p:extLst>
      <p:ext uri="{BB962C8B-B14F-4D97-AF65-F5344CB8AC3E}">
        <p14:creationId xmlns:p14="http://schemas.microsoft.com/office/powerpoint/2010/main" val="1037233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|Highlight the key differences between the bad and good prompts.</a:t>
            </a:r>
          </a:p>
          <a:p>
            <a:pPr indent="-171450">
              <a:buChar char="•"/>
            </a:pPr>
            <a:r>
              <a:rPr lang="en-US" dirty="0">
                <a:latin typeface="Calibri" panose="020F0502020204030204" pitchFamily="34" charset="0"/>
              </a:rPr>
              <a:t>|Explain why specificity and structure are important in prompt engineering.</a:t>
            </a:r>
          </a:p>
          <a:p>
            <a:pPr indent="-171450">
              <a:buChar char="•"/>
            </a:pPr>
            <a:r>
              <a:rPr lang="en-US" dirty="0">
                <a:latin typeface="Calibri" panose="020F0502020204030204" pitchFamily="34" charset="0"/>
              </a:rPr>
              <a:t>|Discuss how the good prompt is likely to produce more useful results.</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Effective prompt engineering is crucial for obtaining high-quality outputs from AI language models. This slide demonstrates the stark contrast between a poorly constructed prompt and a well-crafted one, using a market analysis task as an example.</a:t>
            </a:r>
          </a:p>
          <a:p>
            <a:endParaRPr lang="en-US" dirty="0">
              <a:latin typeface="Calibri" panose="020F0502020204030204" pitchFamily="34" charset="0"/>
            </a:endParaRPr>
          </a:p>
          <a:p>
            <a:r>
              <a:rPr lang="en-US" dirty="0">
                <a:latin typeface="Calibri" panose="020F0502020204030204" pitchFamily="34" charset="0"/>
              </a:rPr>
              <a:t>The bad prompt, "Write a market analysis doc," is vague and provides no specific guidance. It lacks context, detail, and clear expectations, which can lead to generic or irrelevant responses from the AI. In contrast, the good prompt is significantly more detailed and structured. It specifies the need for a comprehensive market analysis, including current impacts and future consequences. The prompt also sets clear expectations by requesting at least three business use cases and emphasizing the use of data from reputable sources.</a:t>
            </a:r>
          </a:p>
          <a:p>
            <a:endParaRPr lang="en-US" dirty="0">
              <a:latin typeface="Calibri" panose="020F0502020204030204" pitchFamily="34" charset="0"/>
            </a:endParaRPr>
          </a:p>
          <a:p>
            <a:r>
              <a:rPr lang="en-US" dirty="0">
                <a:latin typeface="Calibri" panose="020F0502020204030204" pitchFamily="34" charset="0"/>
              </a:rPr>
              <a:t>The good prompt is more effective because it does the following:</a:t>
            </a:r>
          </a:p>
          <a:p>
            <a:pPr marL="171450" indent="-171450">
              <a:buFont typeface="Arial" panose="020B0604020202020204" pitchFamily="34" charset="0"/>
              <a:buChar char="•"/>
            </a:pPr>
            <a:r>
              <a:rPr lang="en-US" dirty="0">
                <a:latin typeface="Calibri" panose="020F0502020204030204" pitchFamily="34" charset="0"/>
              </a:rPr>
              <a:t>Specifies the desired content (comprehensive market analysis)</a:t>
            </a:r>
          </a:p>
          <a:p>
            <a:pPr marL="171450" indent="-171450">
              <a:buFont typeface="Arial" panose="020B0604020202020204" pitchFamily="34" charset="0"/>
              <a:buChar char="•"/>
            </a:pPr>
            <a:r>
              <a:rPr lang="en-US" dirty="0">
                <a:latin typeface="Calibri" panose="020F0502020204030204" pitchFamily="34" charset="0"/>
              </a:rPr>
              <a:t>Outlines key components to include (current impacts, future consequences)</a:t>
            </a:r>
          </a:p>
          <a:p>
            <a:pPr marL="171450" indent="-171450">
              <a:buFont typeface="Arial" panose="020B0604020202020204" pitchFamily="34" charset="0"/>
              <a:buChar char="•"/>
            </a:pPr>
            <a:r>
              <a:rPr lang="en-US" dirty="0">
                <a:latin typeface="Calibri" panose="020F0502020204030204" pitchFamily="34" charset="0"/>
              </a:rPr>
              <a:t>Requests a specific number of examples (three business use cases)</a:t>
            </a:r>
          </a:p>
          <a:p>
            <a:pPr marL="171450" indent="-171450">
              <a:buFont typeface="Arial" panose="020B0604020202020204" pitchFamily="34" charset="0"/>
              <a:buChar char="•"/>
            </a:pPr>
            <a:r>
              <a:rPr lang="en-US" dirty="0">
                <a:latin typeface="Calibri" panose="020F0502020204030204" pitchFamily="34" charset="0"/>
              </a:rPr>
              <a:t>Guides the AI to use credible sources (leading business publications)</a:t>
            </a:r>
          </a:p>
          <a:p>
            <a:endParaRPr lang="en-US" dirty="0">
              <a:latin typeface="Calibri" panose="020F0502020204030204" pitchFamily="34" charset="0"/>
            </a:endParaRPr>
          </a:p>
          <a:p>
            <a:r>
              <a:rPr lang="en-US" dirty="0">
                <a:latin typeface="Calibri" panose="020F0502020204030204" pitchFamily="34" charset="0"/>
              </a:rPr>
              <a:t>The good prompt sets clear expectations, making it more likely to generate a relevant, detailed market analysis. This example illustrates how incorporating prompt engineering best practices can significantly improve the quality of AI-generated content.</a:t>
            </a:r>
          </a:p>
          <a:p>
            <a:endParaRPr lang="en-US" dirty="0">
              <a:latin typeface="Calibri" panose="020F0502020204030204" pitchFamily="34" charset="0"/>
            </a:endParaRPr>
          </a:p>
          <a:p>
            <a:r>
              <a:rPr lang="en-US" dirty="0">
                <a:latin typeface="Calibri" panose="020F0502020204030204" pitchFamily="34" charset="0"/>
              </a:rPr>
              <a:t>You can apply these principles to craft prompts for business analysis tasks. This provides more valuable, actionable insights from generative AI models.</a:t>
            </a:r>
          </a:p>
        </p:txBody>
      </p:sp>
    </p:spTree>
    <p:extLst>
      <p:ext uri="{BB962C8B-B14F-4D97-AF65-F5344CB8AC3E}">
        <p14:creationId xmlns:p14="http://schemas.microsoft.com/office/powerpoint/2010/main" val="30218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the improvements in the better prompt.</a:t>
            </a:r>
          </a:p>
          <a:p>
            <a:pPr indent="-171450">
              <a:buChar char="•"/>
            </a:pPr>
            <a:r>
              <a:rPr lang="en-US" dirty="0">
                <a:effectLst/>
                <a:latin typeface="Calibri" panose="020F0502020204030204" pitchFamily="34" charset="0"/>
              </a:rPr>
              <a:t>|Discuss the importance of context, specific tasks, and output format in prompt engineering.</a:t>
            </a:r>
          </a:p>
          <a:p>
            <a:pPr indent="-171450">
              <a:buChar char="•"/>
            </a:pPr>
            <a:r>
              <a:rPr lang="en-US" dirty="0">
                <a:effectLst/>
                <a:latin typeface="Calibri" panose="020F0502020204030204" pitchFamily="34" charset="0"/>
              </a:rPr>
              <a:t>|Highlight how the better prompt is likely to produce more targeted and useful results.</a:t>
            </a:r>
          </a:p>
          <a:p>
            <a:pPr indent="-171450">
              <a:buChar char="•"/>
            </a:pPr>
            <a:r>
              <a:rPr lang="en-US" dirty="0">
                <a:effectLst/>
                <a:latin typeface="Calibri" panose="020F0502020204030204" pitchFamily="34" charset="0"/>
              </a:rPr>
              <a:t>|Discuss why you would add the [Labels] in the prompts: Human readability, organization for the AI, ordering (may be different per AI model)</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This slide demonstrates the evolution from a good prompt to an even better, more structured prompt for ecommerce market analysis. The comparison illustrates key principles of advanced prompt engineering.</a:t>
            </a:r>
          </a:p>
          <a:p>
            <a:endParaRPr lang="en-US" dirty="0">
              <a:effectLst/>
              <a:latin typeface="Calibri" panose="020F0502020204030204" pitchFamily="34" charset="0"/>
            </a:endParaRPr>
          </a:p>
          <a:p>
            <a:r>
              <a:rPr lang="en-US" dirty="0">
                <a:effectLst/>
                <a:latin typeface="Calibri" panose="020F0502020204030204" pitchFamily="34" charset="0"/>
              </a:rPr>
              <a:t>The good prompt provides clear instructions for a comprehensive market analysis, including specific requirements such as current impacts, future consequences, and business use cases. It also emphasizes the need for data from reputable sources, which is crucial for ensuring the reliability of the analysis.</a:t>
            </a:r>
          </a:p>
          <a:p>
            <a:endParaRPr lang="en-US" dirty="0">
              <a:effectLst/>
              <a:latin typeface="Calibri" panose="020F0502020204030204" pitchFamily="34" charset="0"/>
            </a:endParaRPr>
          </a:p>
          <a:p>
            <a:r>
              <a:rPr lang="en-US" dirty="0">
                <a:effectLst/>
                <a:latin typeface="Calibri" panose="020F0502020204030204" pitchFamily="34" charset="0"/>
              </a:rPr>
              <a:t>The better prompt takes this a step further by implementing a structured format with clearly defined sections. It begins by setting the context and defining the AI's role as an expert in business strategy and market analysis. The task is more focused and specifically targets ecommerce trends. The output format is explicitly structured with headings and bullet points, which helps organize the information more effectively.</a:t>
            </a:r>
          </a:p>
          <a:p>
            <a:endParaRPr lang="en-US" dirty="0">
              <a:effectLst/>
              <a:latin typeface="Calibri" panose="020F0502020204030204" pitchFamily="34" charset="0"/>
            </a:endParaRPr>
          </a:p>
          <a:p>
            <a:r>
              <a:rPr lang="en-US" dirty="0">
                <a:effectLst/>
                <a:latin typeface="Calibri" panose="020F0502020204030204" pitchFamily="34" charset="0"/>
              </a:rPr>
              <a:t>The better prompt also includes more specific requirements, such as the number of major trends to include and associated impacts. It also specifies the desired tone as professional and informative, suitable for business executives. This level of detail and structure guides the AI to produce a more targeted, comprehensive, and professionally presented analysis.</a:t>
            </a:r>
          </a:p>
          <a:p>
            <a:endParaRPr lang="en-US" dirty="0">
              <a:effectLst/>
              <a:latin typeface="Calibri" panose="020F0502020204030204" pitchFamily="34" charset="0"/>
            </a:endParaRPr>
          </a:p>
          <a:p>
            <a:r>
              <a:rPr lang="en-US" dirty="0">
                <a:effectLst/>
                <a:latin typeface="Calibri" panose="020F0502020204030204" pitchFamily="34" charset="0"/>
              </a:rPr>
              <a:t>Cloud practitioners use advanced prompt engineering to improve AI content quality and relevance for business. This structured approach makes sure that the AI model receives clear guidance, resulting in outputs that are more aligned with specific business needs and expectations.</a:t>
            </a:r>
          </a:p>
        </p:txBody>
      </p:sp>
    </p:spTree>
    <p:extLst>
      <p:ext uri="{BB962C8B-B14F-4D97-AF65-F5344CB8AC3E}">
        <p14:creationId xmlns:p14="http://schemas.microsoft.com/office/powerpoint/2010/main" val="1603228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3DFD572B-D6B5-44DC-ABC6-21ACF9A60B5E}"/>
              </a:ext>
            </a:extLst>
          </p:cNvPr>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613774" y="4030084"/>
            <a:ext cx="6764056" cy="5626122"/>
          </a:xfrm>
        </p:spPr>
        <p:txBody>
          <a:bodyPr/>
          <a:lstStyle/>
          <a:p>
            <a:r>
              <a:rPr lang="en-US" dirty="0">
                <a:latin typeface="Calibri" panose="020F0502020204030204" pitchFamily="34" charset="0"/>
              </a:rPr>
              <a:t>|INSTRUCTOR NOTES:</a:t>
            </a:r>
          </a:p>
          <a:p>
            <a:pPr marL="171450" indent="-171450">
              <a:buFont typeface="Arial" panose="020B0604020202020204" pitchFamily="34" charset="0"/>
              <a:buChar char="•"/>
            </a:pPr>
            <a:r>
              <a:rPr lang="en-US" dirty="0">
                <a:latin typeface="Calibri" panose="020F0502020204030204" pitchFamily="34" charset="0"/>
              </a:rPr>
              <a:t>|Highlight the advanced features of the fully optimized prompt.</a:t>
            </a:r>
          </a:p>
          <a:p>
            <a:pPr marL="171450" indent="-171450">
              <a:buFont typeface="Arial" panose="020B0604020202020204" pitchFamily="34" charset="0"/>
              <a:buChar char="•"/>
            </a:pPr>
            <a:r>
              <a:rPr lang="en-US" dirty="0">
                <a:latin typeface="Calibri" panose="020F0502020204030204" pitchFamily="34" charset="0"/>
              </a:rPr>
              <a:t>|Discuss how each element contributes to generating a comprehensive and tailored response.</a:t>
            </a:r>
          </a:p>
          <a:p>
            <a:pPr marL="171450" indent="-171450">
              <a:buFont typeface="Arial" panose="020B0604020202020204" pitchFamily="34" charset="0"/>
              <a:buChar char="•"/>
            </a:pPr>
            <a:r>
              <a:rPr lang="en-US" dirty="0">
                <a:latin typeface="Calibri" panose="020F0502020204030204" pitchFamily="34" charset="0"/>
              </a:rPr>
              <a:t>|Explain the importance of considering audience, format, and specific requirements in prompt engineering.</a:t>
            </a:r>
          </a:p>
          <a:p>
            <a:pPr marL="171450" lvl="0" indent="-171450">
              <a:buFont typeface="Arial" panose="020B0604020202020204" pitchFamily="34" charset="0"/>
              <a:buChar char="•"/>
            </a:pPr>
            <a:r>
              <a:rPr lang="en-US" dirty="0">
                <a:latin typeface="Calibri" panose="020F0502020204030204" pitchFamily="34" charset="0"/>
              </a:rPr>
              <a:t>|Discuss why you would add the [Labels] in the prompts: Human readability, organization for the AI, ordering (may be different per AI model)</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This slide shows the progression from a better prompt to an excellent, fully optimized prompt for ecommerce market analysis. It demonstrates how meticulous prompt engineering can significantly enhance the quality and relevance of AI-generated content.</a:t>
            </a:r>
          </a:p>
          <a:p>
            <a:endParaRPr lang="en-US" dirty="0">
              <a:latin typeface="Calibri" panose="020F0502020204030204" pitchFamily="34" charset="0"/>
            </a:endParaRPr>
          </a:p>
          <a:p>
            <a:r>
              <a:rPr lang="en-US" dirty="0">
                <a:latin typeface="Calibri" panose="020F0502020204030204" pitchFamily="34" charset="0"/>
              </a:rPr>
              <a:t>The better prompt provides a solid foundation with clear context, task definition, output format, and specific requirements. It sets the stage for a focused analysis of ecommerce trends and their impact on traditional retail.</a:t>
            </a:r>
          </a:p>
          <a:p>
            <a:endParaRPr lang="en-US" dirty="0">
              <a:latin typeface="Calibri" panose="020F0502020204030204" pitchFamily="34" charset="0"/>
            </a:endParaRPr>
          </a:p>
          <a:p>
            <a:r>
              <a:rPr lang="en-US" dirty="0">
                <a:latin typeface="Calibri" panose="020F0502020204030204" pitchFamily="34" charset="0"/>
              </a:rPr>
              <a:t>The excellent, fully optimized prompt takes this to a new level of sophistication. It begins with an expanded context, positioning the AI as a highly knowledgeable assistant sought after by Fortune 500 executives. This sets high expectations for the quality and depth of the analysis.</a:t>
            </a:r>
          </a:p>
          <a:p>
            <a:endParaRPr lang="en-US" dirty="0">
              <a:latin typeface="Calibri" panose="020F0502020204030204" pitchFamily="34" charset="0"/>
            </a:endParaRPr>
          </a:p>
          <a:p>
            <a:r>
              <a:rPr lang="en-US" dirty="0">
                <a:latin typeface="Calibri" panose="020F0502020204030204" pitchFamily="34" charset="0"/>
              </a:rPr>
              <a:t>The task is more comprehensive, requiring an analysis of the ecommerce landscape and its implications for brick-and-mortar retail. The output format is highly structured, with six specific sections, including an executive summary and future outlook. This provides a logical flow of information and comprehensive coverage of the topic.</a:t>
            </a:r>
          </a:p>
          <a:p>
            <a:endParaRPr lang="en-US" dirty="0">
              <a:latin typeface="Calibri" panose="020F0502020204030204" pitchFamily="34" charset="0"/>
            </a:endParaRPr>
          </a:p>
          <a:p>
            <a:r>
              <a:rPr lang="en-US" dirty="0">
                <a:latin typeface="Calibri" panose="020F0502020204030204" pitchFamily="34" charset="0"/>
              </a:rPr>
              <a:t>The specific requirements are extensively detailed, calling for data-driven insights, analysis across different retail sectors, global and regional perspectives, and actionable strategies for various types of retailers. The prompt also specifies the tone and style, making sure that the output is suitable for C-suite executives and business strategists.</a:t>
            </a:r>
          </a:p>
          <a:p>
            <a:endParaRPr lang="en-US" dirty="0">
              <a:latin typeface="Calibri" panose="020F0502020204030204" pitchFamily="34" charset="0"/>
            </a:endParaRPr>
          </a:p>
          <a:p>
            <a:r>
              <a:rPr lang="en-US" dirty="0">
                <a:latin typeface="Calibri" panose="020F0502020204030204" pitchFamily="34" charset="0"/>
              </a:rPr>
              <a:t>Additional instructions further refine the output, requesting the incorporation of industry reports, consideration of disruptive technologies, and suggestions for further research. This level of detail and structure guides the AI to produce a highly targeted, comprehensive, and professionally presented analysis that meets specific business needs.</a:t>
            </a:r>
          </a:p>
          <a:p>
            <a:endParaRPr lang="en-US" dirty="0">
              <a:latin typeface="Calibri" panose="020F0502020204030204" pitchFamily="34" charset="0"/>
            </a:endParaRPr>
          </a:p>
          <a:p>
            <a:r>
              <a:rPr lang="en-US" dirty="0">
                <a:latin typeface="Calibri" panose="020F0502020204030204" pitchFamily="34" charset="0"/>
              </a:rPr>
              <a:t>Cloud practitioners master advanced prompt engineering to generate high-quality, tailored content. This aids complex business analyses and strategic decision-making.</a:t>
            </a:r>
          </a:p>
        </p:txBody>
      </p:sp>
    </p:spTree>
    <p:extLst>
      <p:ext uri="{BB962C8B-B14F-4D97-AF65-F5344CB8AC3E}">
        <p14:creationId xmlns:p14="http://schemas.microsoft.com/office/powerpoint/2010/main" val="1450407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r>
              <a:rPr lang="en-US">
                <a:effectLst/>
                <a:latin typeface="Calibri" panose="020F0502020204030204" pitchFamily="34" charset="0"/>
              </a:rPr>
              <a:t>|</a:t>
            </a:r>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each advanced prompting strategy and its benefits.</a:t>
            </a:r>
          </a:p>
          <a:p>
            <a:pPr indent="-171450">
              <a:buChar char="•"/>
            </a:pPr>
            <a:r>
              <a:rPr lang="en-US" dirty="0">
                <a:effectLst/>
                <a:latin typeface="Calibri" panose="020F0502020204030204" pitchFamily="34" charset="0"/>
              </a:rPr>
              <a:t>|Provide examples of when to use each technique.</a:t>
            </a:r>
          </a:p>
          <a:p>
            <a:pPr indent="-171450">
              <a:buChar char="•"/>
            </a:pPr>
            <a:r>
              <a:rPr lang="en-US" dirty="0">
                <a:effectLst/>
                <a:latin typeface="Calibri" panose="020F0502020204030204" pitchFamily="34" charset="0"/>
              </a:rPr>
              <a:t>|Highlight how these strategies can improve AI model outputs.</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Advanced prompting strategies are essential for maximizing the potential of LLMs in cloud computing applications. These techniques provide more accurate, useful, and versatile responses by improving the AI's reasoning abilities, integrating external knowledge sources, and facilitating interactions with external resources.</a:t>
            </a:r>
          </a:p>
        </p:txBody>
      </p:sp>
    </p:spTree>
    <p:extLst>
      <p:ext uri="{BB962C8B-B14F-4D97-AF65-F5344CB8AC3E}">
        <p14:creationId xmlns:p14="http://schemas.microsoft.com/office/powerpoint/2010/main" val="2963771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247326"/>
          </a:xfrm>
        </p:spPr>
        <p:txBody>
          <a:bodyPr/>
          <a:lstStyle/>
          <a:p>
            <a:pPr marL="0" marR="0" lvl="0" indent="0" defTabSz="914400" rtl="0" eaLnBrk="1" fontAlgn="auto" latinLnBrk="0" hangingPunct="1">
              <a:buClrTx/>
              <a:buSzTx/>
              <a:buFontTx/>
              <a:buNone/>
              <a:tabLst/>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|Explain each prompt technique and its purpose.</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|Provide examples of when to use each technique.</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|Highlight the importance of selecting the right technique for different tasks.</a:t>
            </a:r>
          </a:p>
          <a:p>
            <a:pPr marL="171450" indent="-171450">
              <a:buFont typeface="Arial" panose="020B0604020202020204" pitchFamily="34" charset="0"/>
              <a:buChar char="•"/>
              <a:defRPr/>
            </a:pPr>
            <a:r>
              <a:rPr lang="en-US" dirty="0">
                <a:solidFill>
                  <a:srgbClr val="000000"/>
                </a:solidFill>
                <a:latin typeface="Calibri" panose="020F0502020204030204" pitchFamily="34" charset="0"/>
              </a:rPr>
              <a:t>|NOTE: good opportunities for short, ad-hoc demos in this section: few shot examples, </a:t>
            </a:r>
            <a:r>
              <a:rPr lang="en-US" dirty="0" err="1">
                <a:solidFill>
                  <a:srgbClr val="000000"/>
                </a:solidFill>
                <a:latin typeface="Calibri" panose="020F0502020204030204" pitchFamily="34" charset="0"/>
              </a:rPr>
              <a:t>CoT</a:t>
            </a:r>
            <a:r>
              <a:rPr lang="en-US" dirty="0">
                <a:solidFill>
                  <a:srgbClr val="000000"/>
                </a:solidFill>
                <a:latin typeface="Calibri" panose="020F0502020204030204" pitchFamily="34" charset="0"/>
              </a:rPr>
              <a:t> prompts, negative prompting.</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Prompt engineering techniques are essential strategies for optimizing interactions with generative AI models. These techniques can be broadly categorized into several groups based on their primary focus and application.</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Zero-shot and few-shot examples</a:t>
            </a:r>
            <a:r>
              <a:rPr lang="en-US" dirty="0">
                <a:solidFill>
                  <a:srgbClr val="000000"/>
                </a:solidFill>
                <a:latin typeface="Calibri" panose="020F0502020204030204" pitchFamily="34" charset="0"/>
              </a:rPr>
              <a:t> are foundational techniques that vary in the number of examples provided to the model. Zero-shot prompting relies on the model's existing knowledge to perform tasks without specific examples. Few-shot prompting provides a small number of examples to guide the model's understanding and output.</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Chain-of-thought (</a:t>
            </a:r>
            <a:r>
              <a:rPr lang="en-US" b="1" dirty="0" err="1">
                <a:solidFill>
                  <a:srgbClr val="000000"/>
                </a:solidFill>
                <a:latin typeface="Calibri" panose="020F0502020204030204" pitchFamily="34" charset="0"/>
              </a:rPr>
              <a:t>CoT</a:t>
            </a:r>
            <a:r>
              <a:rPr lang="en-US" b="1" dirty="0">
                <a:solidFill>
                  <a:srgbClr val="000000"/>
                </a:solidFill>
                <a:latin typeface="Calibri" panose="020F0502020204030204" pitchFamily="34" charset="0"/>
              </a:rPr>
              <a:t>) and tree of thoughts (</a:t>
            </a:r>
            <a:r>
              <a:rPr lang="en-US" b="1" dirty="0" err="1">
                <a:solidFill>
                  <a:srgbClr val="000000"/>
                </a:solidFill>
                <a:latin typeface="Calibri" panose="020F0502020204030204" pitchFamily="34" charset="0"/>
              </a:rPr>
              <a:t>ToT</a:t>
            </a:r>
            <a:r>
              <a:rPr lang="en-US" b="1" dirty="0">
                <a:solidFill>
                  <a:srgbClr val="000000"/>
                </a:solidFill>
                <a:latin typeface="Calibri" panose="020F0502020204030204" pitchFamily="34" charset="0"/>
              </a:rPr>
              <a:t>) </a:t>
            </a:r>
            <a:r>
              <a:rPr lang="en-US" dirty="0">
                <a:solidFill>
                  <a:srgbClr val="000000"/>
                </a:solidFill>
                <a:latin typeface="Calibri" panose="020F0502020204030204" pitchFamily="34" charset="0"/>
              </a:rPr>
              <a:t>are reasoning-enhanced prompting techniques. </a:t>
            </a:r>
            <a:r>
              <a:rPr lang="en-US" dirty="0" err="1">
                <a:solidFill>
                  <a:srgbClr val="000000"/>
                </a:solidFill>
                <a:latin typeface="Calibri" panose="020F0502020204030204" pitchFamily="34" charset="0"/>
              </a:rPr>
              <a:t>CoT</a:t>
            </a:r>
            <a:r>
              <a:rPr lang="en-US" dirty="0">
                <a:solidFill>
                  <a:srgbClr val="000000"/>
                </a:solidFill>
                <a:latin typeface="Calibri" panose="020F0502020204030204" pitchFamily="34" charset="0"/>
              </a:rPr>
              <a:t> encourages the model to break down complex problems into smaller, more manageable steps, improving its reasoning capabilities. </a:t>
            </a:r>
            <a:r>
              <a:rPr lang="en-US" dirty="0" err="1">
                <a:solidFill>
                  <a:srgbClr val="000000"/>
                </a:solidFill>
                <a:latin typeface="Calibri" panose="020F0502020204030204" pitchFamily="34" charset="0"/>
              </a:rPr>
              <a:t>ToT</a:t>
            </a:r>
            <a:r>
              <a:rPr lang="en-US" dirty="0">
                <a:solidFill>
                  <a:srgbClr val="000000"/>
                </a:solidFill>
                <a:latin typeface="Calibri" panose="020F0502020204030204" pitchFamily="34" charset="0"/>
              </a:rPr>
              <a:t> extends this concept by exploring multiple reasoning paths simultaneously, allowing for more comprehensive problem-solving.</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Retrieval Augmented Generation (RAG) </a:t>
            </a:r>
            <a:r>
              <a:rPr lang="en-US" dirty="0">
                <a:solidFill>
                  <a:srgbClr val="000000"/>
                </a:solidFill>
                <a:latin typeface="Calibri" panose="020F0502020204030204" pitchFamily="34" charset="0"/>
              </a:rPr>
              <a:t>is an information retrieval and integration technique that enhances the model's performance by incorporating external knowledge sources. This approach can significantly improve the accuracy and relevance of generated content, especially in domains with rapidly changing information.</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Tool-use prompting and action-oriented prompting </a:t>
            </a:r>
            <a:r>
              <a:rPr lang="en-US" dirty="0">
                <a:solidFill>
                  <a:srgbClr val="000000"/>
                </a:solidFill>
                <a:latin typeface="Calibri" panose="020F0502020204030204" pitchFamily="34" charset="0"/>
              </a:rPr>
              <a:t>techniques focus on guiding the model to use specific tools or perform particular actions. These methods are particularly useful for complex tasks that require interaction with external systems or data sources, such as cloud management tools or data analysis platforms.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rgbClr val="000000"/>
                </a:solidFill>
                <a:latin typeface="Calibri" panose="020F0502020204030204" pitchFamily="34" charset="0"/>
              </a:rPr>
              <a:t>Output refinement techniques</a:t>
            </a:r>
            <a:r>
              <a:rPr lang="en-US" dirty="0">
                <a:solidFill>
                  <a:srgbClr val="000000"/>
                </a:solidFill>
                <a:latin typeface="Calibri" panose="020F0502020204030204" pitchFamily="34" charset="0"/>
              </a:rPr>
              <a:t> are i</a:t>
            </a:r>
            <a:r>
              <a:rPr lang="en-US" dirty="0">
                <a:effectLst/>
                <a:latin typeface="Calibri" panose="020F0502020204030204" pitchFamily="34" charset="0"/>
              </a:rPr>
              <a:t>terative refinement techniques that improve AI-generated outputs through targeted feedback and progressive adjustments.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effectLst/>
                <a:latin typeface="Calibri" panose="020F0502020204030204" pitchFamily="34" charset="0"/>
              </a:rPr>
              <a:t>Constraint techniques and negative prompting </a:t>
            </a:r>
            <a:r>
              <a:rPr lang="en-US" dirty="0">
                <a:effectLst/>
                <a:latin typeface="Calibri" panose="020F0502020204030204" pitchFamily="34" charset="0"/>
              </a:rPr>
              <a:t>affect AI output by defining boundaries and exclusions, which makes the output adhere to guidelines and filter undesired responses.</a:t>
            </a:r>
          </a:p>
          <a:p>
            <a:pPr marL="0" marR="0" lvl="0" indent="0" defTabSz="914400" rtl="0" eaLnBrk="1" fontAlgn="auto" latinLnBrk="0" hangingPunct="1">
              <a:buClrTx/>
              <a:buSzTx/>
              <a:buFontTx/>
              <a:buNone/>
              <a:tabLst/>
              <a:defRPr/>
            </a:pPr>
            <a:endParaRPr lang="en-US" dirty="0">
              <a:solidFill>
                <a:srgbClr val="000000"/>
              </a:solidFill>
              <a:latin typeface="Calibri" panose="020F0502020204030204" pitchFamily="34" charset="0"/>
            </a:endParaRPr>
          </a:p>
          <a:p>
            <a:pPr marL="0" marR="0" lvl="0" indent="0" defTabSz="914400" rtl="0" eaLnBrk="1" fontAlgn="auto" latinLnBrk="0" hangingPunct="1">
              <a:buClrTx/>
              <a:buSzTx/>
              <a:buFontTx/>
              <a:buNone/>
              <a:tabLst/>
              <a:defRPr/>
            </a:pPr>
            <a:r>
              <a:rPr lang="en-US" dirty="0">
                <a:solidFill>
                  <a:srgbClr val="000000"/>
                </a:solidFill>
                <a:latin typeface="Calibri" panose="020F0502020204030204" pitchFamily="34" charset="0"/>
              </a:rPr>
              <a:t>Selecting the appropriate technique depends on the specific task, the complexity of the problem, and the desired outcome. By mastering these various prompting strategies, you can significantly enhance the effectiveness of AI models in cloud computing applications, from infrastructure management to data analysis and customer support.</a:t>
            </a:r>
          </a:p>
        </p:txBody>
      </p:sp>
    </p:spTree>
    <p:extLst>
      <p:ext uri="{BB962C8B-B14F-4D97-AF65-F5344CB8AC3E}">
        <p14:creationId xmlns:p14="http://schemas.microsoft.com/office/powerpoint/2010/main" val="443125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237815"/>
          </a:xfrm>
        </p:spPr>
        <p:txBody>
          <a:bodyPr/>
          <a:lstStyle/>
          <a:p>
            <a:pPr>
              <a:defRPr/>
            </a:pPr>
            <a:r>
              <a:rPr lang="en-US" dirty="0">
                <a:latin typeface="Calibri" panose="020F0502020204030204" pitchFamily="34" charset="0"/>
              </a:rPr>
              <a:t>|INSTRUCTOR NOTES:</a:t>
            </a:r>
          </a:p>
          <a:p>
            <a:pPr indent="-171450">
              <a:buChar char="•"/>
              <a:defRPr/>
            </a:pPr>
            <a:r>
              <a:rPr lang="en-US" dirty="0">
                <a:latin typeface="Calibri" panose="020F0502020204030204" pitchFamily="34" charset="0"/>
              </a:rPr>
              <a:t>|Explain the differences between zero-shot and few-shot prompting.</a:t>
            </a:r>
          </a:p>
          <a:p>
            <a:pPr indent="-171450">
              <a:buChar char="•"/>
              <a:defRPr/>
            </a:pPr>
            <a:r>
              <a:rPr lang="en-US" dirty="0">
                <a:latin typeface="Calibri" panose="020F0502020204030204" pitchFamily="34" charset="0"/>
              </a:rPr>
              <a:t>|Discuss when to use each approach.</a:t>
            </a:r>
          </a:p>
          <a:p>
            <a:pPr indent="-171450">
              <a:buChar char="•"/>
              <a:defRPr/>
            </a:pPr>
            <a:r>
              <a:rPr lang="en-US" dirty="0">
                <a:latin typeface="Calibri" panose="020F0502020204030204" pitchFamily="34" charset="0"/>
              </a:rPr>
              <a:t>|Provide examples of effective zero-shot and few-shot prompts.</a:t>
            </a:r>
          </a:p>
          <a:p>
            <a:pPr indent="-171450">
              <a:buChar char="•"/>
              <a:defRPr/>
            </a:pPr>
            <a:r>
              <a:rPr lang="en-US" dirty="0">
                <a:latin typeface="Calibri" panose="020F0502020204030204" pitchFamily="34" charset="0"/>
              </a:rPr>
              <a:t>|- zero-shot prompting relies on the models general understanding</a:t>
            </a:r>
          </a:p>
          <a:p>
            <a:pPr indent="-171450">
              <a:buChar char="•"/>
              <a:defRPr/>
            </a:pPr>
            <a:r>
              <a:rPr lang="en-US" dirty="0">
                <a:latin typeface="Calibri" panose="020F0502020204030204" pitchFamily="34" charset="0"/>
              </a:rPr>
              <a:t>|- single-shot - Useful when needs clarity, such as specific format in the answer</a:t>
            </a:r>
          </a:p>
          <a:p>
            <a:pPr>
              <a:defRPr/>
            </a:pPr>
            <a:r>
              <a:rPr lang="en-US" dirty="0">
                <a:latin typeface="Calibri" panose="020F0502020204030204" pitchFamily="34" charset="0"/>
              </a:rPr>
              <a:t>|</a:t>
            </a:r>
          </a:p>
          <a:p>
            <a:pPr>
              <a:defRPr/>
            </a:pPr>
            <a:r>
              <a:rPr lang="en-US" dirty="0">
                <a:latin typeface="Calibri" panose="020F0502020204030204" pitchFamily="34" charset="0"/>
              </a:rPr>
              <a:t>|STUDENT NOTES:</a:t>
            </a:r>
          </a:p>
          <a:p>
            <a:pPr>
              <a:defRPr/>
            </a:pPr>
            <a:r>
              <a:rPr lang="en-US" dirty="0">
                <a:latin typeface="Calibri" panose="020F0502020204030204" pitchFamily="34" charset="0"/>
              </a:rPr>
              <a:t>Zero-shot prompting is a technique where users present tasks to generative models without providing specific examples or training. This approach uses the model's existing knowledge and capabilities to understand and execute tasks without prior exposure. Modern foundation models (FMs) have shown impressive zero-shot performance, effectively handling tasks they weren't explicitly trained for.</a:t>
            </a:r>
          </a:p>
          <a:p>
            <a:pPr>
              <a:defRPr/>
            </a:pPr>
            <a:endParaRPr lang="en-US" dirty="0">
              <a:latin typeface="Calibri" panose="020F0502020204030204" pitchFamily="34" charset="0"/>
            </a:endParaRPr>
          </a:p>
          <a:p>
            <a:pPr>
              <a:defRPr/>
            </a:pPr>
            <a:r>
              <a:rPr lang="en-US" dirty="0">
                <a:latin typeface="Calibri" panose="020F0502020204030204" pitchFamily="34" charset="0"/>
              </a:rPr>
              <a:t>To optimize zero-shot prompting, it's important to note that larger and more capable FMs are more likely to produce effective results. Additionally, instruction tuning, which involves fine-tuning models to better align with human preferences, can enhance zero-shot learning capabilities.</a:t>
            </a:r>
          </a:p>
          <a:p>
            <a:pPr>
              <a:defRPr/>
            </a:pPr>
            <a:endParaRPr lang="en-US" dirty="0">
              <a:latin typeface="Calibri" panose="020F0502020204030204" pitchFamily="34" charset="0"/>
            </a:endParaRPr>
          </a:p>
          <a:p>
            <a:pPr>
              <a:defRPr/>
            </a:pPr>
            <a:r>
              <a:rPr lang="en-US" dirty="0">
                <a:latin typeface="Calibri" panose="020F0502020204030204" pitchFamily="34" charset="0"/>
              </a:rPr>
              <a:t>Few-shot prompting, on the other hand, involves providing language models with contextual examples to guide their understanding and expected output for specific tasks. This approach supplements the prompt with sample inputs and their corresponding desired outputs, effectively giving the model a few demonstrations to condition it for the requested task. Few-shot prompting can include single-shot (one example) or multiple examples, depending on the complexity of the task.</a:t>
            </a:r>
          </a:p>
          <a:p>
            <a:pPr>
              <a:defRPr/>
            </a:pPr>
            <a:endParaRPr lang="en-US" dirty="0">
              <a:latin typeface="Calibri" panose="020F0502020204030204" pitchFamily="34" charset="0"/>
            </a:endParaRPr>
          </a:p>
          <a:p>
            <a:pPr>
              <a:defRPr/>
            </a:pPr>
            <a:r>
              <a:rPr lang="en-US" dirty="0">
                <a:latin typeface="Calibri" panose="020F0502020204030204" pitchFamily="34" charset="0"/>
              </a:rPr>
              <a:t>When employing few-shot prompting, it's crucial to select examples that are representative of the desired task and cover a diverse range of inputs and outputs. Clear and concise examples that accurately demonstrate the desired behavior are most effective. Experimenting with the number of examples is also important, as the optimal number can vary depending on the task, model, and complexity of the examples.</a:t>
            </a:r>
          </a:p>
          <a:p>
            <a:pPr>
              <a:defRPr/>
            </a:pPr>
            <a:endParaRPr lang="en-US" dirty="0">
              <a:latin typeface="Calibri" panose="020F0502020204030204" pitchFamily="34" charset="0"/>
            </a:endParaRPr>
          </a:p>
          <a:p>
            <a:pPr>
              <a:defRPr/>
            </a:pPr>
            <a:r>
              <a:rPr lang="en-US" dirty="0">
                <a:latin typeface="Calibri" panose="020F0502020204030204" pitchFamily="34" charset="0"/>
              </a:rPr>
              <a:t>Understanding when to use zero-shot or few-shot prompting is crucial. Zero-shot is ideal for general tasks or when working with highly capable models, while few-shot is more suitable for specialized or complex tasks that benefit from specific examples. By mastering both techniques, you can effectively use AI models across a wide range of cloud computing applications.</a:t>
            </a:r>
          </a:p>
        </p:txBody>
      </p:sp>
    </p:spTree>
    <p:extLst>
      <p:ext uri="{BB962C8B-B14F-4D97-AF65-F5344CB8AC3E}">
        <p14:creationId xmlns:p14="http://schemas.microsoft.com/office/powerpoint/2010/main" val="26314364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4655431"/>
          </a:xfrm>
        </p:spPr>
        <p:txBody>
          <a:bodyPr/>
          <a:lstStyle/>
          <a:p>
            <a:pPr marL="0" marR="0" lvl="0" indent="0" defTabSz="914400" rtl="0" eaLnBrk="1" fontAlgn="auto" latinLnBrk="0" hangingPunct="1">
              <a:buClrTx/>
              <a:buSzTx/>
              <a:buFontTx/>
              <a:buNone/>
              <a:tabLst/>
              <a:defRPr/>
            </a:pPr>
            <a:r>
              <a:rPr lang="en-US">
                <a:latin typeface="Calibri" panose="020F0502020204030204" pitchFamily="34" charset="0"/>
              </a:rPr>
              <a:t>|</a:t>
            </a:r>
            <a:r>
              <a:rPr lang="en-US" dirty="0">
                <a:latin typeface="Calibri" panose="020F0502020204030204" pitchFamily="34" charset="0"/>
              </a:rPr>
              <a:t>INSTRUCTOR NOTES:</a:t>
            </a:r>
          </a:p>
          <a:p>
            <a:pPr marL="171450" indent="-171450">
              <a:buFont typeface="Arial" panose="020B0604020202020204" pitchFamily="34" charset="0"/>
              <a:buChar char="•"/>
              <a:defRPr/>
            </a:pPr>
            <a:r>
              <a:rPr lang="en-US" dirty="0">
                <a:latin typeface="Calibri" panose="020F0502020204030204" pitchFamily="34" charset="0"/>
              </a:rPr>
              <a:t>|Explain the concept of RAG and its components.</a:t>
            </a:r>
          </a:p>
          <a:p>
            <a:pPr marL="171450" indent="-171450">
              <a:buFont typeface="Arial" panose="020B0604020202020204" pitchFamily="34" charset="0"/>
              <a:buChar char="•"/>
              <a:defRPr/>
            </a:pPr>
            <a:r>
              <a:rPr lang="en-US" dirty="0">
                <a:latin typeface="Calibri" panose="020F0502020204030204" pitchFamily="34" charset="0"/>
              </a:rPr>
              <a:t>|Discuss the benefits of combining retrieval and generation.</a:t>
            </a:r>
          </a:p>
          <a:p>
            <a:pPr marL="171450" indent="-171450">
              <a:buFont typeface="Arial" panose="020B0604020202020204" pitchFamily="34" charset="0"/>
              <a:buChar char="•"/>
              <a:defRPr/>
            </a:pPr>
            <a:r>
              <a:rPr lang="en-US" dirty="0">
                <a:latin typeface="Calibri" panose="020F0502020204030204" pitchFamily="34" charset="0"/>
              </a:rPr>
              <a:t>|Provide examples of RAG applications in business contexts.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Retrieval-Augmented Generation (RAG) is a powerful technique that enhances the capabilities of generative AI models by combining them with external knowledge sources. RAG consists of two main components: a retrieval system and a generative language model.</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retrieval system acts as an intelligent search engine, accessing and retrieving relevant information from large datasets, knowledge bases, or other textual sources. This component makes sure that the AI has access to up-to-date and context-specific information beyond its pre-trained knowledge. The retrieved document in RAG is included in the prompt as additional context in the input.</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generative language model, such as Generative Pre-training Transformer (GPT) or bidirectional encoder representations from transformers (BERT), takes the retrieved information along with the user's input and generates a coherent, contextually relevant response. Using this combination, the model can produce more accurate, informed, and tailored outputs.</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RAG offers several advantages in business applications: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Improved accuracy – By incorporating real-time, relevant information, RAG reduces hallucinations and improves the factual correctness of responses.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Customization – With RAG, businesses can use their proprietary data and domain-specific knowledge, creating more tailored AI solutions.</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Flexibility – The system can adapt to new information without requiring full model retraining.</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Transparency – RAG provides a clear link between the generated output and the source of information, which enhances explainability.</a:t>
            </a:r>
          </a:p>
          <a:p>
            <a:pPr marL="0" marR="0" lvl="0" indent="0" defTabSz="914400" rtl="0" eaLnBrk="1" fontAlgn="auto" latinLnBrk="0" hangingPunct="1">
              <a:buClrTx/>
              <a:buSzTx/>
              <a:buFontTx/>
              <a:buNone/>
              <a:tabLst/>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In practice, you can apply RAG to various use cases, such as customer support AI assistants, content creation assistants, and intelligent search systems. By using RAG, you can create more powerful, accurate, and context-aware AI applications that truly understand and use your specific domain knowledge.</a:t>
            </a:r>
          </a:p>
        </p:txBody>
      </p:sp>
    </p:spTree>
    <p:extLst>
      <p:ext uri="{BB962C8B-B14F-4D97-AF65-F5344CB8AC3E}">
        <p14:creationId xmlns:p14="http://schemas.microsoft.com/office/powerpoint/2010/main" val="899274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4887086"/>
          </a:xfrm>
        </p:spPr>
        <p:txBody>
          <a:bodyPr/>
          <a:lstStyle/>
          <a:p>
            <a:r>
              <a:rPr lang="en-US">
                <a:latin typeface="Calibri" panose="020F0502020204030204" pitchFamily="34" charset="0"/>
              </a:rPr>
              <a:t>|</a:t>
            </a:r>
            <a:r>
              <a:rPr lang="en-US" dirty="0">
                <a:latin typeface="Calibri" panose="020F0502020204030204" pitchFamily="34" charset="0"/>
              </a:rPr>
              <a:t>INSTRUCTOR NOTES:</a:t>
            </a:r>
          </a:p>
          <a:p>
            <a:pPr marL="171450" indent="-171450">
              <a:buFont typeface="Arial" panose="020B0604020202020204" pitchFamily="34" charset="0"/>
              <a:buChar char="•"/>
            </a:pPr>
            <a:r>
              <a:rPr lang="en-US" dirty="0">
                <a:latin typeface="Calibri" panose="020F0502020204030204" pitchFamily="34" charset="0"/>
              </a:rPr>
              <a:t>|Explain the concept of knowledge bases and their role in enhancing foundation models.</a:t>
            </a:r>
          </a:p>
          <a:p>
            <a:pPr marL="171450" indent="-171450">
              <a:buFont typeface="Arial" panose="020B0604020202020204" pitchFamily="34" charset="0"/>
              <a:buChar char="•"/>
            </a:pPr>
            <a:r>
              <a:rPr lang="en-US" dirty="0">
                <a:latin typeface="Calibri" panose="020F0502020204030204" pitchFamily="34" charset="0"/>
              </a:rPr>
              <a:t>|Discuss the process of integrating company data with Bedrock models.</a:t>
            </a:r>
          </a:p>
          <a:p>
            <a:pPr marL="171450" indent="-171450">
              <a:buFont typeface="Arial" panose="020B0604020202020204" pitchFamily="34" charset="0"/>
              <a:buChar char="•"/>
            </a:pPr>
            <a:r>
              <a:rPr lang="en-US" dirty="0">
                <a:latin typeface="Calibri" panose="020F0502020204030204" pitchFamily="34" charset="0"/>
              </a:rPr>
              <a:t>|Highlight the benefits of using knowledge bases for custom applications.</a:t>
            </a:r>
          </a:p>
          <a:p>
            <a:pPr marL="171450" indent="-171450">
              <a:buFont typeface="Arial" panose="020B0604020202020204" pitchFamily="34" charset="0"/>
              <a:buChar char="•"/>
            </a:pPr>
            <a:r>
              <a:rPr lang="en-US" dirty="0">
                <a:latin typeface="Calibri" panose="020F0502020204030204" pitchFamily="34" charset="0"/>
              </a:rPr>
              <a:t>|Be careful to not introduce technical terms like JSON</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Knowledge bases play an important role in enhancing the capabilities of foundation models for specific business applications. By integrating company data with powerful models such as Claude (Anthropic) or Titan (Amazon) through Amazon Bedrock, you can build highly functional and context-aware applications.</a:t>
            </a:r>
          </a:p>
          <a:p>
            <a:endParaRPr lang="en-US" dirty="0">
              <a:latin typeface="Calibri" panose="020F0502020204030204" pitchFamily="34" charset="0"/>
            </a:endParaRPr>
          </a:p>
          <a:p>
            <a:r>
              <a:rPr lang="en-US" dirty="0">
                <a:latin typeface="Calibri" panose="020F0502020204030204" pitchFamily="34" charset="0"/>
              </a:rPr>
              <a:t>A knowledge base serves as a repository of structured information about a company's products, services, or industry-specific topics. This data can include internal documents, sales reports, product specifications, and customer support articles. When combined with a foundation model, the AI can use this knowledge base to provide more accurate, relevant, and contextual responses.</a:t>
            </a:r>
          </a:p>
          <a:p>
            <a:endParaRPr lang="en-US" dirty="0">
              <a:latin typeface="Calibri" panose="020F0502020204030204" pitchFamily="34" charset="0"/>
            </a:endParaRPr>
          </a:p>
          <a:p>
            <a:r>
              <a:rPr lang="en-US" dirty="0">
                <a:latin typeface="Calibri" panose="020F0502020204030204" pitchFamily="34" charset="0"/>
              </a:rPr>
              <a:t>The process involves selecting an appropriate foundation model from Amazon Bedrock, then using Amazon Bedrock's API to access the model's capabilities. You then integrate your company's knowledge base, often through fine-tuning or RAG techniques. This helps the model to understand and use the specific domain knowledge when generating responses.</a:t>
            </a:r>
          </a:p>
          <a:p>
            <a:endParaRPr lang="en-US" dirty="0">
              <a:latin typeface="Calibri" panose="020F0502020204030204" pitchFamily="34" charset="0"/>
            </a:endParaRPr>
          </a:p>
          <a:p>
            <a:r>
              <a:rPr lang="en-US" dirty="0">
                <a:latin typeface="Calibri" panose="020F0502020204030204" pitchFamily="34" charset="0"/>
              </a:rPr>
              <a:t>For a customer support application, the AI can use this integration to draw upon both its broad language understanding and the company's specific information. This results in more accurate and helpful responses to customer queries, improved problem-solving capabilities, and a more personalized user experience. The combination of foundation models and knowledge bases through Amazon Bedrock offers a powerful solution for building AI-driven applications tailored to specific business needs.</a:t>
            </a:r>
          </a:p>
          <a:p>
            <a:endParaRPr lang="en-US" dirty="0"/>
          </a:p>
        </p:txBody>
      </p:sp>
    </p:spTree>
    <p:extLst>
      <p:ext uri="{BB962C8B-B14F-4D97-AF65-F5344CB8AC3E}">
        <p14:creationId xmlns:p14="http://schemas.microsoft.com/office/powerpoint/2010/main" val="203723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|Explain the concept of tool-use prompting and its benefits.</a:t>
            </a:r>
          </a:p>
          <a:p>
            <a:pPr indent="-171450">
              <a:buChar char="•"/>
            </a:pPr>
            <a:r>
              <a:rPr lang="en-US" dirty="0">
                <a:latin typeface="Calibri" panose="020F0502020204030204" pitchFamily="34" charset="0"/>
              </a:rPr>
              <a:t>|Provide examples of action-oriented prompts.</a:t>
            </a:r>
          </a:p>
          <a:p>
            <a:pPr indent="-171450">
              <a:buChar char="•"/>
            </a:pPr>
            <a:r>
              <a:rPr lang="en-US" dirty="0">
                <a:latin typeface="Calibri" panose="020F0502020204030204" pitchFamily="34" charset="0"/>
              </a:rPr>
              <a:t>|Discuss how these techniques expand AI capabilities.</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Tool-use prompting and action-oriented prompting expand AI capabilities by instructing models to use specific tools or perform actions. Tool-use prompting involves directing the AI to employ external resources or APIs to accomplish tasks. For example, prompting "Use a calculator to solve this equation" guides the AI to use a calculation tool for accurate results.</a:t>
            </a:r>
          </a:p>
          <a:p>
            <a:endParaRPr lang="en-US" dirty="0">
              <a:latin typeface="Calibri" panose="020F0502020204030204" pitchFamily="34" charset="0"/>
            </a:endParaRPr>
          </a:p>
          <a:p>
            <a:r>
              <a:rPr lang="en-US" dirty="0">
                <a:latin typeface="Calibri" panose="020F0502020204030204" pitchFamily="34" charset="0"/>
              </a:rPr>
              <a:t>Action-oriented prompting focuses on instructing the AI to execute specific actions or processes. An example would be "Analyze this data and create a chart," which directs the AI to perform data analysis and visualization tasks. These techniques are particularly valuable when dealing with complex, multi-step problems that require specialized tools or actions.</a:t>
            </a:r>
          </a:p>
          <a:p>
            <a:endParaRPr lang="en-US" dirty="0">
              <a:latin typeface="Calibri" panose="020F0502020204030204" pitchFamily="34" charset="0"/>
            </a:endParaRPr>
          </a:p>
          <a:p>
            <a:r>
              <a:rPr lang="en-US" dirty="0">
                <a:latin typeface="Calibri" panose="020F0502020204030204" pitchFamily="34" charset="0"/>
              </a:rPr>
              <a:t>Tool-use prompting and action-oriented prompting help you create more versatile and powerful AI applications. By using these methods, AI models can interact with external systems, perform data manipulations, and execute complex workflows. This significantly expands their problem-solving capabilities beyond simple text generation.</a:t>
            </a:r>
          </a:p>
        </p:txBody>
      </p:sp>
    </p:spTree>
    <p:extLst>
      <p:ext uri="{BB962C8B-B14F-4D97-AF65-F5344CB8AC3E}">
        <p14:creationId xmlns:p14="http://schemas.microsoft.com/office/powerpoint/2010/main" val="20160658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78730-C2B6-7491-D8F5-F6AA02737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68813-C7FA-99E2-CD83-2A79C44DD4F6}"/>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C6DFEFA-C3D1-99A0-E9F7-F8695AC3177D}"/>
              </a:ext>
            </a:extLst>
          </p:cNvPr>
          <p:cNvSpPr>
            <a:spLocks noGrp="1"/>
          </p:cNvSpPr>
          <p:nvPr>
            <p:ph type="body" idx="1"/>
          </p:nvPr>
        </p:nvSpPr>
        <p:spPr>
          <a:xfrm>
            <a:off x="317500" y="3810000"/>
            <a:ext cx="7112000" cy="5588000"/>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|Explain the key differences between </a:t>
            </a:r>
            <a:r>
              <a:rPr lang="en-US" dirty="0" err="1">
                <a:latin typeface="Calibri" panose="020F0502020204030204" pitchFamily="34" charset="0"/>
              </a:rPr>
              <a:t>CoT</a:t>
            </a:r>
            <a:r>
              <a:rPr lang="en-US" dirty="0">
                <a:latin typeface="Calibri" panose="020F0502020204030204" pitchFamily="34" charset="0"/>
              </a:rPr>
              <a:t> and </a:t>
            </a:r>
            <a:r>
              <a:rPr lang="en-US" dirty="0" err="1">
                <a:latin typeface="Calibri" panose="020F0502020204030204" pitchFamily="34" charset="0"/>
              </a:rPr>
              <a:t>ToT</a:t>
            </a:r>
            <a:r>
              <a:rPr lang="en-US" dirty="0">
                <a:latin typeface="Calibri" panose="020F0502020204030204" pitchFamily="34" charset="0"/>
              </a:rPr>
              <a:t>.</a:t>
            </a:r>
          </a:p>
          <a:p>
            <a:pPr indent="-171450">
              <a:buChar char="•"/>
            </a:pPr>
            <a:r>
              <a:rPr lang="en-US" dirty="0">
                <a:latin typeface="Calibri" panose="020F0502020204030204" pitchFamily="34" charset="0"/>
              </a:rPr>
              <a:t>|Provide examples of when each technique is most effective.</a:t>
            </a:r>
          </a:p>
          <a:p>
            <a:pPr indent="-171450">
              <a:buChar char="•"/>
            </a:pPr>
            <a:r>
              <a:rPr lang="en-US" dirty="0">
                <a:latin typeface="Calibri" panose="020F0502020204030204" pitchFamily="34" charset="0"/>
              </a:rPr>
              <a:t>|Discuss how these techniques improve AI reasoning.</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Chain-of-thought (</a:t>
            </a:r>
            <a:r>
              <a:rPr lang="en-US" dirty="0" err="1">
                <a:latin typeface="Calibri" panose="020F0502020204030204" pitchFamily="34" charset="0"/>
              </a:rPr>
              <a:t>CoT</a:t>
            </a:r>
            <a:r>
              <a:rPr lang="en-US" dirty="0">
                <a:latin typeface="Calibri" panose="020F0502020204030204" pitchFamily="34" charset="0"/>
              </a:rPr>
              <a:t>) and tree of thoughts (</a:t>
            </a:r>
            <a:r>
              <a:rPr lang="en-US" dirty="0" err="1">
                <a:latin typeface="Calibri" panose="020F0502020204030204" pitchFamily="34" charset="0"/>
              </a:rPr>
              <a:t>ToT</a:t>
            </a:r>
            <a:r>
              <a:rPr lang="en-US" dirty="0">
                <a:latin typeface="Calibri" panose="020F0502020204030204" pitchFamily="34" charset="0"/>
              </a:rPr>
              <a:t>) are advanced prompting techniques that enhance AI reasoning capabilities. </a:t>
            </a:r>
            <a:r>
              <a:rPr lang="en-US" dirty="0" err="1">
                <a:latin typeface="Calibri" panose="020F0502020204030204" pitchFamily="34" charset="0"/>
              </a:rPr>
              <a:t>CoT</a:t>
            </a:r>
            <a:r>
              <a:rPr lang="en-US" dirty="0">
                <a:latin typeface="Calibri" panose="020F0502020204030204" pitchFamily="34" charset="0"/>
              </a:rPr>
              <a:t> encourages the AI to break down complex problems into logical steps, which improves problem-solving accuracy. This "think step-by-step" approach is particularly useful for tasks requiring sequential reasoning, such as mathematical calculations or procedural explanations.</a:t>
            </a:r>
          </a:p>
          <a:p>
            <a:endParaRPr lang="en-US" dirty="0">
              <a:latin typeface="Calibri" panose="020F0502020204030204" pitchFamily="34" charset="0"/>
            </a:endParaRPr>
          </a:p>
          <a:p>
            <a:r>
              <a:rPr lang="en-US" dirty="0" err="1">
                <a:latin typeface="Calibri" panose="020F0502020204030204" pitchFamily="34" charset="0"/>
              </a:rPr>
              <a:t>ToT</a:t>
            </a:r>
            <a:r>
              <a:rPr lang="en-US" dirty="0">
                <a:latin typeface="Calibri" panose="020F0502020204030204" pitchFamily="34" charset="0"/>
              </a:rPr>
              <a:t> extends </a:t>
            </a:r>
            <a:r>
              <a:rPr lang="en-US" dirty="0" err="1">
                <a:latin typeface="Calibri" panose="020F0502020204030204" pitchFamily="34" charset="0"/>
              </a:rPr>
              <a:t>CoT</a:t>
            </a:r>
            <a:r>
              <a:rPr lang="en-US" dirty="0">
                <a:latin typeface="Calibri" panose="020F0502020204030204" pitchFamily="34" charset="0"/>
              </a:rPr>
              <a:t> by exploring multiple reasoning paths simultaneously. The AI can consider various possibilities and evaluate intermediate steps before reaching a conclusion. This technique is especially valuable for complex decision-making tasks involving multiple variables or potential outcomes. By generating and assessing multiple thought branches, </a:t>
            </a:r>
            <a:r>
              <a:rPr lang="en-US" dirty="0" err="1">
                <a:latin typeface="Calibri" panose="020F0502020204030204" pitchFamily="34" charset="0"/>
              </a:rPr>
              <a:t>ToT</a:t>
            </a:r>
            <a:r>
              <a:rPr lang="en-US" dirty="0">
                <a:latin typeface="Calibri" panose="020F0502020204030204" pitchFamily="34" charset="0"/>
              </a:rPr>
              <a:t> provides more robust and well-considered solutions.</a:t>
            </a:r>
          </a:p>
          <a:p>
            <a:endParaRPr lang="en-US" dirty="0">
              <a:latin typeface="Calibri" panose="020F0502020204030204" pitchFamily="34" charset="0"/>
            </a:endParaRPr>
          </a:p>
          <a:p>
            <a:r>
              <a:rPr lang="en-US" dirty="0">
                <a:latin typeface="Calibri" panose="020F0502020204030204" pitchFamily="34" charset="0"/>
              </a:rPr>
              <a:t>Use prompts like "Let's approach this step-by-step" for </a:t>
            </a:r>
            <a:r>
              <a:rPr lang="en-US" dirty="0" err="1">
                <a:latin typeface="Calibri" panose="020F0502020204030204" pitchFamily="34" charset="0"/>
              </a:rPr>
              <a:t>CoT</a:t>
            </a:r>
            <a:r>
              <a:rPr lang="en-US" dirty="0">
                <a:latin typeface="Calibri" panose="020F0502020204030204" pitchFamily="34" charset="0"/>
              </a:rPr>
              <a:t> or "Consider multiple approaches" for </a:t>
            </a:r>
            <a:r>
              <a:rPr lang="en-US" dirty="0" err="1">
                <a:latin typeface="Calibri" panose="020F0502020204030204" pitchFamily="34" charset="0"/>
              </a:rPr>
              <a:t>ToT</a:t>
            </a:r>
            <a:r>
              <a:rPr lang="en-US" dirty="0">
                <a:latin typeface="Calibri" panose="020F0502020204030204" pitchFamily="34" charset="0"/>
              </a:rPr>
              <a:t>. These methods enhance the AI's ability to handle complex reasoning tasks. They provide more transparent, logical outputs.</a:t>
            </a:r>
          </a:p>
        </p:txBody>
      </p:sp>
    </p:spTree>
    <p:extLst>
      <p:ext uri="{BB962C8B-B14F-4D97-AF65-F5344CB8AC3E}">
        <p14:creationId xmlns:p14="http://schemas.microsoft.com/office/powerpoint/2010/main" val="4232145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the concept of negative prompting.</a:t>
            </a:r>
          </a:p>
          <a:p>
            <a:pPr indent="-171450">
              <a:buChar char="•"/>
            </a:pPr>
            <a:r>
              <a:rPr lang="en-US" dirty="0">
                <a:effectLst/>
                <a:latin typeface="Calibri" panose="020F0502020204030204" pitchFamily="34" charset="0"/>
              </a:rPr>
              <a:t>|Provide examples of effective negative prompts.</a:t>
            </a:r>
          </a:p>
          <a:p>
            <a:pPr indent="-171450">
              <a:buChar char="•"/>
            </a:pPr>
            <a:r>
              <a:rPr lang="en-US" dirty="0">
                <a:effectLst/>
                <a:latin typeface="Calibri" panose="020F0502020204030204" pitchFamily="34" charset="0"/>
              </a:rPr>
              <a:t>|Discuss the benefits and potential pitfalls of this technique.</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You use negative prompting to specify what to exclude from AI output. This method is particularly useful for filtering out inappropriate content, avoiding sensitive topics, or tailoring the output to specific audiences. Examples of negative prompts include "Don't include any profanity," "Avoid mentioning specific individuals," or "Don't use a sarcastic or condescending tone."</a:t>
            </a:r>
          </a:p>
          <a:p>
            <a:endParaRPr lang="en-US" dirty="0">
              <a:effectLst/>
              <a:latin typeface="Calibri" panose="020F0502020204030204" pitchFamily="34" charset="0"/>
            </a:endParaRPr>
          </a:p>
          <a:p>
            <a:r>
              <a:rPr lang="en-US" dirty="0">
                <a:effectLst/>
                <a:latin typeface="Calibri" panose="020F0502020204030204" pitchFamily="34" charset="0"/>
              </a:rPr>
              <a:t>When implementing negative prompting, it's crucial to be specific and clear to make sure the AI understands exactly what to avoid. Vague or ambiguous constraints might lead to unintended consequences. It's often beneficial to combine negative prompts with positive instructions for better control over the output.</a:t>
            </a:r>
          </a:p>
          <a:p>
            <a:endParaRPr lang="en-US" dirty="0">
              <a:effectLst/>
              <a:latin typeface="Calibri" panose="020F0502020204030204" pitchFamily="34" charset="0"/>
            </a:endParaRPr>
          </a:p>
          <a:p>
            <a:r>
              <a:rPr lang="en-US" dirty="0">
                <a:effectLst/>
                <a:latin typeface="Calibri" panose="020F0502020204030204" pitchFamily="34" charset="0"/>
              </a:rPr>
              <a:t>Negative prompting requires experimentation and refinement. You should use it in conjunction with other techniques such as content filtering and ethical AI practices to provide responsible and trustworthy AI systems. This technique is particularly valuable when working with LLMs trained on diverse and </a:t>
            </a:r>
            <a:r>
              <a:rPr lang="en-US" dirty="0" err="1">
                <a:effectLst/>
                <a:latin typeface="Calibri" panose="020F0502020204030204" pitchFamily="34" charset="0"/>
              </a:rPr>
              <a:t>uncurated</a:t>
            </a:r>
            <a:r>
              <a:rPr lang="en-US" dirty="0">
                <a:effectLst/>
                <a:latin typeface="Calibri" panose="020F0502020204030204" pitchFamily="34" charset="0"/>
              </a:rPr>
              <a:t> data.</a:t>
            </a:r>
          </a:p>
        </p:txBody>
      </p:sp>
    </p:spTree>
    <p:extLst>
      <p:ext uri="{BB962C8B-B14F-4D97-AF65-F5344CB8AC3E}">
        <p14:creationId xmlns:p14="http://schemas.microsoft.com/office/powerpoint/2010/main" val="1880048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effectLst/>
                <a:latin typeface="Calibri" panose="020F0502020204030204" pitchFamily="34" charset="0"/>
              </a:rPr>
              <a:t>|INSTRUCTOR NOTES:</a:t>
            </a:r>
          </a:p>
          <a:p>
            <a:pPr indent="-171450">
              <a:buChar char="•"/>
            </a:pPr>
            <a:r>
              <a:rPr lang="en-US" dirty="0">
                <a:effectLst/>
                <a:latin typeface="Calibri" panose="020F0502020204030204" pitchFamily="34" charset="0"/>
              </a:rPr>
              <a:t>|Explain each output refinement technique.</a:t>
            </a:r>
          </a:p>
          <a:p>
            <a:pPr indent="-171450">
              <a:buChar char="•"/>
            </a:pPr>
            <a:r>
              <a:rPr lang="en-US" dirty="0">
                <a:effectLst/>
                <a:latin typeface="Calibri" panose="020F0502020204030204" pitchFamily="34" charset="0"/>
              </a:rPr>
              <a:t>|Discuss when and how to apply these techniques.</a:t>
            </a:r>
          </a:p>
          <a:p>
            <a:pPr indent="-171450">
              <a:buChar char="•"/>
            </a:pPr>
            <a:r>
              <a:rPr lang="en-US" dirty="0">
                <a:effectLst/>
                <a:latin typeface="Calibri" panose="020F0502020204030204" pitchFamily="34" charset="0"/>
              </a:rPr>
              <a:t>|Highlight the importance of output refinement in AI applications.</a:t>
            </a:r>
          </a:p>
          <a:p>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You can improve AI content quality, relevance, and coherence with output refinement techniques. These techniques include filtering, ranking and sorting, summarization, and post-processing. Filtering helps narrow down retrieved information based on relevance, thresholds, or similarity. This helps to make sure that only the most pertinent data is used in the final output.</a:t>
            </a:r>
          </a:p>
          <a:p>
            <a:endParaRPr lang="en-US" dirty="0">
              <a:effectLst/>
              <a:latin typeface="Calibri" panose="020F0502020204030204" pitchFamily="34" charset="0"/>
            </a:endParaRPr>
          </a:p>
          <a:p>
            <a:r>
              <a:rPr lang="en-US" dirty="0">
                <a:effectLst/>
                <a:latin typeface="Calibri" panose="020F0502020204030204" pitchFamily="34" charset="0"/>
              </a:rPr>
              <a:t>Ranking and sorting techniques, such as contextual reranking, diversity-based sorting, and preference-based ordering, help prioritize information and present it in the most useful way. Summarization techniques, including extractive and abstractive methods, condense large amounts of information into concise, informative snippets.</a:t>
            </a:r>
          </a:p>
          <a:p>
            <a:endParaRPr lang="en-US" dirty="0">
              <a:effectLst/>
              <a:latin typeface="Calibri" panose="020F0502020204030204" pitchFamily="34" charset="0"/>
            </a:endParaRPr>
          </a:p>
          <a:p>
            <a:r>
              <a:rPr lang="en-US" dirty="0">
                <a:effectLst/>
                <a:latin typeface="Calibri" panose="020F0502020204030204" pitchFamily="34" charset="0"/>
              </a:rPr>
              <a:t>Post-processing steps such as element extraction, fact-checking, and content moderation enhance the accuracy, reliability, and safety of the generated content. These refinement techniques are essential for creating high-quality AI outputs that meet specific user needs and maintain content integrity.</a:t>
            </a:r>
          </a:p>
        </p:txBody>
      </p:sp>
    </p:spTree>
    <p:extLst>
      <p:ext uri="{BB962C8B-B14F-4D97-AF65-F5344CB8AC3E}">
        <p14:creationId xmlns:p14="http://schemas.microsoft.com/office/powerpoint/2010/main" val="30321271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|Explain the key model settings and parameters.</a:t>
            </a:r>
          </a:p>
          <a:p>
            <a:pPr indent="-171450">
              <a:buChar char="•"/>
              <a:defRPr/>
            </a:pPr>
            <a:r>
              <a:rPr lang="en-US" dirty="0">
                <a:solidFill>
                  <a:srgbClr val="000000"/>
                </a:solidFill>
                <a:latin typeface="Calibri" panose="020F0502020204030204" pitchFamily="34" charset="0"/>
              </a:rPr>
              <a:t>|Discuss how these settings affect AI output.</a:t>
            </a:r>
          </a:p>
          <a:p>
            <a:pPr indent="-171450">
              <a:buChar char="•"/>
              <a:defRPr/>
            </a:pPr>
            <a:r>
              <a:rPr lang="en-US" dirty="0">
                <a:solidFill>
                  <a:srgbClr val="000000"/>
                </a:solidFill>
                <a:latin typeface="Calibri" panose="020F0502020204030204" pitchFamily="34" charset="0"/>
              </a:rPr>
              <a:t>|Provide guidance on choosing appropriate parameter values.</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Model settings and parameters play a crucial role in controlling the behavior and output of AI models. Key parameters include temperature, Top P (nucleus sampling), Top K, and maximum length. Temperature controls the randomness of the output, with lower values producing more focused and deterministic responses, while higher values lead to more diverse and creative outputs.</a:t>
            </a:r>
          </a:p>
          <a:p>
            <a:pPr>
              <a:defRPr/>
            </a:pPr>
            <a:endParaRPr lang="en-US" dirty="0">
              <a:solidFill>
                <a:srgbClr val="000000"/>
              </a:solidFill>
              <a:latin typeface="Calibri" panose="020F0502020204030204" pitchFamily="34" charset="0"/>
            </a:endParaRPr>
          </a:p>
          <a:p>
            <a:pPr>
              <a:defRPr/>
            </a:pPr>
            <a:r>
              <a:rPr lang="en-US" dirty="0">
                <a:solidFill>
                  <a:srgbClr val="000000"/>
                </a:solidFill>
                <a:latin typeface="Calibri" panose="020F0502020204030204" pitchFamily="34" charset="0"/>
              </a:rPr>
              <a:t>Top P and Top K are sampling methods that influence the diversity of the generated text. Top P limits word choices based on cumulative probability, while Top K restricts the selection to a fixed number of most likely words. These parameters help balance between coherence and creativity in the AI's responses.</a:t>
            </a:r>
          </a:p>
          <a:p>
            <a:pPr>
              <a:defRPr/>
            </a:pPr>
            <a:endParaRPr lang="en-US" dirty="0">
              <a:solidFill>
                <a:srgbClr val="000000"/>
              </a:solidFill>
              <a:latin typeface="Calibri" panose="020F0502020204030204" pitchFamily="34" charset="0"/>
            </a:endParaRPr>
          </a:p>
          <a:p>
            <a:pPr>
              <a:defRPr/>
            </a:pPr>
            <a:r>
              <a:rPr lang="en-US" dirty="0">
                <a:solidFill>
                  <a:srgbClr val="000000"/>
                </a:solidFill>
                <a:latin typeface="Calibri" panose="020F0502020204030204" pitchFamily="34" charset="0"/>
              </a:rPr>
              <a:t>Maximum length sets an upper limit on the number of tokens generated, preventing excessive output. You fine-tune AI behavior for specific tasks by adjusting these parameters. It's important to experiment with different settings to find the optimal balance for your particular use case.</a:t>
            </a:r>
          </a:p>
          <a:p>
            <a:pPr>
              <a:defRPr/>
            </a:pPr>
            <a:endParaRPr lang="en-US"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765017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a:latin typeface="Calibri" panose="020F0502020204030204" pitchFamily="34" charset="0"/>
              </a:rPr>
              <a:t>|</a:t>
            </a:r>
            <a:r>
              <a:rPr lang="en-US" dirty="0">
                <a:latin typeface="Calibri" panose="020F0502020204030204" pitchFamily="34" charset="0"/>
              </a:rPr>
              <a:t>INSTRUCTOR NOTES:</a:t>
            </a:r>
          </a:p>
          <a:p>
            <a:pPr indent="-171450">
              <a:buChar char="•"/>
            </a:pPr>
            <a:r>
              <a:rPr lang="en-US" dirty="0">
                <a:latin typeface="Calibri" panose="020F0502020204030204" pitchFamily="34" charset="0"/>
              </a:rPr>
              <a:t>|Provide an overview of how different settings interact.</a:t>
            </a:r>
          </a:p>
          <a:p>
            <a:pPr indent="-171450">
              <a:buChar char="•"/>
            </a:pPr>
            <a:r>
              <a:rPr lang="en-US" dirty="0">
                <a:latin typeface="Calibri" panose="020F0502020204030204" pitchFamily="34" charset="0"/>
              </a:rPr>
              <a:t>|Discuss strategies for managing AI creativity and output length.</a:t>
            </a:r>
          </a:p>
          <a:p>
            <a:pPr indent="-171450">
              <a:buChar char="•"/>
            </a:pPr>
            <a:r>
              <a:rPr lang="en-US" dirty="0">
                <a:latin typeface="Calibri" panose="020F0502020204030204" pitchFamily="34" charset="0"/>
              </a:rPr>
              <a:t>|Emphasize the importance of balancing parameters for optimal results.</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Managing model settings is crucial for optimizing AI performance. The interplay between prompts, parameters, and output determines the effectiveness of the AI system. Key considerations include the creativity level, which you can adjust through temperature and sampling methods, and the length of the generated content, which you control by maximum length settings.</a:t>
            </a:r>
          </a:p>
          <a:p>
            <a:endParaRPr lang="en-US" dirty="0">
              <a:latin typeface="Calibri" panose="020F0502020204030204" pitchFamily="34" charset="0"/>
            </a:endParaRPr>
          </a:p>
          <a:p>
            <a:r>
              <a:rPr lang="en-US" dirty="0">
                <a:latin typeface="Calibri" panose="020F0502020204030204" pitchFamily="34" charset="0"/>
              </a:rPr>
              <a:t>To manage the level of creativity and ensure relevant outputs, it's important to find the right balance in parameter settings. Lower temperature and more restrictive sampling (lower Top P or Top K) can lead to more focused and coherent responses, while higher values allow for more creative and diverse outputs.</a:t>
            </a:r>
          </a:p>
          <a:p>
            <a:endParaRPr lang="en-US" dirty="0">
              <a:latin typeface="Calibri" panose="020F0502020204030204" pitchFamily="34" charset="0"/>
            </a:endParaRPr>
          </a:p>
          <a:p>
            <a:r>
              <a:rPr lang="en-US" dirty="0">
                <a:latin typeface="Calibri" panose="020F0502020204030204" pitchFamily="34" charset="0"/>
              </a:rPr>
              <a:t>You need to experiment with these settings, as they might vary by task or use case. It's essential to consider the trade-offs between creativity, coherence, and relevance when fine-tuning these parameters. Regularly evaluating and adjusting these settings helps maintain optimal AI performance across applications.</a:t>
            </a:r>
          </a:p>
        </p:txBody>
      </p:sp>
    </p:spTree>
    <p:extLst>
      <p:ext uri="{BB962C8B-B14F-4D97-AF65-F5344CB8AC3E}">
        <p14:creationId xmlns:p14="http://schemas.microsoft.com/office/powerpoint/2010/main" val="18992644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1DC6-3B21-994F-E375-282A3E11D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3B216-E32E-85C9-2229-52705E8A7083}"/>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5DCA593F-2DF8-E52C-D252-275B63E8D4C1}"/>
              </a:ext>
            </a:extLst>
          </p:cNvPr>
          <p:cNvSpPr>
            <a:spLocks noGrp="1"/>
          </p:cNvSpPr>
          <p:nvPr>
            <p:ph type="body" idx="1"/>
          </p:nvPr>
        </p:nvSpPr>
        <p:spPr>
          <a:xfrm>
            <a:off x="317500" y="3810000"/>
            <a:ext cx="7112000" cy="5397500"/>
          </a:xfrm>
        </p:spPr>
        <p:txBody>
          <a:bodyPr/>
          <a:lstStyle/>
          <a:p>
            <a:pPr>
              <a:defRPr/>
            </a:pPr>
            <a:r>
              <a:rPr lang="en-US" dirty="0">
                <a:latin typeface="Calibri" panose="020F0502020204030204" pitchFamily="34" charset="0"/>
              </a:rPr>
              <a:t>|INSTRUCTOR NOTES:</a:t>
            </a:r>
          </a:p>
          <a:p>
            <a:pPr indent="-171450">
              <a:buChar char="•"/>
              <a:defRPr/>
            </a:pPr>
            <a:r>
              <a:rPr lang="en-US" dirty="0">
                <a:latin typeface="Calibri" panose="020F0502020204030204" pitchFamily="34" charset="0"/>
              </a:rPr>
              <a:t>|Explain each parameter in detail.</a:t>
            </a:r>
          </a:p>
          <a:p>
            <a:pPr indent="-171450">
              <a:buChar char="•"/>
              <a:defRPr/>
            </a:pPr>
            <a:r>
              <a:rPr lang="en-US" dirty="0">
                <a:latin typeface="Calibri" panose="020F0502020204030204" pitchFamily="34" charset="0"/>
              </a:rPr>
              <a:t>|Discuss the impact of different parameter values on AI output.</a:t>
            </a:r>
          </a:p>
          <a:p>
            <a:pPr indent="-171450">
              <a:buChar char="•"/>
              <a:defRPr/>
            </a:pPr>
            <a:r>
              <a:rPr lang="en-US" dirty="0">
                <a:latin typeface="Calibri" panose="020F0502020204030204" pitchFamily="34" charset="0"/>
              </a:rPr>
              <a:t>|Provide guidelines for setting parameters in various scenarios.</a:t>
            </a:r>
          </a:p>
          <a:p>
            <a:pPr>
              <a:defRPr/>
            </a:pPr>
            <a:r>
              <a:rPr lang="en-US" dirty="0">
                <a:latin typeface="Calibri" panose="020F0502020204030204" pitchFamily="34" charset="0"/>
              </a:rPr>
              <a:t>|</a:t>
            </a:r>
          </a:p>
          <a:p>
            <a:pPr>
              <a:defRPr/>
            </a:pPr>
            <a:r>
              <a:rPr lang="en-US"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Generative AI models use various parameters to control their output characteristics. T</a:t>
            </a:r>
            <a:r>
              <a:rPr lang="en-US" dirty="0">
                <a:effectLst/>
                <a:latin typeface="Calibri" panose="020F0502020204030204" pitchFamily="34" charset="0"/>
              </a:rPr>
              <a:t>he first table's parameters influence the creative aspects of text generation, while the second table's parameters manage the overall structure and limits of the generated content.</a:t>
            </a:r>
          </a:p>
          <a:p>
            <a:pPr>
              <a:defRPr/>
            </a:pPr>
            <a:endParaRPr lang="en-US" dirty="0">
              <a:latin typeface="Calibri" panose="020F0502020204030204" pitchFamily="34" charset="0"/>
            </a:endParaRPr>
          </a:p>
          <a:p>
            <a:pPr marL="171450" indent="-171450">
              <a:buFont typeface="Arial" panose="020B0604020202020204" pitchFamily="34" charset="0"/>
              <a:buChar char="•"/>
            </a:pPr>
            <a:r>
              <a:rPr lang="en-US" dirty="0">
                <a:effectLst/>
                <a:latin typeface="Calibri" panose="020F0502020204030204" pitchFamily="34" charset="0"/>
              </a:rPr>
              <a:t>The </a:t>
            </a:r>
            <a:r>
              <a:rPr lang="en-US" b="1" dirty="0">
                <a:effectLst/>
                <a:latin typeface="Calibri" panose="020F0502020204030204" pitchFamily="34" charset="0"/>
              </a:rPr>
              <a:t>Temperature</a:t>
            </a:r>
            <a:r>
              <a:rPr lang="en-US" dirty="0">
                <a:effectLst/>
                <a:latin typeface="Calibri" panose="020F0502020204030204" pitchFamily="34" charset="0"/>
              </a:rPr>
              <a:t> parameter controls the randomness and creativity of the model's output. A low setting of 0.2 results in more conservative and focused outputs, while a high setting of 1.0 produces more diverse and unpredictable results. </a:t>
            </a:r>
          </a:p>
          <a:p>
            <a:pPr marL="171450" indent="-171450">
              <a:buFont typeface="Arial" panose="020B0604020202020204" pitchFamily="34" charset="0"/>
              <a:buChar char="•"/>
            </a:pPr>
            <a:endParaRPr lang="en-US" dirty="0">
              <a:effectLst/>
              <a:latin typeface="Calibri" panose="020F0502020204030204" pitchFamily="34" charset="0"/>
            </a:endParaRPr>
          </a:p>
          <a:p>
            <a:pPr marL="171450" indent="-171450">
              <a:buFont typeface="Arial" panose="020B0604020202020204" pitchFamily="34" charset="0"/>
              <a:buChar char="•"/>
            </a:pPr>
            <a:r>
              <a:rPr lang="en-US" dirty="0">
                <a:effectLst/>
                <a:latin typeface="Calibri" panose="020F0502020204030204" pitchFamily="34" charset="0"/>
              </a:rPr>
              <a:t>The </a:t>
            </a:r>
            <a:r>
              <a:rPr lang="en-US" b="1" dirty="0">
                <a:effectLst/>
                <a:latin typeface="Calibri" panose="020F0502020204030204" pitchFamily="34" charset="0"/>
              </a:rPr>
              <a:t>Top P </a:t>
            </a:r>
            <a:r>
              <a:rPr lang="en-US" dirty="0">
                <a:effectLst/>
                <a:latin typeface="Calibri" panose="020F0502020204030204" pitchFamily="34" charset="0"/>
              </a:rPr>
              <a:t>parameter, also known as nucleus sampling, controls diversity by limiting word choices based on cumulative probabilities. A low setting of 0.250 considers only the top 25% of the probability distribution, while a high setting of 0.990 considers the top 99%.</a:t>
            </a:r>
          </a:p>
          <a:p>
            <a:pPr marL="171450" indent="-171450">
              <a:buFont typeface="Arial" panose="020B0604020202020204" pitchFamily="34" charset="0"/>
              <a:buChar char="•"/>
            </a:pPr>
            <a:endParaRPr lang="en-US" dirty="0">
              <a:effectLst/>
              <a:latin typeface="Calibri" panose="020F0502020204030204" pitchFamily="34" charset="0"/>
            </a:endParaRPr>
          </a:p>
          <a:p>
            <a:pPr marL="171450" indent="-171450">
              <a:buFont typeface="Arial" panose="020B0604020202020204" pitchFamily="34" charset="0"/>
              <a:buChar char="•"/>
            </a:pPr>
            <a:r>
              <a:rPr lang="en-US" dirty="0">
                <a:effectLst/>
                <a:latin typeface="Calibri" panose="020F0502020204030204" pitchFamily="34" charset="0"/>
              </a:rPr>
              <a:t>The </a:t>
            </a:r>
            <a:r>
              <a:rPr lang="en-US" b="1" dirty="0">
                <a:effectLst/>
                <a:latin typeface="Calibri" panose="020F0502020204030204" pitchFamily="34" charset="0"/>
              </a:rPr>
              <a:t>Top K </a:t>
            </a:r>
            <a:r>
              <a:rPr lang="en-US" dirty="0">
                <a:effectLst/>
                <a:latin typeface="Calibri" panose="020F0502020204030204" pitchFamily="34" charset="0"/>
              </a:rPr>
              <a:t>parameter limits word choices to a specific number of the most probable words. A low setting of 10 restricts the model to consider only the 10 most probable words, while a high setting of 500 allows the model to consider a much larger pool of 500 most probable words. These parameters can be adjusted to fine-tune the balance between coherence and creativity in the model's outputs.</a:t>
            </a:r>
          </a:p>
          <a:p>
            <a:pPr>
              <a:defRPr/>
            </a:pP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effectLst/>
                <a:latin typeface="Calibri" panose="020F0502020204030204" pitchFamily="34" charset="0"/>
              </a:rPr>
              <a:t>The default values for temperature (0.7), top p (0.9), and top k (40-50) balance focused and diverse outputs. These defaults aim for varied, natural-sounding text without excessive repetition or divergence from context.</a:t>
            </a:r>
          </a:p>
          <a:p>
            <a:pPr>
              <a:defRPr/>
            </a:pPr>
            <a:endParaRPr lang="en-US" dirty="0">
              <a:latin typeface="Calibri" panose="020F0502020204030204" pitchFamily="34" charset="0"/>
            </a:endParaRPr>
          </a:p>
          <a:p>
            <a:pPr>
              <a:defRPr/>
            </a:pPr>
            <a:r>
              <a:rPr lang="en-US" b="1" dirty="0">
                <a:latin typeface="Calibri" panose="020F0502020204030204" pitchFamily="34" charset="0"/>
              </a:rPr>
              <a:t>Inference parameters</a:t>
            </a:r>
            <a:r>
              <a:rPr lang="en-US" dirty="0">
                <a:latin typeface="Calibri" panose="020F0502020204030204" pitchFamily="34" charset="0"/>
              </a:rPr>
              <a:t>, such as maximum length and stop sequences, manage the output generation process. Maximum length sets an upper limit on the number of tokens generated, while stop sequences are specific tokens or phrases that signal the model to terminate generation.</a:t>
            </a:r>
          </a:p>
          <a:p>
            <a:endParaRPr lang="en-US" dirty="0">
              <a:effectLst/>
              <a:latin typeface="Calibri" panose="020F0502020204030204" pitchFamily="34" charset="0"/>
            </a:endParaRPr>
          </a:p>
          <a:p>
            <a:r>
              <a:rPr lang="en-US" dirty="0">
                <a:effectLst/>
                <a:latin typeface="Calibri" panose="020F0502020204030204" pitchFamily="34" charset="0"/>
              </a:rPr>
              <a:t>Adjusting parameters can be useful for specific use cases, such as increasing temperature for creative writing or decreasing top p and top k for more controlled outputs.</a:t>
            </a:r>
          </a:p>
          <a:p>
            <a:pPr>
              <a:defRPr/>
            </a:pPr>
            <a:r>
              <a:rPr lang="en-US" dirty="0">
                <a:latin typeface="Calibri" panose="020F0502020204030204" pitchFamily="34" charset="0"/>
              </a:rPr>
              <a:t>.</a:t>
            </a:r>
          </a:p>
        </p:txBody>
      </p:sp>
    </p:spTree>
    <p:extLst>
      <p:ext uri="{BB962C8B-B14F-4D97-AF65-F5344CB8AC3E}">
        <p14:creationId xmlns:p14="http://schemas.microsoft.com/office/powerpoint/2010/main" val="3164042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dirty="0">
                <a:latin typeface="Calibri" panose="020F0502020204030204" pitchFamily="34" charset="0"/>
              </a:rPr>
              <a:t>|INSTRUCTOR NOTES:</a:t>
            </a:r>
          </a:p>
          <a:p>
            <a:pPr indent="-171450">
              <a:buChar char="•"/>
            </a:pPr>
            <a:r>
              <a:rPr lang="en-US" dirty="0">
                <a:latin typeface="Calibri" panose="020F0502020204030204" pitchFamily="34" charset="0"/>
              </a:rPr>
              <a:t>|Walk through the updated prompt example.</a:t>
            </a:r>
          </a:p>
          <a:p>
            <a:pPr indent="-171450">
              <a:buChar char="•"/>
            </a:pPr>
            <a:r>
              <a:rPr lang="en-US" dirty="0">
                <a:latin typeface="Calibri" panose="020F0502020204030204" pitchFamily="34" charset="0"/>
              </a:rPr>
              <a:t>|Highlight the improvements made to the prompt.</a:t>
            </a:r>
          </a:p>
          <a:p>
            <a:pPr indent="-171450">
              <a:buChar char="•"/>
            </a:pPr>
            <a:r>
              <a:rPr lang="en-US" dirty="0">
                <a:latin typeface="Calibri" panose="020F0502020204030204" pitchFamily="34" charset="0"/>
              </a:rPr>
              <a:t>|Discuss how these changes can lead to better AI output.</a:t>
            </a:r>
          </a:p>
          <a:p>
            <a:pPr indent="-171450">
              <a:buChar char="•"/>
            </a:pPr>
            <a:r>
              <a:rPr lang="en-US" dirty="0">
                <a:latin typeface="Calibri" panose="020F0502020204030204" pitchFamily="34" charset="0"/>
              </a:rPr>
              <a:t>|This is a great opportunity to demonstrate how the temperature and Top P effect the output of the LLM.</a:t>
            </a:r>
          </a:p>
          <a:p>
            <a:r>
              <a:rPr lang="en-US" dirty="0">
                <a:latin typeface="Calibri" panose="020F0502020204030204" pitchFamily="34" charset="0"/>
              </a:rPr>
              <a:t>|</a:t>
            </a:r>
          </a:p>
          <a:p>
            <a:r>
              <a:rPr lang="en-US" dirty="0">
                <a:latin typeface="Calibri" panose="020F0502020204030204" pitchFamily="34" charset="0"/>
              </a:rPr>
              <a:t>|STUDENT NOTES:</a:t>
            </a:r>
          </a:p>
          <a:p>
            <a:r>
              <a:rPr lang="en-US" dirty="0">
                <a:latin typeface="Calibri" panose="020F0502020204030204" pitchFamily="34" charset="0"/>
              </a:rPr>
              <a:t>This example shows best practices for generating a comprehensive market analysis report. The prompt incorporates specific parameter settings, with high temperature and Top P values to encourage creative output, while maintaining a maximum length of 5,000 tokens for manageability.</a:t>
            </a:r>
          </a:p>
          <a:p>
            <a:endParaRPr lang="en-US" dirty="0">
              <a:latin typeface="Calibri" panose="020F0502020204030204" pitchFamily="34" charset="0"/>
            </a:endParaRPr>
          </a:p>
          <a:p>
            <a:r>
              <a:rPr lang="en-US" dirty="0">
                <a:latin typeface="Calibri" panose="020F0502020204030204" pitchFamily="34" charset="0"/>
              </a:rPr>
              <a:t>The prompt provides clear context by specifying the focus on the finance industry and the target audience of small and medium-sized businesses (SMBs). It uses directives to structure the response into specific sections, including an executive summary, industry overview, target audience analysis, competitive landscape, product opportunity and recommendations, and financial projections.</a:t>
            </a:r>
          </a:p>
          <a:p>
            <a:endParaRPr lang="en-US" dirty="0">
              <a:latin typeface="Calibri" panose="020F0502020204030204" pitchFamily="34" charset="0"/>
            </a:endParaRPr>
          </a:p>
          <a:p>
            <a:r>
              <a:rPr lang="en-US" dirty="0">
                <a:latin typeface="Calibri" panose="020F0502020204030204" pitchFamily="34" charset="0"/>
              </a:rPr>
              <a:t>The updated prompt offers specific guidance to the AI model. This increases the likelihood of generating a high-quality, relevant market analysis report. This approach demonstrates how careful prompt design can significantly improve the quality and relevance of AI-generated content for business applications.</a:t>
            </a:r>
          </a:p>
        </p:txBody>
      </p:sp>
    </p:spTree>
    <p:extLst>
      <p:ext uri="{BB962C8B-B14F-4D97-AF65-F5344CB8AC3E}">
        <p14:creationId xmlns:p14="http://schemas.microsoft.com/office/powerpoint/2010/main" val="143913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|Recap the main topics covered in the module.</a:t>
            </a:r>
          </a:p>
          <a:p>
            <a:pPr indent="-171450">
              <a:buChar char="•"/>
              <a:defRPr/>
            </a:pPr>
            <a:r>
              <a:rPr lang="en-US" dirty="0">
                <a:solidFill>
                  <a:srgbClr val="000000"/>
                </a:solidFill>
                <a:latin typeface="Calibri" panose="020F0502020204030204" pitchFamily="34" charset="0"/>
              </a:rPr>
              <a:t>|Highlight key takeaways and best practices.</a:t>
            </a:r>
          </a:p>
          <a:p>
            <a:pPr indent="-171450">
              <a:buChar char="•"/>
              <a:defRPr/>
            </a:pPr>
            <a:r>
              <a:rPr lang="en-US" dirty="0">
                <a:solidFill>
                  <a:srgbClr val="000000"/>
                </a:solidFill>
                <a:latin typeface="Calibri" panose="020F0502020204030204" pitchFamily="34" charset="0"/>
              </a:rPr>
              <a:t>|Encourage students to apply these concepts in their work.</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This module has provided a comprehensive overview of prompt engineering techniques and best practices for working with generative AI models. You’ve explored various prompting strategies, including zero-shot, few-shot, chain-of-thought, and tree of thoughts approaches, understanding how each can be applied to improve AI outputs.</a:t>
            </a:r>
          </a:p>
        </p:txBody>
      </p:sp>
    </p:spTree>
    <p:extLst>
      <p:ext uri="{BB962C8B-B14F-4D97-AF65-F5344CB8AC3E}">
        <p14:creationId xmlns:p14="http://schemas.microsoft.com/office/powerpoint/2010/main" val="1982671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91B7A-7CC5-9DE2-E8CF-FD74098055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8B5010-037A-2573-FDAE-CA5E70F96BE9}"/>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1DED50CC-3112-3DE3-15C6-879E9542B22C}"/>
              </a:ext>
            </a:extLst>
          </p:cNvPr>
          <p:cNvSpPr>
            <a:spLocks noGrp="1"/>
          </p:cNvSpPr>
          <p:nvPr>
            <p:ph type="body" idx="1"/>
          </p:nvPr>
        </p:nvSpPr>
        <p:spPr>
          <a:xfrm>
            <a:off x="317500" y="3810000"/>
            <a:ext cx="7112000" cy="5588000"/>
          </a:xfrm>
        </p:spPr>
        <p:txBody>
          <a:bodyPr/>
          <a:lstStyle/>
          <a:p>
            <a:r>
              <a:rPr lang="en-US">
                <a:effectLst/>
                <a:latin typeface="Calibri" panose="020F0502020204030204" pitchFamily="34" charset="0"/>
              </a:rPr>
              <a:t>|</a:t>
            </a:r>
            <a:r>
              <a:rPr lang="en-US" dirty="0">
                <a:effectLst/>
                <a:latin typeface="Calibri" panose="020F0502020204030204" pitchFamily="34" charset="0"/>
              </a:rPr>
              <a:t>INSTRUCTOR NOTES:</a:t>
            </a:r>
          </a:p>
          <a:p>
            <a:pPr marL="171450" lvl="0" indent="-171450">
              <a:buFont typeface="Arial" panose="020B0604020202020204" pitchFamily="34" charset="0"/>
              <a:buChar char="•"/>
            </a:pPr>
            <a:r>
              <a:rPr lang="en-US" dirty="0">
                <a:effectLst/>
                <a:latin typeface="Calibri" panose="020F0502020204030204" pitchFamily="34" charset="0"/>
              </a:rPr>
              <a:t>|Recap the core dimensions of responsible AI.</a:t>
            </a:r>
          </a:p>
          <a:p>
            <a:pPr marL="171450" lvl="0" indent="-171450">
              <a:buFont typeface="Arial" panose="020B0604020202020204" pitchFamily="34" charset="0"/>
              <a:buChar char="•"/>
            </a:pPr>
            <a:r>
              <a:rPr lang="en-US" dirty="0">
                <a:effectLst/>
                <a:latin typeface="Calibri" panose="020F0502020204030204" pitchFamily="34" charset="0"/>
              </a:rPr>
              <a:t>|Emphasize the importance of responsible AI for generative AI applications.</a:t>
            </a:r>
          </a:p>
          <a:p>
            <a:pPr marL="171450" lvl="0" indent="-171450">
              <a:buFont typeface="Arial" panose="020B0604020202020204" pitchFamily="34" charset="0"/>
              <a:buChar char="•"/>
            </a:pPr>
            <a:r>
              <a:rPr lang="en-US" dirty="0">
                <a:effectLst/>
                <a:latin typeface="Calibri" panose="020F0502020204030204" pitchFamily="34" charset="0"/>
              </a:rPr>
              <a:t>|Highlight AWS services and tools that support responsible AI practices.</a:t>
            </a:r>
          </a:p>
          <a:p>
            <a:pPr marL="0" indent="0">
              <a:buFont typeface="Arial" panose="020B0604020202020204" pitchFamily="34" charset="0"/>
              <a:buNone/>
            </a:pPr>
            <a:r>
              <a:rPr lang="en-US" dirty="0">
                <a:effectLst/>
                <a:latin typeface="Calibri" panose="020F0502020204030204" pitchFamily="34" charset="0"/>
              </a:rPr>
              <a:t>|</a:t>
            </a:r>
          </a:p>
          <a:p>
            <a:r>
              <a:rPr lang="en-US" dirty="0">
                <a:effectLst/>
                <a:latin typeface="Calibri" panose="020F0502020204030204" pitchFamily="34" charset="0"/>
              </a:rPr>
              <a:t>|STUDENT NOTES:</a:t>
            </a:r>
          </a:p>
          <a:p>
            <a:r>
              <a:rPr lang="en-US" dirty="0">
                <a:effectLst/>
                <a:latin typeface="Calibri" panose="020F0502020204030204" pitchFamily="34" charset="0"/>
              </a:rPr>
              <a:t>This module covered essential prompt engineering techniques for working with generative AI models. You learned about key strategies such as zero-shot, few-shot, and chain-of-thought prompting to improve AI outputs. The module emphasized best practices for designing effective prompts, including clarity, context-setting, and specificity.</a:t>
            </a:r>
          </a:p>
          <a:p>
            <a:endParaRPr lang="en-US" dirty="0">
              <a:effectLst/>
              <a:latin typeface="Calibri" panose="020F0502020204030204" pitchFamily="34" charset="0"/>
            </a:endParaRPr>
          </a:p>
          <a:p>
            <a:r>
              <a:rPr lang="en-US" dirty="0">
                <a:effectLst/>
                <a:latin typeface="Calibri" panose="020F0502020204030204" pitchFamily="34" charset="0"/>
              </a:rPr>
              <a:t>You explored how to optimize model parameters such as temperature and Top P to control output characteristics such as creativity and coherence. You also learned about techniques to refine and constrain AI-generated content to improve quality and relevance.</a:t>
            </a:r>
          </a:p>
          <a:p>
            <a:br>
              <a:rPr lang="en-US" dirty="0">
                <a:effectLst/>
                <a:latin typeface="Calibri" panose="020F0502020204030204" pitchFamily="34" charset="0"/>
              </a:rPr>
            </a:br>
            <a:r>
              <a:rPr lang="en-US" dirty="0">
                <a:effectLst/>
                <a:latin typeface="Calibri" panose="020F0502020204030204" pitchFamily="34" charset="0"/>
              </a:rPr>
              <a:t>Through hands-on labs, you gained practical experience in prompt development and optimization. You learned to craft prompts that elicit desired responses from AI models and evaluate the effectiveness of different prompting approaches.</a:t>
            </a:r>
          </a:p>
          <a:p>
            <a:endParaRPr lang="en-US" dirty="0">
              <a:effectLst/>
              <a:latin typeface="Calibri" panose="020F0502020204030204" pitchFamily="34" charset="0"/>
            </a:endParaRPr>
          </a:p>
          <a:p>
            <a:r>
              <a:rPr lang="en-US" dirty="0">
                <a:effectLst/>
                <a:latin typeface="Calibri" panose="020F0502020204030204" pitchFamily="34" charset="0"/>
              </a:rPr>
              <a:t>This module equipped you with the knowledge and skills to use prompt engineering for more effective and tailored AI outputs across various applications. You now have a solid foundation for continued experimentation and improvement in working with generative AI technologies.</a:t>
            </a:r>
            <a:endParaRPr lang="en-US" dirty="0">
              <a:latin typeface="Calibri" panose="020F0502020204030204" pitchFamily="34" charset="0"/>
            </a:endParaRPr>
          </a:p>
        </p:txBody>
      </p:sp>
    </p:spTree>
    <p:extLst>
      <p:ext uri="{BB962C8B-B14F-4D97-AF65-F5344CB8AC3E}">
        <p14:creationId xmlns:p14="http://schemas.microsoft.com/office/powerpoint/2010/main" val="3592153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b="1" dirty="0">
                <a:latin typeface="Calibri" panose="020F0502020204030204" pitchFamily="34" charset="0"/>
              </a:rPr>
              <a:t>Module 3: Essentials of Prompt Engineering</a:t>
            </a:r>
          </a:p>
          <a:p>
            <a:endParaRPr lang="en-US" b="1" dirty="0">
              <a:effectLst/>
              <a:latin typeface="Calibri" panose="020F0502020204030204" pitchFamily="34" charset="0"/>
            </a:endParaRPr>
          </a:p>
          <a:p>
            <a:r>
              <a:rPr lang="en-US" b="1" kern="1200" dirty="0">
                <a:solidFill>
                  <a:schemeClr val="tx1"/>
                </a:solidFill>
                <a:effectLst/>
                <a:latin typeface="Calibri" panose="020F0502020204030204" pitchFamily="34" charset="0"/>
                <a:ea typeface="+mn-ea"/>
                <a:cs typeface="+mn-cs"/>
              </a:rPr>
              <a:t>Introduction to prompt engineering:</a:t>
            </a:r>
          </a:p>
          <a:p>
            <a:r>
              <a:rPr lang="en-US" b="0" i="0" u="none" strike="noStrike" kern="1200" dirty="0">
                <a:solidFill>
                  <a:schemeClr val="tx1"/>
                </a:solidFill>
                <a:effectLst/>
                <a:latin typeface="Calibri" panose="020F0502020204030204" pitchFamily="34" charset="0"/>
                <a:ea typeface="+mn-ea"/>
                <a:cs typeface="+mn-cs"/>
                <a:hlinkClick r:id="rId3"/>
              </a:rPr>
              <a:t>https://docs.aws.amazon.com/bedrock/latest/userguide/prompt-engineering-guidelines.html</a:t>
            </a:r>
            <a:endParaRPr lang="en-US" b="0" i="0" kern="1200" dirty="0">
              <a:solidFill>
                <a:schemeClr val="tx1"/>
              </a:solidFill>
              <a:effectLst/>
              <a:latin typeface="Calibri" panose="020F0502020204030204" pitchFamily="34" charset="0"/>
              <a:ea typeface="+mn-ea"/>
              <a:cs typeface="+mn-cs"/>
            </a:endParaRPr>
          </a:p>
          <a:p>
            <a:r>
              <a:rPr lang="en-US" b="0" i="0" u="none" strike="noStrike" kern="1200" dirty="0">
                <a:solidFill>
                  <a:schemeClr val="tx1"/>
                </a:solidFill>
                <a:effectLst/>
                <a:latin typeface="Calibri" panose="020F0502020204030204" pitchFamily="34" charset="0"/>
                <a:ea typeface="+mn-ea"/>
                <a:cs typeface="+mn-cs"/>
                <a:hlinkClick r:id="rId4"/>
              </a:rPr>
              <a:t>https://docs.aws.amazon.com/sagemaker/latest/dg/jumpstart-foundation-models-customize-prompt-engineering.html</a:t>
            </a:r>
            <a:endParaRPr lang="en-US" b="0" i="0" kern="1200" dirty="0">
              <a:solidFill>
                <a:schemeClr val="tx1"/>
              </a:solidFill>
              <a:effectLst/>
              <a:latin typeface="Calibri" panose="020F0502020204030204" pitchFamily="34" charset="0"/>
              <a:ea typeface="+mn-ea"/>
              <a:cs typeface="+mn-cs"/>
            </a:endParaRPr>
          </a:p>
          <a:p>
            <a:endParaRPr lang="en-US" b="1" kern="1200" dirty="0">
              <a:solidFill>
                <a:schemeClr val="tx1"/>
              </a:solidFill>
              <a:effectLst/>
              <a:latin typeface="Calibri" panose="020F0502020204030204" pitchFamily="34" charset="0"/>
              <a:ea typeface="+mn-ea"/>
              <a:cs typeface="+mn-cs"/>
            </a:endParaRPr>
          </a:p>
          <a:p>
            <a:r>
              <a:rPr lang="en-US" b="1" kern="1200" dirty="0">
                <a:solidFill>
                  <a:schemeClr val="tx1"/>
                </a:solidFill>
                <a:effectLst/>
                <a:latin typeface="Calibri" panose="020F0502020204030204" pitchFamily="34" charset="0"/>
                <a:ea typeface="+mn-ea"/>
                <a:cs typeface="+mn-cs"/>
              </a:rPr>
              <a:t>Prompt design best practices:</a:t>
            </a:r>
          </a:p>
          <a:p>
            <a:pPr marL="0" marR="0" lvl="0" indent="0" defTabSz="914400" rtl="0" eaLnBrk="1" fontAlgn="auto" latinLnBrk="0" hangingPunct="1">
              <a:buClrTx/>
              <a:buSzTx/>
              <a:buFontTx/>
              <a:buNone/>
              <a:tabLst/>
              <a:defRPr/>
            </a:pPr>
            <a:r>
              <a:rPr lang="en-US" dirty="0">
                <a:effectLst/>
                <a:latin typeface="Calibri" panose="020F0502020204030204" pitchFamily="34" charset="0"/>
              </a:rPr>
              <a:t>https://promptengineering.org/master-prompt-engineering-demystifying-prompting-through-a-structured-approach/</a:t>
            </a:r>
          </a:p>
          <a:p>
            <a:endParaRPr lang="en-US" dirty="0">
              <a:effectLst/>
              <a:latin typeface="Calibri" panose="020F0502020204030204" pitchFamily="34" charset="0"/>
            </a:endParaRPr>
          </a:p>
          <a:p>
            <a:r>
              <a:rPr lang="en-US" b="1" kern="1200" dirty="0">
                <a:solidFill>
                  <a:schemeClr val="tx1"/>
                </a:solidFill>
                <a:effectLst/>
                <a:latin typeface="Calibri" panose="020F0502020204030204" pitchFamily="34" charset="0"/>
                <a:ea typeface="+mn-ea"/>
                <a:cs typeface="+mn-cs"/>
              </a:rPr>
              <a:t>Advanced prompting strategies:</a:t>
            </a:r>
          </a:p>
          <a:p>
            <a:r>
              <a:rPr lang="en-US" dirty="0">
                <a:effectLst/>
                <a:latin typeface="Calibri" panose="020F0502020204030204" pitchFamily="34" charset="0"/>
              </a:rPr>
              <a:t>https://docs.aws.amazon.com/bedrock/latest/userguide/retrieval-augmented-generation.html</a:t>
            </a:r>
          </a:p>
          <a:p>
            <a:r>
              <a:rPr lang="en-US" dirty="0">
                <a:effectLst/>
                <a:latin typeface="Calibri" panose="020F0502020204030204" pitchFamily="34" charset="0"/>
              </a:rPr>
              <a:t>https://</a:t>
            </a:r>
            <a:r>
              <a:rPr lang="en-US" dirty="0" err="1">
                <a:effectLst/>
                <a:latin typeface="Calibri" panose="020F0502020204030204" pitchFamily="34" charset="0"/>
              </a:rPr>
              <a:t>docs.aws.amazon.com</a:t>
            </a:r>
            <a:r>
              <a:rPr lang="en-US" dirty="0">
                <a:effectLst/>
                <a:latin typeface="Calibri" panose="020F0502020204030204" pitchFamily="34" charset="0"/>
              </a:rPr>
              <a:t>/bedrock/latest/</a:t>
            </a:r>
            <a:r>
              <a:rPr lang="en-US" dirty="0" err="1">
                <a:effectLst/>
                <a:latin typeface="Calibri" panose="020F0502020204030204" pitchFamily="34" charset="0"/>
              </a:rPr>
              <a:t>userguide</a:t>
            </a:r>
            <a:r>
              <a:rPr lang="en-US" dirty="0">
                <a:effectLst/>
                <a:latin typeface="Calibri" panose="020F0502020204030204" pitchFamily="34" charset="0"/>
              </a:rPr>
              <a:t>/</a:t>
            </a:r>
            <a:r>
              <a:rPr lang="en-US" dirty="0" err="1">
                <a:effectLst/>
                <a:latin typeface="Calibri" panose="020F0502020204030204" pitchFamily="34" charset="0"/>
              </a:rPr>
              <a:t>agents.html</a:t>
            </a:r>
            <a:endParaRPr lang="en-US" dirty="0">
              <a:effectLst/>
              <a:latin typeface="Calibri" panose="020F0502020204030204" pitchFamily="34" charset="0"/>
            </a:endParaRPr>
          </a:p>
          <a:p>
            <a:endParaRPr lang="en-US" dirty="0">
              <a:effectLst/>
              <a:latin typeface="Calibri" panose="020F0502020204030204" pitchFamily="34" charset="0"/>
            </a:endParaRPr>
          </a:p>
          <a:p>
            <a:r>
              <a:rPr lang="en-US" b="1" kern="1200" dirty="0">
                <a:solidFill>
                  <a:schemeClr val="tx1"/>
                </a:solidFill>
                <a:effectLst/>
                <a:latin typeface="Calibri" panose="020F0502020204030204" pitchFamily="34" charset="0"/>
                <a:ea typeface="+mn-ea"/>
                <a:cs typeface="+mn-cs"/>
              </a:rPr>
              <a:t>Model settings and parameters:</a:t>
            </a:r>
          </a:p>
          <a:p>
            <a:r>
              <a:rPr lang="en-US" dirty="0">
                <a:effectLst/>
                <a:latin typeface="Calibri" panose="020F0502020204030204" pitchFamily="34" charset="0"/>
              </a:rPr>
              <a:t>https://</a:t>
            </a:r>
            <a:r>
              <a:rPr lang="en-US" dirty="0" err="1">
                <a:effectLst/>
                <a:latin typeface="Calibri" panose="020F0502020204030204" pitchFamily="34" charset="0"/>
              </a:rPr>
              <a:t>docs.aws.amazon.com</a:t>
            </a:r>
            <a:r>
              <a:rPr lang="en-US" dirty="0">
                <a:effectLst/>
                <a:latin typeface="Calibri" panose="020F0502020204030204" pitchFamily="34" charset="0"/>
              </a:rPr>
              <a:t>/bedrock/latest/</a:t>
            </a:r>
            <a:r>
              <a:rPr lang="en-US" dirty="0" err="1">
                <a:effectLst/>
                <a:latin typeface="Calibri" panose="020F0502020204030204" pitchFamily="34" charset="0"/>
              </a:rPr>
              <a:t>userguide</a:t>
            </a:r>
            <a:r>
              <a:rPr lang="en-US" dirty="0">
                <a:effectLst/>
                <a:latin typeface="Calibri" panose="020F0502020204030204" pitchFamily="34" charset="0"/>
              </a:rPr>
              <a:t>/model-</a:t>
            </a:r>
            <a:r>
              <a:rPr lang="en-US" dirty="0" err="1">
                <a:effectLst/>
                <a:latin typeface="Calibri" panose="020F0502020204030204" pitchFamily="34" charset="0"/>
              </a:rPr>
              <a:t>parameters.html</a:t>
            </a:r>
            <a:endParaRPr lang="en-US" dirty="0">
              <a:effectLst/>
              <a:latin typeface="Calibri" panose="020F0502020204030204" pitchFamily="34" charset="0"/>
            </a:endParaRPr>
          </a:p>
          <a:p>
            <a:endParaRPr lang="en-US" dirty="0">
              <a:effectLst/>
            </a:endParaRPr>
          </a:p>
        </p:txBody>
      </p:sp>
    </p:spTree>
    <p:extLst>
      <p:ext uri="{BB962C8B-B14F-4D97-AF65-F5344CB8AC3E}">
        <p14:creationId xmlns:p14="http://schemas.microsoft.com/office/powerpoint/2010/main" val="26990139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858E-665F-ACAA-6958-B125A5C95F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97340-04C6-42D9-D993-F636937B01B5}"/>
              </a:ext>
            </a:extLst>
          </p:cNvPr>
          <p:cNvSpPr>
            <a:spLocks noGrp="1" noRot="1" noChangeAspect="1"/>
          </p:cNvSpPr>
          <p:nvPr>
            <p:ph type="sldImg"/>
          </p:nvPr>
        </p:nvSpPr>
        <p:spPr>
          <a:xfrm>
            <a:off x="1143000" y="635000"/>
            <a:ext cx="5486400" cy="3086100"/>
          </a:xfrm>
        </p:spPr>
      </p:sp>
      <p:sp>
        <p:nvSpPr>
          <p:cNvPr id="3" name="Notes Placeholder 2">
            <a:extLst>
              <a:ext uri="{FF2B5EF4-FFF2-40B4-BE49-F238E27FC236}">
                <a16:creationId xmlns:a16="http://schemas.microsoft.com/office/drawing/2014/main" id="{9292E6DF-2CB5-9AE9-E03D-2DABA75BA165}"/>
              </a:ext>
            </a:extLst>
          </p:cNvPr>
          <p:cNvSpPr>
            <a:spLocks noGrp="1"/>
          </p:cNvSpPr>
          <p:nvPr>
            <p:ph type="body" idx="1"/>
          </p:nvPr>
        </p:nvSpPr>
        <p:spPr>
          <a:xfrm>
            <a:off x="317500" y="3810000"/>
            <a:ext cx="7112000" cy="5588000"/>
          </a:xfrm>
        </p:spPr>
        <p:txBody>
          <a:bodyPr/>
          <a:lstStyle/>
          <a:p>
            <a:pPr>
              <a:defRPr/>
            </a:pPr>
            <a:r>
              <a:rPr lang="en-US">
                <a:solidFill>
                  <a:srgbClr val="000000"/>
                </a:solidFill>
                <a:latin typeface="Calibri" panose="020F0502020204030204" pitchFamily="34" charset="0"/>
              </a:rPr>
              <a:t>|</a:t>
            </a:r>
            <a:r>
              <a:rPr lang="en-US" dirty="0">
                <a:solidFill>
                  <a:srgbClr val="000000"/>
                </a:solidFill>
                <a:latin typeface="Calibri" panose="020F0502020204030204" pitchFamily="34" charset="0"/>
              </a:rPr>
              <a:t>INSTRUCTOR NOTES:</a:t>
            </a:r>
          </a:p>
          <a:p>
            <a:pPr indent="-171450">
              <a:buChar char="•"/>
              <a:defRPr/>
            </a:pPr>
            <a:r>
              <a:rPr lang="en-US" dirty="0">
                <a:solidFill>
                  <a:srgbClr val="000000"/>
                </a:solidFill>
                <a:latin typeface="Calibri" panose="020F0502020204030204" pitchFamily="34" charset="0"/>
              </a:rPr>
              <a:t>|Introduce the lab objectives and structure.</a:t>
            </a:r>
          </a:p>
          <a:p>
            <a:pPr indent="-171450">
              <a:buChar char="•"/>
              <a:defRPr/>
            </a:pPr>
            <a:r>
              <a:rPr lang="en-US" dirty="0">
                <a:solidFill>
                  <a:srgbClr val="000000"/>
                </a:solidFill>
                <a:latin typeface="Calibri" panose="020F0502020204030204" pitchFamily="34" charset="0"/>
              </a:rPr>
              <a:t>|Explain the different prompt engineering techniques to be explored.</a:t>
            </a:r>
          </a:p>
          <a:p>
            <a:pPr indent="-171450">
              <a:buChar char="•"/>
              <a:defRPr/>
            </a:pPr>
            <a:r>
              <a:rPr lang="en-US" dirty="0">
                <a:solidFill>
                  <a:srgbClr val="000000"/>
                </a:solidFill>
                <a:latin typeface="Calibri" panose="020F0502020204030204" pitchFamily="34" charset="0"/>
              </a:rPr>
              <a:t>|Discuss evaluation criteria for assessing prompt effectiveness.</a:t>
            </a:r>
          </a:p>
          <a:p>
            <a:pPr>
              <a:defRPr/>
            </a:pPr>
            <a:r>
              <a:rPr lang="en-US" dirty="0">
                <a:solidFill>
                  <a:srgbClr val="000000"/>
                </a:solidFill>
                <a:latin typeface="Calibri" panose="020F0502020204030204" pitchFamily="34" charset="0"/>
              </a:rPr>
              <a:t>|</a:t>
            </a:r>
          </a:p>
          <a:p>
            <a:pPr>
              <a:defRPr/>
            </a:pPr>
            <a:r>
              <a:rPr lang="en-US" dirty="0">
                <a:solidFill>
                  <a:srgbClr val="000000"/>
                </a:solidFill>
                <a:latin typeface="Calibri" panose="020F0502020204030204" pitchFamily="34" charset="0"/>
              </a:rPr>
              <a:t>|STUDENT NOTES:</a:t>
            </a:r>
          </a:p>
          <a:p>
            <a:pPr>
              <a:defRPr/>
            </a:pPr>
            <a:r>
              <a:rPr lang="en-US" dirty="0">
                <a:solidFill>
                  <a:srgbClr val="000000"/>
                </a:solidFill>
                <a:latin typeface="Calibri" panose="020F0502020204030204" pitchFamily="34" charset="0"/>
              </a:rPr>
              <a:t>This lab focuses on prompt development and optimization, so you can experiment with various prompt engineering techniques and evaluate their impact on AI model outputs. You explore techniques such as zero-shot prompting, few-shot prompting, and chain-of-thought prompting.</a:t>
            </a:r>
          </a:p>
        </p:txBody>
      </p:sp>
    </p:spTree>
    <p:extLst>
      <p:ext uri="{BB962C8B-B14F-4D97-AF65-F5344CB8AC3E}">
        <p14:creationId xmlns:p14="http://schemas.microsoft.com/office/powerpoint/2010/main" val="25701167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588000"/>
          </a:xfrm>
        </p:spPr>
        <p:txBody>
          <a:bodyPr/>
          <a:lstStyle/>
          <a:p>
            <a:r>
              <a:rPr lang="en-US">
                <a:latin typeface="Calibri" panose="020F0502020204030204" pitchFamily="34" charset="0"/>
              </a:rPr>
              <a:t>|</a:t>
            </a:r>
            <a:r>
              <a:rPr lang="en-US" dirty="0">
                <a:latin typeface="Calibri" panose="020F0502020204030204" pitchFamily="34" charset="0"/>
              </a:rPr>
              <a:t>INSTRUCTOR NOTES:</a:t>
            </a:r>
          </a:p>
          <a:p>
            <a:pPr indent="-171450">
              <a:buChar char="•"/>
            </a:pPr>
            <a:r>
              <a:rPr lang="en-US" dirty="0">
                <a:latin typeface="Calibri" panose="020F0502020204030204" pitchFamily="34" charset="0"/>
              </a:rPr>
              <a:t>|Explain the lab structure and objectives.</a:t>
            </a:r>
          </a:p>
          <a:p>
            <a:pPr indent="-171450">
              <a:buChar char="•"/>
            </a:pPr>
            <a:r>
              <a:rPr lang="en-US" dirty="0">
                <a:latin typeface="Calibri" panose="020F0502020204030204" pitchFamily="34" charset="0"/>
              </a:rPr>
              <a:t>|Discuss the importance of experimentation in prompt design.</a:t>
            </a:r>
          </a:p>
          <a:p>
            <a:pPr indent="-171450">
              <a:buChar char="•"/>
            </a:pPr>
            <a:r>
              <a:rPr lang="en-US" dirty="0">
                <a:latin typeface="Calibri" panose="020F0502020204030204" pitchFamily="34" charset="0"/>
              </a:rPr>
              <a:t>|Highlight key considerations for effective prompt engineering.</a:t>
            </a:r>
          </a:p>
          <a:p>
            <a:r>
              <a:rPr lang="en-US" dirty="0">
                <a:latin typeface="Calibri" panose="020F0502020204030204" pitchFamily="34" charset="0"/>
              </a:rPr>
              <a:t>|</a:t>
            </a:r>
          </a:p>
          <a:p>
            <a:r>
              <a:rPr lang="en-US"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In this lab, you use Amazon Bedrock and Claude Sonnet to generate advertising slogans for a marketing agency. You’ll start with basic prompts and progressively refine them using prompt engineering techniques to create more effective and tailored slogans.</a:t>
            </a:r>
            <a:endParaRPr lang="en-US" dirty="0">
              <a:latin typeface="Calibri" panose="020F0502020204030204" pitchFamily="34" charset="0"/>
            </a:endParaRPr>
          </a:p>
        </p:txBody>
      </p:sp>
    </p:spTree>
    <p:extLst>
      <p:ext uri="{BB962C8B-B14F-4D97-AF65-F5344CB8AC3E}">
        <p14:creationId xmlns:p14="http://schemas.microsoft.com/office/powerpoint/2010/main" val="34409435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Instructor 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Copyright2">
            <a:extLst>
              <a:ext uri="{FF2B5EF4-FFF2-40B4-BE49-F238E27FC236}">
                <a16:creationId xmlns:a16="http://schemas.microsoft.com/office/drawing/2014/main" id="{AEC675BC-58BB-4673-805C-9A0CBCFDC30C}"/>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2065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Welcome">
            <a:extLst>
              <a:ext uri="{FF2B5EF4-FFF2-40B4-BE49-F238E27FC236}">
                <a16:creationId xmlns:a16="http://schemas.microsoft.com/office/drawing/2014/main" id="{9232F6EE-4B67-4345-A23C-59998C651704}"/>
              </a:ext>
            </a:extLst>
          </p:cNvPr>
          <p:cNvSpPr>
            <a:spLocks noGrp="1"/>
          </p:cNvSpPr>
          <p:nvPr>
            <p:ph type="body" idx="5" hasCustomPrompt="1"/>
          </p:nvPr>
        </p:nvSpPr>
        <p:spPr>
          <a:xfrm>
            <a:off x="1395765" y="587375"/>
            <a:ext cx="3110146" cy="480131"/>
          </a:xfrm>
          <a:noFill/>
        </p:spPr>
        <p:txBody>
          <a:bodyPr wrap="none" rtlCol="0">
            <a:noAutofit/>
          </a:bodyPr>
          <a:lstStyle>
            <a:lvl1pPr marL="0" indent="0" algn="ctr">
              <a:buNone/>
              <a:defRPr lang="en-US" dirty="0" smtClean="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buNone/>
              <a:defRPr lang="en-US" sz="1800" dirty="0" smtClean="0">
                <a:solidFill>
                  <a:schemeClr val="tx1"/>
                </a:solidFill>
                <a:latin typeface="+mn-lt"/>
                <a:ea typeface="+mn-ea"/>
                <a:cs typeface="+mn-cs"/>
              </a:defRPr>
            </a:lvl2pPr>
            <a:lvl3pPr marL="227012" indent="0">
              <a:buNone/>
              <a:defRPr lang="en-US" sz="1800" dirty="0" smtClean="0">
                <a:solidFill>
                  <a:schemeClr val="tx1"/>
                </a:solidFill>
                <a:latin typeface="+mn-lt"/>
                <a:ea typeface="+mn-ea"/>
                <a:cs typeface="+mn-cs"/>
              </a:defRPr>
            </a:lvl3pPr>
            <a:lvl4pPr marL="455612" indent="0">
              <a:buNone/>
              <a:defRPr lang="en-US" dirty="0" smtClean="0">
                <a:solidFill>
                  <a:schemeClr val="tx1"/>
                </a:solidFill>
                <a:latin typeface="+mn-lt"/>
                <a:ea typeface="+mn-ea"/>
                <a:cs typeface="+mn-cs"/>
              </a:defRPr>
            </a:lvl4pPr>
            <a:lvl5pPr marL="684212" indent="0">
              <a:buNone/>
              <a:defRPr lang="en-US" dirty="0">
                <a:solidFill>
                  <a:schemeClr val="tx1"/>
                </a:solidFill>
                <a:latin typeface="+mn-lt"/>
                <a:ea typeface="+mn-ea"/>
                <a:cs typeface="+mn-cs"/>
              </a:defRPr>
            </a:lvl5pPr>
          </a:lstStyle>
          <a:p>
            <a:pPr marL="0" lvl="0" algn="ctr"/>
            <a:r>
              <a:rPr lang="en-US" dirty="0"/>
              <a:t>Type: Welcome to</a:t>
            </a:r>
          </a:p>
        </p:txBody>
      </p:sp>
      <p:sp>
        <p:nvSpPr>
          <p:cNvPr id="9" name="Title"/>
          <p:cNvSpPr>
            <a:spLocks noGrp="1"/>
          </p:cNvSpPr>
          <p:nvPr>
            <p:ph type="title" idx="1" hasCustomPrompt="1"/>
          </p:nvPr>
        </p:nvSpPr>
        <p:spPr>
          <a:xfrm>
            <a:off x="228600" y="1179576"/>
            <a:ext cx="5440680" cy="3401568"/>
          </a:xfrm>
        </p:spPr>
        <p:txBody>
          <a:bodyPr anchor="t">
            <a:normAutofit/>
          </a:bodyPr>
          <a:lstStyle>
            <a:lvl1pPr algn="ctr">
              <a:defRPr sz="3600">
                <a:solidFill>
                  <a:schemeClr val="bg1"/>
                </a:solidFill>
                <a:latin typeface="Amazon Ember Display Heavy" panose="020F0803020204020204" pitchFamily="34" charset="0"/>
              </a:defRPr>
            </a:lvl1pPr>
          </a:lstStyle>
          <a:p>
            <a:r>
              <a:rPr lang="en-US" dirty="0"/>
              <a:t>Enter course title</a:t>
            </a:r>
          </a:p>
        </p:txBody>
      </p:sp>
      <p:sp>
        <p:nvSpPr>
          <p:cNvPr id="6" name="Begin">
            <a:extLst>
              <a:ext uri="{FF2B5EF4-FFF2-40B4-BE49-F238E27FC236}">
                <a16:creationId xmlns:a16="http://schemas.microsoft.com/office/drawing/2014/main" id="{4C9D10C3-7B9B-40BA-98BE-153026F5FC64}"/>
              </a:ext>
            </a:extLst>
          </p:cNvPr>
          <p:cNvSpPr>
            <a:spLocks noGrp="1"/>
          </p:cNvSpPr>
          <p:nvPr>
            <p:ph type="body" idx="6" hasCustomPrompt="1"/>
          </p:nvPr>
        </p:nvSpPr>
        <p:spPr>
          <a:xfrm>
            <a:off x="228600" y="4884381"/>
            <a:ext cx="5440680" cy="523220"/>
          </a:xfrm>
          <a:blipFill>
            <a:blip r:embed="rId4"/>
            <a:stretch>
              <a:fillRect/>
            </a:stretch>
          </a:blipFill>
        </p:spPr>
        <p:txBody>
          <a:bodyPr wrap="none" rtlCol="0">
            <a:noAutofit/>
          </a:bodyPr>
          <a:lstStyle>
            <a:lvl1pPr marL="0" indent="0">
              <a:buNone/>
              <a:defRPr lang="en-US" dirty="0" smtClean="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0" indent="0">
              <a:buNone/>
              <a:defRPr lang="en-US" sz="1800" dirty="0" smtClean="0">
                <a:solidFill>
                  <a:schemeClr val="tx1"/>
                </a:solidFill>
                <a:latin typeface="+mn-lt"/>
                <a:ea typeface="+mn-ea"/>
                <a:cs typeface="+mn-cs"/>
              </a:defRPr>
            </a:lvl2pPr>
            <a:lvl3pPr marL="227012" indent="0">
              <a:buNone/>
              <a:defRPr lang="en-US" sz="1800" dirty="0" smtClean="0">
                <a:solidFill>
                  <a:schemeClr val="tx1"/>
                </a:solidFill>
                <a:latin typeface="+mn-lt"/>
                <a:ea typeface="+mn-ea"/>
                <a:cs typeface="+mn-cs"/>
              </a:defRPr>
            </a:lvl3pPr>
            <a:lvl4pPr marL="455612" indent="0">
              <a:buNone/>
              <a:defRPr lang="en-US" dirty="0" smtClean="0">
                <a:solidFill>
                  <a:schemeClr val="tx1"/>
                </a:solidFill>
                <a:latin typeface="+mn-lt"/>
                <a:ea typeface="+mn-ea"/>
                <a:cs typeface="+mn-cs"/>
              </a:defRPr>
            </a:lvl4pPr>
            <a:lvl5pPr marL="684212" indent="0">
              <a:buNone/>
              <a:defRPr lang="en-US" dirty="0">
                <a:solidFill>
                  <a:schemeClr val="tx1"/>
                </a:solidFill>
                <a:latin typeface="+mn-lt"/>
                <a:ea typeface="+mn-ea"/>
                <a:cs typeface="+mn-cs"/>
              </a:defRPr>
            </a:lvl5pPr>
          </a:lstStyle>
          <a:p>
            <a:pPr marL="0" lvl="0" algn="ctr"/>
            <a:r>
              <a:rPr lang="en-US" dirty="0"/>
              <a:t>Type: This training will begin:</a:t>
            </a:r>
          </a:p>
        </p:txBody>
      </p:sp>
      <p:sp>
        <p:nvSpPr>
          <p:cNvPr id="2" name="TimeZone">
            <a:extLst>
              <a:ext uri="{FF2B5EF4-FFF2-40B4-BE49-F238E27FC236}">
                <a16:creationId xmlns:a16="http://schemas.microsoft.com/office/drawing/2014/main" id="{15FEBCEE-35B5-4CBC-BD60-FE197957D654}"/>
              </a:ext>
            </a:extLst>
          </p:cNvPr>
          <p:cNvSpPr>
            <a:spLocks noGrp="1"/>
          </p:cNvSpPr>
          <p:nvPr>
            <p:ph type="body" idx="2" hasCustomPrompt="1"/>
          </p:nvPr>
        </p:nvSpPr>
        <p:spPr>
          <a:xfrm>
            <a:off x="228600" y="5463827"/>
            <a:ext cx="5440680" cy="627245"/>
          </a:xfrm>
        </p:spPr>
        <p:txBody>
          <a:bodyPr anchor="t">
            <a:normAutofit/>
          </a:bodyPr>
          <a:lstStyle>
            <a:lvl1pPr marL="0" indent="0" algn="ctr">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course start time and time zone</a:t>
            </a:r>
          </a:p>
        </p:txBody>
      </p:sp>
      <p:sp>
        <p:nvSpPr>
          <p:cNvPr id="7" name="Instructor">
            <a:extLst>
              <a:ext uri="{FF2B5EF4-FFF2-40B4-BE49-F238E27FC236}">
                <a16:creationId xmlns:a16="http://schemas.microsoft.com/office/drawing/2014/main" id="{BB33D3C1-5E97-49DF-AE65-C137387749BA}"/>
              </a:ext>
            </a:extLst>
          </p:cNvPr>
          <p:cNvSpPr>
            <a:spLocks noGrp="1"/>
          </p:cNvSpPr>
          <p:nvPr>
            <p:ph type="body" idx="7" hasCustomPrompt="1"/>
          </p:nvPr>
        </p:nvSpPr>
        <p:spPr>
          <a:xfrm>
            <a:off x="7641186" y="381721"/>
            <a:ext cx="4263440" cy="523220"/>
          </a:xfrm>
          <a:blipFill>
            <a:blip r:embed="rId5"/>
            <a:stretch>
              <a:fillRect/>
            </a:stretch>
          </a:blipFill>
        </p:spPr>
        <p:txBody>
          <a:bodyPr wrap="none" rtlCol="0" anchor="ctr">
            <a:noAutofit/>
          </a:bodyPr>
          <a:lstStyle>
            <a:lvl1pPr marL="0" indent="0">
              <a:buNone/>
              <a:defRPr lang="en-US" dirty="0" smtClean="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a:r>
              <a:rPr lang="en-US" dirty="0"/>
              <a:t>Type: Your instructor is:</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22" hasCustomPrompt="1"/>
          </p:nvPr>
        </p:nvSpPr>
        <p:spPr>
          <a:xfrm>
            <a:off x="6030786" y="440360"/>
            <a:ext cx="1584325" cy="1581912"/>
          </a:xfrm>
          <a:solidFill>
            <a:schemeClr val="bg1"/>
          </a:solidFill>
        </p:spPr>
        <p:txBody>
          <a:bodyPr>
            <a:normAutofit/>
          </a:bodyPr>
          <a:lstStyle>
            <a:lvl1pPr marL="0" indent="0" algn="ctr">
              <a:buNone/>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Instructor photo</a:t>
            </a:r>
          </a:p>
        </p:txBody>
      </p:sp>
      <p:sp>
        <p:nvSpPr>
          <p:cNvPr id="3" name="Instructor Information">
            <a:extLst>
              <a:ext uri="{FF2B5EF4-FFF2-40B4-BE49-F238E27FC236}">
                <a16:creationId xmlns:a16="http://schemas.microsoft.com/office/drawing/2014/main" id="{09913C86-F9D2-40F4-BFE6-F0C9EF282B5E}"/>
              </a:ext>
            </a:extLst>
          </p:cNvPr>
          <p:cNvSpPr>
            <a:spLocks noGrp="1"/>
          </p:cNvSpPr>
          <p:nvPr>
            <p:ph type="body" idx="3" hasCustomPrompt="1"/>
          </p:nvPr>
        </p:nvSpPr>
        <p:spPr>
          <a:xfrm>
            <a:off x="7641186" y="1002529"/>
            <a:ext cx="4261253" cy="1021776"/>
          </a:xfrm>
        </p:spPr>
        <p:txBody>
          <a:bodyPr anchor="t">
            <a:normAutofit/>
          </a:bodyPr>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3" name="Certifications Photo">
            <a:extLst>
              <a:ext uri="{FF2B5EF4-FFF2-40B4-BE49-F238E27FC236}">
                <a16:creationId xmlns:a16="http://schemas.microsoft.com/office/drawing/2014/main" id="{5EC4E533-CE33-4590-A00C-A2DC85ACB3BF}"/>
              </a:ext>
              <a:ext uri="{C183D7F6-B498-43B3-948B-1728B52AA6E4}">
                <adec:decorative xmlns:adec="http://schemas.microsoft.com/office/drawing/2017/decorative" val="1"/>
              </a:ext>
            </a:extLst>
          </p:cNvPr>
          <p:cNvSpPr>
            <a:spLocks noGrp="1"/>
          </p:cNvSpPr>
          <p:nvPr>
            <p:ph idx="23" hasCustomPrompt="1"/>
          </p:nvPr>
        </p:nvSpPr>
        <p:spPr>
          <a:xfrm>
            <a:off x="6016915" y="2255896"/>
            <a:ext cx="5897880" cy="1581912"/>
          </a:xfrm>
          <a:solidFill>
            <a:schemeClr val="bg1"/>
          </a:solidFill>
        </p:spPr>
        <p:txBody>
          <a:bodyPr>
            <a:normAutofit/>
          </a:bodyPr>
          <a:lstStyle>
            <a:lvl1pPr marL="0" indent="0" algn="ctr">
              <a:buNone/>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Placeholder for instructor certification icon images</a:t>
            </a:r>
          </a:p>
        </p:txBody>
      </p:sp>
      <p:sp>
        <p:nvSpPr>
          <p:cNvPr id="8" name="Connect">
            <a:extLst>
              <a:ext uri="{FF2B5EF4-FFF2-40B4-BE49-F238E27FC236}">
                <a16:creationId xmlns:a16="http://schemas.microsoft.com/office/drawing/2014/main" id="{184A9DBC-1B09-48A1-9B47-4CDF5BCBF7AC}"/>
              </a:ext>
            </a:extLst>
          </p:cNvPr>
          <p:cNvSpPr>
            <a:spLocks noGrp="1"/>
          </p:cNvSpPr>
          <p:nvPr>
            <p:ph type="body" idx="8" hasCustomPrompt="1"/>
          </p:nvPr>
        </p:nvSpPr>
        <p:spPr>
          <a:xfrm>
            <a:off x="6016916" y="4172310"/>
            <a:ext cx="5897880" cy="587703"/>
          </a:xfrm>
          <a:blipFill>
            <a:blip r:embed="rId5"/>
            <a:stretch>
              <a:fillRect/>
            </a:stretch>
          </a:blipFill>
        </p:spPr>
        <p:txBody>
          <a:bodyPr wrap="none" rtlCol="0" anchor="ctr">
            <a:noAutofit/>
          </a:bodyPr>
          <a:lstStyle>
            <a:lvl1pPr marL="0" indent="0">
              <a:buNone/>
              <a:defRPr lang="en-US" dirty="0" smtClean="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a:r>
              <a:rPr lang="en-US" dirty="0"/>
              <a:t>Type: Important information</a:t>
            </a:r>
          </a:p>
        </p:txBody>
      </p:sp>
      <p:sp>
        <p:nvSpPr>
          <p:cNvPr id="4" name="Resources">
            <a:extLst>
              <a:ext uri="{FF2B5EF4-FFF2-40B4-BE49-F238E27FC236}">
                <a16:creationId xmlns:a16="http://schemas.microsoft.com/office/drawing/2014/main" id="{B7141889-281C-44C1-8554-B9EEA8D5FF40}"/>
              </a:ext>
            </a:extLst>
          </p:cNvPr>
          <p:cNvSpPr>
            <a:spLocks noGrp="1"/>
          </p:cNvSpPr>
          <p:nvPr>
            <p:ph type="body" idx="4" hasCustomPrompt="1"/>
          </p:nvPr>
        </p:nvSpPr>
        <p:spPr>
          <a:xfrm>
            <a:off x="6016915" y="4884381"/>
            <a:ext cx="5897881" cy="1533258"/>
          </a:xfrm>
        </p:spPr>
        <p:txBody>
          <a:bodyPr anchor="t">
            <a:normAutofit/>
          </a:bodyPr>
          <a:lstStyle>
            <a:lvl1pPr marL="0" indent="0" algn="l">
              <a:spcBef>
                <a:spcPts val="0"/>
              </a:spcBef>
              <a:spcAft>
                <a:spcPts val="0"/>
              </a:spcAft>
              <a:buNone/>
              <a:defRPr sz="1800" baseline="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or any other resources the student needs to have loaded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Copyright2">
            <a:extLst>
              <a:ext uri="{FF2B5EF4-FFF2-40B4-BE49-F238E27FC236}">
                <a16:creationId xmlns:a16="http://schemas.microsoft.com/office/drawing/2014/main" id="{4CB6D22F-1501-4D68-8387-AD327DE51F6D}"/>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5" name="Title"/>
          <p:cNvSpPr>
            <a:spLocks noGrp="1"/>
          </p:cNvSpPr>
          <p:nvPr>
            <p:ph type="title" idx="1" hasCustomPrompt="1"/>
          </p:nvPr>
        </p:nvSpPr>
        <p:spPr>
          <a:xfrm>
            <a:off x="457200" y="1051560"/>
            <a:ext cx="9144000" cy="1673352"/>
          </a:xfrm>
        </p:spPr>
        <p:txBody>
          <a:bodyPr anchor="b">
            <a:normAutofit/>
          </a:bodyPr>
          <a:lstStyle>
            <a:lvl1pPr algn="l">
              <a:defRPr sz="48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8229600" cy="175564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Speaker name">
            <a:extLst>
              <a:ext uri="{FF2B5EF4-FFF2-40B4-BE49-F238E27FC236}">
                <a16:creationId xmlns:a16="http://schemas.microsoft.com/office/drawing/2014/main" id="{6F7020FE-ADDD-441E-A5FA-C6CEED50C04D}"/>
              </a:ext>
            </a:extLst>
          </p:cNvPr>
          <p:cNvSpPr>
            <a:spLocks noGrp="1"/>
          </p:cNvSpPr>
          <p:nvPr>
            <p:ph type="body" idx="3" hasCustomPrompt="1"/>
          </p:nvPr>
        </p:nvSpPr>
        <p:spPr>
          <a:xfrm>
            <a:off x="457200" y="5209027"/>
            <a:ext cx="3797302" cy="369332"/>
          </a:xfrm>
        </p:spPr>
        <p:txBody>
          <a:bodyPr wrap="square"/>
          <a:lstStyle>
            <a:lvl1pPr marL="0" indent="0">
              <a:spcAft>
                <a:spcPts val="0"/>
              </a:spcAft>
              <a:buNone/>
              <a:defRPr sz="2000" b="0" i="0" cap="none" spc="0" baseline="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 (pronouns)</a:t>
            </a:r>
          </a:p>
        </p:txBody>
      </p:sp>
      <p:sp>
        <p:nvSpPr>
          <p:cNvPr id="4" name="Speaker information">
            <a:extLst>
              <a:ext uri="{FF2B5EF4-FFF2-40B4-BE49-F238E27FC236}">
                <a16:creationId xmlns:a16="http://schemas.microsoft.com/office/drawing/2014/main" id="{644D3542-9FEA-4D1A-8F42-0AF8B115886F}"/>
              </a:ext>
            </a:extLst>
          </p:cNvPr>
          <p:cNvSpPr>
            <a:spLocks noGrp="1"/>
          </p:cNvSpPr>
          <p:nvPr>
            <p:ph type="body" idx="4" hasCustomPrompt="1"/>
          </p:nvPr>
        </p:nvSpPr>
        <p:spPr>
          <a:xfrm>
            <a:off x="457200" y="5621815"/>
            <a:ext cx="3797302" cy="823906"/>
          </a:xfrm>
        </p:spPr>
        <p:txBody>
          <a:bodyPr wrap="square"/>
          <a:lstStyle>
            <a:lvl1pPr marL="0" indent="0">
              <a:spcAft>
                <a:spcPts val="300"/>
              </a:spcAft>
              <a:buNone/>
              <a:defRPr sz="16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job title</a:t>
            </a:r>
            <a:br>
              <a:rPr lang="en-US" dirty="0"/>
            </a:br>
            <a:r>
              <a:rPr lang="en-US" dirty="0"/>
              <a:t>Speaker company</a:t>
            </a:r>
          </a:p>
        </p:txBody>
      </p:sp>
    </p:spTree>
    <p:extLst>
      <p:ext uri="{BB962C8B-B14F-4D97-AF65-F5344CB8AC3E}">
        <p14:creationId xmlns:p14="http://schemas.microsoft.com/office/powerpoint/2010/main" val="4284845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Copyright2">
            <a:extLst>
              <a:ext uri="{FF2B5EF4-FFF2-40B4-BE49-F238E27FC236}">
                <a16:creationId xmlns:a16="http://schemas.microsoft.com/office/drawing/2014/main" id="{6D340BCC-F4FE-4255-9966-EFE41CD020D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5" name="Title"/>
          <p:cNvSpPr>
            <a:spLocks noGrp="1"/>
          </p:cNvSpPr>
          <p:nvPr>
            <p:ph type="title" idx="1" hasCustomPrompt="1"/>
          </p:nvPr>
        </p:nvSpPr>
        <p:spPr>
          <a:xfrm>
            <a:off x="457200" y="2503472"/>
            <a:ext cx="8946292" cy="1673352"/>
          </a:xfrm>
        </p:spPr>
        <p:txBody>
          <a:bodyPr anchor="b">
            <a:normAutofit/>
          </a:bodyPr>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Speaker name">
            <a:extLst>
              <a:ext uri="{FF2B5EF4-FFF2-40B4-BE49-F238E27FC236}">
                <a16:creationId xmlns:a16="http://schemas.microsoft.com/office/drawing/2014/main" id="{6F7020FE-ADDD-441E-A5FA-C6CEED50C04D}"/>
              </a:ext>
            </a:extLst>
          </p:cNvPr>
          <p:cNvSpPr>
            <a:spLocks noGrp="1"/>
          </p:cNvSpPr>
          <p:nvPr>
            <p:ph type="body" idx="3" hasCustomPrompt="1"/>
          </p:nvPr>
        </p:nvSpPr>
        <p:spPr>
          <a:xfrm>
            <a:off x="457200" y="5209027"/>
            <a:ext cx="3797302" cy="369332"/>
          </a:xfrm>
        </p:spPr>
        <p:txBody>
          <a:bodyPr wrap="square"/>
          <a:lstStyle>
            <a:lvl1pPr marL="0" indent="0">
              <a:spcAft>
                <a:spcPts val="0"/>
              </a:spcAft>
              <a:buNone/>
              <a:defRPr sz="2000" b="0" i="0" cap="none" spc="0" baseline="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 (pronouns)</a:t>
            </a:r>
          </a:p>
        </p:txBody>
      </p:sp>
      <p:sp>
        <p:nvSpPr>
          <p:cNvPr id="4" name="Speaker information">
            <a:extLst>
              <a:ext uri="{FF2B5EF4-FFF2-40B4-BE49-F238E27FC236}">
                <a16:creationId xmlns:a16="http://schemas.microsoft.com/office/drawing/2014/main" id="{644D3542-9FEA-4D1A-8F42-0AF8B115886F}"/>
              </a:ext>
            </a:extLst>
          </p:cNvPr>
          <p:cNvSpPr>
            <a:spLocks noGrp="1"/>
          </p:cNvSpPr>
          <p:nvPr>
            <p:ph type="body" idx="4" hasCustomPrompt="1"/>
          </p:nvPr>
        </p:nvSpPr>
        <p:spPr>
          <a:xfrm>
            <a:off x="457200" y="5621815"/>
            <a:ext cx="3797302" cy="823906"/>
          </a:xfrm>
        </p:spPr>
        <p:txBody>
          <a:bodyPr wrap="square"/>
          <a:lstStyle>
            <a:lvl1pPr marL="0" indent="0">
              <a:spcAft>
                <a:spcPts val="300"/>
              </a:spcAft>
              <a:buNone/>
              <a:defRPr sz="16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job title</a:t>
            </a:r>
            <a:br>
              <a:rPr lang="en-US" dirty="0"/>
            </a:br>
            <a:r>
              <a:rPr lang="en-US" dirty="0"/>
              <a:t>Speaker company</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6881C5DD-B2C2-4F8F-B42F-FA9D4153093C}"/>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2545492"/>
            <a:ext cx="6456405" cy="2446876"/>
          </a:xfrm>
        </p:spPr>
        <p:txBody>
          <a:bodyPr anchor="b"/>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63F4DE19-A5E6-4E1D-9662-E440EF691A4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2545492"/>
            <a:ext cx="9144000" cy="2446876"/>
          </a:xfrm>
        </p:spPr>
        <p:txBody>
          <a:bodyPr anchor="b"/>
          <a:lstStyle>
            <a:lvl1pPr algn="l">
              <a:defRPr sz="4400">
                <a:solidFill>
                  <a:schemeClr val="bg1"/>
                </a:solidFill>
                <a:latin typeface="Amazon Ember Display Heavy" panose="020F0803020204020204" pitchFamily="34" charset="0"/>
              </a:defRPr>
            </a:lvl1pPr>
          </a:lstStyle>
          <a:p>
            <a:r>
              <a:rPr lang="en-US" dirty="0"/>
              <a:t>Enter course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9144000" cy="995898"/>
          </a:xfrm>
        </p:spPr>
        <p:txBody>
          <a:bodyPr>
            <a:normAutofit/>
          </a:bodyPr>
          <a:lstStyle>
            <a:lvl1pPr marL="0" indent="0" algn="l">
              <a:buNone/>
              <a:defRPr sz="32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B5873F94-74CC-4127-A934-8F1BDCBDFF9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365760" y="1541983"/>
            <a:ext cx="8481678" cy="1188720"/>
          </a:xfrm>
        </p:spPr>
        <p:txBody>
          <a:bodyPr anchor="b">
            <a:normAutofit/>
          </a:bodyPr>
          <a:lstStyle>
            <a:lvl1pPr algn="l">
              <a:defRPr sz="3600">
                <a:solidFill>
                  <a:schemeClr val="bg1"/>
                </a:solidFill>
                <a:latin typeface="Amazon Ember Display Heavy" panose="020F0803020204020204" pitchFamily="34" charset="0"/>
              </a:defRPr>
            </a:lvl1pPr>
          </a:lstStyle>
          <a:p>
            <a:r>
              <a:rPr lang="en-US" dirty="0"/>
              <a:t>Enter module/topic title</a:t>
            </a:r>
          </a:p>
        </p:txBody>
      </p:sp>
      <p:sp>
        <p:nvSpPr>
          <p:cNvPr id="2" name="Cours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oAutofit/>
          </a:bodyPr>
          <a:lstStyle>
            <a:lvl1pPr marL="0" indent="0">
              <a:buNone/>
              <a:defRPr sz="2000">
                <a:solidFill>
                  <a:schemeClr val="bg1"/>
                </a:solidFill>
                <a:latin typeface="Amazon Ember Display" panose="020F0603020204020204" pitchFamily="34" charset="0"/>
              </a:defRPr>
            </a:lvl1pPr>
          </a:lstStyle>
          <a:p>
            <a:pPr lvl="0"/>
            <a:r>
              <a:rPr lang="en-US" dirty="0"/>
              <a:t>Enter course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710514" y="2743200"/>
            <a:ext cx="8141118" cy="3657600"/>
          </a:xfrm>
        </p:spPr>
        <p:txBody>
          <a:bodyPr/>
          <a:lstStyle>
            <a:lvl1pPr marL="0" indent="0">
              <a:buNone/>
              <a:defRPr>
                <a:solidFill>
                  <a:schemeClr val="bg1"/>
                </a:solidFill>
                <a:latin typeface="Amazon Ember Display" panose="020F0603020204020204" pitchFamily="34" charset="0"/>
              </a:defRPr>
            </a:lvl1pPr>
          </a:lstStyle>
          <a:p>
            <a:pPr lvl="0"/>
            <a:r>
              <a:rPr lang="en-US" dirty="0"/>
              <a:t>Enter topic list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Module Outlin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3266E750-ABA1-4CD3-8330-4847A84C0D19}"/>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365760" y="1541983"/>
            <a:ext cx="8481678" cy="1188720"/>
          </a:xfrm>
        </p:spPr>
        <p:txBody>
          <a:bodyPr anchor="b">
            <a:normAutofit/>
          </a:bodyPr>
          <a:lstStyle>
            <a:lvl1pPr algn="l">
              <a:defRPr sz="3600">
                <a:solidFill>
                  <a:schemeClr val="bg1"/>
                </a:solidFill>
                <a:latin typeface="Amazon Ember Display Heavy" panose="020F0803020204020204" pitchFamily="34" charset="0"/>
              </a:defRPr>
            </a:lvl1pPr>
          </a:lstStyle>
          <a:p>
            <a:r>
              <a:rPr lang="en-US" dirty="0"/>
              <a:t>Enter module/topic title</a:t>
            </a:r>
          </a:p>
        </p:txBody>
      </p:sp>
      <p:sp>
        <p:nvSpPr>
          <p:cNvPr id="2" name="Cours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oAutofit/>
          </a:bodyPr>
          <a:lstStyle>
            <a:lvl1pPr marL="0" indent="0">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course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710514" y="2743200"/>
            <a:ext cx="8141118" cy="3657600"/>
          </a:xfrm>
        </p:spPr>
        <p:txBody>
          <a:bodyPr/>
          <a:lstStyle>
            <a:lvl1pPr marL="0" indent="0">
              <a:buNone/>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topic list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B1CA32D9-60E2-47EE-ACD3-6EACB8558EB3}"/>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365760" y="1709738"/>
            <a:ext cx="9144000" cy="3609846"/>
          </a:xfrm>
        </p:spPr>
        <p:txBody>
          <a:bodyPr anchor="ctr"/>
          <a:lstStyle>
            <a:lvl1pPr algn="l">
              <a:defRPr sz="4000">
                <a:solidFill>
                  <a:schemeClr val="bg1"/>
                </a:solidFill>
                <a:latin typeface="Amazon Ember Display Heavy" panose="020F0803020204020204" pitchFamily="34" charset="0"/>
              </a:defRPr>
            </a:lvl1pPr>
          </a:lstStyle>
          <a:p>
            <a:r>
              <a:rPr lang="en-US" dirty="0"/>
              <a:t>Enter section title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9144000" cy="770066"/>
          </a:xfrm>
        </p:spPr>
        <p:txBody>
          <a:bodyPr/>
          <a:lstStyle>
            <a:lvl1pPr marL="0" indent="0">
              <a:buNone/>
              <a:defRPr sz="2800">
                <a:solidFill>
                  <a:schemeClr val="bg2"/>
                </a:solidFill>
                <a:latin typeface="Amazon Ember Display"/>
              </a:defRPr>
            </a:lvl1pPr>
          </a:lstStyle>
          <a:p>
            <a:r>
              <a:rPr lang="en-US" dirty="0"/>
              <a:t>Attribution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opic Introdu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1">
            <a:extLst>
              <a:ext uri="{FF2B5EF4-FFF2-40B4-BE49-F238E27FC236}">
                <a16:creationId xmlns:a16="http://schemas.microsoft.com/office/drawing/2014/main" id="{C5DD5FB1-2FF7-4BDD-A1C5-B5802858225D}"/>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413500" y="65405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4037B1B0-0345-4E15-985A-6BECCDBE474F}" type="slidenum">
              <a:rPr lang="en-US" smtClean="0"/>
              <a:pPr/>
              <a:t>‹#›</a:t>
            </a:fld>
            <a:endParaRPr lang="en-US" dirty="0"/>
          </a:p>
        </p:txBody>
      </p:sp>
      <p:sp>
        <p:nvSpPr>
          <p:cNvPr id="4" name="Title"/>
          <p:cNvSpPr>
            <a:spLocks noGrp="1"/>
          </p:cNvSpPr>
          <p:nvPr>
            <p:ph type="title" idx="1" hasCustomPrompt="1"/>
          </p:nvPr>
        </p:nvSpPr>
        <p:spPr>
          <a:xfrm>
            <a:off x="243242" y="292099"/>
            <a:ext cx="4062057" cy="1866901"/>
          </a:xfrm>
        </p:spPr>
        <p:txBody>
          <a:bodyPr anchor="t"/>
          <a:lstStyle>
            <a:lvl1pPr algn="ctr">
              <a:defRPr sz="3600">
                <a:solidFill>
                  <a:schemeClr val="bg1"/>
                </a:solidFill>
                <a:latin typeface="Amazon Ember Display Heavy" panose="020F0803020204020204" pitchFamily="34" charset="0"/>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Amazon Ember Display" panose="020F0603020204020204" pitchFamily="34" charset="0"/>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600"/>
              </a:spcAft>
              <a:defRPr sz="2800">
                <a:solidFill>
                  <a:srgbClr val="232F3E"/>
                </a:solidFill>
                <a:latin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0495C740-9089-44D7-8300-D71D7FEA52D9}"/>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3" name="Title"/>
          <p:cNvSpPr>
            <a:spLocks noGrp="1"/>
          </p:cNvSpPr>
          <p:nvPr>
            <p:ph type="title" idx="1" hasCustomPrompt="1"/>
          </p:nvPr>
        </p:nvSpPr>
        <p:spPr>
          <a:xfrm>
            <a:off x="457200" y="1256247"/>
            <a:ext cx="7998031" cy="4049824"/>
          </a:xfrm>
        </p:spPr>
        <p:txBody>
          <a:bodyPr anchor="ctr"/>
          <a:lstStyle>
            <a:lvl1pPr algn="l">
              <a:defRPr sz="4800">
                <a:solidFill>
                  <a:schemeClr val="bg1"/>
                </a:solidFill>
                <a:latin typeface="Amazon Ember Display Heavy" panose="020F0803020204020204" pitchFamily="34" charset="0"/>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sz="1800">
                <a:solidFill>
                  <a:schemeClr val="bg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a:t>
            </a:r>
            <a:r>
              <a:rPr lang="en-US" sz="1800" u="sng" dirty="0">
                <a:solidFill>
                  <a:srgbClr val="F1F3F3"/>
                </a:solidFill>
              </a:rPr>
              <a:t>https://support.aws.amazon.com/#/contacts/aws-training</a:t>
            </a:r>
            <a:r>
              <a:rPr lang="en-US" sz="1800" dirty="0">
                <a:solidFill>
                  <a:srgbClr val="F1F3F3"/>
                </a:solidFill>
              </a:rPr>
              <a:t>. </a:t>
            </a:r>
            <a:br>
              <a:rPr lang="en-US" sz="1800" dirty="0">
                <a:solidFill>
                  <a:srgbClr val="F1F3F3"/>
                </a:solidFill>
              </a:rPr>
            </a:br>
            <a:r>
              <a:rPr lang="en-US" sz="1800" dirty="0">
                <a:solidFill>
                  <a:srgbClr val="F1F3F3"/>
                </a:solidFill>
              </a:rPr>
              <a:t>All trademarks are the property of their owners.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p:nvPr>
        </p:nvSpPr>
        <p:spPr>
          <a:xfrm>
            <a:off x="365760" y="299526"/>
            <a:ext cx="11466576" cy="731318"/>
          </a:xfrm>
        </p:spPr>
        <p:txBody>
          <a:bodyPr/>
          <a:lstStyle>
            <a:lvl1pPr>
              <a:defRPr>
                <a:solidFill>
                  <a:schemeClr val="tx2"/>
                </a:solidFill>
                <a:latin typeface="Amazon Ember Display Heavy" panose="020F0803020204020204" pitchFamily="34" charset="0"/>
              </a:defRPr>
            </a:lvl1pPr>
          </a:lstStyle>
          <a:p>
            <a:r>
              <a:rPr lang="en-US"/>
              <a:t>Click to edit Master title style</a:t>
            </a:r>
            <a:endParaRPr lang="en-US" dirty="0"/>
          </a:p>
        </p:txBody>
      </p:sp>
      <p:sp>
        <p:nvSpPr>
          <p:cNvPr id="3"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chemeClr val="tx1"/>
                </a:solidFill>
                <a:latin typeface="Amazon Ember Display" panose="020F0603020204020204" pitchFamily="34" charset="0"/>
              </a:defRPr>
            </a:lvl1pPr>
            <a:lvl2pPr marL="461963" indent="-228600">
              <a:lnSpc>
                <a:spcPct val="100000"/>
              </a:lnSpc>
              <a:spcBef>
                <a:spcPts val="500"/>
              </a:spcBef>
              <a:spcAft>
                <a:spcPts val="600"/>
              </a:spcAft>
              <a:defRPr>
                <a:solidFill>
                  <a:schemeClr val="tx1"/>
                </a:solidFill>
                <a:latin typeface="Amazon Ember Display" panose="020F0603020204020204" pitchFamily="34" charset="0"/>
              </a:defRPr>
            </a:lvl2pPr>
            <a:lvl3pPr marL="682625" indent="-228600">
              <a:lnSpc>
                <a:spcPct val="100000"/>
              </a:lnSpc>
              <a:spcBef>
                <a:spcPts val="500"/>
              </a:spcBef>
              <a:spcAft>
                <a:spcPts val="600"/>
              </a:spcAft>
              <a:defRPr>
                <a:solidFill>
                  <a:schemeClr val="tx1"/>
                </a:solidFill>
                <a:latin typeface="Amazon Ember Display" panose="020F0603020204020204" pitchFamily="34" charset="0"/>
              </a:defRPr>
            </a:lvl3pPr>
            <a:lvl4pPr marL="914400" indent="-228600">
              <a:lnSpc>
                <a:spcPct val="100000"/>
              </a:lnSpc>
              <a:spcBef>
                <a:spcPts val="500"/>
              </a:spcBef>
              <a:spcAft>
                <a:spcPts val="600"/>
              </a:spcAft>
              <a:defRPr>
                <a:solidFill>
                  <a:schemeClr val="tx1"/>
                </a:solidFill>
                <a:latin typeface="Amazon Ember Display" panose="020F0603020204020204" pitchFamily="34" charset="0"/>
              </a:defRPr>
            </a:lvl4pPr>
            <a:lvl5pPr marL="1146175" indent="-228600">
              <a:lnSpc>
                <a:spcPct val="100000"/>
              </a:lnSpc>
              <a:spcBef>
                <a:spcPts val="500"/>
              </a:spcBef>
              <a:spcAft>
                <a:spcPts val="600"/>
              </a:spcAft>
              <a:defRPr>
                <a:solidFill>
                  <a:schemeClr val="tx1"/>
                </a:solidFill>
                <a:latin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299526"/>
            <a:ext cx="11466576" cy="731318"/>
          </a:xfrm>
        </p:spPr>
        <p:txBody>
          <a:bodyPr/>
          <a:lstStyle/>
          <a:p>
            <a:r>
              <a:rPr lang="en-US" dirty="0"/>
              <a:t>Title and code</a:t>
            </a:r>
          </a:p>
        </p:txBody>
      </p:sp>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Column, and Small Picture" type="picTx" preserve="1">
  <p:cSld name="Title, 2/3 Column, and Small Pi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2/3 Column, and picture</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10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2625"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6175" indent="-228600">
              <a:lnSpc>
                <a:spcPct val="100000"/>
              </a:lnSpc>
              <a:spcBef>
                <a:spcPts val="500"/>
              </a:spcBef>
              <a:spcAft>
                <a:spcPts val="600"/>
              </a:spcAft>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4196227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Tree>
    <p:extLst>
      <p:ext uri="{BB962C8B-B14F-4D97-AF65-F5344CB8AC3E}">
        <p14:creationId xmlns:p14="http://schemas.microsoft.com/office/powerpoint/2010/main" val="1455254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buNone/>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Autofit/>
          </a:bodyPr>
          <a:lstStyle>
            <a:lvl1pPr>
              <a:lnSpc>
                <a:spcPct val="100000"/>
              </a:lnSpc>
              <a:spcAft>
                <a:spcPts val="600"/>
              </a:spcAft>
              <a:defRPr sz="32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492668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1"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buNone/>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0" bIns="0">
            <a:noAutofit/>
          </a:bodyPr>
          <a:lstStyle>
            <a:lvl1pPr marL="0" indent="0">
              <a:lnSpc>
                <a:spcPct val="100000"/>
              </a:lnSpc>
              <a:spcBef>
                <a:spcPts val="0"/>
              </a:spcBef>
              <a:spcAft>
                <a:spcPts val="300"/>
              </a:spcAft>
              <a:buNone/>
              <a:defRPr sz="2400">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benefit description</a:t>
            </a:r>
          </a:p>
        </p:txBody>
      </p:sp>
    </p:spTree>
    <p:extLst>
      <p:ext uri="{BB962C8B-B14F-4D97-AF65-F5344CB8AC3E}">
        <p14:creationId xmlns:p14="http://schemas.microsoft.com/office/powerpoint/2010/main" val="1089390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ColTx" preserve="1">
  <p:cSld name="Title and 2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2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211591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ColTx" preserve="1">
  <p:cSld name="Title, Narrow, and Wi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narrow left, and wide right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177460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ColTx" preserve="1">
  <p:cSld name="Title, Content, and Co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content, and code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extLst>
      <p:ext uri="{BB962C8B-B14F-4D97-AF65-F5344CB8AC3E}">
        <p14:creationId xmlns:p14="http://schemas.microsoft.com/office/powerpoint/2010/main" val="22115917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2 code columns</a:t>
            </a:r>
          </a:p>
        </p:txBody>
      </p:sp>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chemeClr val="tx2"/>
                </a:solidFill>
                <a:latin typeface="Lucida Console" panose="020B0609040504020204" pitchFamily="49" charset="0"/>
              </a:defRPr>
            </a:lvl1pPr>
          </a:lstStyle>
          <a:p>
            <a:pPr lvl="0"/>
            <a:r>
              <a:rPr lang="en-US" dirty="0"/>
              <a:t>; Syntax Test file for 68k Assembly code</a:t>
            </a:r>
          </a:p>
        </p:txBody>
      </p:sp>
    </p:spTree>
    <p:extLst>
      <p:ext uri="{BB962C8B-B14F-4D97-AF65-F5344CB8AC3E}">
        <p14:creationId xmlns:p14="http://schemas.microsoft.com/office/powerpoint/2010/main" val="36769996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and 2 text columns</a:t>
            </a:r>
          </a:p>
        </p:txBody>
      </p:sp>
      <p:sp>
        <p:nvSpPr>
          <p:cNvPr id="12" name="Content Header">
            <a:extLst>
              <a:ext uri="{FF2B5EF4-FFF2-40B4-BE49-F238E27FC236}">
                <a16:creationId xmlns:a16="http://schemas.microsoft.com/office/drawing/2014/main" id="{D3D38857-ABB9-4328-9879-2061BA2AABDF}"/>
              </a:ext>
            </a:extLst>
          </p:cNvPr>
          <p:cNvSpPr>
            <a:spLocks noGrp="1"/>
          </p:cNvSpPr>
          <p:nvPr>
            <p:ph type="body" idx="12" hasCustomPrompt="1"/>
          </p:nvPr>
        </p:nvSpPr>
        <p:spPr>
          <a:xfrm>
            <a:off x="365760" y="1053311"/>
            <a:ext cx="1146048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9422201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Title"/>
          <p:cNvSpPr>
            <a:spLocks noGrp="1"/>
          </p:cNvSpPr>
          <p:nvPr>
            <p:ph type="title" idx="1" hasCustomPrompt="1"/>
          </p:nvPr>
        </p:nvSpPr>
        <p:spPr>
          <a:xfrm>
            <a:off x="365760" y="301752"/>
            <a:ext cx="11466576" cy="731318"/>
          </a:xfrm>
        </p:spPr>
        <p:txBody>
          <a:bodyPr/>
          <a:lstStyle>
            <a:lvl1pPr>
              <a:defRPr>
                <a:solidFill>
                  <a:schemeClr val="tx2"/>
                </a:solidFill>
                <a:latin typeface="Amazon Ember Display Heavy" panose="020F0803020204020204" pitchFamily="34" charset="0"/>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blipFill>
            <a:blip r:embed="rId2"/>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600"/>
              </a:spcAft>
              <a:defRPr sz="2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blipFill>
            <a:blip r:embed="rId3"/>
            <a:stretch>
              <a:fillRect/>
            </a:stretch>
          </a:blipFill>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600"/>
              </a:spcAft>
              <a:defRPr sz="2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9630830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blipFill>
            <a:blip r:embed="rId2"/>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Autofit/>
          </a:bodyPr>
          <a:lstStyle>
            <a:lvl1pPr>
              <a:lnSpc>
                <a:spcPct val="100000"/>
              </a:lnSpc>
              <a:spcAft>
                <a:spcPts val="600"/>
              </a:spcAft>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Tree>
    <p:extLst>
      <p:ext uri="{BB962C8B-B14F-4D97-AF65-F5344CB8AC3E}">
        <p14:creationId xmlns:p14="http://schemas.microsoft.com/office/powerpoint/2010/main" val="2795371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chemeClr val="tx2"/>
                </a:solidFill>
                <a:latin typeface="Amazon Ember Display Heavy" panose="020F0803020204020204" pitchFamily="34" charset="0"/>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2" name="Header Left">
            <a:extLst>
              <a:ext uri="{FF2B5EF4-FFF2-40B4-BE49-F238E27FC236}">
                <a16:creationId xmlns:a16="http://schemas.microsoft.com/office/drawing/2014/main" id="{C1580834-D282-4C2E-B552-F4E3E13297CB}"/>
              </a:ext>
            </a:extLst>
          </p:cNvPr>
          <p:cNvSpPr>
            <a:spLocks noGrp="1"/>
          </p:cNvSpPr>
          <p:nvPr>
            <p:ph type="body" idx="12" hasCustomPrompt="1"/>
          </p:nvPr>
        </p:nvSpPr>
        <p:spPr>
          <a:xfrm>
            <a:off x="365760" y="3438166"/>
            <a:ext cx="566928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3" name="Header Right">
            <a:extLst>
              <a:ext uri="{FF2B5EF4-FFF2-40B4-BE49-F238E27FC236}">
                <a16:creationId xmlns:a16="http://schemas.microsoft.com/office/drawing/2014/main" id="{8AD42DBE-FFA1-41B9-9A17-70DDB0EAE929}"/>
              </a:ext>
            </a:extLst>
          </p:cNvPr>
          <p:cNvSpPr>
            <a:spLocks noGrp="1"/>
          </p:cNvSpPr>
          <p:nvPr>
            <p:ph type="body" idx="13" hasCustomPrompt="1"/>
          </p:nvPr>
        </p:nvSpPr>
        <p:spPr>
          <a:xfrm>
            <a:off x="6163056" y="3438166"/>
            <a:ext cx="5669280" cy="440329"/>
          </a:xfrm>
          <a:blipFill>
            <a:blip r:embed="rId4"/>
            <a:stretch>
              <a:fillRect/>
            </a:stretch>
          </a:blipFill>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4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3727651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B0803020204020204" pitchFamily="34" charset="0"/>
              </a:defRPr>
            </a:lvl1pPr>
          </a:lstStyle>
          <a:p>
            <a:r>
              <a:rPr lang="en-US" dirty="0"/>
              <a:t>Title and 3 text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4230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blipFill>
            <a:blip r:embed="rId2"/>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3749040" cy="48737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idx="3" hasCustomPrompt="1"/>
          </p:nvPr>
        </p:nvSpPr>
        <p:spPr>
          <a:xfrm>
            <a:off x="4224528" y="1563624"/>
            <a:ext cx="3749040" cy="48737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blipFill>
            <a:blip r:embed="rId4"/>
            <a:stretch>
              <a:fillRect/>
            </a:stretch>
          </a:blipFill>
          <a:ln>
            <a:noFill/>
          </a:ln>
        </p:spPr>
        <p:txBody>
          <a:bodyPr anchor="ctr">
            <a:no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idx="4" hasCustomPrompt="1"/>
          </p:nvPr>
        </p:nvSpPr>
        <p:spPr>
          <a:xfrm>
            <a:off x="8083296" y="1591056"/>
            <a:ext cx="3749040" cy="4843688"/>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6052548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Header Left">
            <a:extLst>
              <a:ext uri="{FF2B5EF4-FFF2-40B4-BE49-F238E27FC236}">
                <a16:creationId xmlns:a16="http://schemas.microsoft.com/office/drawing/2014/main" id="{CAEBE247-B86A-40E9-BFB3-9C8DA332F82C}"/>
              </a:ext>
            </a:extLst>
          </p:cNvPr>
          <p:cNvSpPr>
            <a:spLocks noGrp="1"/>
          </p:cNvSpPr>
          <p:nvPr>
            <p:ph type="body" idx="12" hasCustomPrompt="1"/>
          </p:nvPr>
        </p:nvSpPr>
        <p:spPr>
          <a:xfrm>
            <a:off x="365760" y="4778888"/>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Content Header Middle">
            <a:extLst>
              <a:ext uri="{FF2B5EF4-FFF2-40B4-BE49-F238E27FC236}">
                <a16:creationId xmlns:a16="http://schemas.microsoft.com/office/drawing/2014/main" id="{77B333CB-3F0B-4E99-B8A7-A696126D4259}"/>
              </a:ext>
            </a:extLst>
          </p:cNvPr>
          <p:cNvSpPr>
            <a:spLocks noGrp="1"/>
          </p:cNvSpPr>
          <p:nvPr>
            <p:ph type="body" idx="13" hasCustomPrompt="1"/>
          </p:nvPr>
        </p:nvSpPr>
        <p:spPr>
          <a:xfrm>
            <a:off x="4224528" y="4778888"/>
            <a:ext cx="3749040" cy="440329"/>
          </a:xfrm>
          <a:blipFill>
            <a:blip r:embed="rId4"/>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Right">
            <a:extLst>
              <a:ext uri="{FF2B5EF4-FFF2-40B4-BE49-F238E27FC236}">
                <a16:creationId xmlns:a16="http://schemas.microsoft.com/office/drawing/2014/main" id="{0E574CD9-FEC9-43EB-8904-0B37F3621FAB}"/>
              </a:ext>
            </a:extLst>
          </p:cNvPr>
          <p:cNvSpPr>
            <a:spLocks noGrp="1"/>
          </p:cNvSpPr>
          <p:nvPr>
            <p:ph type="body" idx="14" hasCustomPrompt="1"/>
          </p:nvPr>
        </p:nvSpPr>
        <p:spPr>
          <a:xfrm>
            <a:off x="8083296" y="4778888"/>
            <a:ext cx="3749040" cy="440329"/>
          </a:xfrm>
          <a:blipFill>
            <a:blip r:embed="rId5"/>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Tree>
    <p:extLst>
      <p:ext uri="{BB962C8B-B14F-4D97-AF65-F5344CB8AC3E}">
        <p14:creationId xmlns:p14="http://schemas.microsoft.com/office/powerpoint/2010/main" val="24983274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ture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extLst>
      <p:ext uri="{BB962C8B-B14F-4D97-AF65-F5344CB8AC3E}">
        <p14:creationId xmlns:p14="http://schemas.microsoft.com/office/powerpoint/2010/main" val="28211159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3 picture, and 3 labels</a:t>
            </a:r>
          </a:p>
        </p:txBody>
      </p:sp>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buNone/>
              <a:defRPr>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60325" indent="0" algn="ctr">
              <a:lnSpc>
                <a:spcPct val="100000"/>
              </a:lnSpc>
              <a:spcBef>
                <a:spcPts val="0"/>
              </a:spcBef>
              <a:spcAft>
                <a:spcPts val="0"/>
              </a:spcAft>
              <a:buNone/>
              <a:defRPr sz="24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extLst>
      <p:ext uri="{BB962C8B-B14F-4D97-AF65-F5344CB8AC3E}">
        <p14:creationId xmlns:p14="http://schemas.microsoft.com/office/powerpoint/2010/main" val="23764582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801594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7CAFE5D0-24F9-49CE-8B3F-60C582E907E3}"/>
              </a:ext>
            </a:extLst>
          </p:cNvPr>
          <p:cNvSpPr>
            <a:spLocks noGrp="1"/>
          </p:cNvSpPr>
          <p:nvPr>
            <p:ph type="body" idx="12" hasCustomPrompt="1"/>
          </p:nvPr>
        </p:nvSpPr>
        <p:spPr>
          <a:xfrm>
            <a:off x="365760" y="3425809"/>
            <a:ext cx="3749040" cy="440329"/>
          </a:xfrm>
          <a:blipFill>
            <a:blip r:embed="rId3"/>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a:t>Click icon to add image</a:t>
            </a:r>
          </a:p>
        </p:txBody>
      </p:sp>
      <p:sp>
        <p:nvSpPr>
          <p:cNvPr id="13" name="Content Header Middle">
            <a:extLst>
              <a:ext uri="{FF2B5EF4-FFF2-40B4-BE49-F238E27FC236}">
                <a16:creationId xmlns:a16="http://schemas.microsoft.com/office/drawing/2014/main" id="{7CFF0D1C-83B8-4355-84CD-6B5E7BF6F1EA}"/>
              </a:ext>
            </a:extLst>
          </p:cNvPr>
          <p:cNvSpPr>
            <a:spLocks noGrp="1"/>
          </p:cNvSpPr>
          <p:nvPr>
            <p:ph type="body" idx="13" hasCustomPrompt="1"/>
          </p:nvPr>
        </p:nvSpPr>
        <p:spPr>
          <a:xfrm>
            <a:off x="4224528" y="3425809"/>
            <a:ext cx="3749040" cy="440329"/>
          </a:xfrm>
          <a:blipFill>
            <a:blip r:embed="rId4"/>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6DC7C89C-D131-4979-A9E0-35579F9B7F6D}"/>
              </a:ext>
            </a:extLst>
          </p:cNvPr>
          <p:cNvSpPr>
            <a:spLocks noGrp="1"/>
          </p:cNvSpPr>
          <p:nvPr>
            <p:ph type="body" idx="14" hasCustomPrompt="1"/>
          </p:nvPr>
        </p:nvSpPr>
        <p:spPr>
          <a:xfrm>
            <a:off x="8083296" y="3425809"/>
            <a:ext cx="3749040" cy="440329"/>
          </a:xfrm>
          <a:blipFill>
            <a:blip r:embed="rId5"/>
            <a:stretch>
              <a:fillRect/>
            </a:stretch>
          </a:blipFill>
          <a:ln>
            <a:noFill/>
          </a:ln>
        </p:spPr>
        <p:txBody>
          <a:bodyPr anchor="ctr">
            <a:normAutofit/>
          </a:bodyPr>
          <a:lstStyle>
            <a:lvl1pPr marL="60325" indent="0">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61963"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2374296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5"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3 images, and 3 text</a:t>
            </a:r>
          </a:p>
        </p:txBody>
      </p:sp>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429768" y="1243584"/>
            <a:ext cx="1554480" cy="1554480"/>
          </a:xfrm>
        </p:spPr>
        <p:txBody>
          <a:bodyPr anchor="t">
            <a:noAutofit/>
          </a:bodyPr>
          <a:lstStyle>
            <a:lvl1pPr marL="0" indent="0" algn="ctr">
              <a:buNone/>
              <a:defRPr sz="1800">
                <a:solidFill>
                  <a:srgbClr val="232F3E"/>
                </a:solidFill>
                <a:latin typeface="Amazon Ember Display" panose="020F0603020204020204" pitchFamily="34" charset="0"/>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429768" y="3008376"/>
            <a:ext cx="1554480" cy="1554480"/>
          </a:xfrm>
        </p:spPr>
        <p:txBody>
          <a:bodyPr anchor="t">
            <a:noAutofit/>
          </a:bodyPr>
          <a:lstStyle>
            <a:lvl1pPr marL="0" indent="0" algn="ctr">
              <a:buNone/>
              <a:defRPr sz="1800">
                <a:solidFill>
                  <a:srgbClr val="232F3E"/>
                </a:solidFill>
                <a:latin typeface="Amazon Ember Display" panose="020F0603020204020204" pitchFamily="34" charset="0"/>
              </a:defRPr>
            </a:lvl1pPr>
          </a:lstStyle>
          <a:p>
            <a:r>
              <a:rPr lang="en-US"/>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429768" y="4773168"/>
            <a:ext cx="1554480" cy="1554480"/>
          </a:xfrm>
        </p:spPr>
        <p:txBody>
          <a:bodyPr anchor="t">
            <a:noAutofit/>
          </a:bodyPr>
          <a:lstStyle>
            <a:lvl1pPr marL="0" indent="0" algn="ctr">
              <a:buNone/>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extLst>
      <p:ext uri="{BB962C8B-B14F-4D97-AF65-F5344CB8AC3E}">
        <p14:creationId xmlns:p14="http://schemas.microsoft.com/office/powerpoint/2010/main" val="15528414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cronym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4"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Acronym Slide</a:t>
            </a:r>
          </a:p>
        </p:txBody>
      </p:sp>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096962"/>
            <a:ext cx="1828800" cy="1737359"/>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889346"/>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681728"/>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096962"/>
            <a:ext cx="1828800" cy="1737359"/>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300"/>
              </a:spcBef>
              <a:spcAft>
                <a:spcPts val="0"/>
              </a:spcAft>
              <a:buFont typeface="Amazon Ember Display"/>
              <a:buNone/>
              <a:defRPr lang="en-US" sz="2000" kern="12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2"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889346"/>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681728"/>
            <a:ext cx="1828800" cy="1737358"/>
          </a:xfrm>
        </p:spPr>
        <p:txBody>
          <a:bodyPr lIns="0" tIns="0" rIns="0" bIns="0" anchor="ctr">
            <a:norm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30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extLst>
      <p:ext uri="{BB962C8B-B14F-4D97-AF65-F5344CB8AC3E}">
        <p14:creationId xmlns:p14="http://schemas.microsoft.com/office/powerpoint/2010/main" val="14426554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8"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429768" y="124358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06824" y="1147406"/>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429768" y="300837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06824" y="291750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429768" y="4773168"/>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06824" y="468467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36208" y="124358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36208" y="3008376"/>
            <a:ext cx="1554480" cy="1554480"/>
          </a:xfrm>
        </p:spPr>
        <p:txBody>
          <a:bodyPr wrap="square" anchor="t">
            <a:noAutofit/>
          </a:bodyPr>
          <a:lstStyle>
            <a:lvl1pPr marL="0" indent="0" algn="ctr">
              <a:buNone/>
              <a:defRPr sz="1800">
                <a:solidFill>
                  <a:srgbClr val="232F3E"/>
                </a:solidFill>
              </a:defRPr>
            </a:lvl1pPr>
          </a:lstStyle>
          <a:p>
            <a:r>
              <a:rPr lang="en-US"/>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36208" y="4773168"/>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300"/>
              </a:spcBef>
              <a:spcAft>
                <a:spcPts val="0"/>
              </a:spcAft>
              <a:buNone/>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33363" indent="0">
              <a:lnSpc>
                <a:spcPct val="100000"/>
              </a:lnSpc>
              <a:spcBef>
                <a:spcPts val="300"/>
              </a:spcBef>
              <a:spcAft>
                <a:spcPts val="6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455613" indent="0">
              <a:lnSpc>
                <a:spcPct val="100000"/>
              </a:lnSpc>
              <a:spcAft>
                <a:spcPts val="60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8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p:txBody>
      </p:sp>
    </p:spTree>
    <p:extLst>
      <p:ext uri="{BB962C8B-B14F-4D97-AF65-F5344CB8AC3E}">
        <p14:creationId xmlns:p14="http://schemas.microsoft.com/office/powerpoint/2010/main" val="14035492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and 4 Conten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5515076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blipFill>
            <a:blip r:embed="rId2"/>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61963" indent="-228600">
              <a:lnSpc>
                <a:spcPct val="100000"/>
              </a:lnSpc>
              <a:spcAft>
                <a:spcPts val="600"/>
              </a:spcAft>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84213" indent="-228600">
              <a:lnSpc>
                <a:spcPct val="100000"/>
              </a:lnSpc>
              <a:spcAft>
                <a:spcPts val="600"/>
              </a:spcAft>
              <a:defRPr sz="18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914400"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1144588" indent="-228600">
              <a:lnSpc>
                <a:spcPct val="100000"/>
              </a:lnSpc>
              <a:spcAft>
                <a:spcPts val="600"/>
              </a:spcAft>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239558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Header, 4 Lg Pic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2">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7"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header, 4 large pictures, and 4 </a:t>
            </a:r>
            <a:r>
              <a:rPr lang="en-US" dirty="0" err="1"/>
              <a:t>labels</a:t>
            </a:r>
            <a:endParaRPr lang="en-US" dirty="0"/>
          </a:p>
        </p:txBody>
      </p:sp>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Autofit/>
          </a:bodyPr>
          <a:lstStyle>
            <a:lvl1pPr marL="60325" indent="0">
              <a:lnSpc>
                <a:spcPct val="100000"/>
              </a:lnSpc>
              <a:spcBef>
                <a:spcPts val="0"/>
              </a:spcBef>
              <a:spcAft>
                <a:spcPts val="0"/>
              </a:spcAft>
              <a:buNone/>
              <a:defRPr sz="2800" b="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848655"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747303"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645951"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544599" y="2269331"/>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17125798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6"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Content Header Left">
            <a:extLst>
              <a:ext uri="{FF2B5EF4-FFF2-40B4-BE49-F238E27FC236}">
                <a16:creationId xmlns:a16="http://schemas.microsoft.com/office/drawing/2014/main" id="{E25E5BD8-62FD-4C26-93EC-4F7DEEEE84F4}"/>
              </a:ext>
            </a:extLst>
          </p:cNvPr>
          <p:cNvSpPr>
            <a:spLocks noGrp="1"/>
          </p:cNvSpPr>
          <p:nvPr>
            <p:ph type="body" idx="12" hasCustomPrompt="1"/>
          </p:nvPr>
        </p:nvSpPr>
        <p:spPr>
          <a:xfrm>
            <a:off x="365760" y="3442603"/>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Content Header Center Left">
            <a:extLst>
              <a:ext uri="{FF2B5EF4-FFF2-40B4-BE49-F238E27FC236}">
                <a16:creationId xmlns:a16="http://schemas.microsoft.com/office/drawing/2014/main" id="{9A442DF1-3D43-417E-A82B-92C67BCF72CE}"/>
              </a:ext>
            </a:extLst>
          </p:cNvPr>
          <p:cNvSpPr>
            <a:spLocks noGrp="1"/>
          </p:cNvSpPr>
          <p:nvPr>
            <p:ph type="body" idx="13" hasCustomPrompt="1"/>
          </p:nvPr>
        </p:nvSpPr>
        <p:spPr>
          <a:xfrm>
            <a:off x="3264408" y="3442603"/>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4" name="Content Header Center Right">
            <a:extLst>
              <a:ext uri="{FF2B5EF4-FFF2-40B4-BE49-F238E27FC236}">
                <a16:creationId xmlns:a16="http://schemas.microsoft.com/office/drawing/2014/main" id="{260667CC-1169-451D-8760-77376982F8B4}"/>
              </a:ext>
            </a:extLst>
          </p:cNvPr>
          <p:cNvSpPr>
            <a:spLocks noGrp="1"/>
          </p:cNvSpPr>
          <p:nvPr>
            <p:ph type="body" idx="14" hasCustomPrompt="1"/>
          </p:nvPr>
        </p:nvSpPr>
        <p:spPr>
          <a:xfrm>
            <a:off x="6163056" y="3442603"/>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5" name="Content Header Right">
            <a:extLst>
              <a:ext uri="{FF2B5EF4-FFF2-40B4-BE49-F238E27FC236}">
                <a16:creationId xmlns:a16="http://schemas.microsoft.com/office/drawing/2014/main" id="{018188E2-6822-47CF-B05C-AA3DCD30E09A}"/>
              </a:ext>
            </a:extLst>
          </p:cNvPr>
          <p:cNvSpPr>
            <a:spLocks noGrp="1"/>
          </p:cNvSpPr>
          <p:nvPr>
            <p:ph type="subTitle" idx="15" hasCustomPrompt="1"/>
          </p:nvPr>
        </p:nvSpPr>
        <p:spPr>
          <a:xfrm>
            <a:off x="9061704" y="3442603"/>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73038" indent="-173038">
              <a:lnSpc>
                <a:spcPct val="100000"/>
              </a:lnSpc>
              <a:spcAft>
                <a:spcPts val="300"/>
              </a:spcAft>
              <a:buFont typeface="Amazon Ember Display" panose="020B0604020202020204" pitchFamily="34" charset="0"/>
              <a:buChar char="•"/>
              <a:defRPr sz="24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01638" indent="-169863">
              <a:lnSpc>
                <a:spcPct val="100000"/>
              </a:lnSpc>
              <a:spcAft>
                <a:spcPts val="300"/>
              </a:spcAft>
              <a:defRPr sz="2000">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630238" indent="-173038">
              <a:lnSpc>
                <a:spcPct val="100000"/>
              </a:lnSpc>
              <a:spcAft>
                <a:spcPts val="300"/>
              </a:spcAft>
              <a:defRPr sz="1800">
                <a:latin typeface="Amazon Ember Display" panose="020F0603020204020204" pitchFamily="34" charset="0"/>
                <a:ea typeface="Amazon Ember Display" panose="020F0603020204020204" pitchFamily="34" charset="0"/>
                <a:cs typeface="Amazon Ember Display" panose="020F0603020204020204" pitchFamily="34" charset="0"/>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extLst>
      <p:ext uri="{BB962C8B-B14F-4D97-AF65-F5344CB8AC3E}">
        <p14:creationId xmlns:p14="http://schemas.microsoft.com/office/powerpoint/2010/main" val="10195691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6"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2" name="Content Header Left">
            <a:extLst>
              <a:ext uri="{FF2B5EF4-FFF2-40B4-BE49-F238E27FC236}">
                <a16:creationId xmlns:a16="http://schemas.microsoft.com/office/drawing/2014/main" id="{68ACB2DB-9EE0-4267-A5CA-50F1BBFFFA22}"/>
              </a:ext>
            </a:extLst>
          </p:cNvPr>
          <p:cNvSpPr>
            <a:spLocks noGrp="1"/>
          </p:cNvSpPr>
          <p:nvPr>
            <p:ph type="body" idx="12" hasCustomPrompt="1"/>
          </p:nvPr>
        </p:nvSpPr>
        <p:spPr>
          <a:xfrm>
            <a:off x="365760" y="2948320"/>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Content Header Center Left">
            <a:extLst>
              <a:ext uri="{FF2B5EF4-FFF2-40B4-BE49-F238E27FC236}">
                <a16:creationId xmlns:a16="http://schemas.microsoft.com/office/drawing/2014/main" id="{E815E159-1B4E-49D0-B2ED-19097487D83E}"/>
              </a:ext>
            </a:extLst>
          </p:cNvPr>
          <p:cNvSpPr>
            <a:spLocks noGrp="1"/>
          </p:cNvSpPr>
          <p:nvPr>
            <p:ph type="body" idx="13" hasCustomPrompt="1"/>
          </p:nvPr>
        </p:nvSpPr>
        <p:spPr>
          <a:xfrm>
            <a:off x="3264408" y="2948320"/>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4" name="Content Header Center Right">
            <a:extLst>
              <a:ext uri="{FF2B5EF4-FFF2-40B4-BE49-F238E27FC236}">
                <a16:creationId xmlns:a16="http://schemas.microsoft.com/office/drawing/2014/main" id="{1B7C447B-84A7-4522-90FF-55D459E52C8E}"/>
              </a:ext>
            </a:extLst>
          </p:cNvPr>
          <p:cNvSpPr>
            <a:spLocks noGrp="1"/>
          </p:cNvSpPr>
          <p:nvPr>
            <p:ph type="body" idx="14" hasCustomPrompt="1"/>
          </p:nvPr>
        </p:nvSpPr>
        <p:spPr>
          <a:xfrm>
            <a:off x="6163056" y="2948320"/>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5" name="Content Header Right">
            <a:extLst>
              <a:ext uri="{FF2B5EF4-FFF2-40B4-BE49-F238E27FC236}">
                <a16:creationId xmlns:a16="http://schemas.microsoft.com/office/drawing/2014/main" id="{9E85099F-BBF6-4F09-A30C-38DBA95A8548}"/>
              </a:ext>
            </a:extLst>
          </p:cNvPr>
          <p:cNvSpPr>
            <a:spLocks noGrp="1"/>
          </p:cNvSpPr>
          <p:nvPr>
            <p:ph type="body" idx="15" hasCustomPrompt="1"/>
          </p:nvPr>
        </p:nvSpPr>
        <p:spPr>
          <a:xfrm>
            <a:off x="9061704" y="2948320"/>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1730116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2" name="Content Header Left">
            <a:extLst>
              <a:ext uri="{FF2B5EF4-FFF2-40B4-BE49-F238E27FC236}">
                <a16:creationId xmlns:a16="http://schemas.microsoft.com/office/drawing/2014/main" id="{2B2D3480-322B-4C0B-94D7-C59E6AFF5565}"/>
              </a:ext>
            </a:extLst>
          </p:cNvPr>
          <p:cNvSpPr>
            <a:spLocks noGrp="1"/>
          </p:cNvSpPr>
          <p:nvPr>
            <p:ph type="body" idx="12" hasCustomPrompt="1"/>
          </p:nvPr>
        </p:nvSpPr>
        <p:spPr>
          <a:xfrm>
            <a:off x="365760" y="4715349"/>
            <a:ext cx="2788920" cy="440329"/>
          </a:xfrm>
          <a:blipFill>
            <a:blip r:embed="rId3"/>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Content Header Center Left">
            <a:extLst>
              <a:ext uri="{FF2B5EF4-FFF2-40B4-BE49-F238E27FC236}">
                <a16:creationId xmlns:a16="http://schemas.microsoft.com/office/drawing/2014/main" id="{B6A71433-CC61-4650-BF2B-86CC1BE6EEEC}"/>
              </a:ext>
            </a:extLst>
          </p:cNvPr>
          <p:cNvSpPr>
            <a:spLocks noGrp="1"/>
          </p:cNvSpPr>
          <p:nvPr>
            <p:ph type="body" idx="13" hasCustomPrompt="1"/>
          </p:nvPr>
        </p:nvSpPr>
        <p:spPr>
          <a:xfrm>
            <a:off x="3264408" y="4715349"/>
            <a:ext cx="2788920" cy="440329"/>
          </a:xfrm>
          <a:blipFill>
            <a:blip r:embed="rId4"/>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4" name="Content Header Center Right">
            <a:extLst>
              <a:ext uri="{FF2B5EF4-FFF2-40B4-BE49-F238E27FC236}">
                <a16:creationId xmlns:a16="http://schemas.microsoft.com/office/drawing/2014/main" id="{0F4BEAEB-FC7A-4187-A498-787B770D759A}"/>
              </a:ext>
            </a:extLst>
          </p:cNvPr>
          <p:cNvSpPr>
            <a:spLocks noGrp="1"/>
          </p:cNvSpPr>
          <p:nvPr>
            <p:ph type="body" idx="14" hasCustomPrompt="1"/>
          </p:nvPr>
        </p:nvSpPr>
        <p:spPr>
          <a:xfrm>
            <a:off x="6163056" y="4715349"/>
            <a:ext cx="2788920" cy="440329"/>
          </a:xfrm>
          <a:blipFill>
            <a:blip r:embed="rId5"/>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Content Header Right">
            <a:extLst>
              <a:ext uri="{FF2B5EF4-FFF2-40B4-BE49-F238E27FC236}">
                <a16:creationId xmlns:a16="http://schemas.microsoft.com/office/drawing/2014/main" id="{A00A0E08-1A3F-49FF-A344-ECCFEE35A8F7}"/>
              </a:ext>
            </a:extLst>
          </p:cNvPr>
          <p:cNvSpPr>
            <a:spLocks noGrp="1"/>
          </p:cNvSpPr>
          <p:nvPr>
            <p:ph type="body" idx="15" hasCustomPrompt="1"/>
          </p:nvPr>
        </p:nvSpPr>
        <p:spPr>
          <a:xfrm>
            <a:off x="9061704" y="4715349"/>
            <a:ext cx="2788920" cy="440329"/>
          </a:xfrm>
          <a:blipFill>
            <a:blip r:embed="rId6"/>
            <a:stretch>
              <a:fillRect/>
            </a:stretch>
          </a:blipFill>
          <a:ln>
            <a:noFill/>
          </a:ln>
        </p:spPr>
        <p:txBody>
          <a:bodyPr lIns="91440" anchor="ctr">
            <a:norm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extLst>
      <p:ext uri="{BB962C8B-B14F-4D97-AF65-F5344CB8AC3E}">
        <p14:creationId xmlns:p14="http://schemas.microsoft.com/office/powerpoint/2010/main" val="4262727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dirty="0"/>
          </a:p>
        </p:txBody>
      </p:sp>
      <p:sp>
        <p:nvSpPr>
          <p:cNvPr id="8"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45720" anchor="ctr">
            <a:noAutofit/>
          </a:bodyPr>
          <a:lstStyle>
            <a:lvl1pPr marL="0" indent="0" algn="ctr">
              <a:spcAft>
                <a:spcPts val="120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21495068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4037B1B0-0345-4E15-985A-6BECCDBE474F}" type="slidenum">
              <a:rPr lang="en-US" smtClean="0"/>
              <a:pPr/>
              <a:t>‹#›</a:t>
            </a:fld>
            <a:endParaRPr lang="en-US"/>
          </a:p>
        </p:txBody>
      </p:sp>
      <p:sp>
        <p:nvSpPr>
          <p:cNvPr id="2"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panose="020F0803020204020204" pitchFamily="34" charset="0"/>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4" name="Picture 3">
            <a:extLst>
              <a:ext uri="{FF2B5EF4-FFF2-40B4-BE49-F238E27FC236}">
                <a16:creationId xmlns:a16="http://schemas.microsoft.com/office/drawing/2014/main" id="{292A7B23-5883-4A03-AA9E-D7887267A0B5}"/>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5" name="Picture 4">
            <a:extLst>
              <a:ext uri="{FF2B5EF4-FFF2-40B4-BE49-F238E27FC236}">
                <a16:creationId xmlns:a16="http://schemas.microsoft.com/office/drawing/2014/main" id="{871FBC72-3D16-49CE-BD02-AD416196D37A}"/>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6" name="Picture 5">
            <a:extLst>
              <a:ext uri="{FF2B5EF4-FFF2-40B4-BE49-F238E27FC236}">
                <a16:creationId xmlns:a16="http://schemas.microsoft.com/office/drawing/2014/main" id="{CCC335E7-FA18-44DB-ACBC-F2DABE9FB384}"/>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7" name="Picture 6">
            <a:extLst>
              <a:ext uri="{FF2B5EF4-FFF2-40B4-BE49-F238E27FC236}">
                <a16:creationId xmlns:a16="http://schemas.microsoft.com/office/drawing/2014/main" id="{BB740650-61A2-4FDC-8700-54D96F01FF5A}"/>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8" name="Picture 7">
            <a:extLst>
              <a:ext uri="{FF2B5EF4-FFF2-40B4-BE49-F238E27FC236}">
                <a16:creationId xmlns:a16="http://schemas.microsoft.com/office/drawing/2014/main" id="{CA951A10-B648-4F4E-87FD-97FD8FEB4106}"/>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29" name="Picture 8">
            <a:extLst>
              <a:ext uri="{FF2B5EF4-FFF2-40B4-BE49-F238E27FC236}">
                <a16:creationId xmlns:a16="http://schemas.microsoft.com/office/drawing/2014/main" id="{1F4C4007-9EA0-4D1F-938D-A38B105119E9}"/>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Tree>
    <p:extLst>
      <p:ext uri="{BB962C8B-B14F-4D97-AF65-F5344CB8AC3E}">
        <p14:creationId xmlns:p14="http://schemas.microsoft.com/office/powerpoint/2010/main" val="37028777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60325" indent="0" algn="ctr">
              <a:buNone/>
              <a:defRPr lang="en-US" sz="1600" b="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Tree>
    <p:extLst>
      <p:ext uri="{BB962C8B-B14F-4D97-AF65-F5344CB8AC3E}">
        <p14:creationId xmlns:p14="http://schemas.microsoft.com/office/powerpoint/2010/main" val="22827148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Title"/>
          <p:cNvSpPr>
            <a:spLocks noGrp="1"/>
          </p:cNvSpPr>
          <p:nvPr>
            <p:ph type="title" idx="1" hasCustomPrompt="1"/>
          </p:nvPr>
        </p:nvSpPr>
        <p:spPr>
          <a:xfrm>
            <a:off x="365760" y="301752"/>
            <a:ext cx="11466576" cy="731520"/>
          </a:xfrm>
        </p:spPr>
        <p:txBody>
          <a:bodyPr/>
          <a:lstStyle>
            <a:lvl1pPr>
              <a:defRPr>
                <a:solidFill>
                  <a:schemeClr val="tx2"/>
                </a:solidFill>
                <a:latin typeface="Amazon Ember Display Heavy" panose="020F0803020204020204" pitchFamily="34" charset="0"/>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blipFill>
            <a:blip r:embed="rId3"/>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blipFill>
            <a:blip r:embed="rId4"/>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blipFill>
            <a:blip r:embed="rId5"/>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14460" y="2816120"/>
            <a:ext cx="2788920" cy="301752"/>
          </a:xfrm>
          <a:blipFill>
            <a:blip r:embed="rId6"/>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6" name="Header Bottom Left">
            <a:extLst>
              <a:ext uri="{FF2B5EF4-FFF2-40B4-BE49-F238E27FC236}">
                <a16:creationId xmlns:a16="http://schemas.microsoft.com/office/drawing/2014/main" id="{B5D4E086-E9F4-4E9F-9256-672579A065DB}"/>
              </a:ext>
            </a:extLst>
          </p:cNvPr>
          <p:cNvSpPr>
            <a:spLocks noGrp="1"/>
          </p:cNvSpPr>
          <p:nvPr>
            <p:ph type="body" idx="16" hasCustomPrompt="1"/>
          </p:nvPr>
        </p:nvSpPr>
        <p:spPr>
          <a:xfrm>
            <a:off x="386565" y="5514019"/>
            <a:ext cx="2788920" cy="301752"/>
          </a:xfrm>
          <a:blipFill>
            <a:blip r:embed="rId3"/>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7" name="Header Bottom Left Center">
            <a:extLst>
              <a:ext uri="{FF2B5EF4-FFF2-40B4-BE49-F238E27FC236}">
                <a16:creationId xmlns:a16="http://schemas.microsoft.com/office/drawing/2014/main" id="{290395DC-C987-4AD4-9A04-67CD87E5AA93}"/>
              </a:ext>
            </a:extLst>
          </p:cNvPr>
          <p:cNvSpPr>
            <a:spLocks noGrp="1"/>
          </p:cNvSpPr>
          <p:nvPr>
            <p:ph type="body" idx="17" hasCustomPrompt="1"/>
          </p:nvPr>
        </p:nvSpPr>
        <p:spPr>
          <a:xfrm>
            <a:off x="3263877" y="5514019"/>
            <a:ext cx="2788920" cy="301752"/>
          </a:xfrm>
          <a:blipFill>
            <a:blip r:embed="rId4"/>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icon to add image</a:t>
            </a:r>
          </a:p>
        </p:txBody>
      </p:sp>
      <p:sp>
        <p:nvSpPr>
          <p:cNvPr id="18" name="Header Bottom Center Right">
            <a:extLst>
              <a:ext uri="{FF2B5EF4-FFF2-40B4-BE49-F238E27FC236}">
                <a16:creationId xmlns:a16="http://schemas.microsoft.com/office/drawing/2014/main" id="{5F3A12BB-BA62-43F3-9A1F-CCEB5DD2157A}"/>
              </a:ext>
            </a:extLst>
          </p:cNvPr>
          <p:cNvSpPr>
            <a:spLocks noGrp="1"/>
          </p:cNvSpPr>
          <p:nvPr>
            <p:ph type="body" idx="18" hasCustomPrompt="1"/>
          </p:nvPr>
        </p:nvSpPr>
        <p:spPr>
          <a:xfrm>
            <a:off x="6141189" y="5514019"/>
            <a:ext cx="2788920" cy="301752"/>
          </a:xfrm>
          <a:blipFill>
            <a:blip r:embed="rId5"/>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icon to add image</a:t>
            </a:r>
          </a:p>
        </p:txBody>
      </p:sp>
      <p:sp>
        <p:nvSpPr>
          <p:cNvPr id="19" name="Header Top Right">
            <a:extLst>
              <a:ext uri="{FF2B5EF4-FFF2-40B4-BE49-F238E27FC236}">
                <a16:creationId xmlns:a16="http://schemas.microsoft.com/office/drawing/2014/main" id="{4703075C-9061-4291-8F10-C3C6CD25B004}"/>
              </a:ext>
            </a:extLst>
          </p:cNvPr>
          <p:cNvSpPr>
            <a:spLocks noGrp="1"/>
          </p:cNvSpPr>
          <p:nvPr>
            <p:ph type="body" idx="19" hasCustomPrompt="1"/>
          </p:nvPr>
        </p:nvSpPr>
        <p:spPr>
          <a:xfrm>
            <a:off x="9012405" y="5514019"/>
            <a:ext cx="2788920" cy="301752"/>
          </a:xfrm>
          <a:blipFill>
            <a:blip r:embed="rId6"/>
            <a:stretch>
              <a:fillRect/>
            </a:stretch>
          </a:blipFill>
          <a:ln>
            <a:noFill/>
          </a:ln>
        </p:spPr>
        <p:txBody>
          <a:bodyPr vert="horz" lIns="91440" tIns="45720" rIns="91440" bIns="45720" rtlCol="0" anchor="ctr">
            <a:normAutofit/>
          </a:bodyPr>
          <a:lstStyle>
            <a:lvl1pPr marL="60325" indent="0" algn="ctr">
              <a:buNone/>
              <a:defRPr lang="en-US" sz="1600" b="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403225" lvl="0" indent="-342900">
              <a:spcBef>
                <a:spcPts val="0"/>
              </a:spcBef>
              <a:spcAft>
                <a:spcPts val="0"/>
              </a:spcAft>
            </a:pPr>
            <a:r>
              <a:rPr lang="en-US" dirty="0"/>
              <a:t>Enter subtitle</a:t>
            </a:r>
          </a:p>
        </p:txBody>
      </p:sp>
      <p:sp>
        <p:nvSpPr>
          <p:cNvPr id="9"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45720">
            <a:normAutofit/>
          </a:bodyPr>
          <a:lstStyle>
            <a:lvl1pPr marL="0" indent="0" algn="ctr">
              <a:spcAft>
                <a:spcPts val="1200"/>
              </a:spcAft>
              <a:buNone/>
              <a:defRPr sz="16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Enter text</a:t>
            </a:r>
          </a:p>
        </p:txBody>
      </p:sp>
    </p:spTree>
    <p:extLst>
      <p:ext uri="{BB962C8B-B14F-4D97-AF65-F5344CB8AC3E}">
        <p14:creationId xmlns:p14="http://schemas.microsoft.com/office/powerpoint/2010/main" val="382000374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only layout</a:t>
            </a:r>
          </a:p>
        </p:txBody>
      </p:sp>
    </p:spTree>
    <p:extLst>
      <p:ext uri="{BB962C8B-B14F-4D97-AF65-F5344CB8AC3E}">
        <p14:creationId xmlns:p14="http://schemas.microsoft.com/office/powerpoint/2010/main" val="21463824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panose="020F0803020204020204" pitchFamily="34" charset="0"/>
              </a:defRPr>
            </a:lvl1pPr>
          </a:lstStyle>
          <a:p>
            <a:r>
              <a:rPr lang="en-US" dirty="0"/>
              <a:t>Title only blank layout</a:t>
            </a:r>
          </a:p>
        </p:txBody>
      </p:sp>
    </p:spTree>
    <p:extLst>
      <p:ext uri="{BB962C8B-B14F-4D97-AF65-F5344CB8AC3E}">
        <p14:creationId xmlns:p14="http://schemas.microsoft.com/office/powerpoint/2010/main" val="2204621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365760" y="299526"/>
            <a:ext cx="11466576" cy="289591"/>
          </a:xfrm>
        </p:spPr>
        <p:txBody>
          <a:bodyPr>
            <a:normAutofit/>
          </a:bodyPr>
          <a:lstStyle>
            <a:lvl1pPr>
              <a:defRPr sz="1600">
                <a:solidFill>
                  <a:srgbClr val="232F3E"/>
                </a:solidFill>
                <a:latin typeface="Amazon Ember Display Heavy"/>
              </a:defRPr>
            </a:lvl1pPr>
          </a:lstStyle>
          <a:p>
            <a:r>
              <a:rPr lang="en-US" dirty="0"/>
              <a:t>Architecture layout</a:t>
            </a:r>
          </a:p>
        </p:txBody>
      </p:sp>
    </p:spTree>
    <p:extLst>
      <p:ext uri="{BB962C8B-B14F-4D97-AF65-F5344CB8AC3E}">
        <p14:creationId xmlns:p14="http://schemas.microsoft.com/office/powerpoint/2010/main" val="2836688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pic>
        <p:nvPicPr>
          <p:cNvPr id="4" name="Copyright2">
            <a:extLst>
              <a:ext uri="{FF2B5EF4-FFF2-40B4-BE49-F238E27FC236}">
                <a16:creationId xmlns:a16="http://schemas.microsoft.com/office/drawing/2014/main" id="{DFFEF919-EC05-498B-BEF2-CA365B05EF15}"/>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2" name="Title"/>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extLst>
      <p:ext uri="{BB962C8B-B14F-4D97-AF65-F5344CB8AC3E}">
        <p14:creationId xmlns:p14="http://schemas.microsoft.com/office/powerpoint/2010/main" val="38911964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66FB7462-6F99-4782-A4C4-86E898F6ECBB}"/>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3" name="Question Number"/>
          <p:cNvSpPr>
            <a:spLocks noGrp="1"/>
          </p:cNvSpPr>
          <p:nvPr>
            <p:ph type="title" idx="1" hasCustomPrompt="1"/>
          </p:nvPr>
        </p:nvSpPr>
        <p:spPr>
          <a:xfrm>
            <a:off x="365760" y="299526"/>
            <a:ext cx="11466576" cy="731318"/>
          </a:xfrm>
        </p:spPr>
        <p:txBody>
          <a:bodyPr/>
          <a:lstStyle>
            <a:lvl1pPr>
              <a:defRPr>
                <a:solidFill>
                  <a:srgbClr val="F1F3F3"/>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4" y="1039813"/>
            <a:ext cx="6707251" cy="315912"/>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1" hasCustomPrompt="1"/>
          </p:nvPr>
        </p:nvSpPr>
        <p:spPr>
          <a:xfrm>
            <a:off x="4526280" y="472744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19940113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B40A8AFE-5539-4027-947D-2C5BBF0E45A5}"/>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3" name="Question Number"/>
          <p:cNvSpPr>
            <a:spLocks noGrp="1"/>
          </p:cNvSpPr>
          <p:nvPr>
            <p:ph type="title" idx="1" hasCustomPrompt="1"/>
          </p:nvPr>
        </p:nvSpPr>
        <p:spPr>
          <a:xfrm>
            <a:off x="365760" y="299526"/>
            <a:ext cx="11466576" cy="731318"/>
          </a:xfrm>
        </p:spPr>
        <p:txBody>
          <a:bodyPr/>
          <a:lstStyle>
            <a:lvl1pPr>
              <a:defRPr>
                <a:solidFill>
                  <a:srgbClr val="F1F3F3"/>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4" y="1039813"/>
            <a:ext cx="6707251" cy="315912"/>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1" hasCustomPrompt="1"/>
          </p:nvPr>
        </p:nvSpPr>
        <p:spPr>
          <a:xfrm>
            <a:off x="4526280" y="4727448"/>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19940113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Vertical-Ans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FCA751DD-5B6B-4EDE-88BA-5503CAF80F5D}"/>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p:cNvSpPr>
            <a:spLocks noGrp="1"/>
          </p:cNvSpPr>
          <p:nvPr>
            <p:ph type="title" idx="1" hasCustomPrompt="1"/>
          </p:nvPr>
        </p:nvSpPr>
        <p:spPr>
          <a:xfrm>
            <a:off x="365760" y="301752"/>
            <a:ext cx="11466576" cy="731520"/>
          </a:xfrm>
        </p:spPr>
        <p:txBody>
          <a:bodyPr/>
          <a:lstStyle>
            <a:lvl1pPr>
              <a:defRPr>
                <a:solidFill>
                  <a:srgbClr val="F1F3F3"/>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59" y="1042416"/>
            <a:ext cx="4160520" cy="5404104"/>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1" name="AnswerHeader">
            <a:extLst>
              <a:ext uri="{FF2B5EF4-FFF2-40B4-BE49-F238E27FC236}">
                <a16:creationId xmlns:a16="http://schemas.microsoft.com/office/drawing/2014/main" id="{7C8472BF-3681-4E98-B87B-5FA7A5C19359}"/>
              </a:ext>
            </a:extLst>
          </p:cNvPr>
          <p:cNvSpPr>
            <a:spLocks noGrp="1"/>
          </p:cNvSpPr>
          <p:nvPr>
            <p:ph type="body" idx="11" hasCustomPrompt="1"/>
          </p:nvPr>
        </p:nvSpPr>
        <p:spPr>
          <a:xfrm>
            <a:off x="4580888" y="1020685"/>
            <a:ext cx="7611111" cy="329367"/>
          </a:xfrm>
          <a:noFill/>
        </p:spPr>
        <p:txBody>
          <a:bodyPr lIns="91440">
            <a:noAutofit/>
          </a:bodyPr>
          <a:lstStyle>
            <a:lvl1pPr marL="0" indent="0">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361829"/>
            <a:ext cx="6723145" cy="5014146"/>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20874567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Vert-Ans-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F4A6DE12-3C01-4154-8671-4FC2AE365DA7}"/>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p:cNvSpPr>
            <a:spLocks noGrp="1"/>
          </p:cNvSpPr>
          <p:nvPr>
            <p:ph type="title" idx="1" hasCustomPrompt="1"/>
          </p:nvPr>
        </p:nvSpPr>
        <p:spPr>
          <a:xfrm>
            <a:off x="365760" y="301752"/>
            <a:ext cx="11664790" cy="731520"/>
          </a:xfrm>
        </p:spPr>
        <p:txBody>
          <a:bodyPr/>
          <a:lstStyle>
            <a:lvl1pPr>
              <a:defRPr>
                <a:solidFill>
                  <a:schemeClr val="bg1"/>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1" name="AnswerHeader">
            <a:extLst>
              <a:ext uri="{FF2B5EF4-FFF2-40B4-BE49-F238E27FC236}">
                <a16:creationId xmlns:a16="http://schemas.microsoft.com/office/drawing/2014/main" id="{7C8472BF-3681-4E98-B87B-5FA7A5C19359}"/>
              </a:ext>
            </a:extLst>
          </p:cNvPr>
          <p:cNvSpPr>
            <a:spLocks noGrp="1"/>
          </p:cNvSpPr>
          <p:nvPr>
            <p:ph type="body" idx="11" hasCustomPrompt="1"/>
          </p:nvPr>
        </p:nvSpPr>
        <p:spPr>
          <a:xfrm>
            <a:off x="4580889" y="1020685"/>
            <a:ext cx="7263140" cy="329367"/>
          </a:xfrm>
          <a:noFill/>
        </p:spPr>
        <p:txBody>
          <a:bodyPr lIns="91440">
            <a:noAutofit/>
          </a:bodyPr>
          <a:lstStyle>
            <a:lvl1pPr marL="0" indent="0">
              <a:buNone/>
              <a:defRPr sz="2000" b="1">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6973" y="1365381"/>
            <a:ext cx="6462584" cy="5010594"/>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40579309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QA-Horizon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Copyright2">
            <a:extLst>
              <a:ext uri="{FF2B5EF4-FFF2-40B4-BE49-F238E27FC236}">
                <a16:creationId xmlns:a16="http://schemas.microsoft.com/office/drawing/2014/main" id="{44D788B9-FCE8-4B64-AD93-8B75E42E62C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Knowledge Check"/>
          <p:cNvSpPr>
            <a:spLocks noGrp="1"/>
          </p:cNvSpPr>
          <p:nvPr>
            <p:ph type="title" idx="1" hasCustomPrompt="1"/>
          </p:nvPr>
        </p:nvSpPr>
        <p:spPr>
          <a:xfrm>
            <a:off x="365760" y="179881"/>
            <a:ext cx="11466576" cy="825473"/>
          </a:xfrm>
        </p:spPr>
        <p:txBody>
          <a:bodyPr/>
          <a:lstStyle>
            <a:lvl1pPr>
              <a:defRPr>
                <a:solidFill>
                  <a:srgbClr val="F1F3F3"/>
                </a:solidFill>
                <a:latin typeface="Amazon Ember Display Heavy" panose="020F0803020204020204" pitchFamily="34" charset="0"/>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1" y="1185497"/>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498" y="119780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365760" y="2526456"/>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365760" y="3883100"/>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365759" y="5239557"/>
            <a:ext cx="5285738"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extLst>
      <p:ext uri="{BB962C8B-B14F-4D97-AF65-F5344CB8AC3E}">
        <p14:creationId xmlns:p14="http://schemas.microsoft.com/office/powerpoint/2010/main" val="14230775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A-Horz-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Copyright2">
            <a:extLst>
              <a:ext uri="{FF2B5EF4-FFF2-40B4-BE49-F238E27FC236}">
                <a16:creationId xmlns:a16="http://schemas.microsoft.com/office/drawing/2014/main" id="{5A3A2527-A890-43D4-B04B-27AEC3101D13}"/>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0" name="Knowledge check"/>
          <p:cNvSpPr>
            <a:spLocks noGrp="1"/>
          </p:cNvSpPr>
          <p:nvPr>
            <p:ph type="title" idx="1" hasCustomPrompt="1"/>
          </p:nvPr>
        </p:nvSpPr>
        <p:spPr>
          <a:xfrm>
            <a:off x="365760" y="179881"/>
            <a:ext cx="11466576" cy="825473"/>
          </a:xfrm>
        </p:spPr>
        <p:txBody>
          <a:bodyPr/>
          <a:lstStyle>
            <a:lvl1pPr>
              <a:defRPr>
                <a:solidFill>
                  <a:schemeClr val="bg1"/>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185497"/>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365759" y="2526456"/>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365759" y="3883100"/>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365758" y="5239557"/>
            <a:ext cx="5285739"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solidFill>
            <a:schemeClr val="bg1"/>
          </a:solidFill>
          <a:ln w="57150">
            <a:solidFill>
              <a:schemeClr val="accent6"/>
            </a:solidFill>
          </a:ln>
        </p:spPr>
        <p:txBody>
          <a:bodyPr lIns="91440" tIns="91440" rIns="182880" bIns="0" anchor="t"/>
          <a:lstStyle>
            <a:lvl1pPr marL="0" indent="0" algn="l">
              <a:spcBef>
                <a:spcPts val="0"/>
              </a:spcBef>
              <a:spcAft>
                <a:spcPts val="0"/>
              </a:spcAft>
              <a:buNone/>
              <a:defRPr sz="200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extLst>
      <p:ext uri="{BB962C8B-B14F-4D97-AF65-F5344CB8AC3E}">
        <p14:creationId xmlns:p14="http://schemas.microsoft.com/office/powerpoint/2010/main" val="6496667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13ADF62C-268D-455D-8C3A-8B708C31AD4C}"/>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7" name="Question Number"/>
          <p:cNvSpPr>
            <a:spLocks noGrp="1"/>
          </p:cNvSpPr>
          <p:nvPr>
            <p:ph type="title" idx="1" hasCustomPrompt="1"/>
          </p:nvPr>
        </p:nvSpPr>
        <p:spPr>
          <a:xfrm>
            <a:off x="365760" y="179881"/>
            <a:ext cx="11757389" cy="498849"/>
          </a:xfrm>
        </p:spPr>
        <p:txBody>
          <a:bodyPr/>
          <a:lstStyle>
            <a:lvl1pPr>
              <a:defRPr>
                <a:solidFill>
                  <a:schemeClr val="bg1"/>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0"/>
            <a:ext cx="11757390" cy="1328883"/>
          </a:xfrm>
          <a:noFill/>
        </p:spPr>
        <p:txBody>
          <a:bodyPr lIns="91440" tIns="0" rIns="18288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1233250" cy="317500"/>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5899602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KC-Horz-Op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9" name="Copyright2">
            <a:extLst>
              <a:ext uri="{FF2B5EF4-FFF2-40B4-BE49-F238E27FC236}">
                <a16:creationId xmlns:a16="http://schemas.microsoft.com/office/drawing/2014/main" id="{040A2E6B-1501-4C9F-9D93-5FB480095043}"/>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17" name="Question Number"/>
          <p:cNvSpPr>
            <a:spLocks noGrp="1"/>
          </p:cNvSpPr>
          <p:nvPr>
            <p:ph type="title" idx="1" hasCustomPrompt="1"/>
          </p:nvPr>
        </p:nvSpPr>
        <p:spPr>
          <a:xfrm>
            <a:off x="365760" y="179881"/>
            <a:ext cx="11757389" cy="498849"/>
          </a:xfrm>
        </p:spPr>
        <p:txBody>
          <a:bodyPr/>
          <a:lstStyle>
            <a:lvl1pPr>
              <a:defRPr>
                <a:solidFill>
                  <a:schemeClr val="bg1"/>
                </a:solidFill>
                <a:latin typeface="Amazon Ember Display Heavy" panose="020F0803020204020204" pitchFamily="34" charset="0"/>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0"/>
            <a:ext cx="11757390" cy="1328883"/>
          </a:xfrm>
          <a:noFill/>
        </p:spPr>
        <p:txBody>
          <a:bodyPr lIns="91440" tIns="0" rIns="182880" bIns="0">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1233250" cy="317500"/>
          </a:xfrm>
          <a:noFill/>
          <a:ln>
            <a:noFill/>
          </a:ln>
        </p:spPr>
        <p:txBody>
          <a:bodyPr lIns="91440" rIns="0">
            <a:noAutofit/>
          </a:bodyPr>
          <a:lstStyle>
            <a:lvl1pPr marL="0" indent="0" algn="l">
              <a:buNone/>
              <a:defRPr sz="18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lstStyle>
            <a:lvl1pPr marL="0" indent="0" algn="ctr">
              <a:buNone/>
              <a:defRPr sz="2000" b="1">
                <a:solidFill>
                  <a:srgbClr val="F1F3F3"/>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solidFill>
            <a:schemeClr val="bg1"/>
          </a:solidFill>
          <a:ln>
            <a:noFill/>
          </a:ln>
        </p:spPr>
        <p:txBody>
          <a:bodyPr lIns="91440" tIns="0" rIns="0" bIns="0" anchor="ctr"/>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extLst>
      <p:ext uri="{BB962C8B-B14F-4D97-AF65-F5344CB8AC3E}">
        <p14:creationId xmlns:p14="http://schemas.microsoft.com/office/powerpoint/2010/main" val="5899602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KC-Horizontal-Ans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B82B46A7-D950-4560-80A6-DDA31B0CE700}"/>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4" name="Answer Number"/>
          <p:cNvSpPr>
            <a:spLocks noGrp="1"/>
          </p:cNvSpPr>
          <p:nvPr>
            <p:ph type="title" idx="1" hasCustomPrompt="1"/>
          </p:nvPr>
        </p:nvSpPr>
        <p:spPr>
          <a:xfrm>
            <a:off x="365760"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1"/>
            <a:ext cx="11771597" cy="1325880"/>
          </a:xfrm>
          <a:noFill/>
        </p:spPr>
        <p:txBody>
          <a:bodyPr lIns="9144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Answer Header">
            <a:extLst>
              <a:ext uri="{FF2B5EF4-FFF2-40B4-BE49-F238E27FC236}">
                <a16:creationId xmlns:a16="http://schemas.microsoft.com/office/drawing/2014/main" id="{4CF18732-63A0-43A6-B5E9-C4F74190ED76}"/>
              </a:ext>
            </a:extLst>
          </p:cNvPr>
          <p:cNvSpPr>
            <a:spLocks noGrp="1"/>
          </p:cNvSpPr>
          <p:nvPr>
            <p:ph type="body" idx="11" hasCustomPrompt="1"/>
          </p:nvPr>
        </p:nvSpPr>
        <p:spPr>
          <a:xfrm>
            <a:off x="0" y="2043300"/>
            <a:ext cx="12192000" cy="312702"/>
          </a:xfrm>
          <a:noFill/>
          <a:ln>
            <a:noFill/>
          </a:ln>
        </p:spPr>
        <p:txBody>
          <a:bodyPr lIns="228600">
            <a:noAutofit/>
          </a:bodyPr>
          <a:lstStyle>
            <a:lvl1pPr marL="0" indent="0">
              <a:buNone/>
              <a:defRPr sz="2000">
                <a:solidFill>
                  <a:srgbClr val="F1F1F3"/>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solidFill>
            <a:schemeClr val="bg1"/>
          </a:solidFill>
          <a:ln>
            <a:noFill/>
          </a:ln>
        </p:spPr>
        <p:txBody>
          <a:bodyPr lIns="228600">
            <a:noAutofit/>
          </a:bodyPr>
          <a:lstStyle>
            <a:lvl1pPr marL="0" indent="0">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29793897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KC-Horz-Ans-Op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Copyright2">
            <a:extLst>
              <a:ext uri="{FF2B5EF4-FFF2-40B4-BE49-F238E27FC236}">
                <a16:creationId xmlns:a16="http://schemas.microsoft.com/office/drawing/2014/main" id="{8260B023-E194-4D2F-A69F-7A08F7E096F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660400" y="6451600"/>
            <a:ext cx="3556000" cy="165100"/>
          </a:xfrm>
          <a:prstGeom prst="rect">
            <a:avLst/>
          </a:prstGeom>
        </p:spPr>
      </p:pic>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fld id="{930176A1-BCF0-4712-97A6-6B495F55390B}" type="slidenum">
              <a:rPr lang="en-US" smtClean="0"/>
              <a:pPr/>
              <a:t>‹#›</a:t>
            </a:fld>
            <a:endParaRPr lang="en-US" dirty="0"/>
          </a:p>
        </p:txBody>
      </p:sp>
      <p:sp>
        <p:nvSpPr>
          <p:cNvPr id="4" name="Answer Number"/>
          <p:cNvSpPr>
            <a:spLocks noGrp="1"/>
          </p:cNvSpPr>
          <p:nvPr>
            <p:ph type="title" idx="1" hasCustomPrompt="1"/>
          </p:nvPr>
        </p:nvSpPr>
        <p:spPr>
          <a:xfrm>
            <a:off x="365760" y="179881"/>
            <a:ext cx="11771597" cy="498849"/>
          </a:xfrm>
        </p:spPr>
        <p:txBody>
          <a:bodyPr/>
          <a:lstStyle>
            <a:lvl1pPr>
              <a:defRPr>
                <a:solidFill>
                  <a:schemeClr val="bg1"/>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365760" y="697781"/>
            <a:ext cx="11819172" cy="1325880"/>
          </a:xfrm>
          <a:noFill/>
        </p:spPr>
        <p:txBody>
          <a:bodyPr lIns="9144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1" name="Answer Header">
            <a:extLst>
              <a:ext uri="{FF2B5EF4-FFF2-40B4-BE49-F238E27FC236}">
                <a16:creationId xmlns:a16="http://schemas.microsoft.com/office/drawing/2014/main" id="{4CF18732-63A0-43A6-B5E9-C4F74190ED76}"/>
              </a:ext>
            </a:extLst>
          </p:cNvPr>
          <p:cNvSpPr>
            <a:spLocks noGrp="1"/>
          </p:cNvSpPr>
          <p:nvPr>
            <p:ph type="body" idx="11" hasCustomPrompt="1"/>
          </p:nvPr>
        </p:nvSpPr>
        <p:spPr>
          <a:xfrm>
            <a:off x="0" y="2043300"/>
            <a:ext cx="12192000" cy="312702"/>
          </a:xfrm>
          <a:noFill/>
          <a:ln>
            <a:noFill/>
          </a:ln>
        </p:spPr>
        <p:txBody>
          <a:bodyPr lIns="228600">
            <a:noAutofit/>
          </a:bodyPr>
          <a:lstStyle>
            <a:lvl1pPr marL="0" indent="0">
              <a:buNone/>
              <a:defRPr sz="200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extLst>
      <p:ext uri="{BB962C8B-B14F-4D97-AF65-F5344CB8AC3E}">
        <p14:creationId xmlns:p14="http://schemas.microsoft.com/office/powerpoint/2010/main" val="83600065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61963"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37431754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3" name="Title"/>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latin typeface="Amazon Ember Display Heavy"/>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61963"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extLst>
      <p:ext uri="{BB962C8B-B14F-4D97-AF65-F5344CB8AC3E}">
        <p14:creationId xmlns:p14="http://schemas.microsoft.com/office/powerpoint/2010/main" val="15863142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pic>
        <p:nvPicPr>
          <p:cNvPr id="5" name="Copyright2">
            <a:extLst>
              <a:ext uri="{FF2B5EF4-FFF2-40B4-BE49-F238E27FC236}">
                <a16:creationId xmlns:a16="http://schemas.microsoft.com/office/drawing/2014/main" id="{65812DF0-BE36-445F-AE71-7142ACB3413F}"/>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254000" y="6477000"/>
            <a:ext cx="3556000" cy="165100"/>
          </a:xfrm>
          <a:prstGeom prst="rect">
            <a:avLst/>
          </a:prstGeom>
        </p:spPr>
      </p:pic>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lnSpc>
                <a:spcPct val="100000"/>
              </a:lnSpc>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8798623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Copyright1">
            <a:extLst>
              <a:ext uri="{FF2B5EF4-FFF2-40B4-BE49-F238E27FC236}">
                <a16:creationId xmlns:a16="http://schemas.microsoft.com/office/drawing/2014/main" id="{F581C143-B550-4712-92AD-CA3DD06824E6}"/>
              </a:ext>
              <a:ext uri="{C183D7F6-B498-43B3-948B-1728B52AA6E4}">
                <adec:decorative xmlns:adec="http://schemas.microsoft.com/office/drawing/2017/decorative" val="1"/>
              </a:ext>
            </a:extLst>
          </p:cNvPr>
          <p:cNvPicPr>
            <a:picLocks/>
          </p:cNvPicPr>
          <p:nvPr userDrawn="1"/>
        </p:nvPicPr>
        <p:blipFill>
          <a:blip r:embed="rId63">
            <a:extLst>
              <a:ext uri="{28A0092B-C50C-407E-A947-70E740481C1C}">
                <a14:useLocalDpi xmlns:a14="http://schemas.microsoft.com/office/drawing/2010/main" val="0"/>
              </a:ext>
            </a:extLst>
          </a:blip>
          <a:stretch>
            <a:fillRect/>
          </a:stretch>
        </p:blipFill>
        <p:spPr>
          <a:xfrm>
            <a:off x="4305300" y="6540500"/>
            <a:ext cx="3556000" cy="165100"/>
          </a:xfrm>
          <a:prstGeom prst="rect">
            <a:avLst/>
          </a:prstGeom>
        </p:spPr>
      </p:pic>
      <p:sp>
        <p:nvSpPr>
          <p:cNvPr id="97" name="Slide Number">
            <a:extLst>
              <a:ext uri="{FF2B5EF4-FFF2-40B4-BE49-F238E27FC236}">
                <a16:creationId xmlns:a16="http://schemas.microsoft.com/office/drawing/2014/main" id="{A07A00D0-EC0A-44D2-9309-40C08E7F67D5}"/>
              </a:ext>
            </a:extLst>
          </p:cNvPr>
          <p:cNvSpPr>
            <a:spLocks noGrp="1"/>
          </p:cNvSpPr>
          <p:nvPr>
            <p:ph type="sldNum" idx="97"/>
          </p:nvPr>
        </p:nvSpPr>
        <p:spPr>
          <a:xfrm>
            <a:off x="11466576" y="6446520"/>
            <a:ext cx="484632" cy="228600"/>
          </a:xfrm>
          <a:prstGeom prst="rect">
            <a:avLst/>
          </a:prstGeom>
        </p:spPr>
        <p:txBody>
          <a:bodyPr vert="horz" lIns="0" tIns="0" rIns="0" bIns="0" rtlCol="0" anchor="ctr"/>
          <a:lstStyle>
            <a:lvl1pPr algn="r">
              <a:defRPr sz="1200">
                <a:solidFill>
                  <a:srgbClr val="232F3E"/>
                </a:solidFill>
                <a:latin typeface="Amazon Ember Display"/>
              </a:defRPr>
            </a:lvl1pPr>
          </a:lstStyle>
          <a:p>
            <a:fld id="{4037B1B0-0345-4E15-985A-6BECCDBE474F}" type="slidenum">
              <a:rPr lang="en-US" smtClean="0"/>
              <a:pPr/>
              <a:t>‹#›</a:t>
            </a:fld>
            <a:endParaRPr lang="en-US"/>
          </a:p>
        </p:txBody>
      </p:sp>
      <p:pic>
        <p:nvPicPr>
          <p:cNvPr id="96"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4"/>
          <a:stretch>
            <a:fillRect/>
          </a:stretch>
        </p:blipFill>
        <p:spPr>
          <a:xfrm>
            <a:off x="243599" y="6445721"/>
            <a:ext cx="366979" cy="219456"/>
          </a:xfrm>
          <a:prstGeom prst="rect">
            <a:avLst/>
          </a:prstGeom>
        </p:spPr>
      </p:pic>
      <p:sp>
        <p:nvSpPr>
          <p:cNvPr id="2" name="Title Placeholder 1"/>
          <p:cNvSpPr>
            <a:spLocks noGrp="1"/>
          </p:cNvSpPr>
          <p:nvPr>
            <p:ph type="title"/>
          </p:nvPr>
        </p:nvSpPr>
        <p:spPr>
          <a:xfrm>
            <a:off x="365760" y="299526"/>
            <a:ext cx="11466576" cy="731318"/>
          </a:xfrm>
          <a:prstGeom prst="rect">
            <a:avLst/>
          </a:prstGeom>
        </p:spPr>
        <p:txBody>
          <a:bodyPr vert="horz" lIns="91440" tIns="45720" rIns="91440" bIns="45720" rtlCol="0" anchor="ctr">
            <a:normAutofit/>
          </a:bodyPr>
          <a:lstStyle>
            <a:lvl1pPr algn="l">
              <a:defRPr sz="3600">
                <a:solidFill>
                  <a:schemeClr val="tx2"/>
                </a:solidFill>
                <a:latin typeface="Amazon Ember Display Heavy" panose="020F0803020204020204" pitchFamily="34" charset="0"/>
              </a:defRPr>
            </a:lvl1pPr>
          </a:lstStyle>
          <a:p>
            <a:r>
              <a:rPr lang="en-US" dirty="0"/>
              <a:t>Title and text column</a:t>
            </a:r>
          </a:p>
        </p:txBody>
      </p:sp>
      <p:sp>
        <p:nvSpPr>
          <p:cNvPr id="3" name="Text Placeholder 2"/>
          <p:cNvSpPr>
            <a:spLocks noGrp="1"/>
          </p:cNvSpPr>
          <p:nvPr>
            <p:ph type="body" idx="1"/>
          </p:nvPr>
        </p:nvSpPr>
        <p:spPr>
          <a:xfrm>
            <a:off x="365760" y="1097280"/>
            <a:ext cx="11466576" cy="5330952"/>
          </a:xfrm>
          <a:prstGeom prst="rect">
            <a:avLst/>
          </a:prstGeom>
        </p:spPr>
        <p:txBody>
          <a:bodyPr vert="horz" lIns="91440" tIns="45720" rIns="91440" bIns="45720" rtlCol="0">
            <a:normAutofit/>
          </a:body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31" r:id="rId6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17.xml"/><Relationship Id="rId16" Type="http://schemas.openxmlformats.org/officeDocument/2006/relationships/image" Target="../media/image48.svg"/><Relationship Id="rId1" Type="http://schemas.openxmlformats.org/officeDocument/2006/relationships/slideLayout" Target="../slideLayouts/slideLayout34.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 Id="rId14" Type="http://schemas.openxmlformats.org/officeDocument/2006/relationships/image" Target="../media/image46.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9.png"/><Relationship Id="rId7"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45.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50.svg"/></Relationships>
</file>

<file path=ppt/slides/_rels/slide21.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19.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9.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45.xml"/><Relationship Id="rId4" Type="http://schemas.openxmlformats.org/officeDocument/2006/relationships/image" Target="../media/image67.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p:txBody>
          <a:bodyPr/>
          <a:lstStyle/>
          <a:p>
            <a:r>
              <a:rPr lang="en-US" dirty="0"/>
              <a:t>Module 3: Essentials of Prompt Engineering</a:t>
            </a:r>
          </a:p>
        </p:txBody>
      </p:sp>
      <p:sp>
        <p:nvSpPr>
          <p:cNvPr id="7" name="Text Placeholder 6">
            <a:extLst>
              <a:ext uri="{FF2B5EF4-FFF2-40B4-BE49-F238E27FC236}">
                <a16:creationId xmlns:a16="http://schemas.microsoft.com/office/drawing/2014/main" id="{F71D2F18-86A4-26FF-BA2E-2B23E302349F}"/>
              </a:ext>
            </a:extLst>
          </p:cNvPr>
          <p:cNvSpPr>
            <a:spLocks noGrp="1"/>
          </p:cNvSpPr>
          <p:nvPr>
            <p:ph type="body" idx="2"/>
          </p:nvPr>
        </p:nvSpPr>
        <p:spPr>
          <a:xfrm>
            <a:off x="457200" y="2772920"/>
            <a:ext cx="5091193" cy="1755648"/>
          </a:xfrm>
        </p:spPr>
        <p:txBody>
          <a:bodyPr>
            <a:normAutofit/>
          </a:bodyPr>
          <a:lstStyle/>
          <a:p>
            <a:r>
              <a:rPr lang="en-US" dirty="0"/>
              <a:t>Generative AI Essentials on AWS</a:t>
            </a:r>
          </a:p>
        </p:txBody>
      </p:sp>
      <p:sp>
        <p:nvSpPr>
          <p:cNvPr id="4" name="Text Placeholder 3">
            <a:extLst>
              <a:ext uri="{FF2B5EF4-FFF2-40B4-BE49-F238E27FC236}">
                <a16:creationId xmlns:a16="http://schemas.microsoft.com/office/drawing/2014/main" id="{D04549CF-D905-4737-AE29-AEEAA45EF855}"/>
              </a:ext>
            </a:extLst>
          </p:cNvPr>
          <p:cNvSpPr>
            <a:spLocks noGrp="1"/>
          </p:cNvSpPr>
          <p:nvPr>
            <p:ph type="body" idx="3"/>
          </p:nvPr>
        </p:nvSpPr>
        <p:spPr/>
        <p:txBody>
          <a:bodyPr/>
          <a:lstStyle/>
          <a:p>
            <a:endParaRPr lang="en-US"/>
          </a:p>
        </p:txBody>
      </p:sp>
      <p:sp>
        <p:nvSpPr>
          <p:cNvPr id="5" name="Text Placeholder 4">
            <a:extLst>
              <a:ext uri="{FF2B5EF4-FFF2-40B4-BE49-F238E27FC236}">
                <a16:creationId xmlns:a16="http://schemas.microsoft.com/office/drawing/2014/main" id="{83C162E1-BCC0-4B43-A8B2-126F238F3EAC}"/>
              </a:ext>
            </a:extLst>
          </p:cNvPr>
          <p:cNvSpPr>
            <a:spLocks noGrp="1"/>
          </p:cNvSpPr>
          <p:nvPr>
            <p:ph type="body" idx="4"/>
          </p:nvPr>
        </p:nvSpPr>
        <p:spPr/>
        <p:txBody>
          <a:bodyPr/>
          <a:lstStyle/>
          <a:p>
            <a:endParaRPr lang="en-US"/>
          </a:p>
        </p:txBody>
      </p:sp>
    </p:spTree>
    <p:extLst>
      <p:ext uri="{BB962C8B-B14F-4D97-AF65-F5344CB8AC3E}">
        <p14:creationId xmlns:p14="http://schemas.microsoft.com/office/powerpoint/2010/main" val="312802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7797C96-0FE8-49E1-B089-77DEFF47BB9A}"/>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6" name="Title">
            <a:extLst>
              <a:ext uri="{FF2B5EF4-FFF2-40B4-BE49-F238E27FC236}">
                <a16:creationId xmlns:a16="http://schemas.microsoft.com/office/drawing/2014/main" id="{33C9C777-24CB-47A0-89F3-91795AD29105}"/>
              </a:ext>
            </a:extLst>
          </p:cNvPr>
          <p:cNvSpPr>
            <a:spLocks noGrp="1"/>
          </p:cNvSpPr>
          <p:nvPr>
            <p:ph type="title" idx="1"/>
          </p:nvPr>
        </p:nvSpPr>
        <p:spPr/>
        <p:txBody>
          <a:bodyPr/>
          <a:lstStyle/>
          <a:p>
            <a:r>
              <a:rPr lang="en-US" dirty="0"/>
              <a:t>Module outline</a:t>
            </a:r>
          </a:p>
        </p:txBody>
      </p:sp>
      <p:sp>
        <p:nvSpPr>
          <p:cNvPr id="7" name="Text Placeholder 6">
            <a:extLst>
              <a:ext uri="{FF2B5EF4-FFF2-40B4-BE49-F238E27FC236}">
                <a16:creationId xmlns:a16="http://schemas.microsoft.com/office/drawing/2014/main" id="{4F4655E4-9A28-40A4-A090-FFD7E2DE26A5}"/>
              </a:ext>
            </a:extLst>
          </p:cNvPr>
          <p:cNvSpPr>
            <a:spLocks noGrp="1"/>
          </p:cNvSpPr>
          <p:nvPr>
            <p:ph type="body" idx="2"/>
          </p:nvPr>
        </p:nvSpPr>
        <p:spPr/>
        <p:txBody>
          <a:bodyPr/>
          <a:lstStyle/>
          <a:p>
            <a:r>
              <a:rPr lang="en-US" dirty="0"/>
              <a:t>Module 3: Essentials of Prompt Engineering</a:t>
            </a:r>
          </a:p>
        </p:txBody>
      </p:sp>
      <p:sp>
        <p:nvSpPr>
          <p:cNvPr id="8" name="Text Placeholder 7">
            <a:extLst>
              <a:ext uri="{FF2B5EF4-FFF2-40B4-BE49-F238E27FC236}">
                <a16:creationId xmlns:a16="http://schemas.microsoft.com/office/drawing/2014/main" id="{182E20D1-A5C1-4319-AAD7-EF86E2EE1672}"/>
              </a:ext>
            </a:extLst>
          </p:cNvPr>
          <p:cNvSpPr>
            <a:spLocks noGrp="1"/>
          </p:cNvSpPr>
          <p:nvPr>
            <p:ph type="body" idx="3"/>
          </p:nvPr>
        </p:nvSpPr>
        <p:spPr/>
        <p:txBody>
          <a:bodyPr/>
          <a:lstStyle/>
          <a:p>
            <a:pPr marL="457200" indent="-457200">
              <a:buFont typeface="Arial" panose="020B0604020202020204" pitchFamily="34" charset="0"/>
              <a:buChar char="•"/>
            </a:pPr>
            <a:r>
              <a:rPr lang="en-US" dirty="0"/>
              <a:t>Introduction to prompt engineering</a:t>
            </a:r>
          </a:p>
          <a:p>
            <a:pPr marL="457200" indent="-457200">
              <a:buFont typeface="Arial" panose="020B0604020202020204" pitchFamily="34" charset="0"/>
              <a:buChar char="•"/>
            </a:pPr>
            <a:r>
              <a:rPr lang="en-US" dirty="0"/>
              <a:t>Prompt design best practices</a:t>
            </a:r>
          </a:p>
          <a:p>
            <a:pPr marL="457200" indent="-457200">
              <a:buFont typeface="Arial" panose="020B0604020202020204" pitchFamily="34" charset="0"/>
              <a:buChar char="•"/>
            </a:pPr>
            <a:r>
              <a:rPr lang="en-US" dirty="0"/>
              <a:t>Advanced prompting strategies</a:t>
            </a:r>
          </a:p>
          <a:p>
            <a:pPr marL="457200" indent="-457200">
              <a:buFont typeface="Arial" panose="020B0604020202020204" pitchFamily="34" charset="0"/>
              <a:buChar char="•"/>
            </a:pPr>
            <a:r>
              <a:rPr lang="en-US" dirty="0"/>
              <a:t>Model settings and parameters</a:t>
            </a:r>
          </a:p>
          <a:p>
            <a:pPr marL="457200" indent="-457200">
              <a:buFont typeface="Arial" panose="020B0604020202020204" pitchFamily="34" charset="0"/>
              <a:buChar char="•"/>
            </a:pPr>
            <a:r>
              <a:rPr lang="en-US" dirty="0"/>
              <a:t>Hands-on-Lab: Optimizing Slogan Generation with Amazon Bedrock</a:t>
            </a:r>
          </a:p>
        </p:txBody>
      </p:sp>
    </p:spTree>
    <p:extLst>
      <p:ext uri="{BB962C8B-B14F-4D97-AF65-F5344CB8AC3E}">
        <p14:creationId xmlns:p14="http://schemas.microsoft.com/office/powerpoint/2010/main" val="3507925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3</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Introduction to prompt engineering</a:t>
            </a:r>
          </a:p>
        </p:txBody>
      </p:sp>
    </p:spTree>
    <p:extLst>
      <p:ext uri="{BB962C8B-B14F-4D97-AF65-F5344CB8AC3E}">
        <p14:creationId xmlns:p14="http://schemas.microsoft.com/office/powerpoint/2010/main" val="1799486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4E565604-28DD-05CD-6FAA-C10AEF4E4D62}"/>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7" name="Title">
            <a:extLst>
              <a:ext uri="{FF2B5EF4-FFF2-40B4-BE49-F238E27FC236}">
                <a16:creationId xmlns:a16="http://schemas.microsoft.com/office/drawing/2014/main" id="{5B0686A7-0EF3-3835-BC1D-460ABCD55414}"/>
              </a:ext>
            </a:extLst>
          </p:cNvPr>
          <p:cNvSpPr>
            <a:spLocks noGrp="1"/>
          </p:cNvSpPr>
          <p:nvPr>
            <p:ph type="title" idx="1"/>
          </p:nvPr>
        </p:nvSpPr>
        <p:spPr/>
        <p:txBody>
          <a:bodyPr/>
          <a:lstStyle/>
          <a:p>
            <a:r>
              <a:rPr lang="en-US" dirty="0"/>
              <a:t>Prompt engineering</a:t>
            </a:r>
          </a:p>
        </p:txBody>
      </p:sp>
      <p:sp>
        <p:nvSpPr>
          <p:cNvPr id="8" name="Content Placeholder 7">
            <a:extLst>
              <a:ext uri="{FF2B5EF4-FFF2-40B4-BE49-F238E27FC236}">
                <a16:creationId xmlns:a16="http://schemas.microsoft.com/office/drawing/2014/main" id="{D0683EE0-1DEC-D8B6-F7B2-2654536263C8}"/>
              </a:ext>
            </a:extLst>
          </p:cNvPr>
          <p:cNvSpPr>
            <a:spLocks noGrp="1"/>
          </p:cNvSpPr>
          <p:nvPr>
            <p:ph idx="4294967295"/>
          </p:nvPr>
        </p:nvSpPr>
        <p:spPr>
          <a:xfrm>
            <a:off x="725488" y="3416300"/>
            <a:ext cx="11466512" cy="2971800"/>
          </a:xfrm>
        </p:spPr>
        <p:txBody>
          <a:bodyPr/>
          <a:lstStyle/>
          <a:p>
            <a:pPr marL="0" indent="0">
              <a:buNone/>
            </a:pPr>
            <a:r>
              <a:rPr lang="en-US" sz="2400" dirty="0"/>
              <a:t>Benefits of effective prompts:</a:t>
            </a:r>
          </a:p>
          <a:p>
            <a:r>
              <a:rPr lang="en-US" sz="2400" dirty="0"/>
              <a:t>Get’s the best results from the model's capabilities. </a:t>
            </a:r>
          </a:p>
          <a:p>
            <a:r>
              <a:rPr lang="en-US" sz="2400" dirty="0"/>
              <a:t>Bolster safety measures.</a:t>
            </a:r>
          </a:p>
          <a:p>
            <a:r>
              <a:rPr lang="en-US" sz="2400" dirty="0"/>
              <a:t>Provide domain-specific knowledge without fine-tuning.</a:t>
            </a:r>
          </a:p>
          <a:p>
            <a:r>
              <a:rPr lang="en-US" sz="2400" dirty="0"/>
              <a:t>Obtain higher-quality outputs.</a:t>
            </a:r>
          </a:p>
        </p:txBody>
      </p:sp>
      <p:grpSp>
        <p:nvGrpSpPr>
          <p:cNvPr id="5" name="Diagram" descr="Prompt communicates with large language model which generates a response.">
            <a:extLst>
              <a:ext uri="{FF2B5EF4-FFF2-40B4-BE49-F238E27FC236}">
                <a16:creationId xmlns:a16="http://schemas.microsoft.com/office/drawing/2014/main" id="{E1B1DDC9-2729-4C77-A32C-EC0748575D3D}"/>
              </a:ext>
            </a:extLst>
          </p:cNvPr>
          <p:cNvGrpSpPr/>
          <p:nvPr/>
        </p:nvGrpSpPr>
        <p:grpSpPr>
          <a:xfrm>
            <a:off x="2429400" y="1243043"/>
            <a:ext cx="7674001" cy="1961357"/>
            <a:chOff x="2429400" y="1243043"/>
            <a:chExt cx="7674001" cy="1961357"/>
          </a:xfrm>
        </p:grpSpPr>
        <p:grpSp>
          <p:nvGrpSpPr>
            <p:cNvPr id="3" name="Group 2" descr="Prompt communicates with large language model which generates a response.">
              <a:extLst>
                <a:ext uri="{FF2B5EF4-FFF2-40B4-BE49-F238E27FC236}">
                  <a16:creationId xmlns:a16="http://schemas.microsoft.com/office/drawing/2014/main" id="{2520F8D6-4B5B-4F0A-B997-21B28F7A3838}"/>
                </a:ext>
              </a:extLst>
            </p:cNvPr>
            <p:cNvGrpSpPr/>
            <p:nvPr/>
          </p:nvGrpSpPr>
          <p:grpSpPr>
            <a:xfrm>
              <a:off x="2429400" y="1243043"/>
              <a:ext cx="7674001" cy="1529307"/>
              <a:chOff x="2429400" y="1455242"/>
              <a:chExt cx="7674001" cy="1529307"/>
            </a:xfrm>
          </p:grpSpPr>
          <p:grpSp>
            <p:nvGrpSpPr>
              <p:cNvPr id="11" name="Graphic 8" descr="Communication with large language model.">
                <a:extLst>
                  <a:ext uri="{FF2B5EF4-FFF2-40B4-BE49-F238E27FC236}">
                    <a16:creationId xmlns:a16="http://schemas.microsoft.com/office/drawing/2014/main" id="{9179339A-CDA3-E08A-877C-9D41FA92BF91}"/>
                  </a:ext>
                </a:extLst>
              </p:cNvPr>
              <p:cNvGrpSpPr/>
              <p:nvPr/>
            </p:nvGrpSpPr>
            <p:grpSpPr>
              <a:xfrm>
                <a:off x="5367355" y="1455242"/>
                <a:ext cx="1457290" cy="1529307"/>
                <a:chOff x="5687967" y="4500432"/>
                <a:chExt cx="619619" cy="618246"/>
              </a:xfrm>
              <a:noFill/>
            </p:grpSpPr>
            <p:sp>
              <p:nvSpPr>
                <p:cNvPr id="12" name="Freeform 11">
                  <a:extLst>
                    <a:ext uri="{FF2B5EF4-FFF2-40B4-BE49-F238E27FC236}">
                      <a16:creationId xmlns:a16="http://schemas.microsoft.com/office/drawing/2014/main" id="{46EB6575-A6F8-DB36-3290-9E9A7AE23233}"/>
                    </a:ext>
                  </a:extLst>
                </p:cNvPr>
                <p:cNvSpPr/>
                <p:nvPr/>
              </p:nvSpPr>
              <p:spPr>
                <a:xfrm>
                  <a:off x="5838908" y="4611109"/>
                  <a:ext cx="79465" cy="206560"/>
                </a:xfrm>
                <a:custGeom>
                  <a:avLst/>
                  <a:gdLst>
                    <a:gd name="connsiteX0" fmla="*/ 0 w 79465"/>
                    <a:gd name="connsiteY0" fmla="*/ 206561 h 206560"/>
                    <a:gd name="connsiteX1" fmla="*/ 0 w 79465"/>
                    <a:gd name="connsiteY1" fmla="*/ 121789 h 206560"/>
                    <a:gd name="connsiteX2" fmla="*/ 79466 w 79465"/>
                    <a:gd name="connsiteY2" fmla="*/ 82025 h 206560"/>
                    <a:gd name="connsiteX3" fmla="*/ 79466 w 79465"/>
                    <a:gd name="connsiteY3" fmla="*/ 0 h 206560"/>
                  </a:gdLst>
                  <a:ahLst/>
                  <a:cxnLst>
                    <a:cxn ang="0">
                      <a:pos x="connsiteX0" y="connsiteY0"/>
                    </a:cxn>
                    <a:cxn ang="0">
                      <a:pos x="connsiteX1" y="connsiteY1"/>
                    </a:cxn>
                    <a:cxn ang="0">
                      <a:pos x="connsiteX2" y="connsiteY2"/>
                    </a:cxn>
                    <a:cxn ang="0">
                      <a:pos x="connsiteX3" y="connsiteY3"/>
                    </a:cxn>
                  </a:cxnLst>
                  <a:rect l="l" t="t" r="r" b="b"/>
                  <a:pathLst>
                    <a:path w="79465" h="206560">
                      <a:moveTo>
                        <a:pt x="0" y="206561"/>
                      </a:moveTo>
                      <a:lnTo>
                        <a:pt x="0" y="121789"/>
                      </a:lnTo>
                      <a:lnTo>
                        <a:pt x="79466" y="82025"/>
                      </a:lnTo>
                      <a:lnTo>
                        <a:pt x="79466" y="0"/>
                      </a:lnTo>
                    </a:path>
                  </a:pathLst>
                </a:custGeom>
                <a:noFill/>
                <a:ln w="25400" cap="flat">
                  <a:solidFill>
                    <a:srgbClr val="232F3E"/>
                  </a:solidFill>
                  <a:prstDash val="solid"/>
                  <a:round/>
                </a:ln>
              </p:spPr>
              <p:txBody>
                <a:bodyPr rtlCol="0" anchor="ctr"/>
                <a:lstStyle/>
                <a:p>
                  <a:endParaRPr lang="en-US"/>
                </a:p>
              </p:txBody>
            </p:sp>
            <p:sp>
              <p:nvSpPr>
                <p:cNvPr id="13" name="Freeform 12">
                  <a:extLst>
                    <a:ext uri="{FF2B5EF4-FFF2-40B4-BE49-F238E27FC236}">
                      <a16:creationId xmlns:a16="http://schemas.microsoft.com/office/drawing/2014/main" id="{542F2A34-CF38-0F16-42DE-B3CA90B0530D}"/>
                    </a:ext>
                  </a:extLst>
                </p:cNvPr>
                <p:cNvSpPr/>
                <p:nvPr/>
              </p:nvSpPr>
              <p:spPr>
                <a:xfrm>
                  <a:off x="5765809" y="4693758"/>
                  <a:ext cx="77343" cy="38640"/>
                </a:xfrm>
                <a:custGeom>
                  <a:avLst/>
                  <a:gdLst>
                    <a:gd name="connsiteX0" fmla="*/ 77343 w 77343"/>
                    <a:gd name="connsiteY0" fmla="*/ 38640 h 38640"/>
                    <a:gd name="connsiteX1" fmla="*/ 0 w 77343"/>
                    <a:gd name="connsiteY1" fmla="*/ 0 h 38640"/>
                  </a:gdLst>
                  <a:ahLst/>
                  <a:cxnLst>
                    <a:cxn ang="0">
                      <a:pos x="connsiteX0" y="connsiteY0"/>
                    </a:cxn>
                    <a:cxn ang="0">
                      <a:pos x="connsiteX1" y="connsiteY1"/>
                    </a:cxn>
                  </a:cxnLst>
                  <a:rect l="l" t="t" r="r" b="b"/>
                  <a:pathLst>
                    <a:path w="77343" h="38640">
                      <a:moveTo>
                        <a:pt x="77343" y="38640"/>
                      </a:moveTo>
                      <a:lnTo>
                        <a:pt x="0" y="0"/>
                      </a:lnTo>
                    </a:path>
                  </a:pathLst>
                </a:custGeom>
                <a:ln w="25400" cap="flat">
                  <a:solidFill>
                    <a:srgbClr val="232F3E"/>
                  </a:solidFill>
                  <a:prstDash val="solid"/>
                  <a:round/>
                </a:ln>
              </p:spPr>
              <p:txBody>
                <a:bodyPr rtlCol="0" anchor="ctr"/>
                <a:lstStyle/>
                <a:p>
                  <a:endParaRPr lang="en-US"/>
                </a:p>
              </p:txBody>
            </p:sp>
            <p:sp>
              <p:nvSpPr>
                <p:cNvPr id="14" name="Freeform 13">
                  <a:extLst>
                    <a:ext uri="{FF2B5EF4-FFF2-40B4-BE49-F238E27FC236}">
                      <a16:creationId xmlns:a16="http://schemas.microsoft.com/office/drawing/2014/main" id="{8615EA01-E427-342E-C7A3-DF5AE716DFD3}"/>
                    </a:ext>
                  </a:extLst>
                </p:cNvPr>
                <p:cNvSpPr/>
                <p:nvPr/>
              </p:nvSpPr>
              <p:spPr>
                <a:xfrm>
                  <a:off x="5846836" y="4547624"/>
                  <a:ext cx="6242" cy="95258"/>
                </a:xfrm>
                <a:custGeom>
                  <a:avLst/>
                  <a:gdLst>
                    <a:gd name="connsiteX0" fmla="*/ 0 w 6242"/>
                    <a:gd name="connsiteY0" fmla="*/ 95259 h 95258"/>
                    <a:gd name="connsiteX1" fmla="*/ 0 w 6242"/>
                    <a:gd name="connsiteY1" fmla="*/ 0 h 95258"/>
                  </a:gdLst>
                  <a:ahLst/>
                  <a:cxnLst>
                    <a:cxn ang="0">
                      <a:pos x="connsiteX0" y="connsiteY0"/>
                    </a:cxn>
                    <a:cxn ang="0">
                      <a:pos x="connsiteX1" y="connsiteY1"/>
                    </a:cxn>
                  </a:cxnLst>
                  <a:rect l="l" t="t" r="r" b="b"/>
                  <a:pathLst>
                    <a:path w="6242" h="95258">
                      <a:moveTo>
                        <a:pt x="0" y="95259"/>
                      </a:moveTo>
                      <a:lnTo>
                        <a:pt x="0" y="0"/>
                      </a:lnTo>
                    </a:path>
                  </a:pathLst>
                </a:custGeom>
                <a:ln w="25400" cap="flat">
                  <a:solidFill>
                    <a:srgbClr val="232F3E"/>
                  </a:solidFill>
                  <a:prstDash val="solid"/>
                  <a:round/>
                </a:ln>
              </p:spPr>
              <p:txBody>
                <a:bodyPr rtlCol="0" anchor="ctr"/>
                <a:lstStyle/>
                <a:p>
                  <a:endParaRPr lang="en-US"/>
                </a:p>
              </p:txBody>
            </p:sp>
            <p:sp>
              <p:nvSpPr>
                <p:cNvPr id="15" name="Freeform 14">
                  <a:extLst>
                    <a:ext uri="{FF2B5EF4-FFF2-40B4-BE49-F238E27FC236}">
                      <a16:creationId xmlns:a16="http://schemas.microsoft.com/office/drawing/2014/main" id="{A314B96E-D2C7-5F21-D073-8062D5733047}"/>
                    </a:ext>
                  </a:extLst>
                </p:cNvPr>
                <p:cNvSpPr/>
                <p:nvPr/>
              </p:nvSpPr>
              <p:spPr>
                <a:xfrm>
                  <a:off x="5688528" y="4770040"/>
                  <a:ext cx="74409" cy="43821"/>
                </a:xfrm>
                <a:custGeom>
                  <a:avLst/>
                  <a:gdLst>
                    <a:gd name="connsiteX0" fmla="*/ 0 w 74409"/>
                    <a:gd name="connsiteY0" fmla="*/ 43822 h 43821"/>
                    <a:gd name="connsiteX1" fmla="*/ 74409 w 74409"/>
                    <a:gd name="connsiteY1" fmla="*/ 0 h 43821"/>
                  </a:gdLst>
                  <a:ahLst/>
                  <a:cxnLst>
                    <a:cxn ang="0">
                      <a:pos x="connsiteX0" y="connsiteY0"/>
                    </a:cxn>
                    <a:cxn ang="0">
                      <a:pos x="connsiteX1" y="connsiteY1"/>
                    </a:cxn>
                  </a:cxnLst>
                  <a:rect l="l" t="t" r="r" b="b"/>
                  <a:pathLst>
                    <a:path w="74409" h="43821">
                      <a:moveTo>
                        <a:pt x="0" y="43822"/>
                      </a:moveTo>
                      <a:lnTo>
                        <a:pt x="74409" y="0"/>
                      </a:lnTo>
                    </a:path>
                  </a:pathLst>
                </a:custGeom>
                <a:ln w="25400" cap="flat">
                  <a:solidFill>
                    <a:srgbClr val="232F3E"/>
                  </a:solidFill>
                  <a:prstDash val="solid"/>
                  <a:round/>
                </a:ln>
              </p:spPr>
              <p:txBody>
                <a:bodyPr rtlCol="0" anchor="ctr"/>
                <a:lstStyle/>
                <a:p>
                  <a:endParaRPr lang="en-US"/>
                </a:p>
              </p:txBody>
            </p:sp>
            <p:sp>
              <p:nvSpPr>
                <p:cNvPr id="16" name="Freeform 15">
                  <a:extLst>
                    <a:ext uri="{FF2B5EF4-FFF2-40B4-BE49-F238E27FC236}">
                      <a16:creationId xmlns:a16="http://schemas.microsoft.com/office/drawing/2014/main" id="{A19A06CD-0B06-F95D-59E5-B3293AE093B9}"/>
                    </a:ext>
                  </a:extLst>
                </p:cNvPr>
                <p:cNvSpPr/>
                <p:nvPr/>
              </p:nvSpPr>
              <p:spPr>
                <a:xfrm>
                  <a:off x="5765809" y="4887023"/>
                  <a:ext cx="77343" cy="51562"/>
                </a:xfrm>
                <a:custGeom>
                  <a:avLst/>
                  <a:gdLst>
                    <a:gd name="connsiteX0" fmla="*/ 0 w 77343"/>
                    <a:gd name="connsiteY0" fmla="*/ 51562 h 51562"/>
                    <a:gd name="connsiteX1" fmla="*/ 77343 w 77343"/>
                    <a:gd name="connsiteY1" fmla="*/ 0 h 51562"/>
                  </a:gdLst>
                  <a:ahLst/>
                  <a:cxnLst>
                    <a:cxn ang="0">
                      <a:pos x="connsiteX0" y="connsiteY0"/>
                    </a:cxn>
                    <a:cxn ang="0">
                      <a:pos x="connsiteX1" y="connsiteY1"/>
                    </a:cxn>
                  </a:cxnLst>
                  <a:rect l="l" t="t" r="r" b="b"/>
                  <a:pathLst>
                    <a:path w="77343" h="51562">
                      <a:moveTo>
                        <a:pt x="0" y="51562"/>
                      </a:moveTo>
                      <a:lnTo>
                        <a:pt x="77343" y="0"/>
                      </a:lnTo>
                    </a:path>
                  </a:pathLst>
                </a:custGeom>
                <a:ln w="25400" cap="flat">
                  <a:solidFill>
                    <a:srgbClr val="232F3E"/>
                  </a:solidFill>
                  <a:prstDash val="solid"/>
                  <a:round/>
                </a:ln>
              </p:spPr>
              <p:txBody>
                <a:bodyPr rtlCol="0" anchor="ctr"/>
                <a:lstStyle/>
                <a:p>
                  <a:endParaRPr lang="en-US"/>
                </a:p>
              </p:txBody>
            </p:sp>
            <p:sp>
              <p:nvSpPr>
                <p:cNvPr id="17" name="Freeform 16">
                  <a:extLst>
                    <a:ext uri="{FF2B5EF4-FFF2-40B4-BE49-F238E27FC236}">
                      <a16:creationId xmlns:a16="http://schemas.microsoft.com/office/drawing/2014/main" id="{787B701F-861D-328B-B0CF-C9797E0C48AC}"/>
                    </a:ext>
                  </a:extLst>
                </p:cNvPr>
                <p:cNvSpPr/>
                <p:nvPr/>
              </p:nvSpPr>
              <p:spPr>
                <a:xfrm>
                  <a:off x="5838908" y="5033157"/>
                  <a:ext cx="72037" cy="38702"/>
                </a:xfrm>
                <a:custGeom>
                  <a:avLst/>
                  <a:gdLst>
                    <a:gd name="connsiteX0" fmla="*/ 0 w 72037"/>
                    <a:gd name="connsiteY0" fmla="*/ 38703 h 38702"/>
                    <a:gd name="connsiteX1" fmla="*/ 72037 w 72037"/>
                    <a:gd name="connsiteY1" fmla="*/ 0 h 38702"/>
                  </a:gdLst>
                  <a:ahLst/>
                  <a:cxnLst>
                    <a:cxn ang="0">
                      <a:pos x="connsiteX0" y="connsiteY0"/>
                    </a:cxn>
                    <a:cxn ang="0">
                      <a:pos x="connsiteX1" y="connsiteY1"/>
                    </a:cxn>
                  </a:cxnLst>
                  <a:rect l="l" t="t" r="r" b="b"/>
                  <a:pathLst>
                    <a:path w="72037" h="38702">
                      <a:moveTo>
                        <a:pt x="0" y="38703"/>
                      </a:moveTo>
                      <a:lnTo>
                        <a:pt x="72037" y="0"/>
                      </a:lnTo>
                    </a:path>
                  </a:pathLst>
                </a:custGeom>
                <a:ln w="25400" cap="flat">
                  <a:solidFill>
                    <a:srgbClr val="232F3E"/>
                  </a:solidFill>
                  <a:prstDash val="solid"/>
                  <a:round/>
                </a:ln>
              </p:spPr>
              <p:txBody>
                <a:bodyPr rtlCol="0" anchor="ctr"/>
                <a:lstStyle/>
                <a:p>
                  <a:endParaRPr lang="en-US"/>
                </a:p>
              </p:txBody>
            </p:sp>
            <p:sp>
              <p:nvSpPr>
                <p:cNvPr id="18" name="Freeform 17">
                  <a:extLst>
                    <a:ext uri="{FF2B5EF4-FFF2-40B4-BE49-F238E27FC236}">
                      <a16:creationId xmlns:a16="http://schemas.microsoft.com/office/drawing/2014/main" id="{A96D27FF-ABB0-1FAA-BA04-C874C6E2109B}"/>
                    </a:ext>
                  </a:extLst>
                </p:cNvPr>
                <p:cNvSpPr/>
                <p:nvPr/>
              </p:nvSpPr>
              <p:spPr>
                <a:xfrm>
                  <a:off x="5830231" y="4887023"/>
                  <a:ext cx="167545" cy="90202"/>
                </a:xfrm>
                <a:custGeom>
                  <a:avLst/>
                  <a:gdLst>
                    <a:gd name="connsiteX0" fmla="*/ 0 w 167545"/>
                    <a:gd name="connsiteY0" fmla="*/ 90203 h 90202"/>
                    <a:gd name="connsiteX1" fmla="*/ 167546 w 167545"/>
                    <a:gd name="connsiteY1" fmla="*/ 0 h 90202"/>
                  </a:gdLst>
                  <a:ahLst/>
                  <a:cxnLst>
                    <a:cxn ang="0">
                      <a:pos x="connsiteX0" y="connsiteY0"/>
                    </a:cxn>
                    <a:cxn ang="0">
                      <a:pos x="connsiteX1" y="connsiteY1"/>
                    </a:cxn>
                  </a:cxnLst>
                  <a:rect l="l" t="t" r="r" b="b"/>
                  <a:pathLst>
                    <a:path w="167545" h="90202">
                      <a:moveTo>
                        <a:pt x="0" y="90203"/>
                      </a:moveTo>
                      <a:lnTo>
                        <a:pt x="167546" y="0"/>
                      </a:lnTo>
                    </a:path>
                  </a:pathLst>
                </a:custGeom>
                <a:ln w="25400" cap="flat">
                  <a:solidFill>
                    <a:srgbClr val="232F3E"/>
                  </a:solidFill>
                  <a:prstDash val="solid"/>
                  <a:round/>
                </a:ln>
              </p:spPr>
              <p:txBody>
                <a:bodyPr rtlCol="0" anchor="ctr"/>
                <a:lstStyle/>
                <a:p>
                  <a:endParaRPr lang="en-US"/>
                </a:p>
              </p:txBody>
            </p:sp>
            <p:sp>
              <p:nvSpPr>
                <p:cNvPr id="19" name="Freeform 18">
                  <a:extLst>
                    <a:ext uri="{FF2B5EF4-FFF2-40B4-BE49-F238E27FC236}">
                      <a16:creationId xmlns:a16="http://schemas.microsoft.com/office/drawing/2014/main" id="{1BE280D6-A3E0-FC7D-692A-B8CDB535F3D9}"/>
                    </a:ext>
                  </a:extLst>
                </p:cNvPr>
                <p:cNvSpPr/>
                <p:nvPr/>
              </p:nvSpPr>
              <p:spPr>
                <a:xfrm>
                  <a:off x="5765809" y="4809742"/>
                  <a:ext cx="77343" cy="51499"/>
                </a:xfrm>
                <a:custGeom>
                  <a:avLst/>
                  <a:gdLst>
                    <a:gd name="connsiteX0" fmla="*/ 0 w 77343"/>
                    <a:gd name="connsiteY0" fmla="*/ 51500 h 51499"/>
                    <a:gd name="connsiteX1" fmla="*/ 77343 w 77343"/>
                    <a:gd name="connsiteY1" fmla="*/ 0 h 51499"/>
                  </a:gdLst>
                  <a:ahLst/>
                  <a:cxnLst>
                    <a:cxn ang="0">
                      <a:pos x="connsiteX0" y="connsiteY0"/>
                    </a:cxn>
                    <a:cxn ang="0">
                      <a:pos x="connsiteX1" y="connsiteY1"/>
                    </a:cxn>
                  </a:cxnLst>
                  <a:rect l="l" t="t" r="r" b="b"/>
                  <a:pathLst>
                    <a:path w="77343" h="51499">
                      <a:moveTo>
                        <a:pt x="0" y="51500"/>
                      </a:moveTo>
                      <a:lnTo>
                        <a:pt x="77343" y="0"/>
                      </a:lnTo>
                    </a:path>
                  </a:pathLst>
                </a:custGeom>
                <a:ln w="25400" cap="flat">
                  <a:solidFill>
                    <a:srgbClr val="232F3E"/>
                  </a:solidFill>
                  <a:prstDash val="solid"/>
                  <a:round/>
                </a:ln>
              </p:spPr>
              <p:txBody>
                <a:bodyPr rtlCol="0" anchor="ctr"/>
                <a:lstStyle/>
                <a:p>
                  <a:endParaRPr lang="en-US"/>
                </a:p>
              </p:txBody>
            </p:sp>
            <p:sp>
              <p:nvSpPr>
                <p:cNvPr id="20" name="Freeform 19">
                  <a:extLst>
                    <a:ext uri="{FF2B5EF4-FFF2-40B4-BE49-F238E27FC236}">
                      <a16:creationId xmlns:a16="http://schemas.microsoft.com/office/drawing/2014/main" id="{EF7F7738-16F1-F9DA-2925-055AA5292C16}"/>
                    </a:ext>
                  </a:extLst>
                </p:cNvPr>
                <p:cNvSpPr/>
                <p:nvPr/>
              </p:nvSpPr>
              <p:spPr>
                <a:xfrm>
                  <a:off x="5687967" y="4500432"/>
                  <a:ext cx="311432" cy="618246"/>
                </a:xfrm>
                <a:custGeom>
                  <a:avLst/>
                  <a:gdLst>
                    <a:gd name="connsiteX0" fmla="*/ 311433 w 311432"/>
                    <a:gd name="connsiteY0" fmla="*/ 51562 h 618246"/>
                    <a:gd name="connsiteX1" fmla="*/ 234090 w 311432"/>
                    <a:gd name="connsiteY1" fmla="*/ 0 h 618246"/>
                    <a:gd name="connsiteX2" fmla="*/ 79466 w 311432"/>
                    <a:gd name="connsiteY2" fmla="*/ 90203 h 618246"/>
                    <a:gd name="connsiteX3" fmla="*/ 79466 w 311432"/>
                    <a:gd name="connsiteY3" fmla="*/ 192141 h 618246"/>
                    <a:gd name="connsiteX4" fmla="*/ 0 w 311432"/>
                    <a:gd name="connsiteY4" fmla="*/ 232467 h 618246"/>
                    <a:gd name="connsiteX5" fmla="*/ 0 w 311432"/>
                    <a:gd name="connsiteY5" fmla="*/ 388714 h 618246"/>
                    <a:gd name="connsiteX6" fmla="*/ 79466 w 311432"/>
                    <a:gd name="connsiteY6" fmla="*/ 436218 h 618246"/>
                    <a:gd name="connsiteX7" fmla="*/ 79466 w 311432"/>
                    <a:gd name="connsiteY7" fmla="*/ 528668 h 618246"/>
                    <a:gd name="connsiteX8" fmla="*/ 233028 w 311432"/>
                    <a:gd name="connsiteY8" fmla="*/ 618246 h 618246"/>
                    <a:gd name="connsiteX9" fmla="*/ 309810 w 311432"/>
                    <a:gd name="connsiteY9" fmla="*/ 577109 h 618246"/>
                    <a:gd name="connsiteX10" fmla="*/ 309810 w 311432"/>
                    <a:gd name="connsiteY10" fmla="*/ 309310 h 618246"/>
                    <a:gd name="connsiteX11" fmla="*/ 232529 w 311432"/>
                    <a:gd name="connsiteY11" fmla="*/ 270608 h 6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1432" h="618246">
                      <a:moveTo>
                        <a:pt x="311433" y="51562"/>
                      </a:moveTo>
                      <a:lnTo>
                        <a:pt x="234090" y="0"/>
                      </a:lnTo>
                      <a:lnTo>
                        <a:pt x="79466" y="90203"/>
                      </a:lnTo>
                      <a:lnTo>
                        <a:pt x="79466" y="192141"/>
                      </a:lnTo>
                      <a:lnTo>
                        <a:pt x="0" y="232467"/>
                      </a:lnTo>
                      <a:lnTo>
                        <a:pt x="0" y="388714"/>
                      </a:lnTo>
                      <a:lnTo>
                        <a:pt x="79466" y="436218"/>
                      </a:lnTo>
                      <a:lnTo>
                        <a:pt x="79466" y="528668"/>
                      </a:lnTo>
                      <a:lnTo>
                        <a:pt x="233028" y="618246"/>
                      </a:lnTo>
                      <a:lnTo>
                        <a:pt x="309810" y="577109"/>
                      </a:lnTo>
                      <a:lnTo>
                        <a:pt x="309810" y="309310"/>
                      </a:lnTo>
                      <a:lnTo>
                        <a:pt x="232529" y="270608"/>
                      </a:lnTo>
                    </a:path>
                  </a:pathLst>
                </a:custGeom>
                <a:noFill/>
                <a:ln w="25400" cap="flat">
                  <a:solidFill>
                    <a:srgbClr val="232F3E"/>
                  </a:solidFill>
                  <a:prstDash val="solid"/>
                  <a:round/>
                </a:ln>
              </p:spPr>
              <p:txBody>
                <a:bodyPr rtlCol="0" anchor="ctr"/>
                <a:lstStyle/>
                <a:p>
                  <a:endParaRPr lang="en-US"/>
                </a:p>
              </p:txBody>
            </p:sp>
            <p:sp>
              <p:nvSpPr>
                <p:cNvPr id="21" name="Freeform 20">
                  <a:extLst>
                    <a:ext uri="{FF2B5EF4-FFF2-40B4-BE49-F238E27FC236}">
                      <a16:creationId xmlns:a16="http://schemas.microsoft.com/office/drawing/2014/main" id="{B67D5CAE-8689-B123-D9D5-545A5DB786D7}"/>
                    </a:ext>
                  </a:extLst>
                </p:cNvPr>
                <p:cNvSpPr/>
                <p:nvPr/>
              </p:nvSpPr>
              <p:spPr>
                <a:xfrm>
                  <a:off x="5841030" y="4809742"/>
                  <a:ext cx="77343" cy="119104"/>
                </a:xfrm>
                <a:custGeom>
                  <a:avLst/>
                  <a:gdLst>
                    <a:gd name="connsiteX0" fmla="*/ 77343 w 77343"/>
                    <a:gd name="connsiteY0" fmla="*/ 119105 h 119104"/>
                    <a:gd name="connsiteX1" fmla="*/ 77343 w 77343"/>
                    <a:gd name="connsiteY1" fmla="*/ 51500 h 119104"/>
                    <a:gd name="connsiteX2" fmla="*/ 0 w 77343"/>
                    <a:gd name="connsiteY2" fmla="*/ 0 h 119104"/>
                  </a:gdLst>
                  <a:ahLst/>
                  <a:cxnLst>
                    <a:cxn ang="0">
                      <a:pos x="connsiteX0" y="connsiteY0"/>
                    </a:cxn>
                    <a:cxn ang="0">
                      <a:pos x="connsiteX1" y="connsiteY1"/>
                    </a:cxn>
                    <a:cxn ang="0">
                      <a:pos x="connsiteX2" y="connsiteY2"/>
                    </a:cxn>
                  </a:cxnLst>
                  <a:rect l="l" t="t" r="r" b="b"/>
                  <a:pathLst>
                    <a:path w="77343" h="119104">
                      <a:moveTo>
                        <a:pt x="77343" y="119105"/>
                      </a:moveTo>
                      <a:lnTo>
                        <a:pt x="77343" y="51500"/>
                      </a:lnTo>
                      <a:lnTo>
                        <a:pt x="0" y="0"/>
                      </a:lnTo>
                    </a:path>
                  </a:pathLst>
                </a:custGeom>
                <a:noFill/>
                <a:ln w="25400" cap="flat">
                  <a:solidFill>
                    <a:srgbClr val="232F3E"/>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FF903B8-DCDB-7170-3E34-EBB5FFC173EF}"/>
                    </a:ext>
                  </a:extLst>
                </p:cNvPr>
                <p:cNvSpPr/>
                <p:nvPr/>
              </p:nvSpPr>
              <p:spPr>
                <a:xfrm>
                  <a:off x="5997777" y="4500744"/>
                  <a:ext cx="309809" cy="617934"/>
                </a:xfrm>
                <a:custGeom>
                  <a:avLst/>
                  <a:gdLst>
                    <a:gd name="connsiteX0" fmla="*/ 77343 w 309809"/>
                    <a:gd name="connsiteY0" fmla="*/ 257436 h 617934"/>
                    <a:gd name="connsiteX1" fmla="*/ 0 w 309809"/>
                    <a:gd name="connsiteY1" fmla="*/ 205874 h 617934"/>
                    <a:gd name="connsiteX2" fmla="*/ 0 w 309809"/>
                    <a:gd name="connsiteY2" fmla="*/ 51188 h 617934"/>
                    <a:gd name="connsiteX3" fmla="*/ 76781 w 309809"/>
                    <a:gd name="connsiteY3" fmla="*/ 0 h 617934"/>
                    <a:gd name="connsiteX4" fmla="*/ 230344 w 309809"/>
                    <a:gd name="connsiteY4" fmla="*/ 91826 h 617934"/>
                    <a:gd name="connsiteX5" fmla="*/ 230344 w 309809"/>
                    <a:gd name="connsiteY5" fmla="*/ 194013 h 617934"/>
                    <a:gd name="connsiteX6" fmla="*/ 309810 w 309809"/>
                    <a:gd name="connsiteY6" fmla="*/ 237461 h 617934"/>
                    <a:gd name="connsiteX7" fmla="*/ 309810 w 309809"/>
                    <a:gd name="connsiteY7" fmla="*/ 385592 h 617934"/>
                    <a:gd name="connsiteX8" fmla="*/ 230344 w 309809"/>
                    <a:gd name="connsiteY8" fmla="*/ 438528 h 617934"/>
                    <a:gd name="connsiteX9" fmla="*/ 230344 w 309809"/>
                    <a:gd name="connsiteY9" fmla="*/ 528356 h 617934"/>
                    <a:gd name="connsiteX10" fmla="*/ 76781 w 309809"/>
                    <a:gd name="connsiteY10" fmla="*/ 617934 h 617934"/>
                    <a:gd name="connsiteX11" fmla="*/ 0 w 309809"/>
                    <a:gd name="connsiteY11" fmla="*/ 579544 h 61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9809" h="617934">
                      <a:moveTo>
                        <a:pt x="77343" y="257436"/>
                      </a:moveTo>
                      <a:lnTo>
                        <a:pt x="0" y="205874"/>
                      </a:lnTo>
                      <a:lnTo>
                        <a:pt x="0" y="51188"/>
                      </a:lnTo>
                      <a:lnTo>
                        <a:pt x="76781" y="0"/>
                      </a:lnTo>
                      <a:lnTo>
                        <a:pt x="230344" y="91826"/>
                      </a:lnTo>
                      <a:lnTo>
                        <a:pt x="230344" y="194013"/>
                      </a:lnTo>
                      <a:lnTo>
                        <a:pt x="309810" y="237461"/>
                      </a:lnTo>
                      <a:lnTo>
                        <a:pt x="309810" y="385592"/>
                      </a:lnTo>
                      <a:lnTo>
                        <a:pt x="230344" y="438528"/>
                      </a:lnTo>
                      <a:lnTo>
                        <a:pt x="230344" y="528356"/>
                      </a:lnTo>
                      <a:lnTo>
                        <a:pt x="76781" y="617934"/>
                      </a:lnTo>
                      <a:lnTo>
                        <a:pt x="0" y="579544"/>
                      </a:lnTo>
                    </a:path>
                  </a:pathLst>
                </a:custGeom>
                <a:noFill/>
                <a:ln w="25400" cap="flat">
                  <a:solidFill>
                    <a:srgbClr val="232F3E"/>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CF46C99F-D802-CCCA-E4E5-4E93B3395579}"/>
                    </a:ext>
                  </a:extLst>
                </p:cNvPr>
                <p:cNvSpPr/>
                <p:nvPr/>
              </p:nvSpPr>
              <p:spPr>
                <a:xfrm>
                  <a:off x="6229744" y="4848382"/>
                  <a:ext cx="77280" cy="38640"/>
                </a:xfrm>
                <a:custGeom>
                  <a:avLst/>
                  <a:gdLst>
                    <a:gd name="connsiteX0" fmla="*/ 0 w 77280"/>
                    <a:gd name="connsiteY0" fmla="*/ 0 h 38640"/>
                    <a:gd name="connsiteX1" fmla="*/ 77281 w 77280"/>
                    <a:gd name="connsiteY1" fmla="*/ 38640 h 38640"/>
                  </a:gdLst>
                  <a:ahLst/>
                  <a:cxnLst>
                    <a:cxn ang="0">
                      <a:pos x="connsiteX0" y="connsiteY0"/>
                    </a:cxn>
                    <a:cxn ang="0">
                      <a:pos x="connsiteX1" y="connsiteY1"/>
                    </a:cxn>
                  </a:cxnLst>
                  <a:rect l="l" t="t" r="r" b="b"/>
                  <a:pathLst>
                    <a:path w="77280" h="38640">
                      <a:moveTo>
                        <a:pt x="0" y="0"/>
                      </a:moveTo>
                      <a:lnTo>
                        <a:pt x="77281" y="38640"/>
                      </a:lnTo>
                    </a:path>
                  </a:pathLst>
                </a:custGeom>
                <a:ln w="25400" cap="flat">
                  <a:solidFill>
                    <a:srgbClr val="232F3E"/>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355A3354-D4CE-348D-A976-22CEA4E2BDA1}"/>
                    </a:ext>
                  </a:extLst>
                </p:cNvPr>
                <p:cNvSpPr/>
                <p:nvPr/>
              </p:nvSpPr>
              <p:spPr>
                <a:xfrm>
                  <a:off x="6172501" y="4642883"/>
                  <a:ext cx="55619" cy="6242"/>
                </a:xfrm>
                <a:custGeom>
                  <a:avLst/>
                  <a:gdLst>
                    <a:gd name="connsiteX0" fmla="*/ 55620 w 55619"/>
                    <a:gd name="connsiteY0" fmla="*/ 0 h 6242"/>
                    <a:gd name="connsiteX1" fmla="*/ 0 w 55619"/>
                    <a:gd name="connsiteY1" fmla="*/ 0 h 6242"/>
                  </a:gdLst>
                  <a:ahLst/>
                  <a:cxnLst>
                    <a:cxn ang="0">
                      <a:pos x="connsiteX0" y="connsiteY0"/>
                    </a:cxn>
                    <a:cxn ang="0">
                      <a:pos x="connsiteX1" y="connsiteY1"/>
                    </a:cxn>
                  </a:cxnLst>
                  <a:rect l="l" t="t" r="r" b="b"/>
                  <a:pathLst>
                    <a:path w="55619" h="6242">
                      <a:moveTo>
                        <a:pt x="55620" y="0"/>
                      </a:moveTo>
                      <a:lnTo>
                        <a:pt x="0" y="0"/>
                      </a:lnTo>
                    </a:path>
                  </a:pathLst>
                </a:custGeom>
                <a:ln w="25400" cap="flat">
                  <a:solidFill>
                    <a:srgbClr val="232F3E"/>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6EB19344-0FD7-D437-250F-550E45571D58}"/>
                    </a:ext>
                  </a:extLst>
                </p:cNvPr>
                <p:cNvSpPr/>
                <p:nvPr/>
              </p:nvSpPr>
              <p:spPr>
                <a:xfrm>
                  <a:off x="5997777" y="4992394"/>
                  <a:ext cx="79403" cy="6242"/>
                </a:xfrm>
                <a:custGeom>
                  <a:avLst/>
                  <a:gdLst>
                    <a:gd name="connsiteX0" fmla="*/ 0 w 79403"/>
                    <a:gd name="connsiteY0" fmla="*/ 0 h 6242"/>
                    <a:gd name="connsiteX1" fmla="*/ 79403 w 79403"/>
                    <a:gd name="connsiteY1" fmla="*/ 0 h 6242"/>
                  </a:gdLst>
                  <a:ahLst/>
                  <a:cxnLst>
                    <a:cxn ang="0">
                      <a:pos x="connsiteX0" y="connsiteY0"/>
                    </a:cxn>
                    <a:cxn ang="0">
                      <a:pos x="connsiteX1" y="connsiteY1"/>
                    </a:cxn>
                  </a:cxnLst>
                  <a:rect l="l" t="t" r="r" b="b"/>
                  <a:pathLst>
                    <a:path w="79403" h="6242">
                      <a:moveTo>
                        <a:pt x="0" y="0"/>
                      </a:moveTo>
                      <a:lnTo>
                        <a:pt x="79403" y="0"/>
                      </a:lnTo>
                    </a:path>
                  </a:pathLst>
                </a:custGeom>
                <a:ln w="25400" cap="flat">
                  <a:solidFill>
                    <a:srgbClr val="232F3E"/>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593082D0-C7FB-5D08-49D1-A99CCC7E9418}"/>
                    </a:ext>
                  </a:extLst>
                </p:cNvPr>
                <p:cNvSpPr/>
                <p:nvPr/>
              </p:nvSpPr>
              <p:spPr>
                <a:xfrm>
                  <a:off x="6124872" y="4619099"/>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7BE7B66C-7DC4-8435-1D45-12B0146E5344}"/>
                    </a:ext>
                  </a:extLst>
                </p:cNvPr>
                <p:cNvSpPr/>
                <p:nvPr/>
              </p:nvSpPr>
              <p:spPr>
                <a:xfrm>
                  <a:off x="6180429" y="4809742"/>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5" y="0"/>
                        <a:pt x="0" y="10674"/>
                        <a:pt x="0" y="23846"/>
                      </a:cubicBezTo>
                      <a:cubicBezTo>
                        <a:pt x="0" y="37017"/>
                        <a:pt x="10675"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FACA27D8-0344-2D4E-AAAC-A6FF8AFDF3EB}"/>
                    </a:ext>
                  </a:extLst>
                </p:cNvPr>
                <p:cNvSpPr/>
                <p:nvPr/>
              </p:nvSpPr>
              <p:spPr>
                <a:xfrm>
                  <a:off x="6077180" y="4746194"/>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ED532DF6-17B1-55A4-61C7-A62E804807D2}"/>
                    </a:ext>
                  </a:extLst>
                </p:cNvPr>
                <p:cNvSpPr/>
                <p:nvPr/>
              </p:nvSpPr>
              <p:spPr>
                <a:xfrm>
                  <a:off x="6077180" y="4968548"/>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grpSp>
          <p:sp>
            <p:nvSpPr>
              <p:cNvPr id="33" name="TextBox 32">
                <a:extLst>
                  <a:ext uri="{FF2B5EF4-FFF2-40B4-BE49-F238E27FC236}">
                    <a16:creationId xmlns:a16="http://schemas.microsoft.com/office/drawing/2014/main" id="{90CAEEA9-E951-1F6A-AC4D-E183F2085CAE}"/>
                  </a:ext>
                </a:extLst>
              </p:cNvPr>
              <p:cNvSpPr txBox="1"/>
              <p:nvPr/>
            </p:nvSpPr>
            <p:spPr>
              <a:xfrm>
                <a:off x="2429400" y="1923753"/>
                <a:ext cx="1588897" cy="584775"/>
              </a:xfrm>
              <a:prstGeom prst="rect">
                <a:avLst/>
              </a:prstGeom>
              <a:noFill/>
            </p:spPr>
            <p:txBody>
              <a:bodyPr wrap="none" rtlCol="0">
                <a:spAutoFit/>
              </a:bodyPr>
              <a:lstStyle/>
              <a:p>
                <a:r>
                  <a:rPr lang="en-US" sz="3200" dirty="0"/>
                  <a:t>Prompt</a:t>
                </a:r>
                <a:endParaRPr lang="en-US" dirty="0"/>
              </a:p>
            </p:txBody>
          </p:sp>
          <p:sp>
            <p:nvSpPr>
              <p:cNvPr id="34" name="TextBox 33">
                <a:extLst>
                  <a:ext uri="{FF2B5EF4-FFF2-40B4-BE49-F238E27FC236}">
                    <a16:creationId xmlns:a16="http://schemas.microsoft.com/office/drawing/2014/main" id="{B5A5E74D-84EE-3CA6-EEB4-BFE9C572AA8A}"/>
                  </a:ext>
                </a:extLst>
              </p:cNvPr>
              <p:cNvSpPr txBox="1"/>
              <p:nvPr/>
            </p:nvSpPr>
            <p:spPr>
              <a:xfrm>
                <a:off x="8155432" y="1927507"/>
                <a:ext cx="1947969" cy="584775"/>
              </a:xfrm>
              <a:prstGeom prst="rect">
                <a:avLst/>
              </a:prstGeom>
              <a:noFill/>
            </p:spPr>
            <p:txBody>
              <a:bodyPr wrap="none" rtlCol="0">
                <a:spAutoFit/>
              </a:bodyPr>
              <a:lstStyle/>
              <a:p>
                <a:r>
                  <a:rPr lang="en-US" sz="3200" dirty="0"/>
                  <a:t>Response</a:t>
                </a:r>
                <a:endParaRPr lang="en-US" dirty="0"/>
              </a:p>
            </p:txBody>
          </p:sp>
          <p:cxnSp>
            <p:nvCxnSpPr>
              <p:cNvPr id="36" name="Straight Arrow Connector 35">
                <a:extLst>
                  <a:ext uri="{FF2B5EF4-FFF2-40B4-BE49-F238E27FC236}">
                    <a16:creationId xmlns:a16="http://schemas.microsoft.com/office/drawing/2014/main" id="{40F70883-5E16-0F6F-DC64-E69645CCB1CF}"/>
                  </a:ext>
                </a:extLst>
              </p:cNvPr>
              <p:cNvCxnSpPr/>
              <p:nvPr/>
            </p:nvCxnSpPr>
            <p:spPr>
              <a:xfrm>
                <a:off x="4188457" y="2238627"/>
                <a:ext cx="970989"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917FF2-0D28-F9AC-250F-7A2FD9706030}"/>
                  </a:ext>
                </a:extLst>
              </p:cNvPr>
              <p:cNvCxnSpPr/>
              <p:nvPr/>
            </p:nvCxnSpPr>
            <p:spPr>
              <a:xfrm>
                <a:off x="7004544" y="2230547"/>
                <a:ext cx="970989"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7D21BB2A-682C-4E6B-844F-67CF9E9CA470}"/>
                </a:ext>
              </a:extLst>
            </p:cNvPr>
            <p:cNvSpPr/>
            <p:nvPr/>
          </p:nvSpPr>
          <p:spPr>
            <a:xfrm>
              <a:off x="4482416" y="2835068"/>
              <a:ext cx="3227165" cy="369332"/>
            </a:xfrm>
            <a:prstGeom prst="rect">
              <a:avLst/>
            </a:prstGeom>
          </p:spPr>
          <p:txBody>
            <a:bodyPr wrap="none">
              <a:spAutoFit/>
            </a:bodyPr>
            <a:lstStyle/>
            <a:p>
              <a:r>
                <a:rPr lang="en-US" dirty="0"/>
                <a:t>Large language model (LLM) </a:t>
              </a:r>
            </a:p>
          </p:txBody>
        </p:sp>
      </p:grpSp>
    </p:spTree>
    <p:extLst>
      <p:ext uri="{BB962C8B-B14F-4D97-AF65-F5344CB8AC3E}">
        <p14:creationId xmlns:p14="http://schemas.microsoft.com/office/powerpoint/2010/main" val="3517483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8F294FF-52F8-E0E7-2DE9-D6F4038374CE}"/>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3" name="Title">
            <a:extLst>
              <a:ext uri="{FF2B5EF4-FFF2-40B4-BE49-F238E27FC236}">
                <a16:creationId xmlns:a16="http://schemas.microsoft.com/office/drawing/2014/main" id="{E9C7728B-198F-554F-4FD6-25ACF25B2545}"/>
              </a:ext>
            </a:extLst>
          </p:cNvPr>
          <p:cNvSpPr>
            <a:spLocks noGrp="1"/>
          </p:cNvSpPr>
          <p:nvPr>
            <p:ph type="title" idx="1"/>
          </p:nvPr>
        </p:nvSpPr>
        <p:spPr/>
        <p:txBody>
          <a:bodyPr/>
          <a:lstStyle/>
          <a:p>
            <a:r>
              <a:rPr lang="en-US" dirty="0"/>
              <a:t>Prompt example</a:t>
            </a:r>
          </a:p>
        </p:txBody>
      </p:sp>
      <p:sp>
        <p:nvSpPr>
          <p:cNvPr id="4" name="Content Placeholder 3">
            <a:extLst>
              <a:ext uri="{FF2B5EF4-FFF2-40B4-BE49-F238E27FC236}">
                <a16:creationId xmlns:a16="http://schemas.microsoft.com/office/drawing/2014/main" id="{5CE26212-6C35-D554-825E-87C76F53F7E4}"/>
              </a:ext>
            </a:extLst>
          </p:cNvPr>
          <p:cNvSpPr>
            <a:spLocks noGrp="1"/>
          </p:cNvSpPr>
          <p:nvPr>
            <p:ph idx="4294967295"/>
          </p:nvPr>
        </p:nvSpPr>
        <p:spPr>
          <a:xfrm>
            <a:off x="362712" y="1096963"/>
            <a:ext cx="11466512" cy="1249362"/>
          </a:xfrm>
          <a:solidFill>
            <a:schemeClr val="bg1">
              <a:lumMod val="95000"/>
            </a:schemeClr>
          </a:solidFill>
          <a:ln>
            <a:solidFill>
              <a:schemeClr val="bg1">
                <a:lumMod val="50000"/>
              </a:schemeClr>
            </a:solidFill>
          </a:ln>
        </p:spPr>
        <p:txBody>
          <a:bodyPr anchor="t"/>
          <a:lstStyle/>
          <a:p>
            <a:pPr marL="0" indent="0" algn="l">
              <a:buNone/>
            </a:pPr>
            <a:r>
              <a:rPr lang="en-US" sz="2000" b="1" i="0" dirty="0">
                <a:solidFill>
                  <a:srgbClr val="000716"/>
                </a:solidFill>
                <a:effectLst/>
                <a:latin typeface="+mn-lt"/>
              </a:rPr>
              <a:t>Prompt</a:t>
            </a:r>
            <a:br>
              <a:rPr lang="en-US" sz="2000" b="1" i="0" dirty="0">
                <a:solidFill>
                  <a:srgbClr val="000716"/>
                </a:solidFill>
                <a:effectLst/>
                <a:latin typeface="+mn-lt"/>
              </a:rPr>
            </a:br>
            <a:r>
              <a:rPr lang="en-US" sz="2000" b="0" i="0" dirty="0">
                <a:solidFill>
                  <a:srgbClr val="000716"/>
                </a:solidFill>
                <a:effectLst/>
                <a:latin typeface="+mn-lt"/>
              </a:rPr>
              <a:t>How can </a:t>
            </a:r>
            <a:r>
              <a:rPr lang="en-US" sz="2000" b="0" i="0" dirty="0" err="1">
                <a:solidFill>
                  <a:srgbClr val="000716"/>
                </a:solidFill>
                <a:effectLst/>
                <a:latin typeface="+mn-lt"/>
              </a:rPr>
              <a:t>AnyOrganization</a:t>
            </a:r>
            <a:r>
              <a:rPr lang="en-US" sz="2000" b="0" i="0" dirty="0">
                <a:solidFill>
                  <a:srgbClr val="000716"/>
                </a:solidFill>
                <a:effectLst/>
                <a:latin typeface="+mn-lt"/>
              </a:rPr>
              <a:t> use generative AI to improve customer engagement across its various product lines and services?</a:t>
            </a:r>
            <a:br>
              <a:rPr lang="en-US" sz="2000" b="0" i="0" dirty="0">
                <a:solidFill>
                  <a:srgbClr val="000716"/>
                </a:solidFill>
                <a:effectLst/>
                <a:latin typeface="+mn-lt"/>
              </a:rPr>
            </a:br>
            <a:endParaRPr lang="en-US" sz="2000" b="0" i="0" dirty="0">
              <a:solidFill>
                <a:srgbClr val="000716"/>
              </a:solidFill>
              <a:effectLst/>
              <a:latin typeface="+mn-lt"/>
            </a:endParaRPr>
          </a:p>
        </p:txBody>
      </p:sp>
      <p:sp>
        <p:nvSpPr>
          <p:cNvPr id="7" name="Content Placeholder 3">
            <a:extLst>
              <a:ext uri="{FF2B5EF4-FFF2-40B4-BE49-F238E27FC236}">
                <a16:creationId xmlns:a16="http://schemas.microsoft.com/office/drawing/2014/main" id="{C133485B-7BB0-FD80-A512-365280392D27}"/>
              </a:ext>
            </a:extLst>
          </p:cNvPr>
          <p:cNvSpPr txBox="1">
            <a:spLocks/>
          </p:cNvSpPr>
          <p:nvPr/>
        </p:nvSpPr>
        <p:spPr>
          <a:xfrm>
            <a:off x="362712" y="2505958"/>
            <a:ext cx="11466576" cy="3781161"/>
          </a:xfrm>
          <a:prstGeom prst="rect">
            <a:avLst/>
          </a:prstGeom>
          <a:solidFill>
            <a:schemeClr val="accent3">
              <a:lumMod val="40000"/>
              <a:lumOff val="60000"/>
            </a:schemeClr>
          </a:solidFill>
          <a:ln>
            <a:solidFill>
              <a:schemeClr val="bg1">
                <a:lumMod val="50000"/>
              </a:schemeClr>
            </a:solidFill>
          </a:ln>
        </p:spPr>
        <p:txBody>
          <a:bodyPr vert="horz" lIns="91440" tIns="45720" rIns="91440" bIns="45720" rtlCol="0" anchor="t">
            <a:noAutofit/>
          </a:bodyPr>
          <a:lstStyle>
            <a:lvl1pPr marL="228600" indent="-228600" algn="l" defTabSz="914400" rtl="0" eaLnBrk="1" latinLnBrk="0" hangingPunct="1">
              <a:lnSpc>
                <a:spcPct val="100000"/>
              </a:lnSpc>
              <a:spcBef>
                <a:spcPts val="1000"/>
              </a:spcBef>
              <a:spcAft>
                <a:spcPts val="600"/>
              </a:spcAft>
              <a:buFont typeface="Amazon Ember Display"/>
              <a:buChar char="•"/>
              <a:defRPr lang="en-US" sz="2800" kern="1200">
                <a:solidFill>
                  <a:srgbClr val="232F3E"/>
                </a:solidFill>
                <a:latin typeface="Amazon Ember Display"/>
              </a:defRPr>
            </a:lvl1pPr>
            <a:lvl2pPr marL="461963" indent="-228600" algn="l" defTabSz="914400" rtl="0" eaLnBrk="1" latinLnBrk="0" hangingPunct="1">
              <a:lnSpc>
                <a:spcPct val="100000"/>
              </a:lnSpc>
              <a:spcBef>
                <a:spcPts val="500"/>
              </a:spcBef>
              <a:spcAft>
                <a:spcPts val="600"/>
              </a:spcAft>
              <a:buFont typeface="Amazon Ember Display"/>
              <a:buChar char="•"/>
              <a:defRPr lang="en-US" sz="2400" kern="1200">
                <a:solidFill>
                  <a:srgbClr val="232F3E"/>
                </a:solidFill>
                <a:latin typeface="Amazon Ember Display"/>
              </a:defRPr>
            </a:lvl2pPr>
            <a:lvl3pPr marL="682625" indent="-228600" algn="l" defTabSz="914400" rtl="0" eaLnBrk="1" latinLnBrk="0" hangingPunct="1">
              <a:lnSpc>
                <a:spcPct val="100000"/>
              </a:lnSpc>
              <a:spcBef>
                <a:spcPts val="500"/>
              </a:spcBef>
              <a:spcAft>
                <a:spcPts val="600"/>
              </a:spcAft>
              <a:buFont typeface="Amazon Ember Display"/>
              <a:buChar char="•"/>
              <a:defRPr lang="en-US" sz="2000" kern="1200">
                <a:solidFill>
                  <a:srgbClr val="232F3E"/>
                </a:solidFill>
                <a:latin typeface="Amazon Ember Display"/>
              </a:defRPr>
            </a:lvl3pPr>
            <a:lvl4pPr marL="914400"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4pPr>
            <a:lvl5pPr marL="1146175"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buFont typeface="Amazon Ember Display"/>
              <a:buNone/>
            </a:pPr>
            <a:r>
              <a:rPr lang="en-US" sz="2000" b="1" dirty="0">
                <a:solidFill>
                  <a:srgbClr val="000716"/>
                </a:solidFill>
                <a:latin typeface="+mn-lt"/>
              </a:rPr>
              <a:t>Expected Response</a:t>
            </a:r>
            <a:br>
              <a:rPr lang="en-US" sz="2000" b="1" dirty="0">
                <a:solidFill>
                  <a:srgbClr val="000716"/>
                </a:solidFill>
                <a:latin typeface="+mn-lt"/>
              </a:rPr>
            </a:br>
            <a:r>
              <a:rPr lang="en-US" sz="2000" dirty="0" err="1">
                <a:solidFill>
                  <a:srgbClr val="000716"/>
                </a:solidFill>
                <a:latin typeface="+mn-lt"/>
              </a:rPr>
              <a:t>AnyOrganization</a:t>
            </a:r>
            <a:r>
              <a:rPr lang="en-US" sz="2000" dirty="0">
                <a:solidFill>
                  <a:srgbClr val="000716"/>
                </a:solidFill>
                <a:latin typeface="+mn-lt"/>
              </a:rPr>
              <a:t> can implement a conversational AI assistant powered by generative AI to enhance customer engagement. This AI assistant can be integrated into the company’s website, mobile app, and customer support channels to provide personalized assistance, answer queries, and guide customers through their journey. </a:t>
            </a:r>
            <a:endParaRPr lang="en-US" sz="2000" dirty="0">
              <a:latin typeface="+mn-lt"/>
            </a:endParaRPr>
          </a:p>
        </p:txBody>
      </p:sp>
    </p:spTree>
    <p:extLst>
      <p:ext uri="{BB962C8B-B14F-4D97-AF65-F5344CB8AC3E}">
        <p14:creationId xmlns:p14="http://schemas.microsoft.com/office/powerpoint/2010/main" val="1173603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142164C-73AE-41BD-B5F2-DE0ADAEBA27A}"/>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3" name="Title">
            <a:extLst>
              <a:ext uri="{FF2B5EF4-FFF2-40B4-BE49-F238E27FC236}">
                <a16:creationId xmlns:a16="http://schemas.microsoft.com/office/drawing/2014/main" id="{30E20B0A-708D-4CF6-BDC6-622DF97FC088}"/>
              </a:ext>
            </a:extLst>
          </p:cNvPr>
          <p:cNvSpPr>
            <a:spLocks noGrp="1"/>
          </p:cNvSpPr>
          <p:nvPr>
            <p:ph type="title" idx="1"/>
          </p:nvPr>
        </p:nvSpPr>
        <p:spPr/>
        <p:txBody>
          <a:bodyPr/>
          <a:lstStyle/>
          <a:p>
            <a:r>
              <a:rPr lang="en-US" dirty="0"/>
              <a:t>Better example of prompt</a:t>
            </a:r>
          </a:p>
        </p:txBody>
      </p:sp>
      <p:sp>
        <p:nvSpPr>
          <p:cNvPr id="4" name="Content Placeholder 3">
            <a:extLst>
              <a:ext uri="{FF2B5EF4-FFF2-40B4-BE49-F238E27FC236}">
                <a16:creationId xmlns:a16="http://schemas.microsoft.com/office/drawing/2014/main" id="{954F3313-008E-4BB4-A17A-752DB920CAB7}"/>
              </a:ext>
            </a:extLst>
          </p:cNvPr>
          <p:cNvSpPr>
            <a:spLocks noGrp="1"/>
          </p:cNvSpPr>
          <p:nvPr>
            <p:ph idx="4294967295"/>
          </p:nvPr>
        </p:nvSpPr>
        <p:spPr>
          <a:xfrm>
            <a:off x="362776" y="1096963"/>
            <a:ext cx="11466512" cy="1136650"/>
          </a:xfrm>
          <a:solidFill>
            <a:schemeClr val="bg1">
              <a:lumMod val="95000"/>
            </a:schemeClr>
          </a:solidFill>
          <a:ln>
            <a:solidFill>
              <a:schemeClr val="bg1">
                <a:lumMod val="50000"/>
              </a:schemeClr>
            </a:solidFill>
          </a:ln>
        </p:spPr>
        <p:txBody>
          <a:bodyPr/>
          <a:lstStyle/>
          <a:p>
            <a:pPr marL="0" indent="0">
              <a:buNone/>
            </a:pPr>
            <a:r>
              <a:rPr lang="en-US" sz="2000" b="1" dirty="0">
                <a:effectLst/>
              </a:rPr>
              <a:t>Prompt:</a:t>
            </a:r>
            <a:r>
              <a:rPr lang="en-US" sz="2000" dirty="0">
                <a:effectLst/>
              </a:rPr>
              <a:t> </a:t>
            </a:r>
            <a:br>
              <a:rPr lang="en-US" sz="2000" dirty="0">
                <a:effectLst/>
              </a:rPr>
            </a:br>
            <a:r>
              <a:rPr lang="en-US" sz="2000" dirty="0">
                <a:effectLst/>
              </a:rPr>
              <a:t>How can </a:t>
            </a:r>
            <a:r>
              <a:rPr lang="en-US" sz="2000" dirty="0" err="1">
                <a:effectLst/>
              </a:rPr>
              <a:t>AnyOrganization</a:t>
            </a:r>
            <a:r>
              <a:rPr lang="en-US" sz="2000" dirty="0">
                <a:effectLst/>
              </a:rPr>
              <a:t> use generative AI to create a personalized onboarding experience for new customers, with the goal of increasing engagement and reducing churn in the first 90 days?</a:t>
            </a:r>
          </a:p>
        </p:txBody>
      </p:sp>
      <p:sp>
        <p:nvSpPr>
          <p:cNvPr id="5" name="Content Placeholder 3">
            <a:extLst>
              <a:ext uri="{FF2B5EF4-FFF2-40B4-BE49-F238E27FC236}">
                <a16:creationId xmlns:a16="http://schemas.microsoft.com/office/drawing/2014/main" id="{FF8BA453-CF6A-A22B-0943-C4EBCD354E29}"/>
              </a:ext>
            </a:extLst>
          </p:cNvPr>
          <p:cNvSpPr txBox="1">
            <a:spLocks/>
          </p:cNvSpPr>
          <p:nvPr/>
        </p:nvSpPr>
        <p:spPr>
          <a:xfrm>
            <a:off x="362712" y="2449303"/>
            <a:ext cx="11466576" cy="3781161"/>
          </a:xfrm>
          <a:prstGeom prst="rect">
            <a:avLst/>
          </a:prstGeom>
          <a:solidFill>
            <a:schemeClr val="accent5">
              <a:lumMod val="20000"/>
              <a:lumOff val="80000"/>
            </a:schemeClr>
          </a:solidFill>
          <a:ln>
            <a:solidFill>
              <a:schemeClr val="bg1">
                <a:lumMod val="50000"/>
              </a:schemeClr>
            </a:solidFill>
          </a:ln>
        </p:spPr>
        <p:txBody>
          <a:bodyPr vert="horz" lIns="91440" tIns="45720" rIns="91440" bIns="45720" rtlCol="0" anchor="t">
            <a:noAutofit/>
          </a:bodyPr>
          <a:lstStyle>
            <a:lvl1pPr marL="228600" indent="-228600" algn="l" defTabSz="914400" rtl="0" eaLnBrk="1" latinLnBrk="0" hangingPunct="1">
              <a:lnSpc>
                <a:spcPct val="100000"/>
              </a:lnSpc>
              <a:spcBef>
                <a:spcPts val="1000"/>
              </a:spcBef>
              <a:spcAft>
                <a:spcPts val="600"/>
              </a:spcAft>
              <a:buFont typeface="Amazon Ember Display"/>
              <a:buChar char="•"/>
              <a:defRPr lang="en-US" sz="2800" kern="1200">
                <a:solidFill>
                  <a:srgbClr val="232F3E"/>
                </a:solidFill>
                <a:latin typeface="Amazon Ember Display"/>
              </a:defRPr>
            </a:lvl1pPr>
            <a:lvl2pPr marL="461963" indent="-228600" algn="l" defTabSz="914400" rtl="0" eaLnBrk="1" latinLnBrk="0" hangingPunct="1">
              <a:lnSpc>
                <a:spcPct val="100000"/>
              </a:lnSpc>
              <a:spcBef>
                <a:spcPts val="500"/>
              </a:spcBef>
              <a:spcAft>
                <a:spcPts val="600"/>
              </a:spcAft>
              <a:buFont typeface="Amazon Ember Display"/>
              <a:buChar char="•"/>
              <a:defRPr lang="en-US" sz="2400" kern="1200">
                <a:solidFill>
                  <a:srgbClr val="232F3E"/>
                </a:solidFill>
                <a:latin typeface="Amazon Ember Display"/>
              </a:defRPr>
            </a:lvl2pPr>
            <a:lvl3pPr marL="682625" indent="-228600" algn="l" defTabSz="914400" rtl="0" eaLnBrk="1" latinLnBrk="0" hangingPunct="1">
              <a:lnSpc>
                <a:spcPct val="100000"/>
              </a:lnSpc>
              <a:spcBef>
                <a:spcPts val="500"/>
              </a:spcBef>
              <a:spcAft>
                <a:spcPts val="600"/>
              </a:spcAft>
              <a:buFont typeface="Amazon Ember Display"/>
              <a:buChar char="•"/>
              <a:defRPr lang="en-US" sz="2000" kern="1200">
                <a:solidFill>
                  <a:srgbClr val="232F3E"/>
                </a:solidFill>
                <a:latin typeface="Amazon Ember Display"/>
              </a:defRPr>
            </a:lvl3pPr>
            <a:lvl4pPr marL="914400"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4pPr>
            <a:lvl5pPr marL="1146175" indent="-228600" algn="l" defTabSz="914400" rtl="0" eaLnBrk="1" latinLnBrk="0" hangingPunct="1">
              <a:lnSpc>
                <a:spcPct val="100000"/>
              </a:lnSpc>
              <a:spcBef>
                <a:spcPts val="500"/>
              </a:spcBef>
              <a:spcAft>
                <a:spcPts val="600"/>
              </a:spcAft>
              <a:buFont typeface="Amazon Ember Display"/>
              <a:buChar char="•"/>
              <a:defRPr lang="en-US" sz="18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buNone/>
            </a:pPr>
            <a:r>
              <a:rPr lang="en-US" sz="2000" b="1" dirty="0">
                <a:effectLst/>
              </a:rPr>
              <a:t>Expected Response:</a:t>
            </a:r>
            <a:r>
              <a:rPr lang="en-US" sz="2000" dirty="0">
                <a:effectLst/>
              </a:rPr>
              <a:t> </a:t>
            </a:r>
            <a:br>
              <a:rPr lang="en-US" sz="2000" dirty="0">
                <a:effectLst/>
              </a:rPr>
            </a:br>
            <a:r>
              <a:rPr lang="en-US" sz="2000" dirty="0" err="1">
                <a:effectLst/>
              </a:rPr>
              <a:t>AnyOrganization</a:t>
            </a:r>
            <a:r>
              <a:rPr lang="en-US" sz="2000" dirty="0">
                <a:effectLst/>
              </a:rPr>
              <a:t> can implement a generative AI-powered "Smart Onboarding Guide" that adapts to each new customer's needs and preferences. This guide would use natural language processing to analyze the customer's initial interactions, purchase history, and stated goals to create a tailored onboarding journey. </a:t>
            </a:r>
          </a:p>
          <a:p>
            <a:pPr marL="0" indent="0">
              <a:buNone/>
            </a:pPr>
            <a:r>
              <a:rPr lang="en-US" sz="2000" dirty="0">
                <a:effectLst/>
              </a:rPr>
              <a:t>The Smart Onboarding Guide would: 1. Generate personalized welcome messages and product introductions 2. Offer step-by-step tutorials for key features, prioritized based on the customer's likely use cases 3. Proactively suggest relevant resources, such as video guides or FAQ articles 4. Schedule check-ins at key milestones to assess progress and satisfaction 5. Adapt its communication style and content based on the customer's responses and engagement levels.</a:t>
            </a:r>
          </a:p>
        </p:txBody>
      </p:sp>
    </p:spTree>
    <p:extLst>
      <p:ext uri="{BB962C8B-B14F-4D97-AF65-F5344CB8AC3E}">
        <p14:creationId xmlns:p14="http://schemas.microsoft.com/office/powerpoint/2010/main" val="92389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Prompt design best practices</a:t>
            </a:r>
          </a:p>
        </p:txBody>
      </p:sp>
    </p:spTree>
    <p:extLst>
      <p:ext uri="{BB962C8B-B14F-4D97-AF65-F5344CB8AC3E}">
        <p14:creationId xmlns:p14="http://schemas.microsoft.com/office/powerpoint/2010/main" val="881008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A1E3DDB-2965-BD98-7B5D-55BB853FF548}"/>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a:extLst>
              <a:ext uri="{FF2B5EF4-FFF2-40B4-BE49-F238E27FC236}">
                <a16:creationId xmlns:a16="http://schemas.microsoft.com/office/drawing/2014/main" id="{0A985994-730D-A3E7-1DFF-C3C81B25536F}"/>
              </a:ext>
            </a:extLst>
          </p:cNvPr>
          <p:cNvSpPr>
            <a:spLocks noGrp="1"/>
          </p:cNvSpPr>
          <p:nvPr>
            <p:ph type="title" idx="1"/>
          </p:nvPr>
        </p:nvSpPr>
        <p:spPr/>
        <p:txBody>
          <a:bodyPr/>
          <a:lstStyle/>
          <a:p>
            <a:r>
              <a:rPr lang="en-US" dirty="0"/>
              <a:t>Best practices for prompting</a:t>
            </a:r>
          </a:p>
        </p:txBody>
      </p:sp>
      <p:sp>
        <p:nvSpPr>
          <p:cNvPr id="7" name="Content Placeholder 6">
            <a:extLst>
              <a:ext uri="{FF2B5EF4-FFF2-40B4-BE49-F238E27FC236}">
                <a16:creationId xmlns:a16="http://schemas.microsoft.com/office/drawing/2014/main" id="{9F201BF7-422B-2CC5-0521-D5AC27D4AA1B}"/>
              </a:ext>
            </a:extLst>
          </p:cNvPr>
          <p:cNvSpPr>
            <a:spLocks noGrp="1"/>
          </p:cNvSpPr>
          <p:nvPr>
            <p:ph idx="4294967295"/>
          </p:nvPr>
        </p:nvSpPr>
        <p:spPr>
          <a:xfrm>
            <a:off x="359728" y="1408113"/>
            <a:ext cx="11466512" cy="5019675"/>
          </a:xfrm>
        </p:spPr>
        <p:txBody>
          <a:bodyPr/>
          <a:lstStyle/>
          <a:p>
            <a:pPr marL="0" indent="0">
              <a:buNone/>
            </a:pPr>
            <a:r>
              <a:rPr lang="en-US" sz="2400" dirty="0">
                <a:effectLst/>
              </a:rPr>
              <a:t>Best practices:</a:t>
            </a:r>
          </a:p>
          <a:p>
            <a:r>
              <a:rPr lang="en-US" sz="2400" dirty="0">
                <a:effectLst/>
              </a:rPr>
              <a:t>Be clear and concise.</a:t>
            </a:r>
          </a:p>
          <a:p>
            <a:r>
              <a:rPr lang="en-US" sz="2400" dirty="0">
                <a:effectLst/>
              </a:rPr>
              <a:t>Include relevant context.</a:t>
            </a:r>
          </a:p>
          <a:p>
            <a:r>
              <a:rPr lang="en-US" sz="2400" dirty="0">
                <a:effectLst/>
              </a:rPr>
              <a:t>Use specific directives.</a:t>
            </a:r>
          </a:p>
          <a:p>
            <a:r>
              <a:rPr lang="en-US" sz="2400" dirty="0"/>
              <a:t>State</a:t>
            </a:r>
            <a:r>
              <a:rPr lang="en-US" sz="2400" dirty="0">
                <a:effectLst/>
              </a:rPr>
              <a:t> outcome requirements. </a:t>
            </a:r>
          </a:p>
          <a:p>
            <a:r>
              <a:rPr lang="en-US" sz="2400" dirty="0">
                <a:effectLst/>
              </a:rPr>
              <a:t>Provide example responses.</a:t>
            </a:r>
          </a:p>
        </p:txBody>
      </p:sp>
      <p:grpSp>
        <p:nvGrpSpPr>
          <p:cNvPr id="30" name="Group 29" descr="Using prompting best practices return the best response.">
            <a:extLst>
              <a:ext uri="{FF2B5EF4-FFF2-40B4-BE49-F238E27FC236}">
                <a16:creationId xmlns:a16="http://schemas.microsoft.com/office/drawing/2014/main" id="{8731DB91-D187-4EC0-9ABC-44512490B934}"/>
              </a:ext>
            </a:extLst>
          </p:cNvPr>
          <p:cNvGrpSpPr/>
          <p:nvPr/>
        </p:nvGrpSpPr>
        <p:grpSpPr>
          <a:xfrm>
            <a:off x="5546259" y="2285949"/>
            <a:ext cx="6279981" cy="1495980"/>
            <a:chOff x="5546259" y="2285949"/>
            <a:chExt cx="6279981" cy="1495980"/>
          </a:xfrm>
        </p:grpSpPr>
        <p:grpSp>
          <p:nvGrpSpPr>
            <p:cNvPr id="29" name="Group 28">
              <a:extLst>
                <a:ext uri="{FF2B5EF4-FFF2-40B4-BE49-F238E27FC236}">
                  <a16:creationId xmlns:a16="http://schemas.microsoft.com/office/drawing/2014/main" id="{28FB581A-22BB-2D73-E20A-F19DC12AF4B7}"/>
                </a:ext>
              </a:extLst>
            </p:cNvPr>
            <p:cNvGrpSpPr/>
            <p:nvPr/>
          </p:nvGrpSpPr>
          <p:grpSpPr>
            <a:xfrm>
              <a:off x="5546259" y="2285949"/>
              <a:ext cx="6279981" cy="1143051"/>
              <a:chOff x="1597419" y="4492815"/>
              <a:chExt cx="9504159" cy="1729899"/>
            </a:xfrm>
          </p:grpSpPr>
          <p:grpSp>
            <p:nvGrpSpPr>
              <p:cNvPr id="5" name="Graphic 8" descr="Run ML Queries">
                <a:extLst>
                  <a:ext uri="{FF2B5EF4-FFF2-40B4-BE49-F238E27FC236}">
                    <a16:creationId xmlns:a16="http://schemas.microsoft.com/office/drawing/2014/main" id="{AD6B76AC-A41E-AA08-8969-8464985A85F2}"/>
                  </a:ext>
                </a:extLst>
              </p:cNvPr>
              <p:cNvGrpSpPr/>
              <p:nvPr/>
            </p:nvGrpSpPr>
            <p:grpSpPr>
              <a:xfrm>
                <a:off x="5367355" y="4492815"/>
                <a:ext cx="1457290" cy="1529307"/>
                <a:chOff x="5687967" y="4500432"/>
                <a:chExt cx="619619" cy="618246"/>
              </a:xfrm>
              <a:noFill/>
            </p:grpSpPr>
            <p:sp>
              <p:nvSpPr>
                <p:cNvPr id="6" name="Freeform 5">
                  <a:extLst>
                    <a:ext uri="{FF2B5EF4-FFF2-40B4-BE49-F238E27FC236}">
                      <a16:creationId xmlns:a16="http://schemas.microsoft.com/office/drawing/2014/main" id="{F83C08A9-5C2B-E364-234F-5B7D95043534}"/>
                    </a:ext>
                  </a:extLst>
                </p:cNvPr>
                <p:cNvSpPr/>
                <p:nvPr/>
              </p:nvSpPr>
              <p:spPr>
                <a:xfrm>
                  <a:off x="5838908" y="4611109"/>
                  <a:ext cx="79465" cy="206560"/>
                </a:xfrm>
                <a:custGeom>
                  <a:avLst/>
                  <a:gdLst>
                    <a:gd name="connsiteX0" fmla="*/ 0 w 79465"/>
                    <a:gd name="connsiteY0" fmla="*/ 206561 h 206560"/>
                    <a:gd name="connsiteX1" fmla="*/ 0 w 79465"/>
                    <a:gd name="connsiteY1" fmla="*/ 121789 h 206560"/>
                    <a:gd name="connsiteX2" fmla="*/ 79466 w 79465"/>
                    <a:gd name="connsiteY2" fmla="*/ 82025 h 206560"/>
                    <a:gd name="connsiteX3" fmla="*/ 79466 w 79465"/>
                    <a:gd name="connsiteY3" fmla="*/ 0 h 206560"/>
                  </a:gdLst>
                  <a:ahLst/>
                  <a:cxnLst>
                    <a:cxn ang="0">
                      <a:pos x="connsiteX0" y="connsiteY0"/>
                    </a:cxn>
                    <a:cxn ang="0">
                      <a:pos x="connsiteX1" y="connsiteY1"/>
                    </a:cxn>
                    <a:cxn ang="0">
                      <a:pos x="connsiteX2" y="connsiteY2"/>
                    </a:cxn>
                    <a:cxn ang="0">
                      <a:pos x="connsiteX3" y="connsiteY3"/>
                    </a:cxn>
                  </a:cxnLst>
                  <a:rect l="l" t="t" r="r" b="b"/>
                  <a:pathLst>
                    <a:path w="79465" h="206560">
                      <a:moveTo>
                        <a:pt x="0" y="206561"/>
                      </a:moveTo>
                      <a:lnTo>
                        <a:pt x="0" y="121789"/>
                      </a:lnTo>
                      <a:lnTo>
                        <a:pt x="79466" y="82025"/>
                      </a:lnTo>
                      <a:lnTo>
                        <a:pt x="79466" y="0"/>
                      </a:lnTo>
                    </a:path>
                  </a:pathLst>
                </a:custGeom>
                <a:noFill/>
                <a:ln w="25400" cap="flat">
                  <a:solidFill>
                    <a:srgbClr val="232F3E"/>
                  </a:solidFill>
                  <a:prstDash val="solid"/>
                  <a:round/>
                </a:ln>
              </p:spPr>
              <p:txBody>
                <a:bodyPr rtlCol="0" anchor="ctr"/>
                <a:lstStyle/>
                <a:p>
                  <a:endParaRPr lang="en-US" sz="1400"/>
                </a:p>
              </p:txBody>
            </p:sp>
            <p:sp>
              <p:nvSpPr>
                <p:cNvPr id="8" name="Freeform 7">
                  <a:extLst>
                    <a:ext uri="{FF2B5EF4-FFF2-40B4-BE49-F238E27FC236}">
                      <a16:creationId xmlns:a16="http://schemas.microsoft.com/office/drawing/2014/main" id="{7719E4F7-6734-60BE-3C5C-25E2C71B393B}"/>
                    </a:ext>
                  </a:extLst>
                </p:cNvPr>
                <p:cNvSpPr/>
                <p:nvPr/>
              </p:nvSpPr>
              <p:spPr>
                <a:xfrm>
                  <a:off x="5765809" y="4693758"/>
                  <a:ext cx="77343" cy="38640"/>
                </a:xfrm>
                <a:custGeom>
                  <a:avLst/>
                  <a:gdLst>
                    <a:gd name="connsiteX0" fmla="*/ 77343 w 77343"/>
                    <a:gd name="connsiteY0" fmla="*/ 38640 h 38640"/>
                    <a:gd name="connsiteX1" fmla="*/ 0 w 77343"/>
                    <a:gd name="connsiteY1" fmla="*/ 0 h 38640"/>
                  </a:gdLst>
                  <a:ahLst/>
                  <a:cxnLst>
                    <a:cxn ang="0">
                      <a:pos x="connsiteX0" y="connsiteY0"/>
                    </a:cxn>
                    <a:cxn ang="0">
                      <a:pos x="connsiteX1" y="connsiteY1"/>
                    </a:cxn>
                  </a:cxnLst>
                  <a:rect l="l" t="t" r="r" b="b"/>
                  <a:pathLst>
                    <a:path w="77343" h="38640">
                      <a:moveTo>
                        <a:pt x="77343" y="38640"/>
                      </a:moveTo>
                      <a:lnTo>
                        <a:pt x="0" y="0"/>
                      </a:lnTo>
                    </a:path>
                  </a:pathLst>
                </a:custGeom>
                <a:ln w="25400" cap="flat">
                  <a:solidFill>
                    <a:srgbClr val="232F3E"/>
                  </a:solidFill>
                  <a:prstDash val="solid"/>
                  <a:round/>
                </a:ln>
              </p:spPr>
              <p:txBody>
                <a:bodyPr rtlCol="0" anchor="ctr"/>
                <a:lstStyle/>
                <a:p>
                  <a:endParaRPr lang="en-US" sz="1400"/>
                </a:p>
              </p:txBody>
            </p:sp>
            <p:sp>
              <p:nvSpPr>
                <p:cNvPr id="9" name="Freeform 8">
                  <a:extLst>
                    <a:ext uri="{FF2B5EF4-FFF2-40B4-BE49-F238E27FC236}">
                      <a16:creationId xmlns:a16="http://schemas.microsoft.com/office/drawing/2014/main" id="{63FA0947-A6A9-527A-067C-A4E12F0DC9C8}"/>
                    </a:ext>
                  </a:extLst>
                </p:cNvPr>
                <p:cNvSpPr/>
                <p:nvPr/>
              </p:nvSpPr>
              <p:spPr>
                <a:xfrm>
                  <a:off x="5846836" y="4547624"/>
                  <a:ext cx="6242" cy="95258"/>
                </a:xfrm>
                <a:custGeom>
                  <a:avLst/>
                  <a:gdLst>
                    <a:gd name="connsiteX0" fmla="*/ 0 w 6242"/>
                    <a:gd name="connsiteY0" fmla="*/ 95259 h 95258"/>
                    <a:gd name="connsiteX1" fmla="*/ 0 w 6242"/>
                    <a:gd name="connsiteY1" fmla="*/ 0 h 95258"/>
                  </a:gdLst>
                  <a:ahLst/>
                  <a:cxnLst>
                    <a:cxn ang="0">
                      <a:pos x="connsiteX0" y="connsiteY0"/>
                    </a:cxn>
                    <a:cxn ang="0">
                      <a:pos x="connsiteX1" y="connsiteY1"/>
                    </a:cxn>
                  </a:cxnLst>
                  <a:rect l="l" t="t" r="r" b="b"/>
                  <a:pathLst>
                    <a:path w="6242" h="95258">
                      <a:moveTo>
                        <a:pt x="0" y="95259"/>
                      </a:moveTo>
                      <a:lnTo>
                        <a:pt x="0" y="0"/>
                      </a:lnTo>
                    </a:path>
                  </a:pathLst>
                </a:custGeom>
                <a:ln w="25400" cap="flat">
                  <a:solidFill>
                    <a:srgbClr val="232F3E"/>
                  </a:solidFill>
                  <a:prstDash val="solid"/>
                  <a:round/>
                </a:ln>
              </p:spPr>
              <p:txBody>
                <a:bodyPr rtlCol="0" anchor="ctr"/>
                <a:lstStyle/>
                <a:p>
                  <a:endParaRPr lang="en-US" sz="1400"/>
                </a:p>
              </p:txBody>
            </p:sp>
            <p:sp>
              <p:nvSpPr>
                <p:cNvPr id="10" name="Freeform 9">
                  <a:extLst>
                    <a:ext uri="{FF2B5EF4-FFF2-40B4-BE49-F238E27FC236}">
                      <a16:creationId xmlns:a16="http://schemas.microsoft.com/office/drawing/2014/main" id="{459A87F0-9A33-F3D9-17CD-463A0FFA7590}"/>
                    </a:ext>
                  </a:extLst>
                </p:cNvPr>
                <p:cNvSpPr/>
                <p:nvPr/>
              </p:nvSpPr>
              <p:spPr>
                <a:xfrm>
                  <a:off x="5688528" y="4770040"/>
                  <a:ext cx="74409" cy="43821"/>
                </a:xfrm>
                <a:custGeom>
                  <a:avLst/>
                  <a:gdLst>
                    <a:gd name="connsiteX0" fmla="*/ 0 w 74409"/>
                    <a:gd name="connsiteY0" fmla="*/ 43822 h 43821"/>
                    <a:gd name="connsiteX1" fmla="*/ 74409 w 74409"/>
                    <a:gd name="connsiteY1" fmla="*/ 0 h 43821"/>
                  </a:gdLst>
                  <a:ahLst/>
                  <a:cxnLst>
                    <a:cxn ang="0">
                      <a:pos x="connsiteX0" y="connsiteY0"/>
                    </a:cxn>
                    <a:cxn ang="0">
                      <a:pos x="connsiteX1" y="connsiteY1"/>
                    </a:cxn>
                  </a:cxnLst>
                  <a:rect l="l" t="t" r="r" b="b"/>
                  <a:pathLst>
                    <a:path w="74409" h="43821">
                      <a:moveTo>
                        <a:pt x="0" y="43822"/>
                      </a:moveTo>
                      <a:lnTo>
                        <a:pt x="74409" y="0"/>
                      </a:lnTo>
                    </a:path>
                  </a:pathLst>
                </a:custGeom>
                <a:ln w="25400" cap="flat">
                  <a:solidFill>
                    <a:srgbClr val="232F3E"/>
                  </a:solidFill>
                  <a:prstDash val="solid"/>
                  <a:round/>
                </a:ln>
              </p:spPr>
              <p:txBody>
                <a:bodyPr rtlCol="0" anchor="ctr"/>
                <a:lstStyle/>
                <a:p>
                  <a:endParaRPr lang="en-US" sz="1400"/>
                </a:p>
              </p:txBody>
            </p:sp>
            <p:sp>
              <p:nvSpPr>
                <p:cNvPr id="11" name="Freeform 10">
                  <a:extLst>
                    <a:ext uri="{FF2B5EF4-FFF2-40B4-BE49-F238E27FC236}">
                      <a16:creationId xmlns:a16="http://schemas.microsoft.com/office/drawing/2014/main" id="{2E7EDBF0-A304-C997-34CF-42C5C9D22020}"/>
                    </a:ext>
                  </a:extLst>
                </p:cNvPr>
                <p:cNvSpPr/>
                <p:nvPr/>
              </p:nvSpPr>
              <p:spPr>
                <a:xfrm>
                  <a:off x="5765809" y="4887023"/>
                  <a:ext cx="77343" cy="51562"/>
                </a:xfrm>
                <a:custGeom>
                  <a:avLst/>
                  <a:gdLst>
                    <a:gd name="connsiteX0" fmla="*/ 0 w 77343"/>
                    <a:gd name="connsiteY0" fmla="*/ 51562 h 51562"/>
                    <a:gd name="connsiteX1" fmla="*/ 77343 w 77343"/>
                    <a:gd name="connsiteY1" fmla="*/ 0 h 51562"/>
                  </a:gdLst>
                  <a:ahLst/>
                  <a:cxnLst>
                    <a:cxn ang="0">
                      <a:pos x="connsiteX0" y="connsiteY0"/>
                    </a:cxn>
                    <a:cxn ang="0">
                      <a:pos x="connsiteX1" y="connsiteY1"/>
                    </a:cxn>
                  </a:cxnLst>
                  <a:rect l="l" t="t" r="r" b="b"/>
                  <a:pathLst>
                    <a:path w="77343" h="51562">
                      <a:moveTo>
                        <a:pt x="0" y="51562"/>
                      </a:moveTo>
                      <a:lnTo>
                        <a:pt x="77343" y="0"/>
                      </a:lnTo>
                    </a:path>
                  </a:pathLst>
                </a:custGeom>
                <a:ln w="25400" cap="flat">
                  <a:solidFill>
                    <a:srgbClr val="232F3E"/>
                  </a:solidFill>
                  <a:prstDash val="solid"/>
                  <a:round/>
                </a:ln>
              </p:spPr>
              <p:txBody>
                <a:bodyPr rtlCol="0" anchor="ctr"/>
                <a:lstStyle/>
                <a:p>
                  <a:endParaRPr lang="en-US" sz="1400"/>
                </a:p>
              </p:txBody>
            </p:sp>
            <p:sp>
              <p:nvSpPr>
                <p:cNvPr id="12" name="Freeform 11">
                  <a:extLst>
                    <a:ext uri="{FF2B5EF4-FFF2-40B4-BE49-F238E27FC236}">
                      <a16:creationId xmlns:a16="http://schemas.microsoft.com/office/drawing/2014/main" id="{2B720E46-70F1-E0A3-66A4-68B437A5CAF3}"/>
                    </a:ext>
                  </a:extLst>
                </p:cNvPr>
                <p:cNvSpPr/>
                <p:nvPr/>
              </p:nvSpPr>
              <p:spPr>
                <a:xfrm>
                  <a:off x="5838908" y="5033157"/>
                  <a:ext cx="72037" cy="38702"/>
                </a:xfrm>
                <a:custGeom>
                  <a:avLst/>
                  <a:gdLst>
                    <a:gd name="connsiteX0" fmla="*/ 0 w 72037"/>
                    <a:gd name="connsiteY0" fmla="*/ 38703 h 38702"/>
                    <a:gd name="connsiteX1" fmla="*/ 72037 w 72037"/>
                    <a:gd name="connsiteY1" fmla="*/ 0 h 38702"/>
                  </a:gdLst>
                  <a:ahLst/>
                  <a:cxnLst>
                    <a:cxn ang="0">
                      <a:pos x="connsiteX0" y="connsiteY0"/>
                    </a:cxn>
                    <a:cxn ang="0">
                      <a:pos x="connsiteX1" y="connsiteY1"/>
                    </a:cxn>
                  </a:cxnLst>
                  <a:rect l="l" t="t" r="r" b="b"/>
                  <a:pathLst>
                    <a:path w="72037" h="38702">
                      <a:moveTo>
                        <a:pt x="0" y="38703"/>
                      </a:moveTo>
                      <a:lnTo>
                        <a:pt x="72037" y="0"/>
                      </a:lnTo>
                    </a:path>
                  </a:pathLst>
                </a:custGeom>
                <a:ln w="25400" cap="flat">
                  <a:solidFill>
                    <a:srgbClr val="232F3E"/>
                  </a:solidFill>
                  <a:prstDash val="solid"/>
                  <a:round/>
                </a:ln>
              </p:spPr>
              <p:txBody>
                <a:bodyPr rtlCol="0" anchor="ctr"/>
                <a:lstStyle/>
                <a:p>
                  <a:endParaRPr lang="en-US" sz="1400"/>
                </a:p>
              </p:txBody>
            </p:sp>
            <p:sp>
              <p:nvSpPr>
                <p:cNvPr id="13" name="Freeform 12">
                  <a:extLst>
                    <a:ext uri="{FF2B5EF4-FFF2-40B4-BE49-F238E27FC236}">
                      <a16:creationId xmlns:a16="http://schemas.microsoft.com/office/drawing/2014/main" id="{4F402C30-9141-EC62-BDB3-C8B20FF197DC}"/>
                    </a:ext>
                  </a:extLst>
                </p:cNvPr>
                <p:cNvSpPr/>
                <p:nvPr/>
              </p:nvSpPr>
              <p:spPr>
                <a:xfrm>
                  <a:off x="5830231" y="4887023"/>
                  <a:ext cx="167545" cy="90202"/>
                </a:xfrm>
                <a:custGeom>
                  <a:avLst/>
                  <a:gdLst>
                    <a:gd name="connsiteX0" fmla="*/ 0 w 167545"/>
                    <a:gd name="connsiteY0" fmla="*/ 90203 h 90202"/>
                    <a:gd name="connsiteX1" fmla="*/ 167546 w 167545"/>
                    <a:gd name="connsiteY1" fmla="*/ 0 h 90202"/>
                  </a:gdLst>
                  <a:ahLst/>
                  <a:cxnLst>
                    <a:cxn ang="0">
                      <a:pos x="connsiteX0" y="connsiteY0"/>
                    </a:cxn>
                    <a:cxn ang="0">
                      <a:pos x="connsiteX1" y="connsiteY1"/>
                    </a:cxn>
                  </a:cxnLst>
                  <a:rect l="l" t="t" r="r" b="b"/>
                  <a:pathLst>
                    <a:path w="167545" h="90202">
                      <a:moveTo>
                        <a:pt x="0" y="90203"/>
                      </a:moveTo>
                      <a:lnTo>
                        <a:pt x="167546" y="0"/>
                      </a:lnTo>
                    </a:path>
                  </a:pathLst>
                </a:custGeom>
                <a:ln w="25400" cap="flat">
                  <a:solidFill>
                    <a:srgbClr val="232F3E"/>
                  </a:solidFill>
                  <a:prstDash val="solid"/>
                  <a:round/>
                </a:ln>
              </p:spPr>
              <p:txBody>
                <a:bodyPr rtlCol="0" anchor="ctr"/>
                <a:lstStyle/>
                <a:p>
                  <a:endParaRPr lang="en-US" sz="1400"/>
                </a:p>
              </p:txBody>
            </p:sp>
            <p:sp>
              <p:nvSpPr>
                <p:cNvPr id="14" name="Freeform 13">
                  <a:extLst>
                    <a:ext uri="{FF2B5EF4-FFF2-40B4-BE49-F238E27FC236}">
                      <a16:creationId xmlns:a16="http://schemas.microsoft.com/office/drawing/2014/main" id="{BFD83565-1739-5B32-E3D1-E9B7B1AC061D}"/>
                    </a:ext>
                  </a:extLst>
                </p:cNvPr>
                <p:cNvSpPr/>
                <p:nvPr/>
              </p:nvSpPr>
              <p:spPr>
                <a:xfrm>
                  <a:off x="5765809" y="4809742"/>
                  <a:ext cx="77343" cy="51499"/>
                </a:xfrm>
                <a:custGeom>
                  <a:avLst/>
                  <a:gdLst>
                    <a:gd name="connsiteX0" fmla="*/ 0 w 77343"/>
                    <a:gd name="connsiteY0" fmla="*/ 51500 h 51499"/>
                    <a:gd name="connsiteX1" fmla="*/ 77343 w 77343"/>
                    <a:gd name="connsiteY1" fmla="*/ 0 h 51499"/>
                  </a:gdLst>
                  <a:ahLst/>
                  <a:cxnLst>
                    <a:cxn ang="0">
                      <a:pos x="connsiteX0" y="connsiteY0"/>
                    </a:cxn>
                    <a:cxn ang="0">
                      <a:pos x="connsiteX1" y="connsiteY1"/>
                    </a:cxn>
                  </a:cxnLst>
                  <a:rect l="l" t="t" r="r" b="b"/>
                  <a:pathLst>
                    <a:path w="77343" h="51499">
                      <a:moveTo>
                        <a:pt x="0" y="51500"/>
                      </a:moveTo>
                      <a:lnTo>
                        <a:pt x="77343" y="0"/>
                      </a:lnTo>
                    </a:path>
                  </a:pathLst>
                </a:custGeom>
                <a:ln w="25400" cap="flat">
                  <a:solidFill>
                    <a:srgbClr val="232F3E"/>
                  </a:solidFill>
                  <a:prstDash val="solid"/>
                  <a:round/>
                </a:ln>
              </p:spPr>
              <p:txBody>
                <a:bodyPr rtlCol="0" anchor="ctr"/>
                <a:lstStyle/>
                <a:p>
                  <a:endParaRPr lang="en-US" sz="1400"/>
                </a:p>
              </p:txBody>
            </p:sp>
            <p:sp>
              <p:nvSpPr>
                <p:cNvPr id="15" name="Freeform 14">
                  <a:extLst>
                    <a:ext uri="{FF2B5EF4-FFF2-40B4-BE49-F238E27FC236}">
                      <a16:creationId xmlns:a16="http://schemas.microsoft.com/office/drawing/2014/main" id="{5171328E-0ABD-5D63-3559-83E3425EE0A4}"/>
                    </a:ext>
                  </a:extLst>
                </p:cNvPr>
                <p:cNvSpPr/>
                <p:nvPr/>
              </p:nvSpPr>
              <p:spPr>
                <a:xfrm>
                  <a:off x="5687967" y="4500432"/>
                  <a:ext cx="311432" cy="618246"/>
                </a:xfrm>
                <a:custGeom>
                  <a:avLst/>
                  <a:gdLst>
                    <a:gd name="connsiteX0" fmla="*/ 311433 w 311432"/>
                    <a:gd name="connsiteY0" fmla="*/ 51562 h 618246"/>
                    <a:gd name="connsiteX1" fmla="*/ 234090 w 311432"/>
                    <a:gd name="connsiteY1" fmla="*/ 0 h 618246"/>
                    <a:gd name="connsiteX2" fmla="*/ 79466 w 311432"/>
                    <a:gd name="connsiteY2" fmla="*/ 90203 h 618246"/>
                    <a:gd name="connsiteX3" fmla="*/ 79466 w 311432"/>
                    <a:gd name="connsiteY3" fmla="*/ 192141 h 618246"/>
                    <a:gd name="connsiteX4" fmla="*/ 0 w 311432"/>
                    <a:gd name="connsiteY4" fmla="*/ 232467 h 618246"/>
                    <a:gd name="connsiteX5" fmla="*/ 0 w 311432"/>
                    <a:gd name="connsiteY5" fmla="*/ 388714 h 618246"/>
                    <a:gd name="connsiteX6" fmla="*/ 79466 w 311432"/>
                    <a:gd name="connsiteY6" fmla="*/ 436218 h 618246"/>
                    <a:gd name="connsiteX7" fmla="*/ 79466 w 311432"/>
                    <a:gd name="connsiteY7" fmla="*/ 528668 h 618246"/>
                    <a:gd name="connsiteX8" fmla="*/ 233028 w 311432"/>
                    <a:gd name="connsiteY8" fmla="*/ 618246 h 618246"/>
                    <a:gd name="connsiteX9" fmla="*/ 309810 w 311432"/>
                    <a:gd name="connsiteY9" fmla="*/ 577109 h 618246"/>
                    <a:gd name="connsiteX10" fmla="*/ 309810 w 311432"/>
                    <a:gd name="connsiteY10" fmla="*/ 309310 h 618246"/>
                    <a:gd name="connsiteX11" fmla="*/ 232529 w 311432"/>
                    <a:gd name="connsiteY11" fmla="*/ 270608 h 6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1432" h="618246">
                      <a:moveTo>
                        <a:pt x="311433" y="51562"/>
                      </a:moveTo>
                      <a:lnTo>
                        <a:pt x="234090" y="0"/>
                      </a:lnTo>
                      <a:lnTo>
                        <a:pt x="79466" y="90203"/>
                      </a:lnTo>
                      <a:lnTo>
                        <a:pt x="79466" y="192141"/>
                      </a:lnTo>
                      <a:lnTo>
                        <a:pt x="0" y="232467"/>
                      </a:lnTo>
                      <a:lnTo>
                        <a:pt x="0" y="388714"/>
                      </a:lnTo>
                      <a:lnTo>
                        <a:pt x="79466" y="436218"/>
                      </a:lnTo>
                      <a:lnTo>
                        <a:pt x="79466" y="528668"/>
                      </a:lnTo>
                      <a:lnTo>
                        <a:pt x="233028" y="618246"/>
                      </a:lnTo>
                      <a:lnTo>
                        <a:pt x="309810" y="577109"/>
                      </a:lnTo>
                      <a:lnTo>
                        <a:pt x="309810" y="309310"/>
                      </a:lnTo>
                      <a:lnTo>
                        <a:pt x="232529" y="270608"/>
                      </a:lnTo>
                    </a:path>
                  </a:pathLst>
                </a:custGeom>
                <a:noFill/>
                <a:ln w="25400" cap="flat">
                  <a:solidFill>
                    <a:srgbClr val="232F3E"/>
                  </a:solidFill>
                  <a:prstDash val="solid"/>
                  <a:round/>
                </a:ln>
              </p:spPr>
              <p:txBody>
                <a:bodyPr rtlCol="0" anchor="ctr"/>
                <a:lstStyle/>
                <a:p>
                  <a:endParaRPr lang="en-US" sz="1400"/>
                </a:p>
              </p:txBody>
            </p:sp>
            <p:sp>
              <p:nvSpPr>
                <p:cNvPr id="16" name="Freeform 15">
                  <a:extLst>
                    <a:ext uri="{FF2B5EF4-FFF2-40B4-BE49-F238E27FC236}">
                      <a16:creationId xmlns:a16="http://schemas.microsoft.com/office/drawing/2014/main" id="{15775769-FC33-B1E1-5101-90729C65E416}"/>
                    </a:ext>
                  </a:extLst>
                </p:cNvPr>
                <p:cNvSpPr/>
                <p:nvPr/>
              </p:nvSpPr>
              <p:spPr>
                <a:xfrm>
                  <a:off x="5841030" y="4809742"/>
                  <a:ext cx="77343" cy="119104"/>
                </a:xfrm>
                <a:custGeom>
                  <a:avLst/>
                  <a:gdLst>
                    <a:gd name="connsiteX0" fmla="*/ 77343 w 77343"/>
                    <a:gd name="connsiteY0" fmla="*/ 119105 h 119104"/>
                    <a:gd name="connsiteX1" fmla="*/ 77343 w 77343"/>
                    <a:gd name="connsiteY1" fmla="*/ 51500 h 119104"/>
                    <a:gd name="connsiteX2" fmla="*/ 0 w 77343"/>
                    <a:gd name="connsiteY2" fmla="*/ 0 h 119104"/>
                  </a:gdLst>
                  <a:ahLst/>
                  <a:cxnLst>
                    <a:cxn ang="0">
                      <a:pos x="connsiteX0" y="connsiteY0"/>
                    </a:cxn>
                    <a:cxn ang="0">
                      <a:pos x="connsiteX1" y="connsiteY1"/>
                    </a:cxn>
                    <a:cxn ang="0">
                      <a:pos x="connsiteX2" y="connsiteY2"/>
                    </a:cxn>
                  </a:cxnLst>
                  <a:rect l="l" t="t" r="r" b="b"/>
                  <a:pathLst>
                    <a:path w="77343" h="119104">
                      <a:moveTo>
                        <a:pt x="77343" y="119105"/>
                      </a:moveTo>
                      <a:lnTo>
                        <a:pt x="77343" y="51500"/>
                      </a:lnTo>
                      <a:lnTo>
                        <a:pt x="0" y="0"/>
                      </a:lnTo>
                    </a:path>
                  </a:pathLst>
                </a:custGeom>
                <a:noFill/>
                <a:ln w="25400" cap="flat">
                  <a:solidFill>
                    <a:srgbClr val="232F3E"/>
                  </a:solidFill>
                  <a:prstDash val="solid"/>
                  <a:round/>
                </a:ln>
              </p:spPr>
              <p:txBody>
                <a:bodyPr rtlCol="0" anchor="ctr"/>
                <a:lstStyle/>
                <a:p>
                  <a:endParaRPr lang="en-US" sz="1400"/>
                </a:p>
              </p:txBody>
            </p:sp>
            <p:sp>
              <p:nvSpPr>
                <p:cNvPr id="17" name="Freeform 16">
                  <a:extLst>
                    <a:ext uri="{FF2B5EF4-FFF2-40B4-BE49-F238E27FC236}">
                      <a16:creationId xmlns:a16="http://schemas.microsoft.com/office/drawing/2014/main" id="{1C73B0EC-5820-30D6-8091-1DF5E214B4FE}"/>
                    </a:ext>
                  </a:extLst>
                </p:cNvPr>
                <p:cNvSpPr/>
                <p:nvPr/>
              </p:nvSpPr>
              <p:spPr>
                <a:xfrm>
                  <a:off x="5997777" y="4500744"/>
                  <a:ext cx="309809" cy="617934"/>
                </a:xfrm>
                <a:custGeom>
                  <a:avLst/>
                  <a:gdLst>
                    <a:gd name="connsiteX0" fmla="*/ 77343 w 309809"/>
                    <a:gd name="connsiteY0" fmla="*/ 257436 h 617934"/>
                    <a:gd name="connsiteX1" fmla="*/ 0 w 309809"/>
                    <a:gd name="connsiteY1" fmla="*/ 205874 h 617934"/>
                    <a:gd name="connsiteX2" fmla="*/ 0 w 309809"/>
                    <a:gd name="connsiteY2" fmla="*/ 51188 h 617934"/>
                    <a:gd name="connsiteX3" fmla="*/ 76781 w 309809"/>
                    <a:gd name="connsiteY3" fmla="*/ 0 h 617934"/>
                    <a:gd name="connsiteX4" fmla="*/ 230344 w 309809"/>
                    <a:gd name="connsiteY4" fmla="*/ 91826 h 617934"/>
                    <a:gd name="connsiteX5" fmla="*/ 230344 w 309809"/>
                    <a:gd name="connsiteY5" fmla="*/ 194013 h 617934"/>
                    <a:gd name="connsiteX6" fmla="*/ 309810 w 309809"/>
                    <a:gd name="connsiteY6" fmla="*/ 237461 h 617934"/>
                    <a:gd name="connsiteX7" fmla="*/ 309810 w 309809"/>
                    <a:gd name="connsiteY7" fmla="*/ 385592 h 617934"/>
                    <a:gd name="connsiteX8" fmla="*/ 230344 w 309809"/>
                    <a:gd name="connsiteY8" fmla="*/ 438528 h 617934"/>
                    <a:gd name="connsiteX9" fmla="*/ 230344 w 309809"/>
                    <a:gd name="connsiteY9" fmla="*/ 528356 h 617934"/>
                    <a:gd name="connsiteX10" fmla="*/ 76781 w 309809"/>
                    <a:gd name="connsiteY10" fmla="*/ 617934 h 617934"/>
                    <a:gd name="connsiteX11" fmla="*/ 0 w 309809"/>
                    <a:gd name="connsiteY11" fmla="*/ 579544 h 61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9809" h="617934">
                      <a:moveTo>
                        <a:pt x="77343" y="257436"/>
                      </a:moveTo>
                      <a:lnTo>
                        <a:pt x="0" y="205874"/>
                      </a:lnTo>
                      <a:lnTo>
                        <a:pt x="0" y="51188"/>
                      </a:lnTo>
                      <a:lnTo>
                        <a:pt x="76781" y="0"/>
                      </a:lnTo>
                      <a:lnTo>
                        <a:pt x="230344" y="91826"/>
                      </a:lnTo>
                      <a:lnTo>
                        <a:pt x="230344" y="194013"/>
                      </a:lnTo>
                      <a:lnTo>
                        <a:pt x="309810" y="237461"/>
                      </a:lnTo>
                      <a:lnTo>
                        <a:pt x="309810" y="385592"/>
                      </a:lnTo>
                      <a:lnTo>
                        <a:pt x="230344" y="438528"/>
                      </a:lnTo>
                      <a:lnTo>
                        <a:pt x="230344" y="528356"/>
                      </a:lnTo>
                      <a:lnTo>
                        <a:pt x="76781" y="617934"/>
                      </a:lnTo>
                      <a:lnTo>
                        <a:pt x="0" y="579544"/>
                      </a:lnTo>
                    </a:path>
                  </a:pathLst>
                </a:custGeom>
                <a:noFill/>
                <a:ln w="25400" cap="flat">
                  <a:solidFill>
                    <a:srgbClr val="232F3E"/>
                  </a:solidFill>
                  <a:prstDash val="solid"/>
                  <a:round/>
                </a:ln>
              </p:spPr>
              <p:txBody>
                <a:bodyPr rtlCol="0" anchor="ctr"/>
                <a:lstStyle/>
                <a:p>
                  <a:endParaRPr lang="en-US" sz="1400"/>
                </a:p>
              </p:txBody>
            </p:sp>
            <p:sp>
              <p:nvSpPr>
                <p:cNvPr id="18" name="Freeform 17">
                  <a:extLst>
                    <a:ext uri="{FF2B5EF4-FFF2-40B4-BE49-F238E27FC236}">
                      <a16:creationId xmlns:a16="http://schemas.microsoft.com/office/drawing/2014/main" id="{7E6DAEF1-2E50-EB59-F46B-71743054BC15}"/>
                    </a:ext>
                  </a:extLst>
                </p:cNvPr>
                <p:cNvSpPr/>
                <p:nvPr/>
              </p:nvSpPr>
              <p:spPr>
                <a:xfrm>
                  <a:off x="6229744" y="4848382"/>
                  <a:ext cx="77280" cy="38640"/>
                </a:xfrm>
                <a:custGeom>
                  <a:avLst/>
                  <a:gdLst>
                    <a:gd name="connsiteX0" fmla="*/ 0 w 77280"/>
                    <a:gd name="connsiteY0" fmla="*/ 0 h 38640"/>
                    <a:gd name="connsiteX1" fmla="*/ 77281 w 77280"/>
                    <a:gd name="connsiteY1" fmla="*/ 38640 h 38640"/>
                  </a:gdLst>
                  <a:ahLst/>
                  <a:cxnLst>
                    <a:cxn ang="0">
                      <a:pos x="connsiteX0" y="connsiteY0"/>
                    </a:cxn>
                    <a:cxn ang="0">
                      <a:pos x="connsiteX1" y="connsiteY1"/>
                    </a:cxn>
                  </a:cxnLst>
                  <a:rect l="l" t="t" r="r" b="b"/>
                  <a:pathLst>
                    <a:path w="77280" h="38640">
                      <a:moveTo>
                        <a:pt x="0" y="0"/>
                      </a:moveTo>
                      <a:lnTo>
                        <a:pt x="77281" y="38640"/>
                      </a:lnTo>
                    </a:path>
                  </a:pathLst>
                </a:custGeom>
                <a:ln w="25400" cap="flat">
                  <a:solidFill>
                    <a:srgbClr val="232F3E"/>
                  </a:solidFill>
                  <a:prstDash val="solid"/>
                  <a:round/>
                </a:ln>
              </p:spPr>
              <p:txBody>
                <a:bodyPr rtlCol="0" anchor="ctr"/>
                <a:lstStyle/>
                <a:p>
                  <a:endParaRPr lang="en-US" sz="1400"/>
                </a:p>
              </p:txBody>
            </p:sp>
            <p:sp>
              <p:nvSpPr>
                <p:cNvPr id="19" name="Freeform 18">
                  <a:extLst>
                    <a:ext uri="{FF2B5EF4-FFF2-40B4-BE49-F238E27FC236}">
                      <a16:creationId xmlns:a16="http://schemas.microsoft.com/office/drawing/2014/main" id="{91339DA0-FD8B-6D28-6CD7-80D86810453B}"/>
                    </a:ext>
                  </a:extLst>
                </p:cNvPr>
                <p:cNvSpPr/>
                <p:nvPr/>
              </p:nvSpPr>
              <p:spPr>
                <a:xfrm>
                  <a:off x="6172501" y="4642883"/>
                  <a:ext cx="55619" cy="6242"/>
                </a:xfrm>
                <a:custGeom>
                  <a:avLst/>
                  <a:gdLst>
                    <a:gd name="connsiteX0" fmla="*/ 55620 w 55619"/>
                    <a:gd name="connsiteY0" fmla="*/ 0 h 6242"/>
                    <a:gd name="connsiteX1" fmla="*/ 0 w 55619"/>
                    <a:gd name="connsiteY1" fmla="*/ 0 h 6242"/>
                  </a:gdLst>
                  <a:ahLst/>
                  <a:cxnLst>
                    <a:cxn ang="0">
                      <a:pos x="connsiteX0" y="connsiteY0"/>
                    </a:cxn>
                    <a:cxn ang="0">
                      <a:pos x="connsiteX1" y="connsiteY1"/>
                    </a:cxn>
                  </a:cxnLst>
                  <a:rect l="l" t="t" r="r" b="b"/>
                  <a:pathLst>
                    <a:path w="55619" h="6242">
                      <a:moveTo>
                        <a:pt x="55620" y="0"/>
                      </a:moveTo>
                      <a:lnTo>
                        <a:pt x="0" y="0"/>
                      </a:lnTo>
                    </a:path>
                  </a:pathLst>
                </a:custGeom>
                <a:ln w="25400" cap="flat">
                  <a:solidFill>
                    <a:srgbClr val="232F3E"/>
                  </a:solidFill>
                  <a:prstDash val="solid"/>
                  <a:round/>
                </a:ln>
              </p:spPr>
              <p:txBody>
                <a:bodyPr rtlCol="0" anchor="ctr"/>
                <a:lstStyle/>
                <a:p>
                  <a:endParaRPr lang="en-US" sz="1400"/>
                </a:p>
              </p:txBody>
            </p:sp>
            <p:sp>
              <p:nvSpPr>
                <p:cNvPr id="20" name="Freeform 19">
                  <a:extLst>
                    <a:ext uri="{FF2B5EF4-FFF2-40B4-BE49-F238E27FC236}">
                      <a16:creationId xmlns:a16="http://schemas.microsoft.com/office/drawing/2014/main" id="{2469696C-6A20-575F-F56D-1D5C933A3C2E}"/>
                    </a:ext>
                  </a:extLst>
                </p:cNvPr>
                <p:cNvSpPr/>
                <p:nvPr/>
              </p:nvSpPr>
              <p:spPr>
                <a:xfrm>
                  <a:off x="5997777" y="4992394"/>
                  <a:ext cx="79403" cy="6242"/>
                </a:xfrm>
                <a:custGeom>
                  <a:avLst/>
                  <a:gdLst>
                    <a:gd name="connsiteX0" fmla="*/ 0 w 79403"/>
                    <a:gd name="connsiteY0" fmla="*/ 0 h 6242"/>
                    <a:gd name="connsiteX1" fmla="*/ 79403 w 79403"/>
                    <a:gd name="connsiteY1" fmla="*/ 0 h 6242"/>
                  </a:gdLst>
                  <a:ahLst/>
                  <a:cxnLst>
                    <a:cxn ang="0">
                      <a:pos x="connsiteX0" y="connsiteY0"/>
                    </a:cxn>
                    <a:cxn ang="0">
                      <a:pos x="connsiteX1" y="connsiteY1"/>
                    </a:cxn>
                  </a:cxnLst>
                  <a:rect l="l" t="t" r="r" b="b"/>
                  <a:pathLst>
                    <a:path w="79403" h="6242">
                      <a:moveTo>
                        <a:pt x="0" y="0"/>
                      </a:moveTo>
                      <a:lnTo>
                        <a:pt x="79403" y="0"/>
                      </a:lnTo>
                    </a:path>
                  </a:pathLst>
                </a:custGeom>
                <a:ln w="25400" cap="flat">
                  <a:solidFill>
                    <a:srgbClr val="232F3E"/>
                  </a:solidFill>
                  <a:prstDash val="solid"/>
                  <a:round/>
                </a:ln>
              </p:spPr>
              <p:txBody>
                <a:bodyPr rtlCol="0" anchor="ctr"/>
                <a:lstStyle/>
                <a:p>
                  <a:endParaRPr lang="en-US" sz="1400"/>
                </a:p>
              </p:txBody>
            </p:sp>
            <p:sp>
              <p:nvSpPr>
                <p:cNvPr id="21" name="Freeform 20">
                  <a:extLst>
                    <a:ext uri="{FF2B5EF4-FFF2-40B4-BE49-F238E27FC236}">
                      <a16:creationId xmlns:a16="http://schemas.microsoft.com/office/drawing/2014/main" id="{1317C9E4-0663-72F5-6B3B-89B15CC85285}"/>
                    </a:ext>
                  </a:extLst>
                </p:cNvPr>
                <p:cNvSpPr/>
                <p:nvPr/>
              </p:nvSpPr>
              <p:spPr>
                <a:xfrm>
                  <a:off x="6124872" y="4619099"/>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sz="1400"/>
                </a:p>
              </p:txBody>
            </p:sp>
            <p:sp>
              <p:nvSpPr>
                <p:cNvPr id="22" name="Freeform 21">
                  <a:extLst>
                    <a:ext uri="{FF2B5EF4-FFF2-40B4-BE49-F238E27FC236}">
                      <a16:creationId xmlns:a16="http://schemas.microsoft.com/office/drawing/2014/main" id="{6AE6082E-1C57-8413-94F8-D2D00FA0D846}"/>
                    </a:ext>
                  </a:extLst>
                </p:cNvPr>
                <p:cNvSpPr/>
                <p:nvPr/>
              </p:nvSpPr>
              <p:spPr>
                <a:xfrm>
                  <a:off x="6180429" y="4809742"/>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5" y="0"/>
                        <a:pt x="0" y="10674"/>
                        <a:pt x="0" y="23846"/>
                      </a:cubicBezTo>
                      <a:cubicBezTo>
                        <a:pt x="0" y="37017"/>
                        <a:pt x="10675"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sz="1400"/>
                </a:p>
              </p:txBody>
            </p:sp>
            <p:sp>
              <p:nvSpPr>
                <p:cNvPr id="23" name="Freeform 22">
                  <a:extLst>
                    <a:ext uri="{FF2B5EF4-FFF2-40B4-BE49-F238E27FC236}">
                      <a16:creationId xmlns:a16="http://schemas.microsoft.com/office/drawing/2014/main" id="{D9095F89-EE8C-572D-C2A7-8B95079E9921}"/>
                    </a:ext>
                  </a:extLst>
                </p:cNvPr>
                <p:cNvSpPr/>
                <p:nvPr/>
              </p:nvSpPr>
              <p:spPr>
                <a:xfrm>
                  <a:off x="6077180" y="4746194"/>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sz="1400"/>
                </a:p>
              </p:txBody>
            </p:sp>
            <p:sp>
              <p:nvSpPr>
                <p:cNvPr id="24" name="Freeform 23">
                  <a:extLst>
                    <a:ext uri="{FF2B5EF4-FFF2-40B4-BE49-F238E27FC236}">
                      <a16:creationId xmlns:a16="http://schemas.microsoft.com/office/drawing/2014/main" id="{AAF9D52C-B99E-D58C-0B53-378B8A110A72}"/>
                    </a:ext>
                  </a:extLst>
                </p:cNvPr>
                <p:cNvSpPr/>
                <p:nvPr/>
              </p:nvSpPr>
              <p:spPr>
                <a:xfrm>
                  <a:off x="6077180" y="4968548"/>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sz="1400"/>
                </a:p>
              </p:txBody>
            </p:sp>
          </p:grpSp>
          <p:sp>
            <p:nvSpPr>
              <p:cNvPr id="25" name="TextBox 24">
                <a:extLst>
                  <a:ext uri="{FF2B5EF4-FFF2-40B4-BE49-F238E27FC236}">
                    <a16:creationId xmlns:a16="http://schemas.microsoft.com/office/drawing/2014/main" id="{6A061B83-8D62-1F13-E655-2611D8703315}"/>
                  </a:ext>
                </a:extLst>
              </p:cNvPr>
              <p:cNvSpPr txBox="1"/>
              <p:nvPr/>
            </p:nvSpPr>
            <p:spPr>
              <a:xfrm>
                <a:off x="1597419" y="4961327"/>
                <a:ext cx="3045107" cy="1257635"/>
              </a:xfrm>
              <a:prstGeom prst="rect">
                <a:avLst/>
              </a:prstGeom>
              <a:noFill/>
            </p:spPr>
            <p:txBody>
              <a:bodyPr wrap="none" rtlCol="0">
                <a:spAutoFit/>
              </a:bodyPr>
              <a:lstStyle/>
              <a:p>
                <a:r>
                  <a:rPr lang="en-US" sz="2400" dirty="0"/>
                  <a:t>Prompt</a:t>
                </a:r>
              </a:p>
              <a:p>
                <a:r>
                  <a:rPr lang="en-US" sz="2400" dirty="0"/>
                  <a:t>(instructions)</a:t>
                </a:r>
                <a:endParaRPr lang="en-US" sz="1400" dirty="0"/>
              </a:p>
            </p:txBody>
          </p:sp>
          <p:sp>
            <p:nvSpPr>
              <p:cNvPr id="26" name="TextBox 25">
                <a:extLst>
                  <a:ext uri="{FF2B5EF4-FFF2-40B4-BE49-F238E27FC236}">
                    <a16:creationId xmlns:a16="http://schemas.microsoft.com/office/drawing/2014/main" id="{F9FA2759-0208-4D37-429F-8FCF60ED0B0C}"/>
                  </a:ext>
                </a:extLst>
              </p:cNvPr>
              <p:cNvSpPr txBox="1"/>
              <p:nvPr/>
            </p:nvSpPr>
            <p:spPr>
              <a:xfrm>
                <a:off x="8635347" y="4965079"/>
                <a:ext cx="2466231" cy="1257635"/>
              </a:xfrm>
              <a:prstGeom prst="rect">
                <a:avLst/>
              </a:prstGeom>
              <a:noFill/>
            </p:spPr>
            <p:txBody>
              <a:bodyPr wrap="square" rtlCol="0">
                <a:spAutoFit/>
              </a:bodyPr>
              <a:lstStyle/>
              <a:p>
                <a:r>
                  <a:rPr lang="en-US" sz="2400" dirty="0"/>
                  <a:t>Response</a:t>
                </a:r>
              </a:p>
              <a:p>
                <a:r>
                  <a:rPr lang="en-US" sz="2400" dirty="0"/>
                  <a:t>(results)</a:t>
                </a:r>
                <a:endParaRPr lang="en-US" sz="1400" dirty="0"/>
              </a:p>
            </p:txBody>
          </p:sp>
          <p:cxnSp>
            <p:nvCxnSpPr>
              <p:cNvPr id="27" name="Straight Arrow Connector 26">
                <a:extLst>
                  <a:ext uri="{FF2B5EF4-FFF2-40B4-BE49-F238E27FC236}">
                    <a16:creationId xmlns:a16="http://schemas.microsoft.com/office/drawing/2014/main" id="{3A0DE98D-6638-EA39-EB7A-089F630E2246}"/>
                  </a:ext>
                </a:extLst>
              </p:cNvPr>
              <p:cNvCxnSpPr>
                <a:cxnSpLocks/>
              </p:cNvCxnSpPr>
              <p:nvPr/>
            </p:nvCxnSpPr>
            <p:spPr>
              <a:xfrm>
                <a:off x="3726767" y="5276200"/>
                <a:ext cx="1432679"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142E604-A8D4-0692-FF03-5D870DDEA545}"/>
                  </a:ext>
                </a:extLst>
              </p:cNvPr>
              <p:cNvCxnSpPr>
                <a:cxnSpLocks/>
              </p:cNvCxnSpPr>
              <p:nvPr/>
            </p:nvCxnSpPr>
            <p:spPr>
              <a:xfrm>
                <a:off x="7004544" y="5268120"/>
                <a:ext cx="1335084"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36B2A66B-C7AC-4DF2-BFC5-D28CBEA391AB}"/>
                </a:ext>
              </a:extLst>
            </p:cNvPr>
            <p:cNvSpPr/>
            <p:nvPr/>
          </p:nvSpPr>
          <p:spPr>
            <a:xfrm>
              <a:off x="8112765" y="3412597"/>
              <a:ext cx="882172" cy="369332"/>
            </a:xfrm>
            <a:prstGeom prst="rect">
              <a:avLst/>
            </a:prstGeom>
          </p:spPr>
          <p:txBody>
            <a:bodyPr wrap="square">
              <a:spAutoFit/>
            </a:bodyPr>
            <a:lstStyle/>
            <a:p>
              <a:pPr algn="ctr"/>
              <a:r>
                <a:rPr lang="en-US" dirty="0"/>
                <a:t>LLM</a:t>
              </a:r>
            </a:p>
          </p:txBody>
        </p:sp>
      </p:grpSp>
    </p:spTree>
    <p:extLst>
      <p:ext uri="{BB962C8B-B14F-4D97-AF65-F5344CB8AC3E}">
        <p14:creationId xmlns:p14="http://schemas.microsoft.com/office/powerpoint/2010/main" val="47324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6790772-06AF-4D36-ADBC-3486BE7BD197}"/>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6" name="Title">
            <a:extLst>
              <a:ext uri="{FF2B5EF4-FFF2-40B4-BE49-F238E27FC236}">
                <a16:creationId xmlns:a16="http://schemas.microsoft.com/office/drawing/2014/main" id="{1A929C11-7F43-4290-B87D-6FE6B18FB0F4}"/>
              </a:ext>
            </a:extLst>
          </p:cNvPr>
          <p:cNvSpPr>
            <a:spLocks noGrp="1"/>
          </p:cNvSpPr>
          <p:nvPr>
            <p:ph type="title" idx="1"/>
          </p:nvPr>
        </p:nvSpPr>
        <p:spPr/>
        <p:txBody>
          <a:bodyPr/>
          <a:lstStyle/>
          <a:p>
            <a:r>
              <a:rPr lang="en-US" dirty="0"/>
              <a:t>Prompt components</a:t>
            </a:r>
          </a:p>
        </p:txBody>
      </p:sp>
      <p:sp>
        <p:nvSpPr>
          <p:cNvPr id="12" name="Rectangle: Rounded Corners 11">
            <a:extLst>
              <a:ext uri="{FF2B5EF4-FFF2-40B4-BE49-F238E27FC236}">
                <a16:creationId xmlns:a16="http://schemas.microsoft.com/office/drawing/2014/main" id="{29CCF8C0-ECAC-4380-9939-7F0C058C750A}"/>
              </a:ext>
            </a:extLst>
          </p:cNvPr>
          <p:cNvSpPr/>
          <p:nvPr/>
        </p:nvSpPr>
        <p:spPr>
          <a:xfrm>
            <a:off x="704849"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Task</a:t>
            </a:r>
          </a:p>
        </p:txBody>
      </p:sp>
      <p:sp>
        <p:nvSpPr>
          <p:cNvPr id="13" name="Rectangle: Rounded Corners 12">
            <a:extLst>
              <a:ext uri="{FF2B5EF4-FFF2-40B4-BE49-F238E27FC236}">
                <a16:creationId xmlns:a16="http://schemas.microsoft.com/office/drawing/2014/main" id="{016C33E3-EBBF-4A3A-8DCE-C09F860C5FE4}"/>
              </a:ext>
            </a:extLst>
          </p:cNvPr>
          <p:cNvSpPr/>
          <p:nvPr/>
        </p:nvSpPr>
        <p:spPr>
          <a:xfrm>
            <a:off x="2572313"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Instruction</a:t>
            </a:r>
          </a:p>
        </p:txBody>
      </p:sp>
      <p:sp>
        <p:nvSpPr>
          <p:cNvPr id="14" name="Rectangle: Rounded Corners 13">
            <a:extLst>
              <a:ext uri="{FF2B5EF4-FFF2-40B4-BE49-F238E27FC236}">
                <a16:creationId xmlns:a16="http://schemas.microsoft.com/office/drawing/2014/main" id="{A2B56358-0EA8-459E-B840-3460F804A909}"/>
              </a:ext>
            </a:extLst>
          </p:cNvPr>
          <p:cNvSpPr/>
          <p:nvPr/>
        </p:nvSpPr>
        <p:spPr>
          <a:xfrm>
            <a:off x="4439777"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Input</a:t>
            </a:r>
          </a:p>
        </p:txBody>
      </p:sp>
      <p:sp>
        <p:nvSpPr>
          <p:cNvPr id="15" name="Rectangle: Rounded Corners 14">
            <a:extLst>
              <a:ext uri="{FF2B5EF4-FFF2-40B4-BE49-F238E27FC236}">
                <a16:creationId xmlns:a16="http://schemas.microsoft.com/office/drawing/2014/main" id="{0F2FE060-0806-4B5A-B2E1-FFE106DC244E}"/>
              </a:ext>
            </a:extLst>
          </p:cNvPr>
          <p:cNvSpPr/>
          <p:nvPr/>
        </p:nvSpPr>
        <p:spPr>
          <a:xfrm>
            <a:off x="6307241"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Output</a:t>
            </a:r>
          </a:p>
        </p:txBody>
      </p:sp>
      <p:sp>
        <p:nvSpPr>
          <p:cNvPr id="16" name="Rectangle: Rounded Corners 15">
            <a:extLst>
              <a:ext uri="{FF2B5EF4-FFF2-40B4-BE49-F238E27FC236}">
                <a16:creationId xmlns:a16="http://schemas.microsoft.com/office/drawing/2014/main" id="{C669132B-239F-4DCC-9DC4-A28867C2B4D1}"/>
              </a:ext>
            </a:extLst>
          </p:cNvPr>
          <p:cNvSpPr/>
          <p:nvPr/>
        </p:nvSpPr>
        <p:spPr>
          <a:xfrm>
            <a:off x="8174705"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Tone and style</a:t>
            </a:r>
          </a:p>
        </p:txBody>
      </p:sp>
      <p:sp>
        <p:nvSpPr>
          <p:cNvPr id="17" name="Rectangle 16">
            <a:extLst>
              <a:ext uri="{FF2B5EF4-FFF2-40B4-BE49-F238E27FC236}">
                <a16:creationId xmlns:a16="http://schemas.microsoft.com/office/drawing/2014/main" id="{0D603618-9463-416E-BDA7-9C849D98CEF5}"/>
              </a:ext>
            </a:extLst>
          </p:cNvPr>
          <p:cNvSpPr/>
          <p:nvPr/>
        </p:nvSpPr>
        <p:spPr>
          <a:xfrm>
            <a:off x="365760" y="1263423"/>
            <a:ext cx="11325536" cy="461665"/>
          </a:xfrm>
          <a:prstGeom prst="rect">
            <a:avLst/>
          </a:prstGeom>
        </p:spPr>
        <p:txBody>
          <a:bodyPr wrap="none">
            <a:spAutoFit/>
          </a:bodyPr>
          <a:lstStyle/>
          <a:p>
            <a:r>
              <a:rPr lang="en-US" sz="2400" b="1" dirty="0"/>
              <a:t>Prompt components</a:t>
            </a:r>
            <a:r>
              <a:rPr lang="en-US" sz="2400" dirty="0"/>
              <a:t> are the high-level categories that structure the prompt.</a:t>
            </a:r>
            <a:endParaRPr lang="en-US" sz="2400" u="sng" dirty="0"/>
          </a:p>
        </p:txBody>
      </p:sp>
      <p:sp>
        <p:nvSpPr>
          <p:cNvPr id="30" name="Rectangle: Rounded Corners 29">
            <a:extLst>
              <a:ext uri="{FF2B5EF4-FFF2-40B4-BE49-F238E27FC236}">
                <a16:creationId xmlns:a16="http://schemas.microsoft.com/office/drawing/2014/main" id="{DAF519C5-61DC-4D17-B358-C26272DDAF09}"/>
              </a:ext>
            </a:extLst>
          </p:cNvPr>
          <p:cNvSpPr/>
          <p:nvPr/>
        </p:nvSpPr>
        <p:spPr>
          <a:xfrm>
            <a:off x="10042167" y="185390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Constraints</a:t>
            </a:r>
          </a:p>
        </p:txBody>
      </p:sp>
    </p:spTree>
    <p:extLst>
      <p:ext uri="{BB962C8B-B14F-4D97-AF65-F5344CB8AC3E}">
        <p14:creationId xmlns:p14="http://schemas.microsoft.com/office/powerpoint/2010/main" val="1056698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6790772-06AF-4D36-ADBC-3486BE7BD197}"/>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6" name="Title">
            <a:extLst>
              <a:ext uri="{FF2B5EF4-FFF2-40B4-BE49-F238E27FC236}">
                <a16:creationId xmlns:a16="http://schemas.microsoft.com/office/drawing/2014/main" id="{1A929C11-7F43-4290-B87D-6FE6B18FB0F4}"/>
              </a:ext>
            </a:extLst>
          </p:cNvPr>
          <p:cNvSpPr>
            <a:spLocks noGrp="1"/>
          </p:cNvSpPr>
          <p:nvPr>
            <p:ph type="title" idx="1"/>
          </p:nvPr>
        </p:nvSpPr>
        <p:spPr/>
        <p:txBody>
          <a:bodyPr/>
          <a:lstStyle/>
          <a:p>
            <a:r>
              <a:rPr lang="en-US" dirty="0"/>
              <a:t>Prompt elements</a:t>
            </a:r>
          </a:p>
        </p:txBody>
      </p:sp>
      <p:sp>
        <p:nvSpPr>
          <p:cNvPr id="12" name="Rectangle: Rounded Corners 11">
            <a:extLst>
              <a:ext uri="{FF2B5EF4-FFF2-40B4-BE49-F238E27FC236}">
                <a16:creationId xmlns:a16="http://schemas.microsoft.com/office/drawing/2014/main" id="{29CCF8C0-ECAC-4380-9939-7F0C058C750A}"/>
              </a:ext>
            </a:extLst>
          </p:cNvPr>
          <p:cNvSpPr/>
          <p:nvPr/>
        </p:nvSpPr>
        <p:spPr>
          <a:xfrm>
            <a:off x="704849"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Task</a:t>
            </a:r>
          </a:p>
        </p:txBody>
      </p:sp>
      <p:sp>
        <p:nvSpPr>
          <p:cNvPr id="13" name="Rectangle: Rounded Corners 12">
            <a:extLst>
              <a:ext uri="{FF2B5EF4-FFF2-40B4-BE49-F238E27FC236}">
                <a16:creationId xmlns:a16="http://schemas.microsoft.com/office/drawing/2014/main" id="{016C33E3-EBBF-4A3A-8DCE-C09F860C5FE4}"/>
              </a:ext>
            </a:extLst>
          </p:cNvPr>
          <p:cNvSpPr/>
          <p:nvPr/>
        </p:nvSpPr>
        <p:spPr>
          <a:xfrm>
            <a:off x="2572313"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t>
            </a:r>
          </a:p>
        </p:txBody>
      </p:sp>
      <p:sp>
        <p:nvSpPr>
          <p:cNvPr id="14" name="Rectangle: Rounded Corners 13">
            <a:extLst>
              <a:ext uri="{FF2B5EF4-FFF2-40B4-BE49-F238E27FC236}">
                <a16:creationId xmlns:a16="http://schemas.microsoft.com/office/drawing/2014/main" id="{A2B56358-0EA8-459E-B840-3460F804A909}"/>
              </a:ext>
            </a:extLst>
          </p:cNvPr>
          <p:cNvSpPr/>
          <p:nvPr/>
        </p:nvSpPr>
        <p:spPr>
          <a:xfrm>
            <a:off x="4439777"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Input</a:t>
            </a:r>
          </a:p>
        </p:txBody>
      </p:sp>
      <p:sp>
        <p:nvSpPr>
          <p:cNvPr id="15" name="Rectangle: Rounded Corners 14">
            <a:extLst>
              <a:ext uri="{FF2B5EF4-FFF2-40B4-BE49-F238E27FC236}">
                <a16:creationId xmlns:a16="http://schemas.microsoft.com/office/drawing/2014/main" id="{0F2FE060-0806-4B5A-B2E1-FFE106DC244E}"/>
              </a:ext>
            </a:extLst>
          </p:cNvPr>
          <p:cNvSpPr/>
          <p:nvPr/>
        </p:nvSpPr>
        <p:spPr>
          <a:xfrm>
            <a:off x="6307241"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Output</a:t>
            </a:r>
          </a:p>
        </p:txBody>
      </p:sp>
      <p:sp>
        <p:nvSpPr>
          <p:cNvPr id="16" name="Rectangle: Rounded Corners 15">
            <a:extLst>
              <a:ext uri="{FF2B5EF4-FFF2-40B4-BE49-F238E27FC236}">
                <a16:creationId xmlns:a16="http://schemas.microsoft.com/office/drawing/2014/main" id="{C669132B-239F-4DCC-9DC4-A28867C2B4D1}"/>
              </a:ext>
            </a:extLst>
          </p:cNvPr>
          <p:cNvSpPr/>
          <p:nvPr/>
        </p:nvSpPr>
        <p:spPr>
          <a:xfrm>
            <a:off x="8174705"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Tone and style</a:t>
            </a:r>
          </a:p>
        </p:txBody>
      </p:sp>
      <p:sp>
        <p:nvSpPr>
          <p:cNvPr id="17" name="Rectangle 16">
            <a:extLst>
              <a:ext uri="{FF2B5EF4-FFF2-40B4-BE49-F238E27FC236}">
                <a16:creationId xmlns:a16="http://schemas.microsoft.com/office/drawing/2014/main" id="{0D603618-9463-416E-BDA7-9C849D98CEF5}"/>
              </a:ext>
            </a:extLst>
          </p:cNvPr>
          <p:cNvSpPr/>
          <p:nvPr/>
        </p:nvSpPr>
        <p:spPr>
          <a:xfrm>
            <a:off x="365760" y="1254419"/>
            <a:ext cx="10952037" cy="461665"/>
          </a:xfrm>
          <a:prstGeom prst="rect">
            <a:avLst/>
          </a:prstGeom>
        </p:spPr>
        <p:txBody>
          <a:bodyPr wrap="none">
            <a:spAutoFit/>
          </a:bodyPr>
          <a:lstStyle/>
          <a:p>
            <a:r>
              <a:rPr lang="en-US" sz="2400" b="1" dirty="0"/>
              <a:t>Prompt components</a:t>
            </a:r>
            <a:r>
              <a:rPr lang="en-US" sz="2400" dirty="0"/>
              <a:t> are the high-level categories that structure the prompt.</a:t>
            </a:r>
            <a:endParaRPr lang="en-US" sz="2400" u="sng" dirty="0"/>
          </a:p>
        </p:txBody>
      </p:sp>
      <p:sp>
        <p:nvSpPr>
          <p:cNvPr id="19" name="Rectangle 18">
            <a:extLst>
              <a:ext uri="{FF2B5EF4-FFF2-40B4-BE49-F238E27FC236}">
                <a16:creationId xmlns:a16="http://schemas.microsoft.com/office/drawing/2014/main" id="{0BD42ACA-A3C6-4FC7-BC76-03211324A6C8}"/>
              </a:ext>
            </a:extLst>
          </p:cNvPr>
          <p:cNvSpPr/>
          <p:nvPr/>
        </p:nvSpPr>
        <p:spPr>
          <a:xfrm>
            <a:off x="403846" y="3045752"/>
            <a:ext cx="11000127" cy="461665"/>
          </a:xfrm>
          <a:prstGeom prst="rect">
            <a:avLst/>
          </a:prstGeom>
        </p:spPr>
        <p:txBody>
          <a:bodyPr wrap="none">
            <a:spAutoFit/>
          </a:bodyPr>
          <a:lstStyle/>
          <a:p>
            <a:r>
              <a:rPr lang="en-US" sz="2400" b="1" dirty="0">
                <a:solidFill>
                  <a:srgbClr val="0F141A"/>
                </a:solidFill>
                <a:latin typeface="Amazon Ember" panose="020B0603020204020204" pitchFamily="34" charset="0"/>
              </a:rPr>
              <a:t>Prompt elements</a:t>
            </a:r>
            <a:r>
              <a:rPr lang="en-US" sz="2400" dirty="0">
                <a:solidFill>
                  <a:srgbClr val="0F141A"/>
                </a:solidFill>
                <a:latin typeface="Amazon Ember" panose="020B0603020204020204" pitchFamily="34" charset="0"/>
              </a:rPr>
              <a:t> are the specific details or sub-components within a prompt.</a:t>
            </a:r>
            <a:endParaRPr lang="en-US" sz="2400" u="sng" dirty="0"/>
          </a:p>
        </p:txBody>
      </p:sp>
      <p:sp>
        <p:nvSpPr>
          <p:cNvPr id="20" name="Rectangle: Rounded Corners 19">
            <a:extLst>
              <a:ext uri="{FF2B5EF4-FFF2-40B4-BE49-F238E27FC236}">
                <a16:creationId xmlns:a16="http://schemas.microsoft.com/office/drawing/2014/main" id="{9636E738-4883-4188-8644-715D34AB6577}"/>
              </a:ext>
            </a:extLst>
          </p:cNvPr>
          <p:cNvSpPr/>
          <p:nvPr/>
        </p:nvSpPr>
        <p:spPr>
          <a:xfrm>
            <a:off x="704849"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Role</a:t>
            </a:r>
          </a:p>
        </p:txBody>
      </p:sp>
      <p:sp>
        <p:nvSpPr>
          <p:cNvPr id="21" name="Rectangle: Rounded Corners 20">
            <a:extLst>
              <a:ext uri="{FF2B5EF4-FFF2-40B4-BE49-F238E27FC236}">
                <a16:creationId xmlns:a16="http://schemas.microsoft.com/office/drawing/2014/main" id="{515ACE72-E054-4936-AC3A-44D17AFA81A5}"/>
              </a:ext>
            </a:extLst>
          </p:cNvPr>
          <p:cNvSpPr/>
          <p:nvPr/>
        </p:nvSpPr>
        <p:spPr>
          <a:xfrm>
            <a:off x="2562408"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Topic</a:t>
            </a:r>
          </a:p>
        </p:txBody>
      </p:sp>
      <p:sp>
        <p:nvSpPr>
          <p:cNvPr id="22" name="Rectangle: Rounded Corners 21">
            <a:extLst>
              <a:ext uri="{FF2B5EF4-FFF2-40B4-BE49-F238E27FC236}">
                <a16:creationId xmlns:a16="http://schemas.microsoft.com/office/drawing/2014/main" id="{68873074-6A72-4D1D-AE3A-40F42EDBC822}"/>
              </a:ext>
            </a:extLst>
          </p:cNvPr>
          <p:cNvSpPr/>
          <p:nvPr/>
        </p:nvSpPr>
        <p:spPr>
          <a:xfrm>
            <a:off x="4419967"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Output</a:t>
            </a:r>
          </a:p>
        </p:txBody>
      </p:sp>
      <p:sp>
        <p:nvSpPr>
          <p:cNvPr id="23" name="Rectangle: Rounded Corners 22">
            <a:extLst>
              <a:ext uri="{FF2B5EF4-FFF2-40B4-BE49-F238E27FC236}">
                <a16:creationId xmlns:a16="http://schemas.microsoft.com/office/drawing/2014/main" id="{DDEE4656-D2A5-4E26-888E-047F0224B1DA}"/>
              </a:ext>
            </a:extLst>
          </p:cNvPr>
          <p:cNvSpPr/>
          <p:nvPr/>
        </p:nvSpPr>
        <p:spPr>
          <a:xfrm>
            <a:off x="6277526"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Tokens</a:t>
            </a:r>
          </a:p>
        </p:txBody>
      </p:sp>
      <p:sp>
        <p:nvSpPr>
          <p:cNvPr id="24" name="Rectangle: Rounded Corners 23">
            <a:extLst>
              <a:ext uri="{FF2B5EF4-FFF2-40B4-BE49-F238E27FC236}">
                <a16:creationId xmlns:a16="http://schemas.microsoft.com/office/drawing/2014/main" id="{981644BD-A076-4196-9A09-25E503DAC7A7}"/>
              </a:ext>
            </a:extLst>
          </p:cNvPr>
          <p:cNvSpPr/>
          <p:nvPr/>
        </p:nvSpPr>
        <p:spPr>
          <a:xfrm>
            <a:off x="8135084"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Structure</a:t>
            </a:r>
          </a:p>
        </p:txBody>
      </p:sp>
      <p:sp>
        <p:nvSpPr>
          <p:cNvPr id="25" name="Rectangle: Rounded Corners 24">
            <a:extLst>
              <a:ext uri="{FF2B5EF4-FFF2-40B4-BE49-F238E27FC236}">
                <a16:creationId xmlns:a16="http://schemas.microsoft.com/office/drawing/2014/main" id="{F1FCDF22-BB2B-46DD-8203-AF58AFBF1BF4}"/>
              </a:ext>
            </a:extLst>
          </p:cNvPr>
          <p:cNvSpPr/>
          <p:nvPr/>
        </p:nvSpPr>
        <p:spPr>
          <a:xfrm>
            <a:off x="710603" y="457962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Audience</a:t>
            </a:r>
          </a:p>
        </p:txBody>
      </p:sp>
      <p:sp>
        <p:nvSpPr>
          <p:cNvPr id="26" name="Rectangle: Rounded Corners 25">
            <a:extLst>
              <a:ext uri="{FF2B5EF4-FFF2-40B4-BE49-F238E27FC236}">
                <a16:creationId xmlns:a16="http://schemas.microsoft.com/office/drawing/2014/main" id="{6A7AD4ED-70B2-49BC-BD64-EAC985FA30E0}"/>
              </a:ext>
            </a:extLst>
          </p:cNvPr>
          <p:cNvSpPr/>
          <p:nvPr/>
        </p:nvSpPr>
        <p:spPr>
          <a:xfrm>
            <a:off x="2568162" y="457962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Document</a:t>
            </a:r>
          </a:p>
        </p:txBody>
      </p:sp>
      <p:sp>
        <p:nvSpPr>
          <p:cNvPr id="27" name="Rectangle: Rounded Corners 26">
            <a:extLst>
              <a:ext uri="{FF2B5EF4-FFF2-40B4-BE49-F238E27FC236}">
                <a16:creationId xmlns:a16="http://schemas.microsoft.com/office/drawing/2014/main" id="{B675786B-41D1-4649-8ED8-239F20DE17BB}"/>
              </a:ext>
            </a:extLst>
          </p:cNvPr>
          <p:cNvSpPr/>
          <p:nvPr/>
        </p:nvSpPr>
        <p:spPr>
          <a:xfrm>
            <a:off x="4425721" y="457962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Examples</a:t>
            </a:r>
          </a:p>
        </p:txBody>
      </p:sp>
      <p:sp>
        <p:nvSpPr>
          <p:cNvPr id="28" name="Rectangle: Rounded Corners 27">
            <a:extLst>
              <a:ext uri="{FF2B5EF4-FFF2-40B4-BE49-F238E27FC236}">
                <a16:creationId xmlns:a16="http://schemas.microsoft.com/office/drawing/2014/main" id="{714F7CD6-50D4-4A77-86EC-4E72FF7613D5}"/>
              </a:ext>
            </a:extLst>
          </p:cNvPr>
          <p:cNvSpPr/>
          <p:nvPr/>
        </p:nvSpPr>
        <p:spPr>
          <a:xfrm>
            <a:off x="6283280" y="4579623"/>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Length</a:t>
            </a:r>
          </a:p>
        </p:txBody>
      </p:sp>
      <p:sp>
        <p:nvSpPr>
          <p:cNvPr id="29" name="Rectangle: Rounded Corners 28">
            <a:extLst>
              <a:ext uri="{FF2B5EF4-FFF2-40B4-BE49-F238E27FC236}">
                <a16:creationId xmlns:a16="http://schemas.microsoft.com/office/drawing/2014/main" id="{446AF5B4-4A42-4AA1-95BB-E6D48ED0821C}"/>
              </a:ext>
            </a:extLst>
          </p:cNvPr>
          <p:cNvSpPr/>
          <p:nvPr/>
        </p:nvSpPr>
        <p:spPr>
          <a:xfrm>
            <a:off x="8140838" y="4561699"/>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Format</a:t>
            </a:r>
          </a:p>
        </p:txBody>
      </p:sp>
      <p:sp>
        <p:nvSpPr>
          <p:cNvPr id="30" name="Rectangle: Rounded Corners 29">
            <a:extLst>
              <a:ext uri="{FF2B5EF4-FFF2-40B4-BE49-F238E27FC236}">
                <a16:creationId xmlns:a16="http://schemas.microsoft.com/office/drawing/2014/main" id="{DAF519C5-61DC-4D17-B358-C26272DDAF09}"/>
              </a:ext>
            </a:extLst>
          </p:cNvPr>
          <p:cNvSpPr/>
          <p:nvPr/>
        </p:nvSpPr>
        <p:spPr>
          <a:xfrm>
            <a:off x="10042167" y="1844899"/>
            <a:ext cx="1736552" cy="731318"/>
          </a:xfrm>
          <a:prstGeom prst="roundRect">
            <a:avLst/>
          </a:prstGeom>
          <a:solidFill>
            <a:schemeClr val="tx1">
              <a:lumMod val="50000"/>
              <a:lumOff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Constraints</a:t>
            </a:r>
          </a:p>
        </p:txBody>
      </p:sp>
      <p:sp>
        <p:nvSpPr>
          <p:cNvPr id="3" name="Rectangle: Rounded Corners 23">
            <a:extLst>
              <a:ext uri="{FF2B5EF4-FFF2-40B4-BE49-F238E27FC236}">
                <a16:creationId xmlns:a16="http://schemas.microsoft.com/office/drawing/2014/main" id="{1945A44C-94CE-B5C9-00CE-5AF89F5647F3}"/>
              </a:ext>
            </a:extLst>
          </p:cNvPr>
          <p:cNvSpPr/>
          <p:nvPr/>
        </p:nvSpPr>
        <p:spPr>
          <a:xfrm>
            <a:off x="9992020" y="37115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Exclusions</a:t>
            </a:r>
          </a:p>
        </p:txBody>
      </p:sp>
      <p:sp>
        <p:nvSpPr>
          <p:cNvPr id="4" name="Rectangle: Rounded Corners 28">
            <a:extLst>
              <a:ext uri="{FF2B5EF4-FFF2-40B4-BE49-F238E27FC236}">
                <a16:creationId xmlns:a16="http://schemas.microsoft.com/office/drawing/2014/main" id="{196BBC0A-76C5-951A-2E2C-30AFF049BB65}"/>
              </a:ext>
            </a:extLst>
          </p:cNvPr>
          <p:cNvSpPr/>
          <p:nvPr/>
        </p:nvSpPr>
        <p:spPr>
          <a:xfrm>
            <a:off x="9997774" y="4561699"/>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Boundaries</a:t>
            </a:r>
          </a:p>
        </p:txBody>
      </p:sp>
    </p:spTree>
    <p:extLst>
      <p:ext uri="{BB962C8B-B14F-4D97-AF65-F5344CB8AC3E}">
        <p14:creationId xmlns:p14="http://schemas.microsoft.com/office/powerpoint/2010/main" val="126457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60BD508-7842-445A-A7ED-5C0D49641094}"/>
              </a:ext>
            </a:extLst>
          </p:cNvPr>
          <p:cNvSpPr>
            <a:spLocks noGrp="1"/>
          </p:cNvSpPr>
          <p:nvPr>
            <p:ph type="sldNum" idx="97"/>
          </p:nvPr>
        </p:nvSpPr>
        <p:spPr/>
        <p:txBody>
          <a:bodyPr anchor="ctr">
            <a:normAutofit/>
          </a:bodyPr>
          <a:lstStyle/>
          <a:p>
            <a:pPr>
              <a:spcAft>
                <a:spcPts val="600"/>
              </a:spcAft>
            </a:pPr>
            <a:fld id="{930176A1-BCF0-4712-97A6-6B495F55390B}" type="slidenum">
              <a:rPr lang="en-US" smtClean="0"/>
              <a:pPr>
                <a:spcAft>
                  <a:spcPts val="600"/>
                </a:spcAft>
              </a:pPr>
              <a:t>11</a:t>
            </a:fld>
            <a:endParaRPr lang="en-US"/>
          </a:p>
        </p:txBody>
      </p:sp>
      <p:sp>
        <p:nvSpPr>
          <p:cNvPr id="4" name="Title">
            <a:extLst>
              <a:ext uri="{FF2B5EF4-FFF2-40B4-BE49-F238E27FC236}">
                <a16:creationId xmlns:a16="http://schemas.microsoft.com/office/drawing/2014/main" id="{8C4AB27F-91E7-4EAC-B359-34AB9EF81D58}"/>
              </a:ext>
            </a:extLst>
          </p:cNvPr>
          <p:cNvSpPr>
            <a:spLocks noGrp="1"/>
          </p:cNvSpPr>
          <p:nvPr>
            <p:ph type="title" idx="1"/>
          </p:nvPr>
        </p:nvSpPr>
        <p:spPr/>
        <p:txBody>
          <a:bodyPr anchor="ctr">
            <a:normAutofit/>
          </a:bodyPr>
          <a:lstStyle/>
          <a:p>
            <a:r>
              <a:rPr lang="en-US" dirty="0"/>
              <a:t>Components and elements of prompt engineering</a:t>
            </a:r>
          </a:p>
        </p:txBody>
      </p:sp>
      <p:sp>
        <p:nvSpPr>
          <p:cNvPr id="5" name="Rectangle: Rounded Corners 4">
            <a:extLst>
              <a:ext uri="{FF2B5EF4-FFF2-40B4-BE49-F238E27FC236}">
                <a16:creationId xmlns:a16="http://schemas.microsoft.com/office/drawing/2014/main" id="{A7B164CD-ED41-43C8-861E-B672150A7652}"/>
              </a:ext>
            </a:extLst>
          </p:cNvPr>
          <p:cNvSpPr/>
          <p:nvPr/>
        </p:nvSpPr>
        <p:spPr>
          <a:xfrm>
            <a:off x="445824" y="1246135"/>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Role</a:t>
            </a:r>
          </a:p>
        </p:txBody>
      </p:sp>
      <p:sp>
        <p:nvSpPr>
          <p:cNvPr id="11" name="Rectangle: Rounded Corners 10">
            <a:extLst>
              <a:ext uri="{FF2B5EF4-FFF2-40B4-BE49-F238E27FC236}">
                <a16:creationId xmlns:a16="http://schemas.microsoft.com/office/drawing/2014/main" id="{B32A5B35-9D18-4005-8B12-DC636B88022A}"/>
              </a:ext>
            </a:extLst>
          </p:cNvPr>
          <p:cNvSpPr/>
          <p:nvPr/>
        </p:nvSpPr>
        <p:spPr>
          <a:xfrm>
            <a:off x="445824" y="2604450"/>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Task</a:t>
            </a:r>
          </a:p>
        </p:txBody>
      </p:sp>
      <p:sp>
        <p:nvSpPr>
          <p:cNvPr id="12" name="Rectangle: Rounded Corners 11">
            <a:extLst>
              <a:ext uri="{FF2B5EF4-FFF2-40B4-BE49-F238E27FC236}">
                <a16:creationId xmlns:a16="http://schemas.microsoft.com/office/drawing/2014/main" id="{84B34D7B-EF16-448B-9406-FD4DF5E15A58}"/>
              </a:ext>
            </a:extLst>
          </p:cNvPr>
          <p:cNvSpPr/>
          <p:nvPr/>
        </p:nvSpPr>
        <p:spPr>
          <a:xfrm>
            <a:off x="445823" y="4232248"/>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t>
            </a:r>
          </a:p>
        </p:txBody>
      </p:sp>
      <p:sp>
        <p:nvSpPr>
          <p:cNvPr id="13" name="Rectangle: Rounded Corners 12">
            <a:extLst>
              <a:ext uri="{FF2B5EF4-FFF2-40B4-BE49-F238E27FC236}">
                <a16:creationId xmlns:a16="http://schemas.microsoft.com/office/drawing/2014/main" id="{9555F5E0-E3E6-4239-A850-368D5C3A6EC2}"/>
              </a:ext>
            </a:extLst>
          </p:cNvPr>
          <p:cNvSpPr/>
          <p:nvPr/>
        </p:nvSpPr>
        <p:spPr>
          <a:xfrm>
            <a:off x="445822" y="5604876"/>
            <a:ext cx="1736552" cy="73131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Output</a:t>
            </a:r>
          </a:p>
        </p:txBody>
      </p:sp>
      <p:cxnSp>
        <p:nvCxnSpPr>
          <p:cNvPr id="10" name="Straight Connector 9">
            <a:extLst>
              <a:ext uri="{FF2B5EF4-FFF2-40B4-BE49-F238E27FC236}">
                <a16:creationId xmlns:a16="http://schemas.microsoft.com/office/drawing/2014/main" id="{C6644688-AFB5-4C19-B89C-52696274D813}"/>
              </a:ext>
              <a:ext uri="{C183D7F6-B498-43B3-948B-1728B52AA6E4}">
                <adec:decorative xmlns:adec="http://schemas.microsoft.com/office/drawing/2017/decorative" val="1"/>
              </a:ext>
            </a:extLst>
          </p:cNvPr>
          <p:cNvCxnSpPr>
            <a:cxnSpLocks/>
          </p:cNvCxnSpPr>
          <p:nvPr/>
        </p:nvCxnSpPr>
        <p:spPr>
          <a:xfrm>
            <a:off x="2202348" y="5970535"/>
            <a:ext cx="630612" cy="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28D133-0662-4C35-9D9C-7EA647D52CF0}"/>
              </a:ext>
              <a:ext uri="{C183D7F6-B498-43B3-948B-1728B52AA6E4}">
                <adec:decorative xmlns:adec="http://schemas.microsoft.com/office/drawing/2017/decorative" val="1"/>
              </a:ext>
            </a:extLst>
          </p:cNvPr>
          <p:cNvCxnSpPr>
            <a:cxnSpLocks/>
          </p:cNvCxnSpPr>
          <p:nvPr/>
        </p:nvCxnSpPr>
        <p:spPr>
          <a:xfrm>
            <a:off x="2202348" y="4597907"/>
            <a:ext cx="630612" cy="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2309760-C371-449C-8F7D-81E51CD2E44C}"/>
              </a:ext>
              <a:ext uri="{C183D7F6-B498-43B3-948B-1728B52AA6E4}">
                <adec:decorative xmlns:adec="http://schemas.microsoft.com/office/drawing/2017/decorative" val="1"/>
              </a:ext>
            </a:extLst>
          </p:cNvPr>
          <p:cNvCxnSpPr>
            <a:cxnSpLocks/>
          </p:cNvCxnSpPr>
          <p:nvPr/>
        </p:nvCxnSpPr>
        <p:spPr>
          <a:xfrm>
            <a:off x="2202348" y="2918160"/>
            <a:ext cx="630612" cy="0"/>
          </a:xfrm>
          <a:prstGeom prst="line">
            <a:avLst/>
          </a:prstGeom>
          <a:ln>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09CEF79-C14D-4C4D-A670-7597949B6ED8}"/>
              </a:ext>
              <a:ext uri="{C183D7F6-B498-43B3-948B-1728B52AA6E4}">
                <adec:decorative xmlns:adec="http://schemas.microsoft.com/office/drawing/2017/decorative" val="1"/>
              </a:ext>
            </a:extLst>
          </p:cNvPr>
          <p:cNvCxnSpPr>
            <a:cxnSpLocks/>
          </p:cNvCxnSpPr>
          <p:nvPr/>
        </p:nvCxnSpPr>
        <p:spPr>
          <a:xfrm>
            <a:off x="2202348" y="1611794"/>
            <a:ext cx="630612" cy="0"/>
          </a:xfrm>
          <a:prstGeom prst="line">
            <a:avLst/>
          </a:prstGeom>
          <a:ln>
            <a:tailEnd type="ova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5599B36-62DA-4541-ACBA-0431E016B17B}"/>
              </a:ext>
            </a:extLst>
          </p:cNvPr>
          <p:cNvSpPr/>
          <p:nvPr/>
        </p:nvSpPr>
        <p:spPr>
          <a:xfrm>
            <a:off x="3047358" y="1303868"/>
            <a:ext cx="6096000" cy="646331"/>
          </a:xfrm>
          <a:prstGeom prst="rect">
            <a:avLst/>
          </a:prstGeom>
        </p:spPr>
        <p:txBody>
          <a:bodyPr>
            <a:spAutoFit/>
          </a:bodyPr>
          <a:lstStyle/>
          <a:p>
            <a:r>
              <a:rPr lang="en-US" dirty="0"/>
              <a:t>You are an experienced business process analyst specializing in supply chain optimization. </a:t>
            </a:r>
          </a:p>
        </p:txBody>
      </p:sp>
      <p:sp>
        <p:nvSpPr>
          <p:cNvPr id="23" name="Rectangle 22">
            <a:extLst>
              <a:ext uri="{FF2B5EF4-FFF2-40B4-BE49-F238E27FC236}">
                <a16:creationId xmlns:a16="http://schemas.microsoft.com/office/drawing/2014/main" id="{4202E07A-A615-4089-A837-C263E67FAC73}"/>
              </a:ext>
            </a:extLst>
          </p:cNvPr>
          <p:cNvSpPr/>
          <p:nvPr/>
        </p:nvSpPr>
        <p:spPr>
          <a:xfrm>
            <a:off x="3047358" y="2162591"/>
            <a:ext cx="5861628" cy="1477328"/>
          </a:xfrm>
          <a:prstGeom prst="rect">
            <a:avLst/>
          </a:prstGeom>
        </p:spPr>
        <p:txBody>
          <a:bodyPr wrap="square">
            <a:spAutoFit/>
          </a:bodyPr>
          <a:lstStyle/>
          <a:p>
            <a:r>
              <a:rPr lang="en-US" dirty="0"/>
              <a:t>Your task is to review and improve the current inventory management process for a mid-sized manufacturing company. Please provide a detailed analysis and improvement plan for executives based on the following information: INSERT DATA</a:t>
            </a:r>
          </a:p>
        </p:txBody>
      </p:sp>
      <p:sp>
        <p:nvSpPr>
          <p:cNvPr id="25" name="Rectangle 24">
            <a:extLst>
              <a:ext uri="{FF2B5EF4-FFF2-40B4-BE49-F238E27FC236}">
                <a16:creationId xmlns:a16="http://schemas.microsoft.com/office/drawing/2014/main" id="{A117F7C1-2F6A-4066-A990-E5182C683D66}"/>
              </a:ext>
            </a:extLst>
          </p:cNvPr>
          <p:cNvSpPr/>
          <p:nvPr/>
        </p:nvSpPr>
        <p:spPr>
          <a:xfrm>
            <a:off x="3047358" y="5789119"/>
            <a:ext cx="5703806" cy="369332"/>
          </a:xfrm>
          <a:prstGeom prst="rect">
            <a:avLst/>
          </a:prstGeom>
        </p:spPr>
        <p:txBody>
          <a:bodyPr wrap="none">
            <a:spAutoFit/>
          </a:bodyPr>
          <a:lstStyle/>
          <a:p>
            <a:r>
              <a:rPr lang="en-US" dirty="0"/>
              <a:t>Include bullet points and text formatting markdown.</a:t>
            </a:r>
          </a:p>
        </p:txBody>
      </p:sp>
      <p:sp>
        <p:nvSpPr>
          <p:cNvPr id="26" name="Rectangle 25">
            <a:extLst>
              <a:ext uri="{FF2B5EF4-FFF2-40B4-BE49-F238E27FC236}">
                <a16:creationId xmlns:a16="http://schemas.microsoft.com/office/drawing/2014/main" id="{F537E74D-5B96-4120-A0A4-4AB21218357D}"/>
              </a:ext>
            </a:extLst>
          </p:cNvPr>
          <p:cNvSpPr/>
          <p:nvPr/>
        </p:nvSpPr>
        <p:spPr>
          <a:xfrm>
            <a:off x="3047358" y="3792791"/>
            <a:ext cx="6096000" cy="1754326"/>
          </a:xfrm>
          <a:prstGeom prst="rect">
            <a:avLst/>
          </a:prstGeom>
        </p:spPr>
        <p:txBody>
          <a:bodyPr>
            <a:spAutoFit/>
          </a:bodyPr>
          <a:lstStyle/>
          <a:p>
            <a:r>
              <a:rPr lang="en-US" dirty="0"/>
              <a:t>In your response, include the following sections:</a:t>
            </a:r>
          </a:p>
          <a:p>
            <a:r>
              <a:rPr lang="en-US" dirty="0"/>
              <a:t>1. Process Overview</a:t>
            </a:r>
          </a:p>
          <a:p>
            <a:r>
              <a:rPr lang="en-US" dirty="0"/>
              <a:t>2. Pain Points Analysis</a:t>
            </a:r>
          </a:p>
          <a:p>
            <a:r>
              <a:rPr lang="en-US" dirty="0"/>
              <a:t>3. Improvement Recommendations</a:t>
            </a:r>
          </a:p>
          <a:p>
            <a:r>
              <a:rPr lang="en-US" dirty="0"/>
              <a:t>4. Implementation Plan</a:t>
            </a:r>
          </a:p>
          <a:p>
            <a:r>
              <a:rPr lang="en-US" dirty="0"/>
              <a:t>5. Expected Outcomes</a:t>
            </a:r>
          </a:p>
        </p:txBody>
      </p:sp>
      <p:sp>
        <p:nvSpPr>
          <p:cNvPr id="3" name="Rectangle 2">
            <a:extLst>
              <a:ext uri="{FF2B5EF4-FFF2-40B4-BE49-F238E27FC236}">
                <a16:creationId xmlns:a16="http://schemas.microsoft.com/office/drawing/2014/main" id="{CE3E0172-1C4C-457E-BEEE-BA906485CC81}"/>
              </a:ext>
            </a:extLst>
          </p:cNvPr>
          <p:cNvSpPr/>
          <p:nvPr/>
        </p:nvSpPr>
        <p:spPr>
          <a:xfrm>
            <a:off x="8908986" y="1246135"/>
            <a:ext cx="2837190" cy="4912316"/>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232F3E"/>
                </a:solidFill>
              </a:rPr>
              <a:t>Can you identify the elements?</a:t>
            </a:r>
          </a:p>
        </p:txBody>
      </p:sp>
    </p:spTree>
    <p:custDataLst>
      <p:tags r:id="rId1"/>
    </p:custDataLst>
    <p:extLst>
      <p:ext uri="{BB962C8B-B14F-4D97-AF65-F5344CB8AC3E}">
        <p14:creationId xmlns:p14="http://schemas.microsoft.com/office/powerpoint/2010/main" val="1344577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5ECFF8D-1104-4D19-A6FB-87AA9CAAC81E}"/>
              </a:ext>
            </a:extLst>
          </p:cNvPr>
          <p:cNvSpPr>
            <a:spLocks noGrp="1"/>
          </p:cNvSpPr>
          <p:nvPr>
            <p:ph type="sldNum" idx="97"/>
          </p:nvPr>
        </p:nvSpPr>
        <p:spPr/>
        <p:txBody>
          <a:bodyPr/>
          <a:lstStyle/>
          <a:p>
            <a:fld id="{4037B1B0-0345-4E15-985A-6BECCDBE474F}" type="slidenum">
              <a:rPr lang="en-US" smtClean="0"/>
              <a:pPr/>
              <a:t>12</a:t>
            </a:fld>
            <a:endParaRPr lang="en-US" dirty="0"/>
          </a:p>
        </p:txBody>
      </p:sp>
      <p:sp>
        <p:nvSpPr>
          <p:cNvPr id="3" name="Title">
            <a:extLst>
              <a:ext uri="{FF2B5EF4-FFF2-40B4-BE49-F238E27FC236}">
                <a16:creationId xmlns:a16="http://schemas.microsoft.com/office/drawing/2014/main" id="{8A815527-D0CD-4E54-B3D0-D6DBA02FB835}"/>
              </a:ext>
            </a:extLst>
          </p:cNvPr>
          <p:cNvSpPr>
            <a:spLocks noGrp="1"/>
          </p:cNvSpPr>
          <p:nvPr>
            <p:ph type="title" idx="1"/>
          </p:nvPr>
        </p:nvSpPr>
        <p:spPr/>
        <p:txBody>
          <a:bodyPr/>
          <a:lstStyle/>
          <a:p>
            <a:r>
              <a:rPr lang="en-US" dirty="0"/>
              <a:t>Common questions</a:t>
            </a:r>
          </a:p>
        </p:txBody>
      </p:sp>
      <p:sp>
        <p:nvSpPr>
          <p:cNvPr id="16" name="Text Placeholder 15">
            <a:extLst>
              <a:ext uri="{FF2B5EF4-FFF2-40B4-BE49-F238E27FC236}">
                <a16:creationId xmlns:a16="http://schemas.microsoft.com/office/drawing/2014/main" id="{31458F02-68ED-48C1-B8D1-DCAB6B933B02}"/>
              </a:ext>
            </a:extLst>
          </p:cNvPr>
          <p:cNvSpPr>
            <a:spLocks noGrp="1"/>
          </p:cNvSpPr>
          <p:nvPr>
            <p:ph type="body" idx="3"/>
          </p:nvPr>
        </p:nvSpPr>
        <p:spPr/>
        <p:txBody>
          <a:bodyPr/>
          <a:lstStyle/>
          <a:p>
            <a:r>
              <a:rPr lang="en-US" dirty="0"/>
              <a:t>Do I need to include all the prompt elements and components in each prompt?</a:t>
            </a:r>
          </a:p>
          <a:p>
            <a:r>
              <a:rPr lang="en-US" dirty="0"/>
              <a:t>Will the same prompt work the same with different foundation models?</a:t>
            </a:r>
          </a:p>
          <a:p>
            <a:r>
              <a:rPr lang="en-US" dirty="0"/>
              <a:t>Why do I get different responses sometimes when I run a prompt?</a:t>
            </a:r>
          </a:p>
          <a:p>
            <a:endParaRPr lang="en-US" dirty="0"/>
          </a:p>
        </p:txBody>
      </p:sp>
    </p:spTree>
    <p:extLst>
      <p:ext uri="{BB962C8B-B14F-4D97-AF65-F5344CB8AC3E}">
        <p14:creationId xmlns:p14="http://schemas.microsoft.com/office/powerpoint/2010/main" val="3512744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F409C60-F71D-403C-9AF3-24E78CEAFB2A}"/>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a:extLst>
              <a:ext uri="{FF2B5EF4-FFF2-40B4-BE49-F238E27FC236}">
                <a16:creationId xmlns:a16="http://schemas.microsoft.com/office/drawing/2014/main" id="{9193C9AD-7CB3-42EE-BEFC-B9FF974BCF24}"/>
              </a:ext>
            </a:extLst>
          </p:cNvPr>
          <p:cNvSpPr>
            <a:spLocks noGrp="1"/>
          </p:cNvSpPr>
          <p:nvPr>
            <p:ph type="title" idx="1"/>
          </p:nvPr>
        </p:nvSpPr>
        <p:spPr/>
        <p:txBody>
          <a:bodyPr/>
          <a:lstStyle/>
          <a:p>
            <a:r>
              <a:rPr lang="en-US" dirty="0"/>
              <a:t>Prompt example 1</a:t>
            </a:r>
          </a:p>
        </p:txBody>
      </p:sp>
      <p:sp>
        <p:nvSpPr>
          <p:cNvPr id="4" name="Content Placeholder 3">
            <a:extLst>
              <a:ext uri="{FF2B5EF4-FFF2-40B4-BE49-F238E27FC236}">
                <a16:creationId xmlns:a16="http://schemas.microsoft.com/office/drawing/2014/main" id="{756D18F2-EDDF-4161-919A-1576D086D797}"/>
              </a:ext>
            </a:extLst>
          </p:cNvPr>
          <p:cNvSpPr>
            <a:spLocks noGrp="1"/>
          </p:cNvSpPr>
          <p:nvPr>
            <p:ph type="body" idx="2"/>
          </p:nvPr>
        </p:nvSpPr>
        <p:spPr>
          <a:xfrm>
            <a:off x="365760" y="1097280"/>
            <a:ext cx="4373294" cy="5330952"/>
          </a:xfrm>
        </p:spPr>
        <p:txBody>
          <a:bodyPr/>
          <a:lstStyle/>
          <a:p>
            <a:r>
              <a:rPr lang="en-US" sz="2000" b="1" dirty="0">
                <a:effectLst/>
                <a:latin typeface="+mn-lt"/>
              </a:rPr>
              <a:t>Bad prompt:</a:t>
            </a:r>
          </a:p>
          <a:p>
            <a:endParaRPr lang="en-US" sz="2000" b="1" dirty="0">
              <a:effectLst/>
            </a:endParaRPr>
          </a:p>
          <a:p>
            <a:r>
              <a:rPr lang="en-US" sz="2000" dirty="0">
                <a:effectLst/>
              </a:rPr>
              <a:t>Write a market analysis doc.</a:t>
            </a:r>
          </a:p>
        </p:txBody>
      </p:sp>
      <p:sp>
        <p:nvSpPr>
          <p:cNvPr id="5" name="Text Placeholder 4">
            <a:extLst>
              <a:ext uri="{FF2B5EF4-FFF2-40B4-BE49-F238E27FC236}">
                <a16:creationId xmlns:a16="http://schemas.microsoft.com/office/drawing/2014/main" id="{B90F1702-02DF-4DBE-AC52-E77D7EAFC658}"/>
              </a:ext>
            </a:extLst>
          </p:cNvPr>
          <p:cNvSpPr>
            <a:spLocks noGrp="1"/>
          </p:cNvSpPr>
          <p:nvPr>
            <p:ph type="body" idx="3"/>
          </p:nvPr>
        </p:nvSpPr>
        <p:spPr>
          <a:xfrm>
            <a:off x="4906106" y="1097280"/>
            <a:ext cx="6926229" cy="5330952"/>
          </a:xfrm>
          <a:solidFill>
            <a:schemeClr val="tx2">
              <a:lumMod val="10000"/>
              <a:lumOff val="90000"/>
            </a:schemeClr>
          </a:solidFill>
        </p:spPr>
        <p:txBody>
          <a:bodyPr/>
          <a:lstStyle/>
          <a:p>
            <a:r>
              <a:rPr lang="en-US" sz="2000" b="1" dirty="0">
                <a:effectLst/>
                <a:latin typeface="+mn-lt"/>
              </a:rPr>
              <a:t>Good prompt:</a:t>
            </a:r>
          </a:p>
          <a:p>
            <a:endParaRPr lang="en-US" sz="2000" b="1" dirty="0">
              <a:effectLst/>
            </a:endParaRPr>
          </a:p>
          <a:p>
            <a:r>
              <a:rPr lang="en-US" sz="2000" dirty="0">
                <a:effectLst/>
              </a:rPr>
              <a:t>Provide a comprehensive market analysis, including current impacts and potential future consequences.</a:t>
            </a:r>
          </a:p>
          <a:p>
            <a:endParaRPr lang="en-US" sz="2000" dirty="0"/>
          </a:p>
          <a:p>
            <a:r>
              <a:rPr lang="en-US" sz="2000" dirty="0">
                <a:effectLst/>
              </a:rPr>
              <a:t>Include at least three business use cases. Use data from leading business publications and resources.</a:t>
            </a:r>
          </a:p>
        </p:txBody>
      </p:sp>
    </p:spTree>
    <p:extLst>
      <p:ext uri="{BB962C8B-B14F-4D97-AF65-F5344CB8AC3E}">
        <p14:creationId xmlns:p14="http://schemas.microsoft.com/office/powerpoint/2010/main" val="428160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F409C60-F71D-403C-9AF3-24E78CEAFB2A}"/>
              </a:ext>
            </a:extLst>
          </p:cNvPr>
          <p:cNvSpPr>
            <a:spLocks noGrp="1"/>
          </p:cNvSpPr>
          <p:nvPr>
            <p:ph type="sldNum" idx="97"/>
          </p:nvPr>
        </p:nvSpPr>
        <p:spPr/>
        <p:txBody>
          <a:bodyPr/>
          <a:lstStyle/>
          <a:p>
            <a:fld id="{4037B1B0-0345-4E15-985A-6BECCDBE474F}" type="slidenum">
              <a:rPr lang="en-US" smtClean="0"/>
              <a:pPr/>
              <a:t>14</a:t>
            </a:fld>
            <a:endParaRPr lang="en-US" dirty="0"/>
          </a:p>
        </p:txBody>
      </p:sp>
      <p:sp>
        <p:nvSpPr>
          <p:cNvPr id="3" name="Title">
            <a:extLst>
              <a:ext uri="{FF2B5EF4-FFF2-40B4-BE49-F238E27FC236}">
                <a16:creationId xmlns:a16="http://schemas.microsoft.com/office/drawing/2014/main" id="{9193C9AD-7CB3-42EE-BEFC-B9FF974BCF24}"/>
              </a:ext>
            </a:extLst>
          </p:cNvPr>
          <p:cNvSpPr>
            <a:spLocks noGrp="1"/>
          </p:cNvSpPr>
          <p:nvPr>
            <p:ph type="title" idx="1"/>
          </p:nvPr>
        </p:nvSpPr>
        <p:spPr/>
        <p:txBody>
          <a:bodyPr/>
          <a:lstStyle/>
          <a:p>
            <a:r>
              <a:rPr lang="en-US" dirty="0"/>
              <a:t>Prompt example 2</a:t>
            </a:r>
          </a:p>
        </p:txBody>
      </p:sp>
      <p:sp>
        <p:nvSpPr>
          <p:cNvPr id="4" name="Content Placeholder 3">
            <a:extLst>
              <a:ext uri="{FF2B5EF4-FFF2-40B4-BE49-F238E27FC236}">
                <a16:creationId xmlns:a16="http://schemas.microsoft.com/office/drawing/2014/main" id="{756D18F2-EDDF-4161-919A-1576D086D797}"/>
              </a:ext>
            </a:extLst>
          </p:cNvPr>
          <p:cNvSpPr>
            <a:spLocks noGrp="1"/>
          </p:cNvSpPr>
          <p:nvPr>
            <p:ph type="body" idx="2"/>
          </p:nvPr>
        </p:nvSpPr>
        <p:spPr>
          <a:xfrm>
            <a:off x="365760" y="1097280"/>
            <a:ext cx="4496386" cy="5330952"/>
          </a:xfrm>
        </p:spPr>
        <p:txBody>
          <a:bodyPr/>
          <a:lstStyle/>
          <a:p>
            <a:r>
              <a:rPr lang="en-US" sz="2000" b="1" dirty="0">
                <a:latin typeface="+mn-lt"/>
              </a:rPr>
              <a:t>Good prompt</a:t>
            </a:r>
            <a:r>
              <a:rPr lang="en-US" sz="2000" b="1" dirty="0">
                <a:effectLst/>
                <a:latin typeface="+mn-lt"/>
              </a:rPr>
              <a:t>: </a:t>
            </a:r>
          </a:p>
          <a:p>
            <a:endParaRPr lang="en-US" b="1" dirty="0">
              <a:effectLst/>
            </a:endParaRPr>
          </a:p>
          <a:p>
            <a:r>
              <a:rPr lang="en-US" sz="1800" dirty="0">
                <a:effectLst/>
              </a:rPr>
              <a:t>Provide a comprehensive market analysis, including current impacts and potential future consequences.</a:t>
            </a:r>
          </a:p>
          <a:p>
            <a:endParaRPr lang="en-US" sz="1800" dirty="0"/>
          </a:p>
          <a:p>
            <a:r>
              <a:rPr lang="en-US" sz="1800" dirty="0">
                <a:effectLst/>
              </a:rPr>
              <a:t>Include at least three business use cases. Use data from leading business publications and resources.</a:t>
            </a:r>
          </a:p>
          <a:p>
            <a:endParaRPr lang="en-US" dirty="0">
              <a:effectLst/>
            </a:endParaRPr>
          </a:p>
        </p:txBody>
      </p:sp>
      <p:sp>
        <p:nvSpPr>
          <p:cNvPr id="5" name="Text Placeholder 4">
            <a:extLst>
              <a:ext uri="{FF2B5EF4-FFF2-40B4-BE49-F238E27FC236}">
                <a16:creationId xmlns:a16="http://schemas.microsoft.com/office/drawing/2014/main" id="{B90F1702-02DF-4DBE-AC52-E77D7EAFC658}"/>
              </a:ext>
            </a:extLst>
          </p:cNvPr>
          <p:cNvSpPr>
            <a:spLocks noGrp="1"/>
          </p:cNvSpPr>
          <p:nvPr>
            <p:ph type="body" idx="3"/>
          </p:nvPr>
        </p:nvSpPr>
        <p:spPr>
          <a:xfrm>
            <a:off x="4906108" y="1097280"/>
            <a:ext cx="6926228" cy="5330952"/>
          </a:xfrm>
          <a:solidFill>
            <a:schemeClr val="accent3">
              <a:lumMod val="40000"/>
              <a:lumOff val="60000"/>
            </a:schemeClr>
          </a:solidFill>
        </p:spPr>
        <p:txBody>
          <a:bodyPr/>
          <a:lstStyle/>
          <a:p>
            <a:r>
              <a:rPr lang="en-US" sz="2000" b="1" dirty="0">
                <a:latin typeface="+mn-lt"/>
              </a:rPr>
              <a:t>Better prompt</a:t>
            </a:r>
            <a:r>
              <a:rPr lang="en-US" sz="2000" b="1" dirty="0">
                <a:effectLst/>
                <a:latin typeface="+mn-lt"/>
              </a:rPr>
              <a:t>:</a:t>
            </a:r>
          </a:p>
          <a:p>
            <a:endParaRPr lang="en-US" b="1" dirty="0">
              <a:effectLst/>
            </a:endParaRPr>
          </a:p>
          <a:p>
            <a:r>
              <a:rPr lang="en-US" sz="1800" dirty="0">
                <a:effectLst/>
              </a:rPr>
              <a:t>[Context]</a:t>
            </a:r>
          </a:p>
          <a:p>
            <a:r>
              <a:rPr lang="en-US" sz="1800" dirty="0">
                <a:effectLst/>
              </a:rPr>
              <a:t>You are an AI assistant with expertise in business strategy and market analysis.</a:t>
            </a:r>
          </a:p>
          <a:p>
            <a:endParaRPr lang="en-US" sz="1800" dirty="0">
              <a:effectLst/>
            </a:endParaRPr>
          </a:p>
          <a:p>
            <a:r>
              <a:rPr lang="en-US" sz="1800" dirty="0">
                <a:effectLst/>
              </a:rPr>
              <a:t>[Task]</a:t>
            </a:r>
          </a:p>
          <a:p>
            <a:r>
              <a:rPr lang="en-US" sz="1800" dirty="0">
                <a:effectLst/>
              </a:rPr>
              <a:t>Analyze the current trends in ecommerce.</a:t>
            </a:r>
          </a:p>
          <a:p>
            <a:endParaRPr lang="en-US" sz="1800" dirty="0">
              <a:effectLst/>
            </a:endParaRPr>
          </a:p>
          <a:p>
            <a:r>
              <a:rPr lang="en-US" sz="1800" dirty="0">
                <a:effectLst/>
              </a:rPr>
              <a:t>[Output Format]</a:t>
            </a:r>
          </a:p>
          <a:p>
            <a:r>
              <a:rPr lang="en-US" sz="1800" dirty="0">
                <a:effectLst/>
              </a:rPr>
              <a:t>Provide a structured response with clear headings and bullet points.</a:t>
            </a:r>
            <a:br>
              <a:rPr lang="en-US" sz="1800" dirty="0">
                <a:effectLst/>
              </a:rPr>
            </a:br>
            <a:endParaRPr lang="en-US" sz="1800" dirty="0">
              <a:effectLst/>
            </a:endParaRPr>
          </a:p>
          <a:p>
            <a:r>
              <a:rPr lang="en-US" sz="1800" dirty="0">
                <a:effectLst/>
              </a:rPr>
              <a:t>[Specific Requirements]</a:t>
            </a:r>
          </a:p>
          <a:p>
            <a:r>
              <a:rPr lang="en-US" sz="1800" dirty="0">
                <a:effectLst/>
              </a:rPr>
              <a:t>- Include at least 3 major trends.</a:t>
            </a:r>
          </a:p>
          <a:p>
            <a:r>
              <a:rPr lang="en-US" sz="1800" dirty="0">
                <a:effectLst/>
              </a:rPr>
              <a:t>- List </a:t>
            </a:r>
            <a:r>
              <a:rPr lang="en-US" sz="1800" dirty="0"/>
              <a:t>associated </a:t>
            </a:r>
            <a:r>
              <a:rPr lang="en-US" sz="1800" dirty="0">
                <a:effectLst/>
              </a:rPr>
              <a:t>impacts.</a:t>
            </a:r>
          </a:p>
          <a:p>
            <a:endParaRPr lang="en-US" sz="1800" dirty="0">
              <a:effectLst/>
            </a:endParaRPr>
          </a:p>
          <a:p>
            <a:r>
              <a:rPr lang="en-US" sz="1800" dirty="0">
                <a:effectLst/>
              </a:rPr>
              <a:t>[Tone]</a:t>
            </a:r>
          </a:p>
          <a:p>
            <a:r>
              <a:rPr lang="en-US" sz="1800" dirty="0">
                <a:effectLst/>
              </a:rPr>
              <a:t>Professional and informative, suitable for business executives.</a:t>
            </a:r>
          </a:p>
          <a:p>
            <a:endParaRPr lang="en-US" dirty="0"/>
          </a:p>
        </p:txBody>
      </p:sp>
    </p:spTree>
    <p:extLst>
      <p:ext uri="{BB962C8B-B14F-4D97-AF65-F5344CB8AC3E}">
        <p14:creationId xmlns:p14="http://schemas.microsoft.com/office/powerpoint/2010/main" val="1257964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F409C60-F71D-403C-9AF3-24E78CEAFB2A}"/>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3" name="Title">
            <a:extLst>
              <a:ext uri="{FF2B5EF4-FFF2-40B4-BE49-F238E27FC236}">
                <a16:creationId xmlns:a16="http://schemas.microsoft.com/office/drawing/2014/main" id="{9193C9AD-7CB3-42EE-BEFC-B9FF974BCF24}"/>
              </a:ext>
            </a:extLst>
          </p:cNvPr>
          <p:cNvSpPr>
            <a:spLocks noGrp="1"/>
          </p:cNvSpPr>
          <p:nvPr>
            <p:ph type="title" idx="1"/>
          </p:nvPr>
        </p:nvSpPr>
        <p:spPr/>
        <p:txBody>
          <a:bodyPr/>
          <a:lstStyle/>
          <a:p>
            <a:r>
              <a:rPr lang="en-US" dirty="0"/>
              <a:t>Prompt example 3</a:t>
            </a:r>
          </a:p>
        </p:txBody>
      </p:sp>
      <p:sp>
        <p:nvSpPr>
          <p:cNvPr id="4" name="Content Placeholder 3">
            <a:extLst>
              <a:ext uri="{FF2B5EF4-FFF2-40B4-BE49-F238E27FC236}">
                <a16:creationId xmlns:a16="http://schemas.microsoft.com/office/drawing/2014/main" id="{756D18F2-EDDF-4161-919A-1576D086D797}"/>
              </a:ext>
            </a:extLst>
          </p:cNvPr>
          <p:cNvSpPr>
            <a:spLocks noGrp="1"/>
          </p:cNvSpPr>
          <p:nvPr>
            <p:ph type="body" idx="2"/>
          </p:nvPr>
        </p:nvSpPr>
        <p:spPr>
          <a:xfrm>
            <a:off x="365760" y="1097280"/>
            <a:ext cx="4417255" cy="5330952"/>
          </a:xfrm>
        </p:spPr>
        <p:txBody>
          <a:bodyPr/>
          <a:lstStyle/>
          <a:p>
            <a:r>
              <a:rPr lang="en-US" sz="2000" b="1" dirty="0">
                <a:latin typeface="+mn-lt"/>
              </a:rPr>
              <a:t>Better prompt:</a:t>
            </a:r>
          </a:p>
          <a:p>
            <a:endParaRPr lang="en-US" b="1" dirty="0"/>
          </a:p>
          <a:p>
            <a:r>
              <a:rPr lang="en-US" dirty="0">
                <a:effectLst/>
              </a:rPr>
              <a:t>[Context]</a:t>
            </a:r>
          </a:p>
          <a:p>
            <a:r>
              <a:rPr lang="en-US" dirty="0">
                <a:effectLst/>
              </a:rPr>
              <a:t>You are an AI assistant with expertise in business strategy and market analysis.</a:t>
            </a:r>
          </a:p>
          <a:p>
            <a:endParaRPr lang="en-US" dirty="0">
              <a:effectLst/>
            </a:endParaRPr>
          </a:p>
          <a:p>
            <a:r>
              <a:rPr lang="en-US" dirty="0">
                <a:effectLst/>
              </a:rPr>
              <a:t>[Task]</a:t>
            </a:r>
          </a:p>
          <a:p>
            <a:r>
              <a:rPr lang="en-US" dirty="0">
                <a:effectLst/>
              </a:rPr>
              <a:t>Analyze the current trends in ecommerce.</a:t>
            </a:r>
          </a:p>
          <a:p>
            <a:endParaRPr lang="en-US" dirty="0">
              <a:effectLst/>
            </a:endParaRPr>
          </a:p>
          <a:p>
            <a:r>
              <a:rPr lang="en-US" dirty="0">
                <a:effectLst/>
              </a:rPr>
              <a:t>[Output Format]</a:t>
            </a:r>
          </a:p>
          <a:p>
            <a:r>
              <a:rPr lang="en-US" dirty="0">
                <a:effectLst/>
              </a:rPr>
              <a:t>Provide a structured response with clear headings and bullet points.</a:t>
            </a:r>
            <a:br>
              <a:rPr lang="en-US" dirty="0">
                <a:effectLst/>
              </a:rPr>
            </a:br>
            <a:endParaRPr lang="en-US" dirty="0">
              <a:effectLst/>
            </a:endParaRPr>
          </a:p>
          <a:p>
            <a:r>
              <a:rPr lang="en-US" dirty="0">
                <a:effectLst/>
              </a:rPr>
              <a:t>[Specific Requirements]</a:t>
            </a:r>
          </a:p>
          <a:p>
            <a:r>
              <a:rPr lang="en-US" dirty="0">
                <a:effectLst/>
              </a:rPr>
              <a:t>- Include at least 3 major trends.</a:t>
            </a:r>
          </a:p>
          <a:p>
            <a:r>
              <a:rPr lang="en-US" dirty="0">
                <a:effectLst/>
              </a:rPr>
              <a:t>- List </a:t>
            </a:r>
            <a:r>
              <a:rPr lang="en-US" dirty="0"/>
              <a:t>associated </a:t>
            </a:r>
            <a:r>
              <a:rPr lang="en-US" dirty="0">
                <a:effectLst/>
              </a:rPr>
              <a:t>impacts.</a:t>
            </a:r>
          </a:p>
          <a:p>
            <a:endParaRPr lang="en-US" dirty="0">
              <a:effectLst/>
            </a:endParaRPr>
          </a:p>
          <a:p>
            <a:r>
              <a:rPr lang="en-US" dirty="0">
                <a:effectLst/>
              </a:rPr>
              <a:t>[Tone]</a:t>
            </a:r>
          </a:p>
          <a:p>
            <a:r>
              <a:rPr lang="en-US" dirty="0">
                <a:effectLst/>
              </a:rPr>
              <a:t>Professional and informative, suitable for business executives.</a:t>
            </a:r>
          </a:p>
          <a:p>
            <a:endParaRPr lang="en-US" dirty="0"/>
          </a:p>
        </p:txBody>
      </p:sp>
      <p:sp>
        <p:nvSpPr>
          <p:cNvPr id="5" name="Text Placeholder 4">
            <a:extLst>
              <a:ext uri="{FF2B5EF4-FFF2-40B4-BE49-F238E27FC236}">
                <a16:creationId xmlns:a16="http://schemas.microsoft.com/office/drawing/2014/main" id="{B90F1702-02DF-4DBE-AC52-E77D7EAFC658}"/>
              </a:ext>
            </a:extLst>
          </p:cNvPr>
          <p:cNvSpPr>
            <a:spLocks noGrp="1"/>
          </p:cNvSpPr>
          <p:nvPr>
            <p:ph type="body" idx="3"/>
          </p:nvPr>
        </p:nvSpPr>
        <p:spPr>
          <a:xfrm>
            <a:off x="4906108" y="1097280"/>
            <a:ext cx="6926228" cy="5330952"/>
          </a:xfrm>
          <a:solidFill>
            <a:schemeClr val="accent5">
              <a:lumMod val="20000"/>
              <a:lumOff val="80000"/>
            </a:schemeClr>
          </a:solidFill>
        </p:spPr>
        <p:txBody>
          <a:bodyPr/>
          <a:lstStyle/>
          <a:p>
            <a:r>
              <a:rPr lang="en-US" sz="2000" b="1" dirty="0">
                <a:effectLst/>
                <a:latin typeface="+mn-lt"/>
              </a:rPr>
              <a:t>Excellent, fully optimized prompt:</a:t>
            </a:r>
          </a:p>
          <a:p>
            <a:endParaRPr lang="en-US" b="1" dirty="0">
              <a:effectLst/>
            </a:endParaRPr>
          </a:p>
          <a:p>
            <a:r>
              <a:rPr lang="en-US" dirty="0">
                <a:effectLst/>
              </a:rPr>
              <a:t>[Context]</a:t>
            </a:r>
          </a:p>
          <a:p>
            <a:r>
              <a:rPr lang="en-US" dirty="0">
                <a:effectLst/>
              </a:rPr>
              <a:t>You are a highly knowledgeable AI assistant specializing in business strategy, market analysis, and digital transformation. Your insights are sought after by Fortune 500 executives and leading business consultants.</a:t>
            </a:r>
          </a:p>
          <a:p>
            <a:endParaRPr lang="en-US" dirty="0">
              <a:effectLst/>
            </a:endParaRPr>
          </a:p>
          <a:p>
            <a:r>
              <a:rPr lang="en-US" dirty="0">
                <a:effectLst/>
              </a:rPr>
              <a:t>[Task]</a:t>
            </a:r>
          </a:p>
          <a:p>
            <a:r>
              <a:rPr lang="en-US" dirty="0">
                <a:effectLst/>
              </a:rPr>
              <a:t>Conduct a comprehensive analysis of the current ecommerce landscape and its implications for traditional brick-and-mortar retail businesses.</a:t>
            </a:r>
          </a:p>
          <a:p>
            <a:endParaRPr lang="en-US" dirty="0">
              <a:effectLst/>
            </a:endParaRPr>
          </a:p>
          <a:p>
            <a:r>
              <a:rPr lang="en-US" dirty="0">
                <a:effectLst/>
              </a:rPr>
              <a:t>[Output Format]</a:t>
            </a:r>
          </a:p>
          <a:p>
            <a:r>
              <a:rPr lang="en-US" dirty="0">
                <a:effectLst/>
              </a:rPr>
              <a:t>Provide a well-structured report with the following sections:</a:t>
            </a:r>
          </a:p>
          <a:p>
            <a:r>
              <a:rPr lang="en-US" dirty="0">
                <a:effectLst/>
              </a:rPr>
              <a:t>1. Executive Summary</a:t>
            </a:r>
          </a:p>
          <a:p>
            <a:r>
              <a:rPr lang="en-US" dirty="0">
                <a:effectLst/>
              </a:rPr>
              <a:t>2. Key Ecommerce Trends (minimum 5)</a:t>
            </a:r>
          </a:p>
          <a:p>
            <a:r>
              <a:rPr lang="en-US" dirty="0">
                <a:effectLst/>
              </a:rPr>
              <a:t>3. Impact Analysis on Traditional Retail</a:t>
            </a:r>
          </a:p>
          <a:p>
            <a:r>
              <a:rPr lang="en-US" dirty="0">
                <a:effectLst/>
              </a:rPr>
              <a:t>4. Case Studies: Successful Adaptations</a:t>
            </a:r>
          </a:p>
          <a:p>
            <a:r>
              <a:rPr lang="en-US" dirty="0">
                <a:effectLst/>
              </a:rPr>
              <a:t>5. Strategic Recommendations</a:t>
            </a:r>
          </a:p>
          <a:p>
            <a:r>
              <a:rPr lang="en-US" dirty="0">
                <a:effectLst/>
              </a:rPr>
              <a:t>6. Future Outlook</a:t>
            </a:r>
          </a:p>
          <a:p>
            <a:r>
              <a:rPr lang="en-US" dirty="0">
                <a:effectLst/>
              </a:rPr>
              <a:t>…</a:t>
            </a:r>
          </a:p>
        </p:txBody>
      </p:sp>
    </p:spTree>
    <p:extLst>
      <p:ext uri="{BB962C8B-B14F-4D97-AF65-F5344CB8AC3E}">
        <p14:creationId xmlns:p14="http://schemas.microsoft.com/office/powerpoint/2010/main" val="3806610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16</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Advanced prompting strategies</a:t>
            </a:r>
          </a:p>
        </p:txBody>
      </p:sp>
    </p:spTree>
    <p:extLst>
      <p:ext uri="{BB962C8B-B14F-4D97-AF65-F5344CB8AC3E}">
        <p14:creationId xmlns:p14="http://schemas.microsoft.com/office/powerpoint/2010/main" val="1234406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2DC4C6D-11EF-55DB-60B9-6BBC644B87E6}"/>
              </a:ext>
            </a:extLst>
          </p:cNvPr>
          <p:cNvSpPr>
            <a:spLocks noGrp="1"/>
          </p:cNvSpPr>
          <p:nvPr>
            <p:ph type="sldNum" idx="97"/>
          </p:nvPr>
        </p:nvSpPr>
        <p:spPr/>
        <p:txBody>
          <a:bodyPr/>
          <a:lstStyle/>
          <a:p>
            <a:fld id="{4037B1B0-0345-4E15-985A-6BECCDBE474F}" type="slidenum">
              <a:rPr lang="en-US" smtClean="0"/>
              <a:pPr/>
              <a:t>17</a:t>
            </a:fld>
            <a:endParaRPr lang="en-US" dirty="0"/>
          </a:p>
        </p:txBody>
      </p:sp>
      <p:sp>
        <p:nvSpPr>
          <p:cNvPr id="3" name="Title">
            <a:extLst>
              <a:ext uri="{FF2B5EF4-FFF2-40B4-BE49-F238E27FC236}">
                <a16:creationId xmlns:a16="http://schemas.microsoft.com/office/drawing/2014/main" id="{1FBBC4B2-C9B5-0305-2C56-F09AFEDF87E8}"/>
              </a:ext>
            </a:extLst>
          </p:cNvPr>
          <p:cNvSpPr>
            <a:spLocks noGrp="1"/>
          </p:cNvSpPr>
          <p:nvPr>
            <p:ph type="title" idx="1"/>
          </p:nvPr>
        </p:nvSpPr>
        <p:spPr/>
        <p:txBody>
          <a:bodyPr/>
          <a:lstStyle/>
          <a:p>
            <a:r>
              <a:rPr lang="en-US" dirty="0"/>
              <a:t>Prompt techniques</a:t>
            </a:r>
          </a:p>
        </p:txBody>
      </p:sp>
      <p:pic>
        <p:nvPicPr>
          <p:cNvPr id="41" name="Picture Placeholder 40">
            <a:extLst>
              <a:ext uri="{FF2B5EF4-FFF2-40B4-BE49-F238E27FC236}">
                <a16:creationId xmlns:a16="http://schemas.microsoft.com/office/drawing/2014/main" id="{DDF7DF38-EFF2-4EE1-918B-B4A7AC358FED}"/>
              </a:ext>
              <a:ext uri="{C183D7F6-B498-43B3-948B-1728B52AA6E4}">
                <adec:decorative xmlns:adec="http://schemas.microsoft.com/office/drawing/2017/decorative" val="1"/>
              </a:ext>
            </a:extLst>
          </p:cNvPr>
          <p:cNvPicPr>
            <a:picLocks noGrp="1" noChangeAspect="1"/>
          </p:cNvPicPr>
          <p:nvPr>
            <p:ph type="pic" idx="2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prstGeom prst="rect">
            <a:avLst/>
          </a:prstGeom>
        </p:spPr>
      </p:pic>
      <p:sp>
        <p:nvSpPr>
          <p:cNvPr id="4" name="Content Placeholder 3">
            <a:extLst>
              <a:ext uri="{FF2B5EF4-FFF2-40B4-BE49-F238E27FC236}">
                <a16:creationId xmlns:a16="http://schemas.microsoft.com/office/drawing/2014/main" id="{F37928F8-AC39-7B09-87F2-A8E1E35E11DA}"/>
              </a:ext>
            </a:extLst>
          </p:cNvPr>
          <p:cNvSpPr>
            <a:spLocks noGrp="1"/>
          </p:cNvSpPr>
          <p:nvPr>
            <p:ph type="body" idx="2"/>
          </p:nvPr>
        </p:nvSpPr>
        <p:spPr/>
        <p:txBody>
          <a:bodyPr/>
          <a:lstStyle/>
          <a:p>
            <a:r>
              <a:rPr lang="en-US" sz="2000" dirty="0"/>
              <a:t>Zero-shot and few-shot examples</a:t>
            </a:r>
          </a:p>
        </p:txBody>
      </p:sp>
      <p:pic>
        <p:nvPicPr>
          <p:cNvPr id="39" name="Picture Placeholder 38">
            <a:extLst>
              <a:ext uri="{FF2B5EF4-FFF2-40B4-BE49-F238E27FC236}">
                <a16:creationId xmlns:a16="http://schemas.microsoft.com/office/drawing/2014/main" id="{0BC8BB91-4A61-C611-BB49-B4B226452A91}"/>
              </a:ext>
              <a:ext uri="{C183D7F6-B498-43B3-948B-1728B52AA6E4}">
                <adec:decorative xmlns:adec="http://schemas.microsoft.com/office/drawing/2017/decorative" val="1"/>
              </a:ext>
            </a:extLst>
          </p:cNvPr>
          <p:cNvPicPr>
            <a:picLocks noGrp="1" noChangeAspect="1"/>
          </p:cNvPicPr>
          <p:nvPr>
            <p:ph type="pic" idx="23"/>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prstGeom prst="rect">
            <a:avLst/>
          </a:prstGeom>
        </p:spPr>
      </p:pic>
      <p:sp>
        <p:nvSpPr>
          <p:cNvPr id="5" name="Content Placeholder 4">
            <a:extLst>
              <a:ext uri="{FF2B5EF4-FFF2-40B4-BE49-F238E27FC236}">
                <a16:creationId xmlns:a16="http://schemas.microsoft.com/office/drawing/2014/main" id="{8EE16EE3-A58F-4D15-AE64-D2B98BEA922F}"/>
              </a:ext>
            </a:extLst>
          </p:cNvPr>
          <p:cNvSpPr>
            <a:spLocks noGrp="1"/>
          </p:cNvSpPr>
          <p:nvPr>
            <p:ph type="body" idx="3"/>
          </p:nvPr>
        </p:nvSpPr>
        <p:spPr/>
        <p:txBody>
          <a:bodyPr/>
          <a:lstStyle/>
          <a:p>
            <a:pPr marR="0" lvl="0" algn="l" defTabSz="914400" rtl="0" eaLnBrk="1" fontAlgn="auto" latinLnBrk="0" hangingPunct="1">
              <a:lnSpc>
                <a:spcPct val="100000"/>
              </a:lnSpc>
              <a:spcBef>
                <a:spcPts val="1000"/>
              </a:spcBef>
              <a:spcAft>
                <a:spcPts val="600"/>
              </a:spcAft>
              <a:buClrTx/>
              <a:buSzTx/>
              <a:tabLst/>
              <a:defRPr/>
            </a:pPr>
            <a:r>
              <a:rPr kumimoji="0" lang="en-US" sz="2000" b="0" i="0" u="none" strike="noStrike" kern="1200" cap="none" spc="0" normalizeH="0" baseline="0" noProof="0" dirty="0">
                <a:ln>
                  <a:noFill/>
                </a:ln>
                <a:solidFill>
                  <a:srgbClr val="232F3E"/>
                </a:solidFill>
                <a:effectLst/>
                <a:uLnTx/>
                <a:uFillTx/>
                <a:latin typeface="Amazon Ember Display"/>
              </a:rPr>
              <a:t>Knowledge bases</a:t>
            </a:r>
          </a:p>
        </p:txBody>
      </p:sp>
      <p:sp>
        <p:nvSpPr>
          <p:cNvPr id="8" name="Text Placeholder 7">
            <a:extLst>
              <a:ext uri="{FF2B5EF4-FFF2-40B4-BE49-F238E27FC236}">
                <a16:creationId xmlns:a16="http://schemas.microsoft.com/office/drawing/2014/main" id="{0BDE3985-1FCF-8763-54BF-629EAE86AD99}"/>
              </a:ext>
            </a:extLst>
          </p:cNvPr>
          <p:cNvSpPr>
            <a:spLocks noGrp="1"/>
          </p:cNvSpPr>
          <p:nvPr>
            <p:ph type="body" idx="4"/>
          </p:nvPr>
        </p:nvSpPr>
        <p:spPr/>
        <p:txBody>
          <a:bodyPr/>
          <a:lstStyle/>
          <a:p>
            <a:pPr marR="0" lvl="0" algn="l" defTabSz="914400" rtl="0" eaLnBrk="1" fontAlgn="auto" latinLnBrk="0" hangingPunct="1">
              <a:lnSpc>
                <a:spcPct val="100000"/>
              </a:lnSpc>
              <a:spcBef>
                <a:spcPts val="1000"/>
              </a:spcBef>
              <a:spcAft>
                <a:spcPts val="600"/>
              </a:spcAft>
              <a:buClrTx/>
              <a:buSzTx/>
              <a:tabLst/>
              <a:defRPr/>
            </a:pPr>
            <a:r>
              <a:rPr kumimoji="0" lang="en-US" sz="2000" b="0" i="0" u="none" strike="noStrike" kern="1200" cap="none" spc="0" normalizeH="0" baseline="0" noProof="0" dirty="0">
                <a:ln>
                  <a:noFill/>
                </a:ln>
                <a:solidFill>
                  <a:srgbClr val="232F3E"/>
                </a:solidFill>
                <a:effectLst/>
                <a:uLnTx/>
                <a:uFillTx/>
                <a:latin typeface="Amazon Ember Display"/>
              </a:rPr>
              <a:t>Chain-of-thought (</a:t>
            </a:r>
            <a:r>
              <a:rPr kumimoji="0" lang="en-US" sz="2000" b="0" i="0" u="none" strike="noStrike" kern="1200" cap="none" spc="0" normalizeH="0" baseline="0" noProof="0" dirty="0" err="1">
                <a:ln>
                  <a:noFill/>
                </a:ln>
                <a:solidFill>
                  <a:srgbClr val="232F3E"/>
                </a:solidFill>
                <a:effectLst/>
                <a:uLnTx/>
                <a:uFillTx/>
                <a:latin typeface="Amazon Ember Display"/>
              </a:rPr>
              <a:t>CoT</a:t>
            </a:r>
            <a:r>
              <a:rPr kumimoji="0" lang="en-US" sz="2000" b="0" i="0" u="none" strike="noStrike" kern="1200" cap="none" spc="0" normalizeH="0" baseline="0" noProof="0" dirty="0">
                <a:ln>
                  <a:noFill/>
                </a:ln>
                <a:solidFill>
                  <a:srgbClr val="232F3E"/>
                </a:solidFill>
                <a:effectLst/>
                <a:uLnTx/>
                <a:uFillTx/>
                <a:latin typeface="Amazon Ember Display"/>
              </a:rPr>
              <a:t>)</a:t>
            </a:r>
          </a:p>
          <a:p>
            <a:pPr marR="0" lvl="0" algn="l" defTabSz="914400" rtl="0" eaLnBrk="1" fontAlgn="auto" latinLnBrk="0" hangingPunct="1">
              <a:lnSpc>
                <a:spcPct val="100000"/>
              </a:lnSpc>
              <a:spcBef>
                <a:spcPts val="1000"/>
              </a:spcBef>
              <a:spcAft>
                <a:spcPts val="600"/>
              </a:spcAft>
              <a:buClrTx/>
              <a:buSzTx/>
              <a:tabLst/>
              <a:defRPr/>
            </a:pPr>
            <a:r>
              <a:rPr kumimoji="0" lang="en-US" sz="2000" b="0" i="0" u="none" strike="noStrike" kern="1200" cap="none" spc="0" normalizeH="0" baseline="0" noProof="0" dirty="0">
                <a:ln>
                  <a:noFill/>
                </a:ln>
                <a:solidFill>
                  <a:srgbClr val="232F3E"/>
                </a:solidFill>
                <a:effectLst/>
                <a:uLnTx/>
                <a:uFillTx/>
                <a:latin typeface="Amazon Ember Display"/>
              </a:rPr>
              <a:t>Tree of thoughts (</a:t>
            </a:r>
            <a:r>
              <a:rPr kumimoji="0" lang="en-US" sz="2000" b="0" i="0" u="none" strike="noStrike" kern="1200" cap="none" spc="0" normalizeH="0" baseline="0" noProof="0" dirty="0" err="1">
                <a:ln>
                  <a:noFill/>
                </a:ln>
                <a:solidFill>
                  <a:srgbClr val="232F3E"/>
                </a:solidFill>
                <a:effectLst/>
                <a:uLnTx/>
                <a:uFillTx/>
                <a:latin typeface="Amazon Ember Display"/>
              </a:rPr>
              <a:t>ToT</a:t>
            </a:r>
            <a:r>
              <a:rPr kumimoji="0" lang="en-US" sz="2000" b="0" i="0" u="none" strike="noStrike" kern="1200" cap="none" spc="0" normalizeH="0" baseline="0" noProof="0" dirty="0">
                <a:ln>
                  <a:noFill/>
                </a:ln>
                <a:solidFill>
                  <a:srgbClr val="232F3E"/>
                </a:solidFill>
                <a:effectLst/>
                <a:uLnTx/>
                <a:uFillTx/>
                <a:latin typeface="Amazon Ember Display"/>
              </a:rPr>
              <a:t>)</a:t>
            </a:r>
          </a:p>
        </p:txBody>
      </p:sp>
      <p:pic>
        <p:nvPicPr>
          <p:cNvPr id="31" name="Picture Placeholder 30">
            <a:extLst>
              <a:ext uri="{FF2B5EF4-FFF2-40B4-BE49-F238E27FC236}">
                <a16:creationId xmlns:a16="http://schemas.microsoft.com/office/drawing/2014/main" id="{3948A2AD-D69C-41B5-8F31-CED62916D4F3}"/>
              </a:ext>
              <a:ext uri="{C183D7F6-B498-43B3-948B-1728B52AA6E4}">
                <adec:decorative xmlns:adec="http://schemas.microsoft.com/office/drawing/2017/decorative" val="1"/>
              </a:ext>
            </a:extLst>
          </p:cNvPr>
          <p:cNvPicPr>
            <a:picLocks noGrp="1" noChangeAspect="1"/>
          </p:cNvPicPr>
          <p:nvPr>
            <p:ph type="pic" idx="25"/>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51" r="51"/>
          <a:stretch/>
        </p:blipFill>
        <p:spPr>
          <a:prstGeom prst="rect">
            <a:avLst/>
          </a:prstGeom>
        </p:spPr>
      </p:pic>
      <p:sp>
        <p:nvSpPr>
          <p:cNvPr id="9" name="Text Placeholder 8">
            <a:extLst>
              <a:ext uri="{FF2B5EF4-FFF2-40B4-BE49-F238E27FC236}">
                <a16:creationId xmlns:a16="http://schemas.microsoft.com/office/drawing/2014/main" id="{9C46B2BC-017D-E8D4-5D14-C6B15DDF707B}"/>
              </a:ext>
            </a:extLst>
          </p:cNvPr>
          <p:cNvSpPr>
            <a:spLocks noGrp="1"/>
          </p:cNvSpPr>
          <p:nvPr>
            <p:ph type="body" idx="5"/>
          </p:nvPr>
        </p:nvSpPr>
        <p:spPr/>
        <p:txBody>
          <a:bodyPr/>
          <a:lstStyle/>
          <a:p>
            <a:r>
              <a:rPr lang="en-US" sz="2000" dirty="0"/>
              <a:t>Retrieval Augmented Generation (RAG)</a:t>
            </a:r>
          </a:p>
        </p:txBody>
      </p:sp>
      <p:pic>
        <p:nvPicPr>
          <p:cNvPr id="33" name="Picture Placeholder 32">
            <a:extLst>
              <a:ext uri="{FF2B5EF4-FFF2-40B4-BE49-F238E27FC236}">
                <a16:creationId xmlns:a16="http://schemas.microsoft.com/office/drawing/2014/main" id="{8F0A299C-25BD-4414-A033-51313EE4443C}"/>
              </a:ext>
              <a:ext uri="{C183D7F6-B498-43B3-948B-1728B52AA6E4}">
                <adec:decorative xmlns:adec="http://schemas.microsoft.com/office/drawing/2017/decorative" val="1"/>
              </a:ext>
            </a:extLst>
          </p:cNvPr>
          <p:cNvPicPr>
            <a:picLocks noGrp="1" noChangeAspect="1"/>
          </p:cNvPicPr>
          <p:nvPr>
            <p:ph type="pic" idx="26"/>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51" r="51"/>
          <a:stretch/>
        </p:blipFill>
        <p:spPr>
          <a:prstGeom prst="rect">
            <a:avLst/>
          </a:prstGeom>
        </p:spPr>
      </p:pic>
      <p:sp>
        <p:nvSpPr>
          <p:cNvPr id="10" name="Text Placeholder 9">
            <a:extLst>
              <a:ext uri="{FF2B5EF4-FFF2-40B4-BE49-F238E27FC236}">
                <a16:creationId xmlns:a16="http://schemas.microsoft.com/office/drawing/2014/main" id="{EB109805-2B1E-BBA0-1F2A-A935C44C0AF0}"/>
              </a:ext>
            </a:extLst>
          </p:cNvPr>
          <p:cNvSpPr>
            <a:spLocks noGrp="1"/>
          </p:cNvSpPr>
          <p:nvPr>
            <p:ph type="body" idx="6"/>
          </p:nvPr>
        </p:nvSpPr>
        <p:spPr/>
        <p:txBody>
          <a:bodyPr/>
          <a:lstStyle/>
          <a:p>
            <a:r>
              <a:rPr lang="en-US" sz="2000" dirty="0"/>
              <a:t>Tool-use prompting and </a:t>
            </a:r>
            <a:br>
              <a:rPr lang="en-US" sz="2000" dirty="0"/>
            </a:br>
            <a:r>
              <a:rPr lang="en-US" sz="2000" dirty="0"/>
              <a:t>action-oriented prompting</a:t>
            </a:r>
          </a:p>
        </p:txBody>
      </p:sp>
      <p:pic>
        <p:nvPicPr>
          <p:cNvPr id="35" name="Picture Placeholder 34">
            <a:extLst>
              <a:ext uri="{FF2B5EF4-FFF2-40B4-BE49-F238E27FC236}">
                <a16:creationId xmlns:a16="http://schemas.microsoft.com/office/drawing/2014/main" id="{6D527E60-7848-415A-AEB9-9603A8B9A608}"/>
              </a:ext>
              <a:ext uri="{C183D7F6-B498-43B3-948B-1728B52AA6E4}">
                <adec:decorative xmlns:adec="http://schemas.microsoft.com/office/drawing/2017/decorative" val="1"/>
              </a:ext>
            </a:extLst>
          </p:cNvPr>
          <p:cNvPicPr>
            <a:picLocks noGrp="1" noChangeAspect="1"/>
          </p:cNvPicPr>
          <p:nvPr>
            <p:ph type="pic" idx="27"/>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prstGeom prst="rect">
            <a:avLst/>
          </a:prstGeom>
        </p:spPr>
      </p:pic>
      <p:sp>
        <p:nvSpPr>
          <p:cNvPr id="11" name="Text Placeholder 10">
            <a:extLst>
              <a:ext uri="{FF2B5EF4-FFF2-40B4-BE49-F238E27FC236}">
                <a16:creationId xmlns:a16="http://schemas.microsoft.com/office/drawing/2014/main" id="{E0AF5B92-FD72-3DDD-058C-1C05D4B48409}"/>
              </a:ext>
            </a:extLst>
          </p:cNvPr>
          <p:cNvSpPr>
            <a:spLocks noGrp="1"/>
          </p:cNvSpPr>
          <p:nvPr>
            <p:ph type="body" idx="7"/>
          </p:nvPr>
        </p:nvSpPr>
        <p:spPr/>
        <p:txBody>
          <a:bodyPr/>
          <a:lstStyle/>
          <a:p>
            <a:pPr marL="0" indent="0">
              <a:buNone/>
            </a:pPr>
            <a:r>
              <a:rPr lang="en-US" sz="2000" dirty="0"/>
              <a:t>Constraint techniques:</a:t>
            </a:r>
          </a:p>
          <a:p>
            <a:r>
              <a:rPr lang="en-US" sz="2000" dirty="0"/>
              <a:t>Negative prompting</a:t>
            </a:r>
          </a:p>
        </p:txBody>
      </p:sp>
      <p:pic>
        <p:nvPicPr>
          <p:cNvPr id="36" name="Graphic 35">
            <a:extLst>
              <a:ext uri="{FF2B5EF4-FFF2-40B4-BE49-F238E27FC236}">
                <a16:creationId xmlns:a16="http://schemas.microsoft.com/office/drawing/2014/main" id="{F38ABB15-7363-4269-866B-3570F39FCA1E}"/>
              </a:ext>
              <a:ext uri="{C183D7F6-B498-43B3-948B-1728B52AA6E4}">
                <adec:decorative xmlns:adec="http://schemas.microsoft.com/office/drawing/2017/decorative" val="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688358" y="5259093"/>
            <a:ext cx="588521" cy="588521"/>
          </a:xfrm>
          <a:prstGeom prst="rect">
            <a:avLst/>
          </a:prstGeom>
        </p:spPr>
      </p:pic>
      <p:pic>
        <p:nvPicPr>
          <p:cNvPr id="118" name="Picture Placeholder 117">
            <a:extLst>
              <a:ext uri="{FF2B5EF4-FFF2-40B4-BE49-F238E27FC236}">
                <a16:creationId xmlns:a16="http://schemas.microsoft.com/office/drawing/2014/main" id="{AA9FD6BA-4C26-21AE-9AD8-6A87B57D2665}"/>
              </a:ext>
              <a:ext uri="{C183D7F6-B498-43B3-948B-1728B52AA6E4}">
                <adec:decorative xmlns:adec="http://schemas.microsoft.com/office/drawing/2017/decorative" val="1"/>
              </a:ext>
            </a:extLst>
          </p:cNvPr>
          <p:cNvPicPr>
            <a:picLocks noGrp="1" noChangeAspect="1"/>
          </p:cNvPicPr>
          <p:nvPr>
            <p:ph type="pic" idx="24"/>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t="51" b="51"/>
          <a:stretch>
            <a:fillRect/>
          </a:stretch>
        </p:blipFill>
        <p:spPr>
          <a:prstGeom prst="rect">
            <a:avLst/>
          </a:prstGeom>
        </p:spPr>
      </p:pic>
    </p:spTree>
    <p:extLst>
      <p:ext uri="{BB962C8B-B14F-4D97-AF65-F5344CB8AC3E}">
        <p14:creationId xmlns:p14="http://schemas.microsoft.com/office/powerpoint/2010/main" val="1923614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0BC0BD6-6AB5-BC1D-EB19-8624151550D0}"/>
              </a:ext>
            </a:extLst>
          </p:cNvPr>
          <p:cNvSpPr>
            <a:spLocks noGrp="1"/>
          </p:cNvSpPr>
          <p:nvPr>
            <p:ph type="sldNum" idx="97"/>
          </p:nvPr>
        </p:nvSpPr>
        <p:spPr/>
        <p:txBody>
          <a:bodyPr/>
          <a:lstStyle/>
          <a:p>
            <a:fld id="{4037B1B0-0345-4E15-985A-6BECCDBE474F}" type="slidenum">
              <a:rPr lang="en-US" smtClean="0"/>
              <a:pPr/>
              <a:t>18</a:t>
            </a:fld>
            <a:endParaRPr lang="en-US" dirty="0"/>
          </a:p>
        </p:txBody>
      </p:sp>
      <p:sp>
        <p:nvSpPr>
          <p:cNvPr id="3" name="Title">
            <a:extLst>
              <a:ext uri="{FF2B5EF4-FFF2-40B4-BE49-F238E27FC236}">
                <a16:creationId xmlns:a16="http://schemas.microsoft.com/office/drawing/2014/main" id="{63FB358A-09B0-C858-6A3F-7F13550EC634}"/>
              </a:ext>
            </a:extLst>
          </p:cNvPr>
          <p:cNvSpPr>
            <a:spLocks noGrp="1"/>
          </p:cNvSpPr>
          <p:nvPr>
            <p:ph type="title" idx="1"/>
          </p:nvPr>
        </p:nvSpPr>
        <p:spPr/>
        <p:txBody>
          <a:bodyPr/>
          <a:lstStyle/>
          <a:p>
            <a:r>
              <a:rPr lang="en-US" dirty="0"/>
              <a:t>Providing example output</a:t>
            </a:r>
          </a:p>
        </p:txBody>
      </p:sp>
      <p:sp>
        <p:nvSpPr>
          <p:cNvPr id="4" name="Content Placeholder 3">
            <a:extLst>
              <a:ext uri="{FF2B5EF4-FFF2-40B4-BE49-F238E27FC236}">
                <a16:creationId xmlns:a16="http://schemas.microsoft.com/office/drawing/2014/main" id="{61AC4178-257D-5153-23D5-0DA9167C261C}"/>
              </a:ext>
            </a:extLst>
          </p:cNvPr>
          <p:cNvSpPr>
            <a:spLocks noGrp="1"/>
          </p:cNvSpPr>
          <p:nvPr>
            <p:ph idx="2"/>
          </p:nvPr>
        </p:nvSpPr>
        <p:spPr>
          <a:xfrm>
            <a:off x="365760" y="1097280"/>
            <a:ext cx="7032328" cy="5330952"/>
          </a:xfrm>
        </p:spPr>
        <p:txBody>
          <a:bodyPr/>
          <a:lstStyle/>
          <a:p>
            <a:pPr marL="0" indent="0">
              <a:buNone/>
            </a:pPr>
            <a:r>
              <a:rPr lang="en-US" dirty="0">
                <a:effectLst/>
              </a:rPr>
              <a:t>Zero-shot examples:</a:t>
            </a:r>
          </a:p>
          <a:p>
            <a:r>
              <a:rPr lang="en-US" dirty="0">
                <a:effectLst/>
              </a:rPr>
              <a:t>No prior examples; relies on model's general knowledge</a:t>
            </a:r>
          </a:p>
          <a:p>
            <a:r>
              <a:rPr lang="en-US" dirty="0">
                <a:effectLst/>
              </a:rPr>
              <a:t>Suitable for large, capable models</a:t>
            </a:r>
            <a:br>
              <a:rPr lang="en-US" dirty="0">
                <a:effectLst/>
              </a:rPr>
            </a:br>
            <a:endParaRPr lang="en-US" dirty="0">
              <a:effectLst/>
            </a:endParaRPr>
          </a:p>
          <a:p>
            <a:pPr marL="0" indent="0">
              <a:buNone/>
            </a:pPr>
            <a:r>
              <a:rPr lang="en-US" dirty="0">
                <a:effectLst/>
              </a:rPr>
              <a:t>Single-shot and few-shot examples:</a:t>
            </a:r>
          </a:p>
          <a:p>
            <a:r>
              <a:rPr lang="en-US" dirty="0">
                <a:effectLst/>
              </a:rPr>
              <a:t>Provides contextual examples to guide model output</a:t>
            </a:r>
          </a:p>
          <a:p>
            <a:r>
              <a:rPr lang="en-US" dirty="0">
                <a:effectLst/>
              </a:rPr>
              <a:t>Requires careful selection of representative samples</a:t>
            </a:r>
          </a:p>
        </p:txBody>
      </p:sp>
      <p:grpSp>
        <p:nvGrpSpPr>
          <p:cNvPr id="25" name="diagram">
            <a:extLst>
              <a:ext uri="{FF2B5EF4-FFF2-40B4-BE49-F238E27FC236}">
                <a16:creationId xmlns:a16="http://schemas.microsoft.com/office/drawing/2014/main" id="{B1071434-E6C6-3532-6550-C939171A0FD6}"/>
              </a:ext>
              <a:ext uri="{C183D7F6-B498-43B3-948B-1728B52AA6E4}">
                <adec:decorative xmlns:adec="http://schemas.microsoft.com/office/drawing/2017/decorative" val="1"/>
              </a:ext>
            </a:extLst>
          </p:cNvPr>
          <p:cNvGrpSpPr/>
          <p:nvPr/>
        </p:nvGrpSpPr>
        <p:grpSpPr>
          <a:xfrm>
            <a:off x="7715095" y="2724604"/>
            <a:ext cx="3632609" cy="1014077"/>
            <a:chOff x="2467427" y="3803572"/>
            <a:chExt cx="6359073" cy="1775195"/>
          </a:xfrm>
        </p:grpSpPr>
        <p:grpSp>
          <p:nvGrpSpPr>
            <p:cNvPr id="27" name="Graphic 4" descr="Run ML Queries">
              <a:extLst>
                <a:ext uri="{FF2B5EF4-FFF2-40B4-BE49-F238E27FC236}">
                  <a16:creationId xmlns:a16="http://schemas.microsoft.com/office/drawing/2014/main" id="{856EE1BE-3AA3-2190-CB82-AFA06AE045FF}"/>
                </a:ext>
              </a:extLst>
            </p:cNvPr>
            <p:cNvGrpSpPr/>
            <p:nvPr/>
          </p:nvGrpSpPr>
          <p:grpSpPr>
            <a:xfrm>
              <a:off x="7047361" y="3803572"/>
              <a:ext cx="1779139" cy="1775195"/>
              <a:chOff x="7618861" y="2107162"/>
              <a:chExt cx="2187913" cy="2183063"/>
            </a:xfrm>
            <a:noFill/>
          </p:grpSpPr>
          <p:sp>
            <p:nvSpPr>
              <p:cNvPr id="43" name="Freeform 42">
                <a:extLst>
                  <a:ext uri="{FF2B5EF4-FFF2-40B4-BE49-F238E27FC236}">
                    <a16:creationId xmlns:a16="http://schemas.microsoft.com/office/drawing/2014/main" id="{D2ECC21F-F490-34A0-A81C-EC970A8F1576}"/>
                  </a:ext>
                </a:extLst>
              </p:cNvPr>
              <p:cNvSpPr/>
              <p:nvPr/>
            </p:nvSpPr>
            <p:spPr>
              <a:xfrm>
                <a:off x="8151843" y="2497971"/>
                <a:ext cx="280597" cy="729377"/>
              </a:xfrm>
              <a:custGeom>
                <a:avLst/>
                <a:gdLst>
                  <a:gd name="connsiteX0" fmla="*/ 0 w 280597"/>
                  <a:gd name="connsiteY0" fmla="*/ 729378 h 729377"/>
                  <a:gd name="connsiteX1" fmla="*/ 0 w 280597"/>
                  <a:gd name="connsiteY1" fmla="*/ 430044 h 729377"/>
                  <a:gd name="connsiteX2" fmla="*/ 280598 w 280597"/>
                  <a:gd name="connsiteY2" fmla="*/ 289635 h 729377"/>
                  <a:gd name="connsiteX3" fmla="*/ 280598 w 280597"/>
                  <a:gd name="connsiteY3" fmla="*/ 0 h 729377"/>
                </a:gdLst>
                <a:ahLst/>
                <a:cxnLst>
                  <a:cxn ang="0">
                    <a:pos x="connsiteX0" y="connsiteY0"/>
                  </a:cxn>
                  <a:cxn ang="0">
                    <a:pos x="connsiteX1" y="connsiteY1"/>
                  </a:cxn>
                  <a:cxn ang="0">
                    <a:pos x="connsiteX2" y="connsiteY2"/>
                  </a:cxn>
                  <a:cxn ang="0">
                    <a:pos x="connsiteX3" y="connsiteY3"/>
                  </a:cxn>
                </a:cxnLst>
                <a:rect l="l" t="t" r="r" b="b"/>
                <a:pathLst>
                  <a:path w="280597" h="729377">
                    <a:moveTo>
                      <a:pt x="0" y="729378"/>
                    </a:moveTo>
                    <a:lnTo>
                      <a:pt x="0" y="430044"/>
                    </a:lnTo>
                    <a:lnTo>
                      <a:pt x="280598" y="289635"/>
                    </a:lnTo>
                    <a:lnTo>
                      <a:pt x="280598" y="0"/>
                    </a:lnTo>
                  </a:path>
                </a:pathLst>
              </a:custGeom>
              <a:noFill/>
              <a:ln w="25400" cap="flat">
                <a:solidFill>
                  <a:srgbClr val="232F3E"/>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9CAC7478-F960-E1F7-98E7-71FD8B7EE7D6}"/>
                  </a:ext>
                </a:extLst>
              </p:cNvPr>
              <p:cNvSpPr/>
              <p:nvPr/>
            </p:nvSpPr>
            <p:spPr>
              <a:xfrm>
                <a:off x="7893728" y="2789810"/>
                <a:ext cx="273103" cy="136441"/>
              </a:xfrm>
              <a:custGeom>
                <a:avLst/>
                <a:gdLst>
                  <a:gd name="connsiteX0" fmla="*/ 273104 w 273103"/>
                  <a:gd name="connsiteY0" fmla="*/ 136441 h 136441"/>
                  <a:gd name="connsiteX1" fmla="*/ 0 w 273103"/>
                  <a:gd name="connsiteY1" fmla="*/ 0 h 136441"/>
                </a:gdLst>
                <a:ahLst/>
                <a:cxnLst>
                  <a:cxn ang="0">
                    <a:pos x="connsiteX0" y="connsiteY0"/>
                  </a:cxn>
                  <a:cxn ang="0">
                    <a:pos x="connsiteX1" y="connsiteY1"/>
                  </a:cxn>
                </a:cxnLst>
                <a:rect l="l" t="t" r="r" b="b"/>
                <a:pathLst>
                  <a:path w="273103" h="136441">
                    <a:moveTo>
                      <a:pt x="273104" y="136441"/>
                    </a:moveTo>
                    <a:lnTo>
                      <a:pt x="0" y="0"/>
                    </a:lnTo>
                  </a:path>
                </a:pathLst>
              </a:custGeom>
              <a:ln w="25400" cap="flat">
                <a:solidFill>
                  <a:srgbClr val="232F3E"/>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7F2047B6-6613-6F69-012B-D4DEAC3A228D}"/>
                  </a:ext>
                </a:extLst>
              </p:cNvPr>
              <p:cNvSpPr/>
              <p:nvPr/>
            </p:nvSpPr>
            <p:spPr>
              <a:xfrm>
                <a:off x="8179837" y="2273801"/>
                <a:ext cx="22042" cy="336364"/>
              </a:xfrm>
              <a:custGeom>
                <a:avLst/>
                <a:gdLst>
                  <a:gd name="connsiteX0" fmla="*/ 0 w 22042"/>
                  <a:gd name="connsiteY0" fmla="*/ 336365 h 336364"/>
                  <a:gd name="connsiteX1" fmla="*/ 0 w 22042"/>
                  <a:gd name="connsiteY1" fmla="*/ 0 h 336364"/>
                </a:gdLst>
                <a:ahLst/>
                <a:cxnLst>
                  <a:cxn ang="0">
                    <a:pos x="connsiteX0" y="connsiteY0"/>
                  </a:cxn>
                  <a:cxn ang="0">
                    <a:pos x="connsiteX1" y="connsiteY1"/>
                  </a:cxn>
                </a:cxnLst>
                <a:rect l="l" t="t" r="r" b="b"/>
                <a:pathLst>
                  <a:path w="22042" h="336364">
                    <a:moveTo>
                      <a:pt x="0" y="336365"/>
                    </a:moveTo>
                    <a:lnTo>
                      <a:pt x="0" y="0"/>
                    </a:lnTo>
                  </a:path>
                </a:pathLst>
              </a:custGeom>
              <a:ln w="25400" cap="flat">
                <a:solidFill>
                  <a:srgbClr val="232F3E"/>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5154FF4A-9222-0DCF-DBDB-4196237275C4}"/>
                  </a:ext>
                </a:extLst>
              </p:cNvPr>
              <p:cNvSpPr/>
              <p:nvPr/>
            </p:nvSpPr>
            <p:spPr>
              <a:xfrm>
                <a:off x="7620845" y="3059167"/>
                <a:ext cx="262743" cy="154736"/>
              </a:xfrm>
              <a:custGeom>
                <a:avLst/>
                <a:gdLst>
                  <a:gd name="connsiteX0" fmla="*/ 0 w 262743"/>
                  <a:gd name="connsiteY0" fmla="*/ 154737 h 154736"/>
                  <a:gd name="connsiteX1" fmla="*/ 262744 w 262743"/>
                  <a:gd name="connsiteY1" fmla="*/ 0 h 154736"/>
                </a:gdLst>
                <a:ahLst/>
                <a:cxnLst>
                  <a:cxn ang="0">
                    <a:pos x="connsiteX0" y="connsiteY0"/>
                  </a:cxn>
                  <a:cxn ang="0">
                    <a:pos x="connsiteX1" y="connsiteY1"/>
                  </a:cxn>
                </a:cxnLst>
                <a:rect l="l" t="t" r="r" b="b"/>
                <a:pathLst>
                  <a:path w="262743" h="154736">
                    <a:moveTo>
                      <a:pt x="0" y="154737"/>
                    </a:moveTo>
                    <a:lnTo>
                      <a:pt x="262744" y="0"/>
                    </a:lnTo>
                  </a:path>
                </a:pathLst>
              </a:custGeom>
              <a:ln w="25400" cap="flat">
                <a:solidFill>
                  <a:srgbClr val="232F3E"/>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4798636A-4D9C-CEEC-589A-6E6F61A5149F}"/>
                  </a:ext>
                </a:extLst>
              </p:cNvPr>
              <p:cNvSpPr/>
              <p:nvPr/>
            </p:nvSpPr>
            <p:spPr>
              <a:xfrm>
                <a:off x="7893728" y="3472238"/>
                <a:ext cx="273103" cy="182068"/>
              </a:xfrm>
              <a:custGeom>
                <a:avLst/>
                <a:gdLst>
                  <a:gd name="connsiteX0" fmla="*/ 0 w 273103"/>
                  <a:gd name="connsiteY0" fmla="*/ 182069 h 182068"/>
                  <a:gd name="connsiteX1" fmla="*/ 273104 w 273103"/>
                  <a:gd name="connsiteY1" fmla="*/ 0 h 182068"/>
                </a:gdLst>
                <a:ahLst/>
                <a:cxnLst>
                  <a:cxn ang="0">
                    <a:pos x="connsiteX0" y="connsiteY0"/>
                  </a:cxn>
                  <a:cxn ang="0">
                    <a:pos x="connsiteX1" y="connsiteY1"/>
                  </a:cxn>
                </a:cxnLst>
                <a:rect l="l" t="t" r="r" b="b"/>
                <a:pathLst>
                  <a:path w="273103" h="182068">
                    <a:moveTo>
                      <a:pt x="0" y="182069"/>
                    </a:moveTo>
                    <a:lnTo>
                      <a:pt x="273104" y="0"/>
                    </a:lnTo>
                  </a:path>
                </a:pathLst>
              </a:custGeom>
              <a:ln w="25400" cap="flat">
                <a:solidFill>
                  <a:srgbClr val="232F3E"/>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11748F12-2C1E-6D00-43A7-9DBB31ADFE30}"/>
                  </a:ext>
                </a:extLst>
              </p:cNvPr>
              <p:cNvSpPr/>
              <p:nvPr/>
            </p:nvSpPr>
            <p:spPr>
              <a:xfrm>
                <a:off x="8151843" y="3988247"/>
                <a:ext cx="254367" cy="136661"/>
              </a:xfrm>
              <a:custGeom>
                <a:avLst/>
                <a:gdLst>
                  <a:gd name="connsiteX0" fmla="*/ 0 w 254367"/>
                  <a:gd name="connsiteY0" fmla="*/ 136662 h 136661"/>
                  <a:gd name="connsiteX1" fmla="*/ 254367 w 254367"/>
                  <a:gd name="connsiteY1" fmla="*/ 0 h 136661"/>
                </a:gdLst>
                <a:ahLst/>
                <a:cxnLst>
                  <a:cxn ang="0">
                    <a:pos x="connsiteX0" y="connsiteY0"/>
                  </a:cxn>
                  <a:cxn ang="0">
                    <a:pos x="connsiteX1" y="connsiteY1"/>
                  </a:cxn>
                </a:cxnLst>
                <a:rect l="l" t="t" r="r" b="b"/>
                <a:pathLst>
                  <a:path w="254367" h="136661">
                    <a:moveTo>
                      <a:pt x="0" y="136662"/>
                    </a:moveTo>
                    <a:lnTo>
                      <a:pt x="254367" y="0"/>
                    </a:lnTo>
                  </a:path>
                </a:pathLst>
              </a:custGeom>
              <a:ln w="25400" cap="flat">
                <a:solidFill>
                  <a:srgbClr val="232F3E"/>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8FF36F96-B591-449B-FB09-E241B3813994}"/>
                  </a:ext>
                </a:extLst>
              </p:cNvPr>
              <p:cNvSpPr/>
              <p:nvPr/>
            </p:nvSpPr>
            <p:spPr>
              <a:xfrm>
                <a:off x="8121204" y="3472238"/>
                <a:ext cx="591613" cy="318510"/>
              </a:xfrm>
              <a:custGeom>
                <a:avLst/>
                <a:gdLst>
                  <a:gd name="connsiteX0" fmla="*/ 0 w 591613"/>
                  <a:gd name="connsiteY0" fmla="*/ 318510 h 318510"/>
                  <a:gd name="connsiteX1" fmla="*/ 591614 w 591613"/>
                  <a:gd name="connsiteY1" fmla="*/ 0 h 318510"/>
                </a:gdLst>
                <a:ahLst/>
                <a:cxnLst>
                  <a:cxn ang="0">
                    <a:pos x="connsiteX0" y="connsiteY0"/>
                  </a:cxn>
                  <a:cxn ang="0">
                    <a:pos x="connsiteX1" y="connsiteY1"/>
                  </a:cxn>
                </a:cxnLst>
                <a:rect l="l" t="t" r="r" b="b"/>
                <a:pathLst>
                  <a:path w="591613" h="318510">
                    <a:moveTo>
                      <a:pt x="0" y="318510"/>
                    </a:moveTo>
                    <a:lnTo>
                      <a:pt x="591614" y="0"/>
                    </a:lnTo>
                  </a:path>
                </a:pathLst>
              </a:custGeom>
              <a:ln w="25400" cap="flat">
                <a:solidFill>
                  <a:srgbClr val="232F3E"/>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BBAC8E54-44EF-8F5D-DF6D-12AB1D22722A}"/>
                  </a:ext>
                </a:extLst>
              </p:cNvPr>
              <p:cNvSpPr/>
              <p:nvPr/>
            </p:nvSpPr>
            <p:spPr>
              <a:xfrm>
                <a:off x="7893728" y="3199355"/>
                <a:ext cx="273103" cy="181848"/>
              </a:xfrm>
              <a:custGeom>
                <a:avLst/>
                <a:gdLst>
                  <a:gd name="connsiteX0" fmla="*/ 0 w 273103"/>
                  <a:gd name="connsiteY0" fmla="*/ 181849 h 181848"/>
                  <a:gd name="connsiteX1" fmla="*/ 273104 w 273103"/>
                  <a:gd name="connsiteY1" fmla="*/ 0 h 181848"/>
                </a:gdLst>
                <a:ahLst/>
                <a:cxnLst>
                  <a:cxn ang="0">
                    <a:pos x="connsiteX0" y="connsiteY0"/>
                  </a:cxn>
                  <a:cxn ang="0">
                    <a:pos x="connsiteX1" y="connsiteY1"/>
                  </a:cxn>
                </a:cxnLst>
                <a:rect l="l" t="t" r="r" b="b"/>
                <a:pathLst>
                  <a:path w="273103" h="181848">
                    <a:moveTo>
                      <a:pt x="0" y="181849"/>
                    </a:moveTo>
                    <a:lnTo>
                      <a:pt x="273104" y="0"/>
                    </a:lnTo>
                  </a:path>
                </a:pathLst>
              </a:custGeom>
              <a:ln w="25400" cap="flat">
                <a:solidFill>
                  <a:srgbClr val="232F3E"/>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F92AC8CB-E369-C2F4-3D82-168AA405DC5E}"/>
                  </a:ext>
                </a:extLst>
              </p:cNvPr>
              <p:cNvSpPr/>
              <p:nvPr/>
            </p:nvSpPr>
            <p:spPr>
              <a:xfrm>
                <a:off x="7618861" y="2107162"/>
                <a:ext cx="1099687" cy="2183063"/>
              </a:xfrm>
              <a:custGeom>
                <a:avLst/>
                <a:gdLst>
                  <a:gd name="connsiteX0" fmla="*/ 1099688 w 1099687"/>
                  <a:gd name="connsiteY0" fmla="*/ 182069 h 2183063"/>
                  <a:gd name="connsiteX1" fmla="*/ 826584 w 1099687"/>
                  <a:gd name="connsiteY1" fmla="*/ 0 h 2183063"/>
                  <a:gd name="connsiteX2" fmla="*/ 280598 w 1099687"/>
                  <a:gd name="connsiteY2" fmla="*/ 318510 h 2183063"/>
                  <a:gd name="connsiteX3" fmla="*/ 280598 w 1099687"/>
                  <a:gd name="connsiteY3" fmla="*/ 678460 h 2183063"/>
                  <a:gd name="connsiteX4" fmla="*/ 0 w 1099687"/>
                  <a:gd name="connsiteY4" fmla="*/ 820853 h 2183063"/>
                  <a:gd name="connsiteX5" fmla="*/ 0 w 1099687"/>
                  <a:gd name="connsiteY5" fmla="*/ 1372571 h 2183063"/>
                  <a:gd name="connsiteX6" fmla="*/ 280598 w 1099687"/>
                  <a:gd name="connsiteY6" fmla="*/ 1540312 h 2183063"/>
                  <a:gd name="connsiteX7" fmla="*/ 280598 w 1099687"/>
                  <a:gd name="connsiteY7" fmla="*/ 1866758 h 2183063"/>
                  <a:gd name="connsiteX8" fmla="*/ 822837 w 1099687"/>
                  <a:gd name="connsiteY8" fmla="*/ 2183064 h 2183063"/>
                  <a:gd name="connsiteX9" fmla="*/ 1093957 w 1099687"/>
                  <a:gd name="connsiteY9" fmla="*/ 2037806 h 2183063"/>
                  <a:gd name="connsiteX10" fmla="*/ 1093957 w 1099687"/>
                  <a:gd name="connsiteY10" fmla="*/ 1092193 h 2183063"/>
                  <a:gd name="connsiteX11" fmla="*/ 821074 w 1099687"/>
                  <a:gd name="connsiteY11" fmla="*/ 955531 h 21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687" h="2183063">
                    <a:moveTo>
                      <a:pt x="1099688" y="182069"/>
                    </a:moveTo>
                    <a:lnTo>
                      <a:pt x="826584" y="0"/>
                    </a:lnTo>
                    <a:lnTo>
                      <a:pt x="280598" y="318510"/>
                    </a:lnTo>
                    <a:lnTo>
                      <a:pt x="280598" y="678460"/>
                    </a:lnTo>
                    <a:lnTo>
                      <a:pt x="0" y="820853"/>
                    </a:lnTo>
                    <a:lnTo>
                      <a:pt x="0" y="1372571"/>
                    </a:lnTo>
                    <a:lnTo>
                      <a:pt x="280598" y="1540312"/>
                    </a:lnTo>
                    <a:lnTo>
                      <a:pt x="280598" y="1866758"/>
                    </a:lnTo>
                    <a:lnTo>
                      <a:pt x="822837" y="2183064"/>
                    </a:lnTo>
                    <a:lnTo>
                      <a:pt x="1093957" y="2037806"/>
                    </a:lnTo>
                    <a:lnTo>
                      <a:pt x="1093957" y="1092193"/>
                    </a:lnTo>
                    <a:lnTo>
                      <a:pt x="821074" y="955531"/>
                    </a:lnTo>
                  </a:path>
                </a:pathLst>
              </a:custGeom>
              <a:noFill/>
              <a:ln w="25400" cap="flat">
                <a:solidFill>
                  <a:srgbClr val="232F3E"/>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F89C19A2-1EA3-2D14-1006-4E3F9D14BCF2}"/>
                  </a:ext>
                </a:extLst>
              </p:cNvPr>
              <p:cNvSpPr/>
              <p:nvPr/>
            </p:nvSpPr>
            <p:spPr>
              <a:xfrm>
                <a:off x="8159337" y="3199355"/>
                <a:ext cx="273103" cy="420565"/>
              </a:xfrm>
              <a:custGeom>
                <a:avLst/>
                <a:gdLst>
                  <a:gd name="connsiteX0" fmla="*/ 273103 w 273103"/>
                  <a:gd name="connsiteY0" fmla="*/ 420566 h 420565"/>
                  <a:gd name="connsiteX1" fmla="*/ 273103 w 273103"/>
                  <a:gd name="connsiteY1" fmla="*/ 181849 h 420565"/>
                  <a:gd name="connsiteX2" fmla="*/ 0 w 273103"/>
                  <a:gd name="connsiteY2" fmla="*/ 0 h 420565"/>
                </a:gdLst>
                <a:ahLst/>
                <a:cxnLst>
                  <a:cxn ang="0">
                    <a:pos x="connsiteX0" y="connsiteY0"/>
                  </a:cxn>
                  <a:cxn ang="0">
                    <a:pos x="connsiteX1" y="connsiteY1"/>
                  </a:cxn>
                  <a:cxn ang="0">
                    <a:pos x="connsiteX2" y="connsiteY2"/>
                  </a:cxn>
                </a:cxnLst>
                <a:rect l="l" t="t" r="r" b="b"/>
                <a:pathLst>
                  <a:path w="273103" h="420565">
                    <a:moveTo>
                      <a:pt x="273103" y="420566"/>
                    </a:moveTo>
                    <a:lnTo>
                      <a:pt x="273103" y="181849"/>
                    </a:lnTo>
                    <a:lnTo>
                      <a:pt x="0" y="0"/>
                    </a:lnTo>
                  </a:path>
                </a:pathLst>
              </a:custGeom>
              <a:noFill/>
              <a:ln w="25400" cap="flat">
                <a:solidFill>
                  <a:srgbClr val="232F3E"/>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68644D4D-0415-0B10-F60F-CE2EB9E5DFBC}"/>
                  </a:ext>
                </a:extLst>
              </p:cNvPr>
              <p:cNvSpPr/>
              <p:nvPr/>
            </p:nvSpPr>
            <p:spPr>
              <a:xfrm>
                <a:off x="8712818" y="2108264"/>
                <a:ext cx="1093956" cy="2181961"/>
              </a:xfrm>
              <a:custGeom>
                <a:avLst/>
                <a:gdLst>
                  <a:gd name="connsiteX0" fmla="*/ 273103 w 1093956"/>
                  <a:gd name="connsiteY0" fmla="*/ 909022 h 2181961"/>
                  <a:gd name="connsiteX1" fmla="*/ 0 w 1093956"/>
                  <a:gd name="connsiteY1" fmla="*/ 726953 h 2181961"/>
                  <a:gd name="connsiteX2" fmla="*/ 0 w 1093956"/>
                  <a:gd name="connsiteY2" fmla="*/ 180746 h 2181961"/>
                  <a:gd name="connsiteX3" fmla="*/ 271120 w 1093956"/>
                  <a:gd name="connsiteY3" fmla="*/ 0 h 2181961"/>
                  <a:gd name="connsiteX4" fmla="*/ 813359 w 1093956"/>
                  <a:gd name="connsiteY4" fmla="*/ 324241 h 2181961"/>
                  <a:gd name="connsiteX5" fmla="*/ 813359 w 1093956"/>
                  <a:gd name="connsiteY5" fmla="*/ 685073 h 2181961"/>
                  <a:gd name="connsiteX6" fmla="*/ 1093957 w 1093956"/>
                  <a:gd name="connsiteY6" fmla="*/ 838487 h 2181961"/>
                  <a:gd name="connsiteX7" fmla="*/ 1093957 w 1093956"/>
                  <a:gd name="connsiteY7" fmla="*/ 1361550 h 2181961"/>
                  <a:gd name="connsiteX8" fmla="*/ 813359 w 1093956"/>
                  <a:gd name="connsiteY8" fmla="*/ 1548468 h 2181961"/>
                  <a:gd name="connsiteX9" fmla="*/ 813359 w 1093956"/>
                  <a:gd name="connsiteY9" fmla="*/ 1865656 h 2181961"/>
                  <a:gd name="connsiteX10" fmla="*/ 271120 w 1093956"/>
                  <a:gd name="connsiteY10" fmla="*/ 2181962 h 2181961"/>
                  <a:gd name="connsiteX11" fmla="*/ 0 w 1093956"/>
                  <a:gd name="connsiteY11" fmla="*/ 2046402 h 218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956" h="2181961">
                    <a:moveTo>
                      <a:pt x="273103" y="909022"/>
                    </a:moveTo>
                    <a:lnTo>
                      <a:pt x="0" y="726953"/>
                    </a:lnTo>
                    <a:lnTo>
                      <a:pt x="0" y="180746"/>
                    </a:lnTo>
                    <a:lnTo>
                      <a:pt x="271120" y="0"/>
                    </a:lnTo>
                    <a:lnTo>
                      <a:pt x="813359" y="324241"/>
                    </a:lnTo>
                    <a:lnTo>
                      <a:pt x="813359" y="685073"/>
                    </a:lnTo>
                    <a:lnTo>
                      <a:pt x="1093957" y="838487"/>
                    </a:lnTo>
                    <a:lnTo>
                      <a:pt x="1093957" y="1361550"/>
                    </a:lnTo>
                    <a:lnTo>
                      <a:pt x="813359" y="1548468"/>
                    </a:lnTo>
                    <a:lnTo>
                      <a:pt x="813359" y="1865656"/>
                    </a:lnTo>
                    <a:lnTo>
                      <a:pt x="271120" y="2181962"/>
                    </a:lnTo>
                    <a:lnTo>
                      <a:pt x="0" y="2046402"/>
                    </a:lnTo>
                  </a:path>
                </a:pathLst>
              </a:custGeom>
              <a:noFill/>
              <a:ln w="25400" cap="flat">
                <a:solidFill>
                  <a:srgbClr val="232F3E"/>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67C70030-7635-F81B-42C3-450B4965E296}"/>
                  </a:ext>
                </a:extLst>
              </p:cNvPr>
              <p:cNvSpPr/>
              <p:nvPr/>
            </p:nvSpPr>
            <p:spPr>
              <a:xfrm>
                <a:off x="9531908" y="3335797"/>
                <a:ext cx="272882" cy="136441"/>
              </a:xfrm>
              <a:custGeom>
                <a:avLst/>
                <a:gdLst>
                  <a:gd name="connsiteX0" fmla="*/ 0 w 272882"/>
                  <a:gd name="connsiteY0" fmla="*/ 0 h 136441"/>
                  <a:gd name="connsiteX1" fmla="*/ 272883 w 272882"/>
                  <a:gd name="connsiteY1" fmla="*/ 136441 h 136441"/>
                </a:gdLst>
                <a:ahLst/>
                <a:cxnLst>
                  <a:cxn ang="0">
                    <a:pos x="connsiteX0" y="connsiteY0"/>
                  </a:cxn>
                  <a:cxn ang="0">
                    <a:pos x="connsiteX1" y="connsiteY1"/>
                  </a:cxn>
                </a:cxnLst>
                <a:rect l="l" t="t" r="r" b="b"/>
                <a:pathLst>
                  <a:path w="272882" h="136441">
                    <a:moveTo>
                      <a:pt x="0" y="0"/>
                    </a:moveTo>
                    <a:lnTo>
                      <a:pt x="272883" y="136441"/>
                    </a:lnTo>
                  </a:path>
                </a:pathLst>
              </a:custGeom>
              <a:ln w="25400" cap="flat">
                <a:solidFill>
                  <a:srgbClr val="232F3E"/>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B475B0DF-4014-09A1-0D57-E06394780F3A}"/>
                  </a:ext>
                </a:extLst>
              </p:cNvPr>
              <p:cNvSpPr/>
              <p:nvPr/>
            </p:nvSpPr>
            <p:spPr>
              <a:xfrm>
                <a:off x="9329780" y="2610166"/>
                <a:ext cx="196396" cy="22042"/>
              </a:xfrm>
              <a:custGeom>
                <a:avLst/>
                <a:gdLst>
                  <a:gd name="connsiteX0" fmla="*/ 196396 w 196396"/>
                  <a:gd name="connsiteY0" fmla="*/ 0 h 22042"/>
                  <a:gd name="connsiteX1" fmla="*/ 0 w 196396"/>
                  <a:gd name="connsiteY1" fmla="*/ 0 h 22042"/>
                </a:gdLst>
                <a:ahLst/>
                <a:cxnLst>
                  <a:cxn ang="0">
                    <a:pos x="connsiteX0" y="connsiteY0"/>
                  </a:cxn>
                  <a:cxn ang="0">
                    <a:pos x="connsiteX1" y="connsiteY1"/>
                  </a:cxn>
                </a:cxnLst>
                <a:rect l="l" t="t" r="r" b="b"/>
                <a:pathLst>
                  <a:path w="196396" h="22042">
                    <a:moveTo>
                      <a:pt x="196396" y="0"/>
                    </a:moveTo>
                    <a:lnTo>
                      <a:pt x="0" y="0"/>
                    </a:lnTo>
                  </a:path>
                </a:pathLst>
              </a:custGeom>
              <a:ln w="25400" cap="flat">
                <a:solidFill>
                  <a:srgbClr val="232F3E"/>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28A44B3C-CAA4-5374-559C-6696182993BA}"/>
                  </a:ext>
                </a:extLst>
              </p:cNvPr>
              <p:cNvSpPr/>
              <p:nvPr/>
            </p:nvSpPr>
            <p:spPr>
              <a:xfrm>
                <a:off x="8712818" y="3844311"/>
                <a:ext cx="280377" cy="22042"/>
              </a:xfrm>
              <a:custGeom>
                <a:avLst/>
                <a:gdLst>
                  <a:gd name="connsiteX0" fmla="*/ 0 w 280377"/>
                  <a:gd name="connsiteY0" fmla="*/ 0 h 22042"/>
                  <a:gd name="connsiteX1" fmla="*/ 280377 w 280377"/>
                  <a:gd name="connsiteY1" fmla="*/ 0 h 22042"/>
                </a:gdLst>
                <a:ahLst/>
                <a:cxnLst>
                  <a:cxn ang="0">
                    <a:pos x="connsiteX0" y="connsiteY0"/>
                  </a:cxn>
                  <a:cxn ang="0">
                    <a:pos x="connsiteX1" y="connsiteY1"/>
                  </a:cxn>
                </a:cxnLst>
                <a:rect l="l" t="t" r="r" b="b"/>
                <a:pathLst>
                  <a:path w="280377" h="22042">
                    <a:moveTo>
                      <a:pt x="0" y="0"/>
                    </a:moveTo>
                    <a:lnTo>
                      <a:pt x="280377" y="0"/>
                    </a:lnTo>
                  </a:path>
                </a:pathLst>
              </a:custGeom>
              <a:ln w="25400" cap="flat">
                <a:solidFill>
                  <a:srgbClr val="232F3E"/>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D254BA7D-4859-14E7-5282-B6EA5570EDA3}"/>
                  </a:ext>
                </a:extLst>
              </p:cNvPr>
              <p:cNvSpPr/>
              <p:nvPr/>
            </p:nvSpPr>
            <p:spPr>
              <a:xfrm>
                <a:off x="9161598" y="252618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11B19BD7-79B0-8DC2-D4D5-EB7C5782E00C}"/>
                  </a:ext>
                </a:extLst>
              </p:cNvPr>
              <p:cNvSpPr/>
              <p:nvPr/>
            </p:nvSpPr>
            <p:spPr>
              <a:xfrm>
                <a:off x="9357774" y="3199355"/>
                <a:ext cx="168402" cy="168402"/>
              </a:xfrm>
              <a:custGeom>
                <a:avLst/>
                <a:gdLst>
                  <a:gd name="connsiteX0" fmla="*/ 84202 w 168402"/>
                  <a:gd name="connsiteY0" fmla="*/ 0 h 168402"/>
                  <a:gd name="connsiteX1" fmla="*/ 0 w 168402"/>
                  <a:gd name="connsiteY1" fmla="*/ 84201 h 168402"/>
                  <a:gd name="connsiteX2" fmla="*/ 84202 w 168402"/>
                  <a:gd name="connsiteY2" fmla="*/ 168403 h 168402"/>
                  <a:gd name="connsiteX3" fmla="*/ 168403 w 168402"/>
                  <a:gd name="connsiteY3" fmla="*/ 84201 h 168402"/>
                  <a:gd name="connsiteX4" fmla="*/ 84202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2" y="0"/>
                    </a:moveTo>
                    <a:cubicBezTo>
                      <a:pt x="37692" y="0"/>
                      <a:pt x="0" y="37692"/>
                      <a:pt x="0" y="84201"/>
                    </a:cubicBezTo>
                    <a:cubicBezTo>
                      <a:pt x="0" y="130711"/>
                      <a:pt x="37692" y="168403"/>
                      <a:pt x="84202" y="168403"/>
                    </a:cubicBezTo>
                    <a:cubicBezTo>
                      <a:pt x="130711" y="168403"/>
                      <a:pt x="168403" y="130711"/>
                      <a:pt x="168403" y="84201"/>
                    </a:cubicBezTo>
                    <a:cubicBezTo>
                      <a:pt x="168403" y="37692"/>
                      <a:pt x="130711" y="0"/>
                      <a:pt x="84202" y="0"/>
                    </a:cubicBezTo>
                    <a:close/>
                  </a:path>
                </a:pathLst>
              </a:custGeom>
              <a:noFill/>
              <a:ln w="25400" cap="flat">
                <a:solidFill>
                  <a:srgbClr val="232F3E"/>
                </a:solidFill>
                <a:prstDash val="solid"/>
                <a:round/>
              </a:ln>
            </p:spPr>
            <p:txBody>
              <a:bodyPr rtlCol="0" anchor="ctr"/>
              <a:lstStyle/>
              <a:p>
                <a:endParaRPr lang="en-US"/>
              </a:p>
            </p:txBody>
          </p:sp>
          <p:sp>
            <p:nvSpPr>
              <p:cNvPr id="59" name="Freeform 58">
                <a:extLst>
                  <a:ext uri="{FF2B5EF4-FFF2-40B4-BE49-F238E27FC236}">
                    <a16:creationId xmlns:a16="http://schemas.microsoft.com/office/drawing/2014/main" id="{3B3B194C-9CE1-E651-8680-3338330C875D}"/>
                  </a:ext>
                </a:extLst>
              </p:cNvPr>
              <p:cNvSpPr/>
              <p:nvPr/>
            </p:nvSpPr>
            <p:spPr>
              <a:xfrm>
                <a:off x="8993195" y="297496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317CFB3-1F1A-2042-03B7-B62B685EFF51}"/>
                  </a:ext>
                </a:extLst>
              </p:cNvPr>
              <p:cNvSpPr/>
              <p:nvPr/>
            </p:nvSpPr>
            <p:spPr>
              <a:xfrm>
                <a:off x="8993195" y="3760110"/>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grpSp>
        <p:cxnSp>
          <p:nvCxnSpPr>
            <p:cNvPr id="28" name="Straight Arrow Connector 27">
              <a:extLst>
                <a:ext uri="{FF2B5EF4-FFF2-40B4-BE49-F238E27FC236}">
                  <a16:creationId xmlns:a16="http://schemas.microsoft.com/office/drawing/2014/main" id="{A64E369B-F54C-D9B2-3C50-30F630632ED5}"/>
                </a:ext>
              </a:extLst>
            </p:cNvPr>
            <p:cNvCxnSpPr/>
            <p:nvPr/>
          </p:nvCxnSpPr>
          <p:spPr>
            <a:xfrm>
              <a:off x="4635499" y="4691169"/>
              <a:ext cx="2044701"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7217D2B5-09E6-6FC8-8FA4-097FBAAFAD4B}"/>
                </a:ext>
              </a:extLst>
            </p:cNvPr>
            <p:cNvGrpSpPr/>
            <p:nvPr/>
          </p:nvGrpSpPr>
          <p:grpSpPr>
            <a:xfrm>
              <a:off x="2467427" y="3958401"/>
              <a:ext cx="1923694" cy="1550298"/>
              <a:chOff x="2467427" y="3958401"/>
              <a:chExt cx="1923694" cy="1550298"/>
            </a:xfrm>
          </p:grpSpPr>
          <p:grpSp>
            <p:nvGrpSpPr>
              <p:cNvPr id="30" name="Graphic 4">
                <a:extLst>
                  <a:ext uri="{FF2B5EF4-FFF2-40B4-BE49-F238E27FC236}">
                    <a16:creationId xmlns:a16="http://schemas.microsoft.com/office/drawing/2014/main" id="{D0F82251-CF4E-4B06-C9E7-6934485D27D3}"/>
                  </a:ext>
                </a:extLst>
              </p:cNvPr>
              <p:cNvGrpSpPr/>
              <p:nvPr/>
            </p:nvGrpSpPr>
            <p:grpSpPr>
              <a:xfrm>
                <a:off x="2467427" y="3958401"/>
                <a:ext cx="1756101" cy="1465534"/>
                <a:chOff x="2467427" y="3958401"/>
                <a:chExt cx="1756101" cy="1465534"/>
              </a:xfrm>
              <a:noFill/>
            </p:grpSpPr>
            <p:sp>
              <p:nvSpPr>
                <p:cNvPr id="41" name="Freeform 40">
                  <a:extLst>
                    <a:ext uri="{FF2B5EF4-FFF2-40B4-BE49-F238E27FC236}">
                      <a16:creationId xmlns:a16="http://schemas.microsoft.com/office/drawing/2014/main" id="{40A3E289-A53A-B036-E927-BE8613A0F302}"/>
                    </a:ext>
                  </a:extLst>
                </p:cNvPr>
                <p:cNvSpPr/>
                <p:nvPr/>
              </p:nvSpPr>
              <p:spPr>
                <a:xfrm>
                  <a:off x="2629095" y="3958401"/>
                  <a:ext cx="1594433" cy="1196852"/>
                </a:xfrm>
                <a:custGeom>
                  <a:avLst/>
                  <a:gdLst>
                    <a:gd name="connsiteX0" fmla="*/ 1594433 w 1594433"/>
                    <a:gd name="connsiteY0" fmla="*/ 757676 h 1196852"/>
                    <a:gd name="connsiteX1" fmla="*/ 1594433 w 1594433"/>
                    <a:gd name="connsiteY1" fmla="*/ 98065 h 1196852"/>
                    <a:gd name="connsiteX2" fmla="*/ 1496368 w 1594433"/>
                    <a:gd name="connsiteY2" fmla="*/ 0 h 1196852"/>
                    <a:gd name="connsiteX3" fmla="*/ 98065 w 1594433"/>
                    <a:gd name="connsiteY3" fmla="*/ 0 h 1196852"/>
                    <a:gd name="connsiteX4" fmla="*/ 0 w 1594433"/>
                    <a:gd name="connsiteY4" fmla="*/ 98065 h 1196852"/>
                    <a:gd name="connsiteX5" fmla="*/ 0 w 1594433"/>
                    <a:gd name="connsiteY5" fmla="*/ 1196853 h 1196852"/>
                    <a:gd name="connsiteX6" fmla="*/ 993951 w 1594433"/>
                    <a:gd name="connsiteY6" fmla="*/ 1196853 h 119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4433" h="1196852">
                      <a:moveTo>
                        <a:pt x="1594433" y="757676"/>
                      </a:moveTo>
                      <a:lnTo>
                        <a:pt x="1594433" y="98065"/>
                      </a:lnTo>
                      <a:cubicBezTo>
                        <a:pt x="1594433" y="43893"/>
                        <a:pt x="1550540" y="0"/>
                        <a:pt x="1496368" y="0"/>
                      </a:cubicBezTo>
                      <a:lnTo>
                        <a:pt x="98065" y="0"/>
                      </a:lnTo>
                      <a:cubicBezTo>
                        <a:pt x="43893" y="0"/>
                        <a:pt x="0" y="43893"/>
                        <a:pt x="0" y="98065"/>
                      </a:cubicBezTo>
                      <a:lnTo>
                        <a:pt x="0" y="1196853"/>
                      </a:lnTo>
                      <a:lnTo>
                        <a:pt x="993951" y="1196853"/>
                      </a:lnTo>
                    </a:path>
                  </a:pathLst>
                </a:custGeom>
                <a:noFill/>
                <a:ln w="25400" cap="flat">
                  <a:solidFill>
                    <a:srgbClr val="232F3E"/>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6977EEB8-F48D-E8C5-70EA-3C3D94CB81F7}"/>
                    </a:ext>
                  </a:extLst>
                </p:cNvPr>
                <p:cNvSpPr/>
                <p:nvPr/>
              </p:nvSpPr>
              <p:spPr>
                <a:xfrm>
                  <a:off x="2467427" y="5162267"/>
                  <a:ext cx="1163721" cy="261667"/>
                </a:xfrm>
                <a:custGeom>
                  <a:avLst/>
                  <a:gdLst>
                    <a:gd name="connsiteX0" fmla="*/ 1153685 w 1163721"/>
                    <a:gd name="connsiteY0" fmla="*/ 0 h 261667"/>
                    <a:gd name="connsiteX1" fmla="*/ 0 w 1163721"/>
                    <a:gd name="connsiteY1" fmla="*/ 0 h 261667"/>
                    <a:gd name="connsiteX2" fmla="*/ 188028 w 1163721"/>
                    <a:gd name="connsiteY2" fmla="*/ 261668 h 261667"/>
                    <a:gd name="connsiteX3" fmla="*/ 1163721 w 1163721"/>
                    <a:gd name="connsiteY3" fmla="*/ 261668 h 261667"/>
                  </a:gdLst>
                  <a:ahLst/>
                  <a:cxnLst>
                    <a:cxn ang="0">
                      <a:pos x="connsiteX0" y="connsiteY0"/>
                    </a:cxn>
                    <a:cxn ang="0">
                      <a:pos x="connsiteX1" y="connsiteY1"/>
                    </a:cxn>
                    <a:cxn ang="0">
                      <a:pos x="connsiteX2" y="connsiteY2"/>
                    </a:cxn>
                    <a:cxn ang="0">
                      <a:pos x="connsiteX3" y="connsiteY3"/>
                    </a:cxn>
                  </a:cxnLst>
                  <a:rect l="l" t="t" r="r" b="b"/>
                  <a:pathLst>
                    <a:path w="1163721" h="261667">
                      <a:moveTo>
                        <a:pt x="1153685" y="0"/>
                      </a:moveTo>
                      <a:lnTo>
                        <a:pt x="0" y="0"/>
                      </a:lnTo>
                      <a:lnTo>
                        <a:pt x="188028" y="261668"/>
                      </a:lnTo>
                      <a:lnTo>
                        <a:pt x="1163721" y="261668"/>
                      </a:lnTo>
                    </a:path>
                  </a:pathLst>
                </a:custGeom>
                <a:noFill/>
                <a:ln w="25400" cap="flat">
                  <a:solidFill>
                    <a:srgbClr val="232F3E"/>
                  </a:solidFill>
                  <a:prstDash val="solid"/>
                  <a:round/>
                </a:ln>
              </p:spPr>
              <p:txBody>
                <a:bodyPr rtlCol="0" anchor="ctr"/>
                <a:lstStyle/>
                <a:p>
                  <a:endParaRPr lang="en-US"/>
                </a:p>
              </p:txBody>
            </p:sp>
          </p:grpSp>
          <p:sp>
            <p:nvSpPr>
              <p:cNvPr id="31" name="Freeform 30">
                <a:extLst>
                  <a:ext uri="{FF2B5EF4-FFF2-40B4-BE49-F238E27FC236}">
                    <a16:creationId xmlns:a16="http://schemas.microsoft.com/office/drawing/2014/main" id="{5FF99B40-EDBF-FEED-E5DF-DFC1B857E900}"/>
                  </a:ext>
                </a:extLst>
              </p:cNvPr>
              <p:cNvSpPr/>
              <p:nvPr/>
            </p:nvSpPr>
            <p:spPr>
              <a:xfrm>
                <a:off x="3724376" y="4841954"/>
                <a:ext cx="666745" cy="666745"/>
              </a:xfrm>
              <a:custGeom>
                <a:avLst/>
                <a:gdLst>
                  <a:gd name="connsiteX0" fmla="*/ 666745 w 666745"/>
                  <a:gd name="connsiteY0" fmla="*/ 333373 h 666745"/>
                  <a:gd name="connsiteX1" fmla="*/ 333373 w 666745"/>
                  <a:gd name="connsiteY1" fmla="*/ 666745 h 666745"/>
                  <a:gd name="connsiteX2" fmla="*/ 0 w 666745"/>
                  <a:gd name="connsiteY2" fmla="*/ 333373 h 666745"/>
                  <a:gd name="connsiteX3" fmla="*/ 333373 w 666745"/>
                  <a:gd name="connsiteY3" fmla="*/ 0 h 666745"/>
                  <a:gd name="connsiteX4" fmla="*/ 666745 w 666745"/>
                  <a:gd name="connsiteY4" fmla="*/ 333373 h 66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45" h="666745">
                    <a:moveTo>
                      <a:pt x="666745" y="333373"/>
                    </a:moveTo>
                    <a:cubicBezTo>
                      <a:pt x="666745" y="517489"/>
                      <a:pt x="517489" y="666745"/>
                      <a:pt x="333373" y="666745"/>
                    </a:cubicBezTo>
                    <a:cubicBezTo>
                      <a:pt x="149256" y="666745"/>
                      <a:pt x="0" y="517489"/>
                      <a:pt x="0" y="333373"/>
                    </a:cubicBezTo>
                    <a:cubicBezTo>
                      <a:pt x="0" y="149256"/>
                      <a:pt x="149256" y="0"/>
                      <a:pt x="333373" y="0"/>
                    </a:cubicBezTo>
                    <a:cubicBezTo>
                      <a:pt x="517489" y="0"/>
                      <a:pt x="666745" y="149256"/>
                      <a:pt x="666745" y="333373"/>
                    </a:cubicBezTo>
                    <a:close/>
                  </a:path>
                </a:pathLst>
              </a:custGeom>
              <a:noFill/>
              <a:ln w="25400" cap="flat">
                <a:solidFill>
                  <a:srgbClr val="232F3E"/>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4C94535D-F644-48DB-3C5C-08AD0E946CFF}"/>
                  </a:ext>
                </a:extLst>
              </p:cNvPr>
              <p:cNvSpPr/>
              <p:nvPr/>
            </p:nvSpPr>
            <p:spPr>
              <a:xfrm>
                <a:off x="3835380" y="5019704"/>
                <a:ext cx="400119" cy="155622"/>
              </a:xfrm>
              <a:custGeom>
                <a:avLst/>
                <a:gdLst>
                  <a:gd name="connsiteX0" fmla="*/ 244498 w 400119"/>
                  <a:gd name="connsiteY0" fmla="*/ 0 h 155622"/>
                  <a:gd name="connsiteX1" fmla="*/ 400120 w 400119"/>
                  <a:gd name="connsiteY1" fmla="*/ 155622 h 155622"/>
                  <a:gd name="connsiteX2" fmla="*/ 0 w 400119"/>
                  <a:gd name="connsiteY2" fmla="*/ 155622 h 155622"/>
                </a:gdLst>
                <a:ahLst/>
                <a:cxnLst>
                  <a:cxn ang="0">
                    <a:pos x="connsiteX0" y="connsiteY0"/>
                  </a:cxn>
                  <a:cxn ang="0">
                    <a:pos x="connsiteX1" y="connsiteY1"/>
                  </a:cxn>
                  <a:cxn ang="0">
                    <a:pos x="connsiteX2" y="connsiteY2"/>
                  </a:cxn>
                </a:cxnLst>
                <a:rect l="l" t="t" r="r" b="b"/>
                <a:pathLst>
                  <a:path w="400119" h="155622">
                    <a:moveTo>
                      <a:pt x="244498" y="0"/>
                    </a:moveTo>
                    <a:lnTo>
                      <a:pt x="400120" y="155622"/>
                    </a:lnTo>
                    <a:lnTo>
                      <a:pt x="0" y="155622"/>
                    </a:lnTo>
                  </a:path>
                </a:pathLst>
              </a:custGeom>
              <a:noFill/>
              <a:ln w="25400" cap="flat">
                <a:solidFill>
                  <a:srgbClr val="232F3E"/>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3F68C9CF-5DB9-1430-0DAF-83F90A750B1A}"/>
                  </a:ext>
                </a:extLst>
              </p:cNvPr>
              <p:cNvSpPr/>
              <p:nvPr/>
            </p:nvSpPr>
            <p:spPr>
              <a:xfrm>
                <a:off x="4079877" y="5175326"/>
                <a:ext cx="155622" cy="155501"/>
              </a:xfrm>
              <a:custGeom>
                <a:avLst/>
                <a:gdLst>
                  <a:gd name="connsiteX0" fmla="*/ 0 w 155622"/>
                  <a:gd name="connsiteY0" fmla="*/ 155501 h 155501"/>
                  <a:gd name="connsiteX1" fmla="*/ 155622 w 155622"/>
                  <a:gd name="connsiteY1" fmla="*/ 0 h 155501"/>
                </a:gdLst>
                <a:ahLst/>
                <a:cxnLst>
                  <a:cxn ang="0">
                    <a:pos x="connsiteX0" y="connsiteY0"/>
                  </a:cxn>
                  <a:cxn ang="0">
                    <a:pos x="connsiteX1" y="connsiteY1"/>
                  </a:cxn>
                </a:cxnLst>
                <a:rect l="l" t="t" r="r" b="b"/>
                <a:pathLst>
                  <a:path w="155622" h="155501">
                    <a:moveTo>
                      <a:pt x="0" y="155501"/>
                    </a:moveTo>
                    <a:lnTo>
                      <a:pt x="155622" y="0"/>
                    </a:lnTo>
                  </a:path>
                </a:pathLst>
              </a:custGeom>
              <a:ln w="25400" cap="flat">
                <a:solidFill>
                  <a:srgbClr val="232F3E"/>
                </a:solidFill>
                <a:prstDash val="solid"/>
                <a:round/>
              </a:ln>
            </p:spPr>
            <p:txBody>
              <a:bodyPr rtlCol="0" anchor="ctr"/>
              <a:lstStyle/>
              <a:p>
                <a:endParaRPr lang="en-US"/>
              </a:p>
            </p:txBody>
          </p:sp>
          <p:grpSp>
            <p:nvGrpSpPr>
              <p:cNvPr id="34" name="Graphic 24">
                <a:extLst>
                  <a:ext uri="{FF2B5EF4-FFF2-40B4-BE49-F238E27FC236}">
                    <a16:creationId xmlns:a16="http://schemas.microsoft.com/office/drawing/2014/main" id="{5C407FAD-6A54-3B07-D067-AFCA9700B0EF}"/>
                  </a:ext>
                </a:extLst>
              </p:cNvPr>
              <p:cNvGrpSpPr/>
              <p:nvPr/>
            </p:nvGrpSpPr>
            <p:grpSpPr>
              <a:xfrm>
                <a:off x="2868593" y="4248675"/>
                <a:ext cx="991017" cy="625996"/>
                <a:chOff x="1350115" y="4248676"/>
                <a:chExt cx="991017" cy="625996"/>
              </a:xfrm>
              <a:noFill/>
            </p:grpSpPr>
            <p:sp>
              <p:nvSpPr>
                <p:cNvPr id="35" name="Freeform 34">
                  <a:extLst>
                    <a:ext uri="{FF2B5EF4-FFF2-40B4-BE49-F238E27FC236}">
                      <a16:creationId xmlns:a16="http://schemas.microsoft.com/office/drawing/2014/main" id="{AB2D2525-7355-A18B-DDF6-081F883F95EA}"/>
                    </a:ext>
                  </a:extLst>
                </p:cNvPr>
                <p:cNvSpPr/>
                <p:nvPr/>
              </p:nvSpPr>
              <p:spPr>
                <a:xfrm>
                  <a:off x="1558718" y="4318330"/>
                  <a:ext cx="782414" cy="11591"/>
                </a:xfrm>
                <a:custGeom>
                  <a:avLst/>
                  <a:gdLst>
                    <a:gd name="connsiteX0" fmla="*/ 0 w 782414"/>
                    <a:gd name="connsiteY0" fmla="*/ 0 h 11591"/>
                    <a:gd name="connsiteX1" fmla="*/ 782415 w 782414"/>
                    <a:gd name="connsiteY1" fmla="*/ 0 h 11591"/>
                  </a:gdLst>
                  <a:ahLst/>
                  <a:cxnLst>
                    <a:cxn ang="0">
                      <a:pos x="connsiteX0" y="connsiteY0"/>
                    </a:cxn>
                    <a:cxn ang="0">
                      <a:pos x="connsiteX1" y="connsiteY1"/>
                    </a:cxn>
                  </a:cxnLst>
                  <a:rect l="l" t="t" r="r" b="b"/>
                  <a:pathLst>
                    <a:path w="782414" h="11591">
                      <a:moveTo>
                        <a:pt x="0" y="0"/>
                      </a:moveTo>
                      <a:lnTo>
                        <a:pt x="782415" y="0"/>
                      </a:lnTo>
                    </a:path>
                  </a:pathLst>
                </a:custGeom>
                <a:ln w="25400" cap="flat">
                  <a:solidFill>
                    <a:srgbClr val="232F3E"/>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E403D0BA-F3A8-9BF6-1238-0453FA4B2F7D}"/>
                    </a:ext>
                  </a:extLst>
                </p:cNvPr>
                <p:cNvSpPr/>
                <p:nvPr/>
              </p:nvSpPr>
              <p:spPr>
                <a:xfrm rot="-13200">
                  <a:off x="1350381" y="4248941"/>
                  <a:ext cx="138632" cy="138632"/>
                </a:xfrm>
                <a:custGeom>
                  <a:avLst/>
                  <a:gdLst>
                    <a:gd name="connsiteX0" fmla="*/ 0 w 138632"/>
                    <a:gd name="connsiteY0" fmla="*/ 0 h 138632"/>
                    <a:gd name="connsiteX1" fmla="*/ 138632 w 138632"/>
                    <a:gd name="connsiteY1" fmla="*/ 0 h 138632"/>
                    <a:gd name="connsiteX2" fmla="*/ 138632 w 138632"/>
                    <a:gd name="connsiteY2" fmla="*/ 138632 h 138632"/>
                    <a:gd name="connsiteX3" fmla="*/ 0 w 138632"/>
                    <a:gd name="connsiteY3" fmla="*/ 138632 h 138632"/>
                  </a:gdLst>
                  <a:ahLst/>
                  <a:cxnLst>
                    <a:cxn ang="0">
                      <a:pos x="connsiteX0" y="connsiteY0"/>
                    </a:cxn>
                    <a:cxn ang="0">
                      <a:pos x="connsiteX1" y="connsiteY1"/>
                    </a:cxn>
                    <a:cxn ang="0">
                      <a:pos x="connsiteX2" y="connsiteY2"/>
                    </a:cxn>
                    <a:cxn ang="0">
                      <a:pos x="connsiteX3" y="connsiteY3"/>
                    </a:cxn>
                  </a:cxnLst>
                  <a:rect l="l" t="t" r="r" b="b"/>
                  <a:pathLst>
                    <a:path w="138632" h="138632">
                      <a:moveTo>
                        <a:pt x="0" y="0"/>
                      </a:moveTo>
                      <a:lnTo>
                        <a:pt x="138632" y="0"/>
                      </a:lnTo>
                      <a:lnTo>
                        <a:pt x="138632" y="138632"/>
                      </a:lnTo>
                      <a:lnTo>
                        <a:pt x="0" y="138632"/>
                      </a:lnTo>
                      <a:close/>
                    </a:path>
                  </a:pathLst>
                </a:custGeom>
                <a:noFill/>
                <a:ln w="25400" cap="flat">
                  <a:solidFill>
                    <a:srgbClr val="232F3E"/>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F62E768D-5301-98B9-DBE1-64ED26E56973}"/>
                    </a:ext>
                  </a:extLst>
                </p:cNvPr>
                <p:cNvSpPr/>
                <p:nvPr/>
              </p:nvSpPr>
              <p:spPr>
                <a:xfrm>
                  <a:off x="1558718" y="4561748"/>
                  <a:ext cx="782414" cy="11591"/>
                </a:xfrm>
                <a:custGeom>
                  <a:avLst/>
                  <a:gdLst>
                    <a:gd name="connsiteX0" fmla="*/ 0 w 782414"/>
                    <a:gd name="connsiteY0" fmla="*/ 0 h 11591"/>
                    <a:gd name="connsiteX1" fmla="*/ 782415 w 782414"/>
                    <a:gd name="connsiteY1" fmla="*/ 0 h 11591"/>
                  </a:gdLst>
                  <a:ahLst/>
                  <a:cxnLst>
                    <a:cxn ang="0">
                      <a:pos x="connsiteX0" y="connsiteY0"/>
                    </a:cxn>
                    <a:cxn ang="0">
                      <a:pos x="connsiteX1" y="connsiteY1"/>
                    </a:cxn>
                  </a:cxnLst>
                  <a:rect l="l" t="t" r="r" b="b"/>
                  <a:pathLst>
                    <a:path w="782414" h="11591">
                      <a:moveTo>
                        <a:pt x="0" y="0"/>
                      </a:moveTo>
                      <a:lnTo>
                        <a:pt x="782415" y="0"/>
                      </a:lnTo>
                    </a:path>
                  </a:pathLst>
                </a:custGeom>
                <a:ln w="25400" cap="flat">
                  <a:solidFill>
                    <a:srgbClr val="232F3E"/>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0D00D2AE-6851-474F-2F57-BD8D01B0C6A5}"/>
                    </a:ext>
                  </a:extLst>
                </p:cNvPr>
                <p:cNvSpPr/>
                <p:nvPr/>
              </p:nvSpPr>
              <p:spPr>
                <a:xfrm rot="-13200">
                  <a:off x="1350388" y="4492358"/>
                  <a:ext cx="138632" cy="138632"/>
                </a:xfrm>
                <a:custGeom>
                  <a:avLst/>
                  <a:gdLst>
                    <a:gd name="connsiteX0" fmla="*/ 0 w 138632"/>
                    <a:gd name="connsiteY0" fmla="*/ 0 h 138632"/>
                    <a:gd name="connsiteX1" fmla="*/ 138632 w 138632"/>
                    <a:gd name="connsiteY1" fmla="*/ 0 h 138632"/>
                    <a:gd name="connsiteX2" fmla="*/ 138632 w 138632"/>
                    <a:gd name="connsiteY2" fmla="*/ 138632 h 138632"/>
                    <a:gd name="connsiteX3" fmla="*/ 0 w 138632"/>
                    <a:gd name="connsiteY3" fmla="*/ 138632 h 138632"/>
                  </a:gdLst>
                  <a:ahLst/>
                  <a:cxnLst>
                    <a:cxn ang="0">
                      <a:pos x="connsiteX0" y="connsiteY0"/>
                    </a:cxn>
                    <a:cxn ang="0">
                      <a:pos x="connsiteX1" y="connsiteY1"/>
                    </a:cxn>
                    <a:cxn ang="0">
                      <a:pos x="connsiteX2" y="connsiteY2"/>
                    </a:cxn>
                    <a:cxn ang="0">
                      <a:pos x="connsiteX3" y="connsiteY3"/>
                    </a:cxn>
                  </a:cxnLst>
                  <a:rect l="l" t="t" r="r" b="b"/>
                  <a:pathLst>
                    <a:path w="138632" h="138632">
                      <a:moveTo>
                        <a:pt x="0" y="0"/>
                      </a:moveTo>
                      <a:lnTo>
                        <a:pt x="138632" y="0"/>
                      </a:lnTo>
                      <a:lnTo>
                        <a:pt x="138632" y="138632"/>
                      </a:lnTo>
                      <a:lnTo>
                        <a:pt x="0" y="138632"/>
                      </a:lnTo>
                      <a:close/>
                    </a:path>
                  </a:pathLst>
                </a:custGeom>
                <a:noFill/>
                <a:ln w="25400" cap="flat">
                  <a:solidFill>
                    <a:srgbClr val="232F3E"/>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4FE2D950-9587-2BF6-7218-E26F8F650EC4}"/>
                    </a:ext>
                  </a:extLst>
                </p:cNvPr>
                <p:cNvSpPr/>
                <p:nvPr/>
              </p:nvSpPr>
              <p:spPr>
                <a:xfrm>
                  <a:off x="1558718" y="4805166"/>
                  <a:ext cx="782414" cy="11591"/>
                </a:xfrm>
                <a:custGeom>
                  <a:avLst/>
                  <a:gdLst>
                    <a:gd name="connsiteX0" fmla="*/ 0 w 782414"/>
                    <a:gd name="connsiteY0" fmla="*/ 0 h 11591"/>
                    <a:gd name="connsiteX1" fmla="*/ 782415 w 782414"/>
                    <a:gd name="connsiteY1" fmla="*/ 0 h 11591"/>
                  </a:gdLst>
                  <a:ahLst/>
                  <a:cxnLst>
                    <a:cxn ang="0">
                      <a:pos x="connsiteX0" y="connsiteY0"/>
                    </a:cxn>
                    <a:cxn ang="0">
                      <a:pos x="connsiteX1" y="connsiteY1"/>
                    </a:cxn>
                  </a:cxnLst>
                  <a:rect l="l" t="t" r="r" b="b"/>
                  <a:pathLst>
                    <a:path w="782414" h="11591">
                      <a:moveTo>
                        <a:pt x="0" y="0"/>
                      </a:moveTo>
                      <a:lnTo>
                        <a:pt x="782415" y="0"/>
                      </a:lnTo>
                    </a:path>
                  </a:pathLst>
                </a:custGeom>
                <a:ln w="25400" cap="flat">
                  <a:solidFill>
                    <a:srgbClr val="232F3E"/>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3FCCB620-3138-4033-8080-B28702666AE0}"/>
                    </a:ext>
                  </a:extLst>
                </p:cNvPr>
                <p:cNvSpPr/>
                <p:nvPr/>
              </p:nvSpPr>
              <p:spPr>
                <a:xfrm rot="-13200">
                  <a:off x="1350395" y="4735774"/>
                  <a:ext cx="138632" cy="138632"/>
                </a:xfrm>
                <a:custGeom>
                  <a:avLst/>
                  <a:gdLst>
                    <a:gd name="connsiteX0" fmla="*/ 0 w 138632"/>
                    <a:gd name="connsiteY0" fmla="*/ 0 h 138632"/>
                    <a:gd name="connsiteX1" fmla="*/ 138632 w 138632"/>
                    <a:gd name="connsiteY1" fmla="*/ 0 h 138632"/>
                    <a:gd name="connsiteX2" fmla="*/ 138632 w 138632"/>
                    <a:gd name="connsiteY2" fmla="*/ 138632 h 138632"/>
                    <a:gd name="connsiteX3" fmla="*/ 0 w 138632"/>
                    <a:gd name="connsiteY3" fmla="*/ 138632 h 138632"/>
                  </a:gdLst>
                  <a:ahLst/>
                  <a:cxnLst>
                    <a:cxn ang="0">
                      <a:pos x="connsiteX0" y="connsiteY0"/>
                    </a:cxn>
                    <a:cxn ang="0">
                      <a:pos x="connsiteX1" y="connsiteY1"/>
                    </a:cxn>
                    <a:cxn ang="0">
                      <a:pos x="connsiteX2" y="connsiteY2"/>
                    </a:cxn>
                    <a:cxn ang="0">
                      <a:pos x="connsiteX3" y="connsiteY3"/>
                    </a:cxn>
                  </a:cxnLst>
                  <a:rect l="l" t="t" r="r" b="b"/>
                  <a:pathLst>
                    <a:path w="138632" h="138632">
                      <a:moveTo>
                        <a:pt x="0" y="0"/>
                      </a:moveTo>
                      <a:lnTo>
                        <a:pt x="138632" y="0"/>
                      </a:lnTo>
                      <a:lnTo>
                        <a:pt x="138632" y="138632"/>
                      </a:lnTo>
                      <a:lnTo>
                        <a:pt x="0" y="138632"/>
                      </a:lnTo>
                      <a:close/>
                    </a:path>
                  </a:pathLst>
                </a:custGeom>
                <a:noFill/>
                <a:ln w="25400" cap="flat">
                  <a:solidFill>
                    <a:srgbClr val="232F3E"/>
                  </a:solidFill>
                  <a:prstDash val="solid"/>
                  <a:round/>
                </a:ln>
              </p:spPr>
              <p:txBody>
                <a:bodyPr rtlCol="0" anchor="ctr"/>
                <a:lstStyle/>
                <a:p>
                  <a:endParaRPr lang="en-US"/>
                </a:p>
              </p:txBody>
            </p:sp>
          </p:grpSp>
        </p:grpSp>
      </p:grpSp>
    </p:spTree>
    <p:extLst>
      <p:ext uri="{BB962C8B-B14F-4D97-AF65-F5344CB8AC3E}">
        <p14:creationId xmlns:p14="http://schemas.microsoft.com/office/powerpoint/2010/main" val="2331788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E4F80EC6-67F4-37D8-DD8E-5CD783DBEB7B}"/>
              </a:ext>
            </a:extLst>
          </p:cNvPr>
          <p:cNvSpPr>
            <a:spLocks noGrp="1"/>
          </p:cNvSpPr>
          <p:nvPr>
            <p:ph type="sldNum" idx="97"/>
          </p:nvPr>
        </p:nvSpPr>
        <p:spPr/>
        <p:txBody>
          <a:bodyPr/>
          <a:lstStyle/>
          <a:p>
            <a:fld id="{4037B1B0-0345-4E15-985A-6BECCDBE474F}" type="slidenum">
              <a:rPr lang="en-US" smtClean="0"/>
              <a:pPr/>
              <a:t>19</a:t>
            </a:fld>
            <a:endParaRPr lang="en-US" dirty="0"/>
          </a:p>
        </p:txBody>
      </p:sp>
      <p:sp>
        <p:nvSpPr>
          <p:cNvPr id="6" name="Title">
            <a:extLst>
              <a:ext uri="{FF2B5EF4-FFF2-40B4-BE49-F238E27FC236}">
                <a16:creationId xmlns:a16="http://schemas.microsoft.com/office/drawing/2014/main" id="{3B63D740-18F2-F34E-B110-7EA1B3F1A594}"/>
              </a:ext>
            </a:extLst>
          </p:cNvPr>
          <p:cNvSpPr>
            <a:spLocks noGrp="1"/>
          </p:cNvSpPr>
          <p:nvPr>
            <p:ph type="title" idx="1"/>
          </p:nvPr>
        </p:nvSpPr>
        <p:spPr/>
        <p:txBody>
          <a:bodyPr/>
          <a:lstStyle/>
          <a:p>
            <a:r>
              <a:rPr lang="en-US" dirty="0"/>
              <a:t>Retrieval-Augmented Generation (RAG)</a:t>
            </a:r>
          </a:p>
        </p:txBody>
      </p:sp>
      <p:sp>
        <p:nvSpPr>
          <p:cNvPr id="7" name="Content Placeholder 6">
            <a:extLst>
              <a:ext uri="{FF2B5EF4-FFF2-40B4-BE49-F238E27FC236}">
                <a16:creationId xmlns:a16="http://schemas.microsoft.com/office/drawing/2014/main" id="{578B3132-1B9E-5E21-B7DF-9559B987901F}"/>
              </a:ext>
            </a:extLst>
          </p:cNvPr>
          <p:cNvSpPr>
            <a:spLocks noGrp="1"/>
          </p:cNvSpPr>
          <p:nvPr>
            <p:ph idx="4294967295"/>
          </p:nvPr>
        </p:nvSpPr>
        <p:spPr>
          <a:xfrm>
            <a:off x="6737033" y="1881188"/>
            <a:ext cx="4852987" cy="3278187"/>
          </a:xfrm>
          <a:ln w="25400">
            <a:solidFill>
              <a:schemeClr val="accent1"/>
            </a:solidFill>
          </a:ln>
        </p:spPr>
        <p:txBody>
          <a:bodyPr/>
          <a:lstStyle/>
          <a:p>
            <a:pPr marL="0" indent="0">
              <a:buNone/>
            </a:pPr>
            <a:r>
              <a:rPr lang="en-US" b="1" dirty="0"/>
              <a:t>Generative language model</a:t>
            </a:r>
          </a:p>
          <a:p>
            <a:pPr marL="0" indent="0">
              <a:buNone/>
            </a:pPr>
            <a:r>
              <a:rPr lang="en-US" sz="2400" dirty="0"/>
              <a:t>Generates output that combines the retrieved information with its own model information.</a:t>
            </a:r>
          </a:p>
          <a:p>
            <a:endParaRPr lang="en-US" dirty="0"/>
          </a:p>
          <a:p>
            <a:endParaRPr lang="en-US" dirty="0"/>
          </a:p>
        </p:txBody>
      </p:sp>
      <p:sp>
        <p:nvSpPr>
          <p:cNvPr id="8" name="TextBox 7">
            <a:extLst>
              <a:ext uri="{FF2B5EF4-FFF2-40B4-BE49-F238E27FC236}">
                <a16:creationId xmlns:a16="http://schemas.microsoft.com/office/drawing/2014/main" id="{F21C0540-380E-DF26-9088-9F8A617DA631}"/>
              </a:ext>
            </a:extLst>
          </p:cNvPr>
          <p:cNvSpPr txBox="1"/>
          <p:nvPr/>
        </p:nvSpPr>
        <p:spPr>
          <a:xfrm>
            <a:off x="942392" y="1881051"/>
            <a:ext cx="4357396" cy="3298339"/>
          </a:xfrm>
          <a:prstGeom prst="rect">
            <a:avLst/>
          </a:prstGeom>
          <a:noFill/>
          <a:ln w="25400">
            <a:solidFill>
              <a:schemeClr val="accent1"/>
            </a:solidFill>
          </a:ln>
        </p:spPr>
        <p:txBody>
          <a:bodyPr wrap="square" rtlCol="0">
            <a:spAutoFit/>
          </a:bodyPr>
          <a:lstStyle/>
          <a:p>
            <a:pPr marL="0" indent="0">
              <a:spcBef>
                <a:spcPts val="1000"/>
              </a:spcBef>
              <a:spcAft>
                <a:spcPts val="600"/>
              </a:spcAft>
              <a:buNone/>
            </a:pPr>
            <a:r>
              <a:rPr lang="en-US" sz="2800" b="1" dirty="0">
                <a:solidFill>
                  <a:srgbClr val="232F3E"/>
                </a:solidFill>
                <a:latin typeface="Amazon Ember Display"/>
              </a:rPr>
              <a:t>Retrieval system</a:t>
            </a:r>
          </a:p>
          <a:p>
            <a:pPr>
              <a:spcBef>
                <a:spcPts val="1000"/>
              </a:spcBef>
              <a:spcAft>
                <a:spcPts val="600"/>
              </a:spcAft>
            </a:pPr>
            <a:r>
              <a:rPr lang="en-US" sz="2400" dirty="0">
                <a:solidFill>
                  <a:srgbClr val="232F3E"/>
                </a:solidFill>
                <a:latin typeface="Amazon Ember Display"/>
              </a:rPr>
              <a:t>Retrieves information from knowledge base, web pages, or other data sources</a:t>
            </a:r>
          </a:p>
          <a:p>
            <a:endParaRPr lang="en-US" dirty="0"/>
          </a:p>
          <a:p>
            <a:endParaRPr lang="en-US" dirty="0"/>
          </a:p>
          <a:p>
            <a:endParaRPr lang="en-US" dirty="0"/>
          </a:p>
          <a:p>
            <a:endParaRPr lang="en-US" dirty="0"/>
          </a:p>
          <a:p>
            <a:endParaRPr lang="en-US" dirty="0"/>
          </a:p>
        </p:txBody>
      </p:sp>
      <p:sp>
        <p:nvSpPr>
          <p:cNvPr id="10" name="Plus 9">
            <a:extLst>
              <a:ext uri="{FF2B5EF4-FFF2-40B4-BE49-F238E27FC236}">
                <a16:creationId xmlns:a16="http://schemas.microsoft.com/office/drawing/2014/main" id="{9D6F4884-2A09-EAF8-FAFA-E46F1AF04169}"/>
              </a:ext>
              <a:ext uri="{C183D7F6-B498-43B3-948B-1728B52AA6E4}">
                <adec:decorative xmlns:adec="http://schemas.microsoft.com/office/drawing/2017/decorative" val="1"/>
              </a:ext>
            </a:extLst>
          </p:cNvPr>
          <p:cNvSpPr/>
          <p:nvPr/>
        </p:nvSpPr>
        <p:spPr>
          <a:xfrm>
            <a:off x="5528388" y="2948473"/>
            <a:ext cx="737119" cy="662474"/>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45141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4BC10AC-0DB3-A8C9-E706-4B4D38A41990}"/>
              </a:ext>
            </a:extLst>
          </p:cNvPr>
          <p:cNvSpPr>
            <a:spLocks noGrp="1"/>
          </p:cNvSpPr>
          <p:nvPr>
            <p:ph type="sldNum" idx="97"/>
          </p:nvPr>
        </p:nvSpPr>
        <p:spPr/>
        <p:txBody>
          <a:bodyPr/>
          <a:lstStyle/>
          <a:p>
            <a:fld id="{4037B1B0-0345-4E15-985A-6BECCDBE474F}" type="slidenum">
              <a:rPr lang="en-US" smtClean="0"/>
              <a:pPr/>
              <a:t>20</a:t>
            </a:fld>
            <a:endParaRPr lang="en-US" dirty="0"/>
          </a:p>
        </p:txBody>
      </p:sp>
      <p:sp>
        <p:nvSpPr>
          <p:cNvPr id="10" name="Title">
            <a:extLst>
              <a:ext uri="{FF2B5EF4-FFF2-40B4-BE49-F238E27FC236}">
                <a16:creationId xmlns:a16="http://schemas.microsoft.com/office/drawing/2014/main" id="{2371631A-530C-21C0-40A9-B11F8D7492D7}"/>
              </a:ext>
            </a:extLst>
          </p:cNvPr>
          <p:cNvSpPr>
            <a:spLocks noGrp="1"/>
          </p:cNvSpPr>
          <p:nvPr>
            <p:ph type="title" idx="1"/>
          </p:nvPr>
        </p:nvSpPr>
        <p:spPr/>
        <p:txBody>
          <a:bodyPr>
            <a:normAutofit/>
          </a:bodyPr>
          <a:lstStyle/>
          <a:p>
            <a:r>
              <a:rPr lang="en-US" dirty="0"/>
              <a:t>Using knowledge bases with FMs</a:t>
            </a:r>
          </a:p>
        </p:txBody>
      </p:sp>
      <p:sp>
        <p:nvSpPr>
          <p:cNvPr id="6" name="TextBox 5">
            <a:extLst>
              <a:ext uri="{FF2B5EF4-FFF2-40B4-BE49-F238E27FC236}">
                <a16:creationId xmlns:a16="http://schemas.microsoft.com/office/drawing/2014/main" id="{6EDE982C-42F0-D30D-53CC-761130A88BA1}"/>
              </a:ext>
            </a:extLst>
          </p:cNvPr>
          <p:cNvSpPr txBox="1"/>
          <p:nvPr/>
        </p:nvSpPr>
        <p:spPr>
          <a:xfrm>
            <a:off x="1682400" y="3502016"/>
            <a:ext cx="1515158" cy="707886"/>
          </a:xfrm>
          <a:prstGeom prst="rect">
            <a:avLst/>
          </a:prstGeom>
          <a:noFill/>
        </p:spPr>
        <p:txBody>
          <a:bodyPr wrap="none" rtlCol="0">
            <a:spAutoFit/>
          </a:bodyPr>
          <a:lstStyle/>
          <a:p>
            <a:pPr algn="ctr"/>
            <a:r>
              <a:rPr lang="en-US" sz="2000" dirty="0"/>
              <a:t>Foundation</a:t>
            </a:r>
            <a:br>
              <a:rPr lang="en-US" sz="2000" dirty="0"/>
            </a:br>
            <a:r>
              <a:rPr lang="en-US" sz="2000" dirty="0"/>
              <a:t>model</a:t>
            </a:r>
          </a:p>
        </p:txBody>
      </p:sp>
      <p:sp>
        <p:nvSpPr>
          <p:cNvPr id="8" name="TextBox 7">
            <a:extLst>
              <a:ext uri="{FF2B5EF4-FFF2-40B4-BE49-F238E27FC236}">
                <a16:creationId xmlns:a16="http://schemas.microsoft.com/office/drawing/2014/main" id="{239A556B-E3C2-9602-917D-2DDEB5040909}"/>
              </a:ext>
            </a:extLst>
          </p:cNvPr>
          <p:cNvSpPr txBox="1"/>
          <p:nvPr/>
        </p:nvSpPr>
        <p:spPr>
          <a:xfrm>
            <a:off x="5105696" y="3489629"/>
            <a:ext cx="1486304" cy="707886"/>
          </a:xfrm>
          <a:prstGeom prst="rect">
            <a:avLst/>
          </a:prstGeom>
          <a:noFill/>
        </p:spPr>
        <p:txBody>
          <a:bodyPr wrap="none" rtlCol="0">
            <a:spAutoFit/>
          </a:bodyPr>
          <a:lstStyle/>
          <a:p>
            <a:pPr algn="ctr"/>
            <a:r>
              <a:rPr lang="en-US" sz="2000" dirty="0"/>
              <a:t>Knowledge</a:t>
            </a:r>
          </a:p>
          <a:p>
            <a:pPr algn="ctr"/>
            <a:r>
              <a:rPr lang="en-US" sz="2000" dirty="0"/>
              <a:t>base</a:t>
            </a:r>
          </a:p>
        </p:txBody>
      </p:sp>
      <p:sp>
        <p:nvSpPr>
          <p:cNvPr id="9" name="TextBox 8">
            <a:extLst>
              <a:ext uri="{FF2B5EF4-FFF2-40B4-BE49-F238E27FC236}">
                <a16:creationId xmlns:a16="http://schemas.microsoft.com/office/drawing/2014/main" id="{45992B44-FB7E-1519-DED5-F8B79FEA512B}"/>
              </a:ext>
            </a:extLst>
          </p:cNvPr>
          <p:cNvSpPr txBox="1"/>
          <p:nvPr/>
        </p:nvSpPr>
        <p:spPr>
          <a:xfrm>
            <a:off x="8633675" y="3506768"/>
            <a:ext cx="1719665" cy="707886"/>
          </a:xfrm>
          <a:prstGeom prst="rect">
            <a:avLst/>
          </a:prstGeom>
          <a:noFill/>
        </p:spPr>
        <p:txBody>
          <a:bodyPr wrap="square" rtlCol="0">
            <a:spAutoFit/>
          </a:bodyPr>
          <a:lstStyle/>
          <a:p>
            <a:pPr algn="ctr"/>
            <a:r>
              <a:rPr lang="en-US" sz="2000" dirty="0"/>
              <a:t>Customer support app</a:t>
            </a:r>
            <a:endParaRPr lang="en-US" sz="6600" dirty="0"/>
          </a:p>
        </p:txBody>
      </p:sp>
      <p:sp>
        <p:nvSpPr>
          <p:cNvPr id="11" name="Cross 10">
            <a:extLst>
              <a:ext uri="{FF2B5EF4-FFF2-40B4-BE49-F238E27FC236}">
                <a16:creationId xmlns:a16="http://schemas.microsoft.com/office/drawing/2014/main" id="{ABDC03FE-41B9-669D-5383-9E4648F684A3}"/>
              </a:ext>
              <a:ext uri="{C183D7F6-B498-43B3-948B-1728B52AA6E4}">
                <adec:decorative xmlns:adec="http://schemas.microsoft.com/office/drawing/2017/decorative" val="1"/>
              </a:ext>
            </a:extLst>
          </p:cNvPr>
          <p:cNvSpPr/>
          <p:nvPr/>
        </p:nvSpPr>
        <p:spPr>
          <a:xfrm>
            <a:off x="3747193" y="2656628"/>
            <a:ext cx="773055" cy="773055"/>
          </a:xfrm>
          <a:prstGeom prst="plus">
            <a:avLst>
              <a:gd name="adj" fmla="val 38240"/>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41ADD1DF-9173-C603-E50A-2C7E9F76157A}"/>
              </a:ext>
              <a:ext uri="{C183D7F6-B498-43B3-948B-1728B52AA6E4}">
                <adec:decorative xmlns:adec="http://schemas.microsoft.com/office/drawing/2017/decorative" val="1"/>
              </a:ext>
            </a:extLst>
          </p:cNvPr>
          <p:cNvSpPr/>
          <p:nvPr/>
        </p:nvSpPr>
        <p:spPr>
          <a:xfrm>
            <a:off x="7241214" y="2823114"/>
            <a:ext cx="891075" cy="440082"/>
          </a:xfrm>
          <a:prstGeom prst="rightArrow">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85D8A7-B27E-06C5-A8B5-DA7937AF06E1}"/>
              </a:ext>
            </a:extLst>
          </p:cNvPr>
          <p:cNvSpPr txBox="1"/>
          <p:nvPr/>
        </p:nvSpPr>
        <p:spPr>
          <a:xfrm>
            <a:off x="1327335" y="4475416"/>
            <a:ext cx="2662908" cy="1323439"/>
          </a:xfrm>
          <a:prstGeom prst="rect">
            <a:avLst/>
          </a:prstGeom>
          <a:noFill/>
        </p:spPr>
        <p:txBody>
          <a:bodyPr wrap="none" rtlCol="0">
            <a:spAutoFit/>
          </a:bodyPr>
          <a:lstStyle/>
          <a:p>
            <a:r>
              <a:rPr lang="en-US" sz="2000" dirty="0">
                <a:solidFill>
                  <a:srgbClr val="7030A0"/>
                </a:solidFill>
              </a:rPr>
              <a:t>Amazon Bedrock:</a:t>
            </a:r>
          </a:p>
          <a:p>
            <a:pPr marL="285750" indent="-285750">
              <a:buFont typeface="Arial" panose="020B0604020202020204" pitchFamily="34" charset="0"/>
              <a:buChar char="•"/>
            </a:pPr>
            <a:r>
              <a:rPr lang="en-US" sz="2000" dirty="0">
                <a:solidFill>
                  <a:srgbClr val="7030A0"/>
                </a:solidFill>
              </a:rPr>
              <a:t>Claude (Anthropic)</a:t>
            </a:r>
          </a:p>
          <a:p>
            <a:pPr marL="285750" indent="-285750">
              <a:buFont typeface="Arial" panose="020B0604020202020204" pitchFamily="34" charset="0"/>
              <a:buChar char="•"/>
            </a:pPr>
            <a:r>
              <a:rPr lang="en-US" sz="2000" dirty="0">
                <a:solidFill>
                  <a:srgbClr val="7030A0"/>
                </a:solidFill>
                <a:effectLst/>
                <a:latin typeface="+mn-lt"/>
                <a:ea typeface="Times New Roman" panose="02020603050405020304" pitchFamily="18" charset="0"/>
                <a:cs typeface="Times New Roman" panose="02020603050405020304" pitchFamily="18" charset="0"/>
              </a:rPr>
              <a:t>Titan (Amazon)</a:t>
            </a:r>
            <a:endParaRPr lang="en-US" sz="2000" dirty="0">
              <a:solidFill>
                <a:srgbClr val="7030A0"/>
              </a:solidFill>
              <a:effectLst/>
              <a:latin typeface="+mn-lt"/>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US" sz="2000" dirty="0">
              <a:solidFill>
                <a:srgbClr val="7030A0"/>
              </a:solidFill>
            </a:endParaRPr>
          </a:p>
        </p:txBody>
      </p:sp>
      <p:sp>
        <p:nvSpPr>
          <p:cNvPr id="16" name="TextBox 15">
            <a:extLst>
              <a:ext uri="{FF2B5EF4-FFF2-40B4-BE49-F238E27FC236}">
                <a16:creationId xmlns:a16="http://schemas.microsoft.com/office/drawing/2014/main" id="{0F2C2250-DE0C-26BD-7CC5-33EE4BB4C1E1}"/>
              </a:ext>
            </a:extLst>
          </p:cNvPr>
          <p:cNvSpPr txBox="1"/>
          <p:nvPr/>
        </p:nvSpPr>
        <p:spPr>
          <a:xfrm>
            <a:off x="4774676" y="4475416"/>
            <a:ext cx="3357613" cy="1938992"/>
          </a:xfrm>
          <a:prstGeom prst="rect">
            <a:avLst/>
          </a:prstGeom>
          <a:noFill/>
        </p:spPr>
        <p:txBody>
          <a:bodyPr wrap="square" rtlCol="0">
            <a:spAutoFit/>
          </a:bodyPr>
          <a:lstStyle/>
          <a:p>
            <a:r>
              <a:rPr lang="en-US" sz="2000" dirty="0">
                <a:solidFill>
                  <a:srgbClr val="7030A0"/>
                </a:solidFill>
              </a:rPr>
              <a:t>Company data:</a:t>
            </a:r>
          </a:p>
          <a:p>
            <a:pPr marL="285750" indent="-285750">
              <a:buFont typeface="Arial" panose="020B0604020202020204" pitchFamily="34" charset="0"/>
              <a:buChar char="•"/>
            </a:pPr>
            <a:r>
              <a:rPr lang="en-US" sz="2000" dirty="0">
                <a:solidFill>
                  <a:srgbClr val="7030A0"/>
                </a:solidFill>
              </a:rPr>
              <a:t>Amazon Simple Storage Service (Amazon S3), database, files</a:t>
            </a:r>
          </a:p>
          <a:p>
            <a:pPr marL="285750" indent="-285750">
              <a:buFont typeface="Arial" panose="020B0604020202020204" pitchFamily="34" charset="0"/>
              <a:buChar char="•"/>
            </a:pPr>
            <a:r>
              <a:rPr lang="en-US" sz="2000" dirty="0">
                <a:solidFill>
                  <a:srgbClr val="7030A0"/>
                </a:solidFill>
              </a:rPr>
              <a:t>Sales reports</a:t>
            </a:r>
          </a:p>
          <a:p>
            <a:pPr marL="285750" indent="-285750">
              <a:buFont typeface="Arial" panose="020B0604020202020204" pitchFamily="34" charset="0"/>
              <a:buChar char="•"/>
            </a:pPr>
            <a:r>
              <a:rPr lang="en-US" sz="2000" dirty="0">
                <a:solidFill>
                  <a:srgbClr val="7030A0"/>
                </a:solidFill>
              </a:rPr>
              <a:t>Product data</a:t>
            </a:r>
          </a:p>
        </p:txBody>
      </p:sp>
      <p:sp>
        <p:nvSpPr>
          <p:cNvPr id="17" name="TextBox 16">
            <a:extLst>
              <a:ext uri="{FF2B5EF4-FFF2-40B4-BE49-F238E27FC236}">
                <a16:creationId xmlns:a16="http://schemas.microsoft.com/office/drawing/2014/main" id="{C8464BE7-BB69-7E1D-3D25-07802029F24B}"/>
              </a:ext>
            </a:extLst>
          </p:cNvPr>
          <p:cNvSpPr txBox="1"/>
          <p:nvPr/>
        </p:nvSpPr>
        <p:spPr>
          <a:xfrm>
            <a:off x="8408626" y="4475415"/>
            <a:ext cx="2270876" cy="1323439"/>
          </a:xfrm>
          <a:prstGeom prst="rect">
            <a:avLst/>
          </a:prstGeom>
          <a:noFill/>
        </p:spPr>
        <p:txBody>
          <a:bodyPr wrap="square" rtlCol="0">
            <a:spAutoFit/>
          </a:bodyPr>
          <a:lstStyle/>
          <a:p>
            <a:r>
              <a:rPr lang="en-US" sz="2000" dirty="0">
                <a:solidFill>
                  <a:srgbClr val="7030A0"/>
                </a:solidFill>
              </a:rPr>
              <a:t>Build a functional application based on your company data.</a:t>
            </a:r>
          </a:p>
        </p:txBody>
      </p:sp>
      <p:pic>
        <p:nvPicPr>
          <p:cNvPr id="18" name="Graphic 17">
            <a:extLst>
              <a:ext uri="{FF2B5EF4-FFF2-40B4-BE49-F238E27FC236}">
                <a16:creationId xmlns:a16="http://schemas.microsoft.com/office/drawing/2014/main" id="{8557DD1A-E0FD-07D7-8993-4E8CF50CE941}"/>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06516" y="2289796"/>
            <a:ext cx="1266926" cy="1266926"/>
          </a:xfrm>
          <a:prstGeom prst="rect">
            <a:avLst/>
          </a:prstGeom>
        </p:spPr>
      </p:pic>
      <p:pic>
        <p:nvPicPr>
          <p:cNvPr id="19" name="Graphic 18">
            <a:extLst>
              <a:ext uri="{FF2B5EF4-FFF2-40B4-BE49-F238E27FC236}">
                <a16:creationId xmlns:a16="http://schemas.microsoft.com/office/drawing/2014/main" id="{F5FF7F66-0C74-B82E-B352-11282FB548D1}"/>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24609" y="2299020"/>
            <a:ext cx="1248478" cy="1248478"/>
          </a:xfrm>
          <a:prstGeom prst="rect">
            <a:avLst/>
          </a:prstGeom>
        </p:spPr>
      </p:pic>
      <p:pic>
        <p:nvPicPr>
          <p:cNvPr id="20" name="Graphic 19">
            <a:extLst>
              <a:ext uri="{FF2B5EF4-FFF2-40B4-BE49-F238E27FC236}">
                <a16:creationId xmlns:a16="http://schemas.microsoft.com/office/drawing/2014/main" id="{A77211A3-F5F5-06A4-D5D2-4A8B6B169DA5}"/>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58240" y="2287991"/>
            <a:ext cx="1270535" cy="1270535"/>
          </a:xfrm>
          <a:prstGeom prst="rect">
            <a:avLst/>
          </a:prstGeom>
        </p:spPr>
      </p:pic>
      <p:sp>
        <p:nvSpPr>
          <p:cNvPr id="21" name="Rectangle 20">
            <a:extLst>
              <a:ext uri="{FF2B5EF4-FFF2-40B4-BE49-F238E27FC236}">
                <a16:creationId xmlns:a16="http://schemas.microsoft.com/office/drawing/2014/main" id="{0206B1CE-4CA3-3B2A-4223-AA283D26D698}"/>
              </a:ext>
              <a:ext uri="{C183D7F6-B498-43B3-948B-1728B52AA6E4}">
                <adec:decorative xmlns:adec="http://schemas.microsoft.com/office/drawing/2017/decorative" val="1"/>
              </a:ext>
            </a:extLst>
          </p:cNvPr>
          <p:cNvSpPr/>
          <p:nvPr/>
        </p:nvSpPr>
        <p:spPr>
          <a:xfrm>
            <a:off x="1393526" y="2257305"/>
            <a:ext cx="2092906" cy="2011782"/>
          </a:xfrm>
          <a:prstGeom prst="rect">
            <a:avLst/>
          </a:prstGeom>
          <a:no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171D097-72C7-3F68-7790-C98201408D2B}"/>
              </a:ext>
              <a:ext uri="{C183D7F6-B498-43B3-948B-1728B52AA6E4}">
                <adec:decorative xmlns:adec="http://schemas.microsoft.com/office/drawing/2017/decorative" val="1"/>
              </a:ext>
            </a:extLst>
          </p:cNvPr>
          <p:cNvSpPr/>
          <p:nvPr/>
        </p:nvSpPr>
        <p:spPr>
          <a:xfrm>
            <a:off x="4802395" y="2257305"/>
            <a:ext cx="2092906" cy="2011782"/>
          </a:xfrm>
          <a:prstGeom prst="rect">
            <a:avLst/>
          </a:prstGeom>
          <a:no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07692D9-E3DF-F3F9-9A24-97CB7B2BEB27}"/>
              </a:ext>
              <a:ext uri="{C183D7F6-B498-43B3-948B-1728B52AA6E4}">
                <adec:decorative xmlns:adec="http://schemas.microsoft.com/office/drawing/2017/decorative" val="1"/>
              </a:ext>
            </a:extLst>
          </p:cNvPr>
          <p:cNvSpPr/>
          <p:nvPr/>
        </p:nvSpPr>
        <p:spPr>
          <a:xfrm>
            <a:off x="8447054" y="2257305"/>
            <a:ext cx="2092906" cy="2011782"/>
          </a:xfrm>
          <a:prstGeom prst="rect">
            <a:avLst/>
          </a:prstGeom>
          <a:no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0890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C0966AF-A2A2-4627-A63B-0381B05009D9}"/>
              </a:ext>
            </a:extLst>
          </p:cNvPr>
          <p:cNvSpPr>
            <a:spLocks noGrp="1"/>
          </p:cNvSpPr>
          <p:nvPr>
            <p:ph type="sldNum" idx="97"/>
          </p:nvPr>
        </p:nvSpPr>
        <p:spPr/>
        <p:txBody>
          <a:bodyPr/>
          <a:lstStyle/>
          <a:p>
            <a:fld id="{4037B1B0-0345-4E15-985A-6BECCDBE474F}" type="slidenum">
              <a:rPr lang="en-US" smtClean="0"/>
              <a:pPr/>
              <a:t>21</a:t>
            </a:fld>
            <a:endParaRPr lang="en-US" dirty="0"/>
          </a:p>
        </p:txBody>
      </p:sp>
      <p:sp>
        <p:nvSpPr>
          <p:cNvPr id="6" name="Title">
            <a:extLst>
              <a:ext uri="{FF2B5EF4-FFF2-40B4-BE49-F238E27FC236}">
                <a16:creationId xmlns:a16="http://schemas.microsoft.com/office/drawing/2014/main" id="{7161BDD4-F5B8-43FE-8380-46C28425D31D}"/>
              </a:ext>
            </a:extLst>
          </p:cNvPr>
          <p:cNvSpPr>
            <a:spLocks noGrp="1"/>
          </p:cNvSpPr>
          <p:nvPr>
            <p:ph type="title" idx="1"/>
          </p:nvPr>
        </p:nvSpPr>
        <p:spPr/>
        <p:txBody>
          <a:bodyPr>
            <a:normAutofit fontScale="90000"/>
          </a:bodyPr>
          <a:lstStyle/>
          <a:p>
            <a:r>
              <a:rPr lang="en-US" dirty="0">
                <a:effectLst/>
              </a:rPr>
              <a:t>Tool-use prompting and action-oriented prompting</a:t>
            </a:r>
          </a:p>
        </p:txBody>
      </p:sp>
      <p:sp>
        <p:nvSpPr>
          <p:cNvPr id="7" name="Content Placeholder 6">
            <a:extLst>
              <a:ext uri="{FF2B5EF4-FFF2-40B4-BE49-F238E27FC236}">
                <a16:creationId xmlns:a16="http://schemas.microsoft.com/office/drawing/2014/main" id="{1D7C9ADE-1B05-4D31-9C78-4B87CFF04083}"/>
              </a:ext>
            </a:extLst>
          </p:cNvPr>
          <p:cNvSpPr>
            <a:spLocks noGrp="1"/>
          </p:cNvSpPr>
          <p:nvPr>
            <p:ph idx="2"/>
          </p:nvPr>
        </p:nvSpPr>
        <p:spPr/>
        <p:txBody>
          <a:bodyPr/>
          <a:lstStyle/>
          <a:p>
            <a:pPr marL="0" indent="0">
              <a:buNone/>
            </a:pPr>
            <a:r>
              <a:rPr lang="en-US" sz="2400" b="1" dirty="0">
                <a:effectLst/>
              </a:rPr>
              <a:t>Tool-use prompting:</a:t>
            </a:r>
            <a:r>
              <a:rPr lang="en-US" sz="2400" dirty="0">
                <a:effectLst/>
              </a:rPr>
              <a:t> </a:t>
            </a:r>
          </a:p>
          <a:p>
            <a:r>
              <a:rPr lang="en-US" sz="2400" dirty="0">
                <a:effectLst/>
              </a:rPr>
              <a:t>Instruct AI to use specific tools or APIs. </a:t>
            </a:r>
          </a:p>
          <a:p>
            <a:r>
              <a:rPr lang="en-US" sz="2400" dirty="0">
                <a:effectLst/>
              </a:rPr>
              <a:t>Example: "Use a calculator to solve this equation." </a:t>
            </a:r>
          </a:p>
          <a:p>
            <a:pPr marL="0" indent="0">
              <a:buNone/>
            </a:pPr>
            <a:endParaRPr lang="en-US" sz="2400" b="1" dirty="0">
              <a:effectLst/>
            </a:endParaRPr>
          </a:p>
          <a:p>
            <a:pPr marL="0" indent="0">
              <a:buNone/>
            </a:pPr>
            <a:r>
              <a:rPr lang="en-US" sz="2400" b="1" dirty="0">
                <a:effectLst/>
              </a:rPr>
              <a:t>Action-oriented prompting:</a:t>
            </a:r>
            <a:r>
              <a:rPr lang="en-US" sz="2400" dirty="0">
                <a:effectLst/>
              </a:rPr>
              <a:t> </a:t>
            </a:r>
          </a:p>
          <a:p>
            <a:r>
              <a:rPr lang="en-US" sz="2400" dirty="0">
                <a:effectLst/>
              </a:rPr>
              <a:t>Direct AI to perform specific actions. </a:t>
            </a:r>
          </a:p>
          <a:p>
            <a:r>
              <a:rPr lang="en-US" sz="2400" dirty="0">
                <a:effectLst/>
              </a:rPr>
              <a:t>Example: "Analyze this data and create a chart." </a:t>
            </a:r>
          </a:p>
          <a:p>
            <a:endParaRPr lang="en-US" sz="900" dirty="0">
              <a:effectLst/>
            </a:endParaRPr>
          </a:p>
          <a:p>
            <a:pPr marL="0" indent="0">
              <a:buNone/>
            </a:pPr>
            <a:endParaRPr lang="en-US" sz="1600" dirty="0"/>
          </a:p>
        </p:txBody>
      </p:sp>
      <p:pic>
        <p:nvPicPr>
          <p:cNvPr id="4" name="Graphic 3">
            <a:extLst>
              <a:ext uri="{FF2B5EF4-FFF2-40B4-BE49-F238E27FC236}">
                <a16:creationId xmlns:a16="http://schemas.microsoft.com/office/drawing/2014/main" id="{80D9CAA1-6547-3EA2-4BAA-A6E644E038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29269" y="1650492"/>
            <a:ext cx="1572090" cy="1737261"/>
          </a:xfrm>
          <a:prstGeom prst="rect">
            <a:avLst/>
          </a:prstGeom>
        </p:spPr>
      </p:pic>
      <p:grpSp>
        <p:nvGrpSpPr>
          <p:cNvPr id="11" name="Group 10">
            <a:extLst>
              <a:ext uri="{FF2B5EF4-FFF2-40B4-BE49-F238E27FC236}">
                <a16:creationId xmlns:a16="http://schemas.microsoft.com/office/drawing/2014/main" id="{D3A77BBD-F8FA-F24A-A79C-37E8311CD7F9}"/>
              </a:ext>
              <a:ext uri="{C183D7F6-B498-43B3-948B-1728B52AA6E4}">
                <adec:decorative xmlns:adec="http://schemas.microsoft.com/office/drawing/2017/decorative" val="1"/>
              </a:ext>
            </a:extLst>
          </p:cNvPr>
          <p:cNvGrpSpPr/>
          <p:nvPr/>
        </p:nvGrpSpPr>
        <p:grpSpPr>
          <a:xfrm>
            <a:off x="8198182" y="3805099"/>
            <a:ext cx="2167064" cy="1638342"/>
            <a:chOff x="8406837" y="4050576"/>
            <a:chExt cx="1801570" cy="1366073"/>
          </a:xfrm>
        </p:grpSpPr>
        <p:pic>
          <p:nvPicPr>
            <p:cNvPr id="8" name="Graphic 7">
              <a:extLst>
                <a:ext uri="{FF2B5EF4-FFF2-40B4-BE49-F238E27FC236}">
                  <a16:creationId xmlns:a16="http://schemas.microsoft.com/office/drawing/2014/main" id="{667E4E35-96F3-0327-2758-C86CDEDEE9DA}"/>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06837" y="4158546"/>
              <a:ext cx="1258103" cy="1258103"/>
            </a:xfrm>
            <a:prstGeom prst="rect">
              <a:avLst/>
            </a:prstGeom>
          </p:spPr>
        </p:pic>
        <p:sp>
          <p:nvSpPr>
            <p:cNvPr id="9" name="Rectangle 8">
              <a:extLst>
                <a:ext uri="{FF2B5EF4-FFF2-40B4-BE49-F238E27FC236}">
                  <a16:creationId xmlns:a16="http://schemas.microsoft.com/office/drawing/2014/main" id="{C1E1416E-F09F-77D7-D03F-98AAE8005E3A}"/>
                </a:ext>
              </a:extLst>
            </p:cNvPr>
            <p:cNvSpPr/>
            <p:nvPr/>
          </p:nvSpPr>
          <p:spPr>
            <a:xfrm>
              <a:off x="9205369" y="4354221"/>
              <a:ext cx="459571" cy="6596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870EB8A1-AD8F-9C87-B521-F38423AC636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41482" y="4050576"/>
              <a:ext cx="1266925" cy="1266925"/>
            </a:xfrm>
            <a:prstGeom prst="rect">
              <a:avLst/>
            </a:prstGeom>
          </p:spPr>
        </p:pic>
      </p:grpSp>
    </p:spTree>
    <p:extLst>
      <p:ext uri="{BB962C8B-B14F-4D97-AF65-F5344CB8AC3E}">
        <p14:creationId xmlns:p14="http://schemas.microsoft.com/office/powerpoint/2010/main" val="3207006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DD9FF-7685-5F15-E438-8DE9337EB330}"/>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9499C942-7217-1582-74D5-7C79312FBE30}"/>
              </a:ext>
            </a:extLst>
          </p:cNvPr>
          <p:cNvSpPr>
            <a:spLocks noGrp="1"/>
          </p:cNvSpPr>
          <p:nvPr>
            <p:ph type="sldNum" idx="97"/>
          </p:nvPr>
        </p:nvSpPr>
        <p:spPr/>
        <p:txBody>
          <a:bodyPr/>
          <a:lstStyle/>
          <a:p>
            <a:fld id="{4037B1B0-0345-4E15-985A-6BECCDBE474F}" type="slidenum">
              <a:rPr lang="en-US" smtClean="0"/>
              <a:pPr/>
              <a:t>22</a:t>
            </a:fld>
            <a:endParaRPr lang="en-US" dirty="0"/>
          </a:p>
        </p:txBody>
      </p:sp>
      <p:sp>
        <p:nvSpPr>
          <p:cNvPr id="3" name="Title">
            <a:extLst>
              <a:ext uri="{FF2B5EF4-FFF2-40B4-BE49-F238E27FC236}">
                <a16:creationId xmlns:a16="http://schemas.microsoft.com/office/drawing/2014/main" id="{3A9A8018-7824-E0B0-6778-C9985AE553AE}"/>
              </a:ext>
            </a:extLst>
          </p:cNvPr>
          <p:cNvSpPr>
            <a:spLocks noGrp="1"/>
          </p:cNvSpPr>
          <p:nvPr>
            <p:ph type="title" idx="1"/>
          </p:nvPr>
        </p:nvSpPr>
        <p:spPr/>
        <p:txBody>
          <a:bodyPr/>
          <a:lstStyle/>
          <a:p>
            <a:r>
              <a:rPr lang="en-US" dirty="0" err="1">
                <a:effectLst/>
              </a:rPr>
              <a:t>CoT</a:t>
            </a:r>
            <a:r>
              <a:rPr lang="en-US" dirty="0">
                <a:effectLst/>
              </a:rPr>
              <a:t> and </a:t>
            </a:r>
            <a:r>
              <a:rPr lang="en-US" dirty="0" err="1">
                <a:effectLst/>
              </a:rPr>
              <a:t>ToT</a:t>
            </a:r>
            <a:r>
              <a:rPr lang="en-US" dirty="0">
                <a:effectLst/>
              </a:rPr>
              <a:t> prompting</a:t>
            </a:r>
          </a:p>
        </p:txBody>
      </p:sp>
      <p:sp>
        <p:nvSpPr>
          <p:cNvPr id="4" name="Content Placeholder 3">
            <a:extLst>
              <a:ext uri="{FF2B5EF4-FFF2-40B4-BE49-F238E27FC236}">
                <a16:creationId xmlns:a16="http://schemas.microsoft.com/office/drawing/2014/main" id="{1035335E-122B-7E4B-4ADC-20AFD0AE2C55}"/>
              </a:ext>
            </a:extLst>
          </p:cNvPr>
          <p:cNvSpPr>
            <a:spLocks noGrp="1"/>
          </p:cNvSpPr>
          <p:nvPr>
            <p:ph idx="2"/>
          </p:nvPr>
        </p:nvSpPr>
        <p:spPr/>
        <p:txBody>
          <a:bodyPr/>
          <a:lstStyle/>
          <a:p>
            <a:pPr marL="0" indent="0">
              <a:buNone/>
            </a:pPr>
            <a:r>
              <a:rPr lang="en-US" dirty="0">
                <a:effectLst/>
              </a:rPr>
              <a:t>Chain-of-thought (</a:t>
            </a:r>
            <a:r>
              <a:rPr lang="en-US" dirty="0" err="1">
                <a:effectLst/>
              </a:rPr>
              <a:t>CoT</a:t>
            </a:r>
            <a:r>
              <a:rPr lang="en-US" dirty="0">
                <a:effectLst/>
              </a:rPr>
              <a:t>)</a:t>
            </a:r>
          </a:p>
          <a:p>
            <a:r>
              <a:rPr lang="en-US" dirty="0">
                <a:effectLst/>
              </a:rPr>
              <a:t>"Think step-by-step" approach</a:t>
            </a:r>
          </a:p>
          <a:p>
            <a:r>
              <a:rPr lang="en-US" dirty="0">
                <a:effectLst/>
              </a:rPr>
              <a:t>Encourages logical reasoning</a:t>
            </a:r>
          </a:p>
          <a:p>
            <a:pPr marL="0" indent="0">
              <a:buNone/>
            </a:pPr>
            <a:endParaRPr lang="en-US" dirty="0">
              <a:effectLst/>
            </a:endParaRPr>
          </a:p>
          <a:p>
            <a:pPr marL="0" indent="0">
              <a:buNone/>
            </a:pPr>
            <a:r>
              <a:rPr lang="en-US" dirty="0">
                <a:effectLst/>
              </a:rPr>
              <a:t>Tree of thoughts (</a:t>
            </a:r>
            <a:r>
              <a:rPr lang="en-US" dirty="0" err="1">
                <a:effectLst/>
              </a:rPr>
              <a:t>ToT</a:t>
            </a:r>
            <a:r>
              <a:rPr lang="en-US" dirty="0">
                <a:effectLst/>
              </a:rPr>
              <a:t>)</a:t>
            </a:r>
          </a:p>
          <a:p>
            <a:r>
              <a:rPr lang="en-US" dirty="0">
                <a:effectLst/>
              </a:rPr>
              <a:t>Explores multiple reasoning paths</a:t>
            </a:r>
          </a:p>
          <a:p>
            <a:r>
              <a:rPr lang="en-US" dirty="0">
                <a:effectLst/>
              </a:rPr>
              <a:t>Evaluates intermediate steps</a:t>
            </a:r>
          </a:p>
        </p:txBody>
      </p:sp>
      <p:grpSp>
        <p:nvGrpSpPr>
          <p:cNvPr id="27" name="Group 26" descr="Diagram showing Chain-of-thought prompting techniques with branching thought processes.">
            <a:extLst>
              <a:ext uri="{FF2B5EF4-FFF2-40B4-BE49-F238E27FC236}">
                <a16:creationId xmlns:a16="http://schemas.microsoft.com/office/drawing/2014/main" id="{E81E079B-F0CC-4BB7-8589-D92E30D00743}"/>
              </a:ext>
            </a:extLst>
          </p:cNvPr>
          <p:cNvGrpSpPr/>
          <p:nvPr/>
        </p:nvGrpSpPr>
        <p:grpSpPr>
          <a:xfrm>
            <a:off x="6976894" y="1671667"/>
            <a:ext cx="4370810" cy="1019124"/>
            <a:chOff x="7474595" y="1449245"/>
            <a:chExt cx="4370810" cy="1019124"/>
          </a:xfrm>
        </p:grpSpPr>
        <p:grpSp>
          <p:nvGrpSpPr>
            <p:cNvPr id="5" name="Group 4">
              <a:extLst>
                <a:ext uri="{FF2B5EF4-FFF2-40B4-BE49-F238E27FC236}">
                  <a16:creationId xmlns:a16="http://schemas.microsoft.com/office/drawing/2014/main" id="{5BC3D137-2D83-6181-B9E8-700496723C03}"/>
                </a:ext>
              </a:extLst>
            </p:cNvPr>
            <p:cNvGrpSpPr/>
            <p:nvPr/>
          </p:nvGrpSpPr>
          <p:grpSpPr>
            <a:xfrm>
              <a:off x="7474595" y="1449245"/>
              <a:ext cx="3650688" cy="1019124"/>
              <a:chOff x="2467427" y="3803572"/>
              <a:chExt cx="6359073" cy="1775195"/>
            </a:xfrm>
          </p:grpSpPr>
          <p:grpSp>
            <p:nvGrpSpPr>
              <p:cNvPr id="6" name="Graphic 4" descr="Run ML Queries">
                <a:extLst>
                  <a:ext uri="{FF2B5EF4-FFF2-40B4-BE49-F238E27FC236}">
                    <a16:creationId xmlns:a16="http://schemas.microsoft.com/office/drawing/2014/main" id="{45F9487F-657F-0F5D-9EFF-B3B8C30D3742}"/>
                  </a:ext>
                </a:extLst>
              </p:cNvPr>
              <p:cNvGrpSpPr/>
              <p:nvPr/>
            </p:nvGrpSpPr>
            <p:grpSpPr>
              <a:xfrm>
                <a:off x="7047361" y="3803572"/>
                <a:ext cx="1779139" cy="1775195"/>
                <a:chOff x="7618861" y="2107162"/>
                <a:chExt cx="2187913" cy="2183063"/>
              </a:xfrm>
              <a:noFill/>
            </p:grpSpPr>
            <p:sp>
              <p:nvSpPr>
                <p:cNvPr id="7" name="Freeform 6">
                  <a:extLst>
                    <a:ext uri="{FF2B5EF4-FFF2-40B4-BE49-F238E27FC236}">
                      <a16:creationId xmlns:a16="http://schemas.microsoft.com/office/drawing/2014/main" id="{0925D45C-6FFE-E022-2B01-365B9FC19B2C}"/>
                    </a:ext>
                  </a:extLst>
                </p:cNvPr>
                <p:cNvSpPr/>
                <p:nvPr/>
              </p:nvSpPr>
              <p:spPr>
                <a:xfrm>
                  <a:off x="8151843" y="2497971"/>
                  <a:ext cx="280597" cy="729377"/>
                </a:xfrm>
                <a:custGeom>
                  <a:avLst/>
                  <a:gdLst>
                    <a:gd name="connsiteX0" fmla="*/ 0 w 280597"/>
                    <a:gd name="connsiteY0" fmla="*/ 729378 h 729377"/>
                    <a:gd name="connsiteX1" fmla="*/ 0 w 280597"/>
                    <a:gd name="connsiteY1" fmla="*/ 430044 h 729377"/>
                    <a:gd name="connsiteX2" fmla="*/ 280598 w 280597"/>
                    <a:gd name="connsiteY2" fmla="*/ 289635 h 729377"/>
                    <a:gd name="connsiteX3" fmla="*/ 280598 w 280597"/>
                    <a:gd name="connsiteY3" fmla="*/ 0 h 729377"/>
                  </a:gdLst>
                  <a:ahLst/>
                  <a:cxnLst>
                    <a:cxn ang="0">
                      <a:pos x="connsiteX0" y="connsiteY0"/>
                    </a:cxn>
                    <a:cxn ang="0">
                      <a:pos x="connsiteX1" y="connsiteY1"/>
                    </a:cxn>
                    <a:cxn ang="0">
                      <a:pos x="connsiteX2" y="connsiteY2"/>
                    </a:cxn>
                    <a:cxn ang="0">
                      <a:pos x="connsiteX3" y="connsiteY3"/>
                    </a:cxn>
                  </a:cxnLst>
                  <a:rect l="l" t="t" r="r" b="b"/>
                  <a:pathLst>
                    <a:path w="280597" h="729377">
                      <a:moveTo>
                        <a:pt x="0" y="729378"/>
                      </a:moveTo>
                      <a:lnTo>
                        <a:pt x="0" y="430044"/>
                      </a:lnTo>
                      <a:lnTo>
                        <a:pt x="280598" y="289635"/>
                      </a:lnTo>
                      <a:lnTo>
                        <a:pt x="280598" y="0"/>
                      </a:lnTo>
                    </a:path>
                  </a:pathLst>
                </a:custGeom>
                <a:noFill/>
                <a:ln w="25400" cap="flat">
                  <a:solidFill>
                    <a:srgbClr val="232F3E"/>
                  </a:solidFill>
                  <a:prstDash val="solid"/>
                  <a:round/>
                </a:ln>
              </p:spPr>
              <p:txBody>
                <a:bodyPr rtlCol="0" anchor="ctr"/>
                <a:lstStyle/>
                <a:p>
                  <a:endParaRPr lang="en-US"/>
                </a:p>
              </p:txBody>
            </p:sp>
            <p:sp>
              <p:nvSpPr>
                <p:cNvPr id="8" name="Freeform 7">
                  <a:extLst>
                    <a:ext uri="{FF2B5EF4-FFF2-40B4-BE49-F238E27FC236}">
                      <a16:creationId xmlns:a16="http://schemas.microsoft.com/office/drawing/2014/main" id="{B53D45FF-601D-D351-B9C8-1777F590B0E5}"/>
                    </a:ext>
                  </a:extLst>
                </p:cNvPr>
                <p:cNvSpPr/>
                <p:nvPr/>
              </p:nvSpPr>
              <p:spPr>
                <a:xfrm>
                  <a:off x="7893728" y="2789810"/>
                  <a:ext cx="273103" cy="136441"/>
                </a:xfrm>
                <a:custGeom>
                  <a:avLst/>
                  <a:gdLst>
                    <a:gd name="connsiteX0" fmla="*/ 273104 w 273103"/>
                    <a:gd name="connsiteY0" fmla="*/ 136441 h 136441"/>
                    <a:gd name="connsiteX1" fmla="*/ 0 w 273103"/>
                    <a:gd name="connsiteY1" fmla="*/ 0 h 136441"/>
                  </a:gdLst>
                  <a:ahLst/>
                  <a:cxnLst>
                    <a:cxn ang="0">
                      <a:pos x="connsiteX0" y="connsiteY0"/>
                    </a:cxn>
                    <a:cxn ang="0">
                      <a:pos x="connsiteX1" y="connsiteY1"/>
                    </a:cxn>
                  </a:cxnLst>
                  <a:rect l="l" t="t" r="r" b="b"/>
                  <a:pathLst>
                    <a:path w="273103" h="136441">
                      <a:moveTo>
                        <a:pt x="273104" y="136441"/>
                      </a:moveTo>
                      <a:lnTo>
                        <a:pt x="0" y="0"/>
                      </a:lnTo>
                    </a:path>
                  </a:pathLst>
                </a:custGeom>
                <a:ln w="25400" cap="flat">
                  <a:solidFill>
                    <a:srgbClr val="232F3E"/>
                  </a:solidFill>
                  <a:prstDash val="solid"/>
                  <a:round/>
                </a:ln>
              </p:spPr>
              <p:txBody>
                <a:bodyPr rtlCol="0" anchor="ctr"/>
                <a:lstStyle/>
                <a:p>
                  <a:endParaRPr lang="en-US"/>
                </a:p>
              </p:txBody>
            </p:sp>
            <p:sp>
              <p:nvSpPr>
                <p:cNvPr id="9" name="Freeform 8">
                  <a:extLst>
                    <a:ext uri="{FF2B5EF4-FFF2-40B4-BE49-F238E27FC236}">
                      <a16:creationId xmlns:a16="http://schemas.microsoft.com/office/drawing/2014/main" id="{AE4BB50B-14BE-E635-FD7A-54FDEFE1ACA5}"/>
                    </a:ext>
                  </a:extLst>
                </p:cNvPr>
                <p:cNvSpPr/>
                <p:nvPr/>
              </p:nvSpPr>
              <p:spPr>
                <a:xfrm>
                  <a:off x="8179837" y="2273801"/>
                  <a:ext cx="22042" cy="336364"/>
                </a:xfrm>
                <a:custGeom>
                  <a:avLst/>
                  <a:gdLst>
                    <a:gd name="connsiteX0" fmla="*/ 0 w 22042"/>
                    <a:gd name="connsiteY0" fmla="*/ 336365 h 336364"/>
                    <a:gd name="connsiteX1" fmla="*/ 0 w 22042"/>
                    <a:gd name="connsiteY1" fmla="*/ 0 h 336364"/>
                  </a:gdLst>
                  <a:ahLst/>
                  <a:cxnLst>
                    <a:cxn ang="0">
                      <a:pos x="connsiteX0" y="connsiteY0"/>
                    </a:cxn>
                    <a:cxn ang="0">
                      <a:pos x="connsiteX1" y="connsiteY1"/>
                    </a:cxn>
                  </a:cxnLst>
                  <a:rect l="l" t="t" r="r" b="b"/>
                  <a:pathLst>
                    <a:path w="22042" h="336364">
                      <a:moveTo>
                        <a:pt x="0" y="336365"/>
                      </a:moveTo>
                      <a:lnTo>
                        <a:pt x="0" y="0"/>
                      </a:lnTo>
                    </a:path>
                  </a:pathLst>
                </a:custGeom>
                <a:ln w="25400" cap="flat">
                  <a:solidFill>
                    <a:srgbClr val="232F3E"/>
                  </a:solidFill>
                  <a:prstDash val="solid"/>
                  <a:round/>
                </a:ln>
              </p:spPr>
              <p:txBody>
                <a:bodyPr rtlCol="0" anchor="ctr"/>
                <a:lstStyle/>
                <a:p>
                  <a:endParaRPr lang="en-US"/>
                </a:p>
              </p:txBody>
            </p:sp>
            <p:sp>
              <p:nvSpPr>
                <p:cNvPr id="10" name="Freeform 9">
                  <a:extLst>
                    <a:ext uri="{FF2B5EF4-FFF2-40B4-BE49-F238E27FC236}">
                      <a16:creationId xmlns:a16="http://schemas.microsoft.com/office/drawing/2014/main" id="{0CEA30BF-830E-3F45-44E3-51D8EE8A7A6E}"/>
                    </a:ext>
                  </a:extLst>
                </p:cNvPr>
                <p:cNvSpPr/>
                <p:nvPr/>
              </p:nvSpPr>
              <p:spPr>
                <a:xfrm>
                  <a:off x="7620845" y="3059167"/>
                  <a:ext cx="262743" cy="154736"/>
                </a:xfrm>
                <a:custGeom>
                  <a:avLst/>
                  <a:gdLst>
                    <a:gd name="connsiteX0" fmla="*/ 0 w 262743"/>
                    <a:gd name="connsiteY0" fmla="*/ 154737 h 154736"/>
                    <a:gd name="connsiteX1" fmla="*/ 262744 w 262743"/>
                    <a:gd name="connsiteY1" fmla="*/ 0 h 154736"/>
                  </a:gdLst>
                  <a:ahLst/>
                  <a:cxnLst>
                    <a:cxn ang="0">
                      <a:pos x="connsiteX0" y="connsiteY0"/>
                    </a:cxn>
                    <a:cxn ang="0">
                      <a:pos x="connsiteX1" y="connsiteY1"/>
                    </a:cxn>
                  </a:cxnLst>
                  <a:rect l="l" t="t" r="r" b="b"/>
                  <a:pathLst>
                    <a:path w="262743" h="154736">
                      <a:moveTo>
                        <a:pt x="0" y="154737"/>
                      </a:moveTo>
                      <a:lnTo>
                        <a:pt x="262744" y="0"/>
                      </a:lnTo>
                    </a:path>
                  </a:pathLst>
                </a:custGeom>
                <a:ln w="25400" cap="flat">
                  <a:solidFill>
                    <a:srgbClr val="232F3E"/>
                  </a:solidFill>
                  <a:prstDash val="solid"/>
                  <a:round/>
                </a:ln>
              </p:spPr>
              <p:txBody>
                <a:bodyPr rtlCol="0" anchor="ctr"/>
                <a:lstStyle/>
                <a:p>
                  <a:endParaRPr lang="en-US"/>
                </a:p>
              </p:txBody>
            </p:sp>
            <p:sp>
              <p:nvSpPr>
                <p:cNvPr id="11" name="Freeform 10">
                  <a:extLst>
                    <a:ext uri="{FF2B5EF4-FFF2-40B4-BE49-F238E27FC236}">
                      <a16:creationId xmlns:a16="http://schemas.microsoft.com/office/drawing/2014/main" id="{A09C59D9-3B61-6F8A-611F-E5260FBF65EC}"/>
                    </a:ext>
                  </a:extLst>
                </p:cNvPr>
                <p:cNvSpPr/>
                <p:nvPr/>
              </p:nvSpPr>
              <p:spPr>
                <a:xfrm>
                  <a:off x="7893728" y="3472238"/>
                  <a:ext cx="273103" cy="182068"/>
                </a:xfrm>
                <a:custGeom>
                  <a:avLst/>
                  <a:gdLst>
                    <a:gd name="connsiteX0" fmla="*/ 0 w 273103"/>
                    <a:gd name="connsiteY0" fmla="*/ 182069 h 182068"/>
                    <a:gd name="connsiteX1" fmla="*/ 273104 w 273103"/>
                    <a:gd name="connsiteY1" fmla="*/ 0 h 182068"/>
                  </a:gdLst>
                  <a:ahLst/>
                  <a:cxnLst>
                    <a:cxn ang="0">
                      <a:pos x="connsiteX0" y="connsiteY0"/>
                    </a:cxn>
                    <a:cxn ang="0">
                      <a:pos x="connsiteX1" y="connsiteY1"/>
                    </a:cxn>
                  </a:cxnLst>
                  <a:rect l="l" t="t" r="r" b="b"/>
                  <a:pathLst>
                    <a:path w="273103" h="182068">
                      <a:moveTo>
                        <a:pt x="0" y="182069"/>
                      </a:moveTo>
                      <a:lnTo>
                        <a:pt x="273104" y="0"/>
                      </a:lnTo>
                    </a:path>
                  </a:pathLst>
                </a:custGeom>
                <a:ln w="25400" cap="flat">
                  <a:solidFill>
                    <a:srgbClr val="232F3E"/>
                  </a:solidFill>
                  <a:prstDash val="solid"/>
                  <a:round/>
                </a:ln>
              </p:spPr>
              <p:txBody>
                <a:bodyPr rtlCol="0" anchor="ctr"/>
                <a:lstStyle/>
                <a:p>
                  <a:endParaRPr lang="en-US"/>
                </a:p>
              </p:txBody>
            </p:sp>
            <p:sp>
              <p:nvSpPr>
                <p:cNvPr id="12" name="Freeform 11">
                  <a:extLst>
                    <a:ext uri="{FF2B5EF4-FFF2-40B4-BE49-F238E27FC236}">
                      <a16:creationId xmlns:a16="http://schemas.microsoft.com/office/drawing/2014/main" id="{E1630610-F1D9-C0D6-A642-1CD357293ADB}"/>
                    </a:ext>
                  </a:extLst>
                </p:cNvPr>
                <p:cNvSpPr/>
                <p:nvPr/>
              </p:nvSpPr>
              <p:spPr>
                <a:xfrm>
                  <a:off x="8151843" y="3988247"/>
                  <a:ext cx="254367" cy="136661"/>
                </a:xfrm>
                <a:custGeom>
                  <a:avLst/>
                  <a:gdLst>
                    <a:gd name="connsiteX0" fmla="*/ 0 w 254367"/>
                    <a:gd name="connsiteY0" fmla="*/ 136662 h 136661"/>
                    <a:gd name="connsiteX1" fmla="*/ 254367 w 254367"/>
                    <a:gd name="connsiteY1" fmla="*/ 0 h 136661"/>
                  </a:gdLst>
                  <a:ahLst/>
                  <a:cxnLst>
                    <a:cxn ang="0">
                      <a:pos x="connsiteX0" y="connsiteY0"/>
                    </a:cxn>
                    <a:cxn ang="0">
                      <a:pos x="connsiteX1" y="connsiteY1"/>
                    </a:cxn>
                  </a:cxnLst>
                  <a:rect l="l" t="t" r="r" b="b"/>
                  <a:pathLst>
                    <a:path w="254367" h="136661">
                      <a:moveTo>
                        <a:pt x="0" y="136662"/>
                      </a:moveTo>
                      <a:lnTo>
                        <a:pt x="254367" y="0"/>
                      </a:lnTo>
                    </a:path>
                  </a:pathLst>
                </a:custGeom>
                <a:ln w="25400" cap="flat">
                  <a:solidFill>
                    <a:srgbClr val="232F3E"/>
                  </a:solidFill>
                  <a:prstDash val="solid"/>
                  <a:round/>
                </a:ln>
              </p:spPr>
              <p:txBody>
                <a:bodyPr rtlCol="0" anchor="ctr"/>
                <a:lstStyle/>
                <a:p>
                  <a:endParaRPr lang="en-US"/>
                </a:p>
              </p:txBody>
            </p:sp>
            <p:sp>
              <p:nvSpPr>
                <p:cNvPr id="13" name="Freeform 12">
                  <a:extLst>
                    <a:ext uri="{FF2B5EF4-FFF2-40B4-BE49-F238E27FC236}">
                      <a16:creationId xmlns:a16="http://schemas.microsoft.com/office/drawing/2014/main" id="{C3315F55-234E-780E-177B-50B3918D908B}"/>
                    </a:ext>
                  </a:extLst>
                </p:cNvPr>
                <p:cNvSpPr/>
                <p:nvPr/>
              </p:nvSpPr>
              <p:spPr>
                <a:xfrm>
                  <a:off x="8121204" y="3472238"/>
                  <a:ext cx="591613" cy="318510"/>
                </a:xfrm>
                <a:custGeom>
                  <a:avLst/>
                  <a:gdLst>
                    <a:gd name="connsiteX0" fmla="*/ 0 w 591613"/>
                    <a:gd name="connsiteY0" fmla="*/ 318510 h 318510"/>
                    <a:gd name="connsiteX1" fmla="*/ 591614 w 591613"/>
                    <a:gd name="connsiteY1" fmla="*/ 0 h 318510"/>
                  </a:gdLst>
                  <a:ahLst/>
                  <a:cxnLst>
                    <a:cxn ang="0">
                      <a:pos x="connsiteX0" y="connsiteY0"/>
                    </a:cxn>
                    <a:cxn ang="0">
                      <a:pos x="connsiteX1" y="connsiteY1"/>
                    </a:cxn>
                  </a:cxnLst>
                  <a:rect l="l" t="t" r="r" b="b"/>
                  <a:pathLst>
                    <a:path w="591613" h="318510">
                      <a:moveTo>
                        <a:pt x="0" y="318510"/>
                      </a:moveTo>
                      <a:lnTo>
                        <a:pt x="591614" y="0"/>
                      </a:lnTo>
                    </a:path>
                  </a:pathLst>
                </a:custGeom>
                <a:ln w="25400" cap="flat">
                  <a:solidFill>
                    <a:srgbClr val="232F3E"/>
                  </a:solidFill>
                  <a:prstDash val="solid"/>
                  <a:round/>
                </a:ln>
              </p:spPr>
              <p:txBody>
                <a:bodyPr rtlCol="0" anchor="ctr"/>
                <a:lstStyle/>
                <a:p>
                  <a:endParaRPr lang="en-US"/>
                </a:p>
              </p:txBody>
            </p:sp>
            <p:sp>
              <p:nvSpPr>
                <p:cNvPr id="14" name="Freeform 13">
                  <a:extLst>
                    <a:ext uri="{FF2B5EF4-FFF2-40B4-BE49-F238E27FC236}">
                      <a16:creationId xmlns:a16="http://schemas.microsoft.com/office/drawing/2014/main" id="{132D4B38-3C49-9A23-F072-21A19B45BD20}"/>
                    </a:ext>
                  </a:extLst>
                </p:cNvPr>
                <p:cNvSpPr/>
                <p:nvPr/>
              </p:nvSpPr>
              <p:spPr>
                <a:xfrm>
                  <a:off x="7893728" y="3199355"/>
                  <a:ext cx="273103" cy="181848"/>
                </a:xfrm>
                <a:custGeom>
                  <a:avLst/>
                  <a:gdLst>
                    <a:gd name="connsiteX0" fmla="*/ 0 w 273103"/>
                    <a:gd name="connsiteY0" fmla="*/ 181849 h 181848"/>
                    <a:gd name="connsiteX1" fmla="*/ 273104 w 273103"/>
                    <a:gd name="connsiteY1" fmla="*/ 0 h 181848"/>
                  </a:gdLst>
                  <a:ahLst/>
                  <a:cxnLst>
                    <a:cxn ang="0">
                      <a:pos x="connsiteX0" y="connsiteY0"/>
                    </a:cxn>
                    <a:cxn ang="0">
                      <a:pos x="connsiteX1" y="connsiteY1"/>
                    </a:cxn>
                  </a:cxnLst>
                  <a:rect l="l" t="t" r="r" b="b"/>
                  <a:pathLst>
                    <a:path w="273103" h="181848">
                      <a:moveTo>
                        <a:pt x="0" y="181849"/>
                      </a:moveTo>
                      <a:lnTo>
                        <a:pt x="273104" y="0"/>
                      </a:lnTo>
                    </a:path>
                  </a:pathLst>
                </a:custGeom>
                <a:ln w="25400" cap="flat">
                  <a:solidFill>
                    <a:srgbClr val="232F3E"/>
                  </a:solidFill>
                  <a:prstDash val="solid"/>
                  <a:round/>
                </a:ln>
              </p:spPr>
              <p:txBody>
                <a:bodyPr rtlCol="0" anchor="ctr"/>
                <a:lstStyle/>
                <a:p>
                  <a:endParaRPr lang="en-US"/>
                </a:p>
              </p:txBody>
            </p:sp>
            <p:sp>
              <p:nvSpPr>
                <p:cNvPr id="15" name="Freeform 14">
                  <a:extLst>
                    <a:ext uri="{FF2B5EF4-FFF2-40B4-BE49-F238E27FC236}">
                      <a16:creationId xmlns:a16="http://schemas.microsoft.com/office/drawing/2014/main" id="{9D3EFD71-891A-74BC-C6B4-CD91115A4F51}"/>
                    </a:ext>
                  </a:extLst>
                </p:cNvPr>
                <p:cNvSpPr/>
                <p:nvPr/>
              </p:nvSpPr>
              <p:spPr>
                <a:xfrm>
                  <a:off x="7618861" y="2107162"/>
                  <a:ext cx="1099687" cy="2183063"/>
                </a:xfrm>
                <a:custGeom>
                  <a:avLst/>
                  <a:gdLst>
                    <a:gd name="connsiteX0" fmla="*/ 1099688 w 1099687"/>
                    <a:gd name="connsiteY0" fmla="*/ 182069 h 2183063"/>
                    <a:gd name="connsiteX1" fmla="*/ 826584 w 1099687"/>
                    <a:gd name="connsiteY1" fmla="*/ 0 h 2183063"/>
                    <a:gd name="connsiteX2" fmla="*/ 280598 w 1099687"/>
                    <a:gd name="connsiteY2" fmla="*/ 318510 h 2183063"/>
                    <a:gd name="connsiteX3" fmla="*/ 280598 w 1099687"/>
                    <a:gd name="connsiteY3" fmla="*/ 678460 h 2183063"/>
                    <a:gd name="connsiteX4" fmla="*/ 0 w 1099687"/>
                    <a:gd name="connsiteY4" fmla="*/ 820853 h 2183063"/>
                    <a:gd name="connsiteX5" fmla="*/ 0 w 1099687"/>
                    <a:gd name="connsiteY5" fmla="*/ 1372571 h 2183063"/>
                    <a:gd name="connsiteX6" fmla="*/ 280598 w 1099687"/>
                    <a:gd name="connsiteY6" fmla="*/ 1540312 h 2183063"/>
                    <a:gd name="connsiteX7" fmla="*/ 280598 w 1099687"/>
                    <a:gd name="connsiteY7" fmla="*/ 1866758 h 2183063"/>
                    <a:gd name="connsiteX8" fmla="*/ 822837 w 1099687"/>
                    <a:gd name="connsiteY8" fmla="*/ 2183064 h 2183063"/>
                    <a:gd name="connsiteX9" fmla="*/ 1093957 w 1099687"/>
                    <a:gd name="connsiteY9" fmla="*/ 2037806 h 2183063"/>
                    <a:gd name="connsiteX10" fmla="*/ 1093957 w 1099687"/>
                    <a:gd name="connsiteY10" fmla="*/ 1092193 h 2183063"/>
                    <a:gd name="connsiteX11" fmla="*/ 821074 w 1099687"/>
                    <a:gd name="connsiteY11" fmla="*/ 955531 h 21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687" h="2183063">
                      <a:moveTo>
                        <a:pt x="1099688" y="182069"/>
                      </a:moveTo>
                      <a:lnTo>
                        <a:pt x="826584" y="0"/>
                      </a:lnTo>
                      <a:lnTo>
                        <a:pt x="280598" y="318510"/>
                      </a:lnTo>
                      <a:lnTo>
                        <a:pt x="280598" y="678460"/>
                      </a:lnTo>
                      <a:lnTo>
                        <a:pt x="0" y="820853"/>
                      </a:lnTo>
                      <a:lnTo>
                        <a:pt x="0" y="1372571"/>
                      </a:lnTo>
                      <a:lnTo>
                        <a:pt x="280598" y="1540312"/>
                      </a:lnTo>
                      <a:lnTo>
                        <a:pt x="280598" y="1866758"/>
                      </a:lnTo>
                      <a:lnTo>
                        <a:pt x="822837" y="2183064"/>
                      </a:lnTo>
                      <a:lnTo>
                        <a:pt x="1093957" y="2037806"/>
                      </a:lnTo>
                      <a:lnTo>
                        <a:pt x="1093957" y="1092193"/>
                      </a:lnTo>
                      <a:lnTo>
                        <a:pt x="821074" y="955531"/>
                      </a:lnTo>
                    </a:path>
                  </a:pathLst>
                </a:custGeom>
                <a:noFill/>
                <a:ln w="25400" cap="flat">
                  <a:solidFill>
                    <a:srgbClr val="232F3E"/>
                  </a:solidFill>
                  <a:prstDash val="solid"/>
                  <a:round/>
                </a:ln>
              </p:spPr>
              <p:txBody>
                <a:bodyPr rtlCol="0" anchor="ctr"/>
                <a:lstStyle/>
                <a:p>
                  <a:endParaRPr lang="en-US"/>
                </a:p>
              </p:txBody>
            </p:sp>
            <p:sp>
              <p:nvSpPr>
                <p:cNvPr id="16" name="Freeform 15">
                  <a:extLst>
                    <a:ext uri="{FF2B5EF4-FFF2-40B4-BE49-F238E27FC236}">
                      <a16:creationId xmlns:a16="http://schemas.microsoft.com/office/drawing/2014/main" id="{0F3BB9E6-DDE7-DBBA-068A-627BDA1E2A09}"/>
                    </a:ext>
                  </a:extLst>
                </p:cNvPr>
                <p:cNvSpPr/>
                <p:nvPr/>
              </p:nvSpPr>
              <p:spPr>
                <a:xfrm>
                  <a:off x="8159337" y="3199355"/>
                  <a:ext cx="273103" cy="420565"/>
                </a:xfrm>
                <a:custGeom>
                  <a:avLst/>
                  <a:gdLst>
                    <a:gd name="connsiteX0" fmla="*/ 273103 w 273103"/>
                    <a:gd name="connsiteY0" fmla="*/ 420566 h 420565"/>
                    <a:gd name="connsiteX1" fmla="*/ 273103 w 273103"/>
                    <a:gd name="connsiteY1" fmla="*/ 181849 h 420565"/>
                    <a:gd name="connsiteX2" fmla="*/ 0 w 273103"/>
                    <a:gd name="connsiteY2" fmla="*/ 0 h 420565"/>
                  </a:gdLst>
                  <a:ahLst/>
                  <a:cxnLst>
                    <a:cxn ang="0">
                      <a:pos x="connsiteX0" y="connsiteY0"/>
                    </a:cxn>
                    <a:cxn ang="0">
                      <a:pos x="connsiteX1" y="connsiteY1"/>
                    </a:cxn>
                    <a:cxn ang="0">
                      <a:pos x="connsiteX2" y="connsiteY2"/>
                    </a:cxn>
                  </a:cxnLst>
                  <a:rect l="l" t="t" r="r" b="b"/>
                  <a:pathLst>
                    <a:path w="273103" h="420565">
                      <a:moveTo>
                        <a:pt x="273103" y="420566"/>
                      </a:moveTo>
                      <a:lnTo>
                        <a:pt x="273103" y="181849"/>
                      </a:lnTo>
                      <a:lnTo>
                        <a:pt x="0" y="0"/>
                      </a:lnTo>
                    </a:path>
                  </a:pathLst>
                </a:custGeom>
                <a:noFill/>
                <a:ln w="25400" cap="flat">
                  <a:solidFill>
                    <a:srgbClr val="232F3E"/>
                  </a:solidFill>
                  <a:prstDash val="solid"/>
                  <a:round/>
                </a:ln>
              </p:spPr>
              <p:txBody>
                <a:bodyPr rtlCol="0" anchor="ctr"/>
                <a:lstStyle/>
                <a:p>
                  <a:endParaRPr lang="en-US"/>
                </a:p>
              </p:txBody>
            </p:sp>
            <p:sp>
              <p:nvSpPr>
                <p:cNvPr id="17" name="Freeform 16">
                  <a:extLst>
                    <a:ext uri="{FF2B5EF4-FFF2-40B4-BE49-F238E27FC236}">
                      <a16:creationId xmlns:a16="http://schemas.microsoft.com/office/drawing/2014/main" id="{9417DD0B-625E-606E-F059-C18357351E7B}"/>
                    </a:ext>
                  </a:extLst>
                </p:cNvPr>
                <p:cNvSpPr/>
                <p:nvPr/>
              </p:nvSpPr>
              <p:spPr>
                <a:xfrm>
                  <a:off x="8712818" y="2108264"/>
                  <a:ext cx="1093956" cy="2181961"/>
                </a:xfrm>
                <a:custGeom>
                  <a:avLst/>
                  <a:gdLst>
                    <a:gd name="connsiteX0" fmla="*/ 273103 w 1093956"/>
                    <a:gd name="connsiteY0" fmla="*/ 909022 h 2181961"/>
                    <a:gd name="connsiteX1" fmla="*/ 0 w 1093956"/>
                    <a:gd name="connsiteY1" fmla="*/ 726953 h 2181961"/>
                    <a:gd name="connsiteX2" fmla="*/ 0 w 1093956"/>
                    <a:gd name="connsiteY2" fmla="*/ 180746 h 2181961"/>
                    <a:gd name="connsiteX3" fmla="*/ 271120 w 1093956"/>
                    <a:gd name="connsiteY3" fmla="*/ 0 h 2181961"/>
                    <a:gd name="connsiteX4" fmla="*/ 813359 w 1093956"/>
                    <a:gd name="connsiteY4" fmla="*/ 324241 h 2181961"/>
                    <a:gd name="connsiteX5" fmla="*/ 813359 w 1093956"/>
                    <a:gd name="connsiteY5" fmla="*/ 685073 h 2181961"/>
                    <a:gd name="connsiteX6" fmla="*/ 1093957 w 1093956"/>
                    <a:gd name="connsiteY6" fmla="*/ 838487 h 2181961"/>
                    <a:gd name="connsiteX7" fmla="*/ 1093957 w 1093956"/>
                    <a:gd name="connsiteY7" fmla="*/ 1361550 h 2181961"/>
                    <a:gd name="connsiteX8" fmla="*/ 813359 w 1093956"/>
                    <a:gd name="connsiteY8" fmla="*/ 1548468 h 2181961"/>
                    <a:gd name="connsiteX9" fmla="*/ 813359 w 1093956"/>
                    <a:gd name="connsiteY9" fmla="*/ 1865656 h 2181961"/>
                    <a:gd name="connsiteX10" fmla="*/ 271120 w 1093956"/>
                    <a:gd name="connsiteY10" fmla="*/ 2181962 h 2181961"/>
                    <a:gd name="connsiteX11" fmla="*/ 0 w 1093956"/>
                    <a:gd name="connsiteY11" fmla="*/ 2046402 h 218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956" h="2181961">
                      <a:moveTo>
                        <a:pt x="273103" y="909022"/>
                      </a:moveTo>
                      <a:lnTo>
                        <a:pt x="0" y="726953"/>
                      </a:lnTo>
                      <a:lnTo>
                        <a:pt x="0" y="180746"/>
                      </a:lnTo>
                      <a:lnTo>
                        <a:pt x="271120" y="0"/>
                      </a:lnTo>
                      <a:lnTo>
                        <a:pt x="813359" y="324241"/>
                      </a:lnTo>
                      <a:lnTo>
                        <a:pt x="813359" y="685073"/>
                      </a:lnTo>
                      <a:lnTo>
                        <a:pt x="1093957" y="838487"/>
                      </a:lnTo>
                      <a:lnTo>
                        <a:pt x="1093957" y="1361550"/>
                      </a:lnTo>
                      <a:lnTo>
                        <a:pt x="813359" y="1548468"/>
                      </a:lnTo>
                      <a:lnTo>
                        <a:pt x="813359" y="1865656"/>
                      </a:lnTo>
                      <a:lnTo>
                        <a:pt x="271120" y="2181962"/>
                      </a:lnTo>
                      <a:lnTo>
                        <a:pt x="0" y="2046402"/>
                      </a:lnTo>
                    </a:path>
                  </a:pathLst>
                </a:custGeom>
                <a:noFill/>
                <a:ln w="25400" cap="flat">
                  <a:solidFill>
                    <a:srgbClr val="232F3E"/>
                  </a:solidFill>
                  <a:prstDash val="solid"/>
                  <a:round/>
                </a:ln>
              </p:spPr>
              <p:txBody>
                <a:bodyPr rtlCol="0" anchor="ctr"/>
                <a:lstStyle/>
                <a:p>
                  <a:endParaRPr lang="en-US"/>
                </a:p>
              </p:txBody>
            </p:sp>
            <p:sp>
              <p:nvSpPr>
                <p:cNvPr id="18" name="Freeform 17">
                  <a:extLst>
                    <a:ext uri="{FF2B5EF4-FFF2-40B4-BE49-F238E27FC236}">
                      <a16:creationId xmlns:a16="http://schemas.microsoft.com/office/drawing/2014/main" id="{98709EF0-593E-DB71-0592-C31C3715E492}"/>
                    </a:ext>
                  </a:extLst>
                </p:cNvPr>
                <p:cNvSpPr/>
                <p:nvPr/>
              </p:nvSpPr>
              <p:spPr>
                <a:xfrm>
                  <a:off x="9531908" y="3335797"/>
                  <a:ext cx="272882" cy="136441"/>
                </a:xfrm>
                <a:custGeom>
                  <a:avLst/>
                  <a:gdLst>
                    <a:gd name="connsiteX0" fmla="*/ 0 w 272882"/>
                    <a:gd name="connsiteY0" fmla="*/ 0 h 136441"/>
                    <a:gd name="connsiteX1" fmla="*/ 272883 w 272882"/>
                    <a:gd name="connsiteY1" fmla="*/ 136441 h 136441"/>
                  </a:gdLst>
                  <a:ahLst/>
                  <a:cxnLst>
                    <a:cxn ang="0">
                      <a:pos x="connsiteX0" y="connsiteY0"/>
                    </a:cxn>
                    <a:cxn ang="0">
                      <a:pos x="connsiteX1" y="connsiteY1"/>
                    </a:cxn>
                  </a:cxnLst>
                  <a:rect l="l" t="t" r="r" b="b"/>
                  <a:pathLst>
                    <a:path w="272882" h="136441">
                      <a:moveTo>
                        <a:pt x="0" y="0"/>
                      </a:moveTo>
                      <a:lnTo>
                        <a:pt x="272883" y="136441"/>
                      </a:lnTo>
                    </a:path>
                  </a:pathLst>
                </a:custGeom>
                <a:ln w="25400" cap="flat">
                  <a:solidFill>
                    <a:srgbClr val="232F3E"/>
                  </a:solidFill>
                  <a:prstDash val="solid"/>
                  <a:round/>
                </a:ln>
              </p:spPr>
              <p:txBody>
                <a:bodyPr rtlCol="0" anchor="ctr"/>
                <a:lstStyle/>
                <a:p>
                  <a:endParaRPr lang="en-US"/>
                </a:p>
              </p:txBody>
            </p:sp>
            <p:sp>
              <p:nvSpPr>
                <p:cNvPr id="19" name="Freeform 18">
                  <a:extLst>
                    <a:ext uri="{FF2B5EF4-FFF2-40B4-BE49-F238E27FC236}">
                      <a16:creationId xmlns:a16="http://schemas.microsoft.com/office/drawing/2014/main" id="{7917CB51-75AB-99F3-ECBA-0180736069AF}"/>
                    </a:ext>
                  </a:extLst>
                </p:cNvPr>
                <p:cNvSpPr/>
                <p:nvPr/>
              </p:nvSpPr>
              <p:spPr>
                <a:xfrm>
                  <a:off x="9329780" y="2610166"/>
                  <a:ext cx="196396" cy="22042"/>
                </a:xfrm>
                <a:custGeom>
                  <a:avLst/>
                  <a:gdLst>
                    <a:gd name="connsiteX0" fmla="*/ 196396 w 196396"/>
                    <a:gd name="connsiteY0" fmla="*/ 0 h 22042"/>
                    <a:gd name="connsiteX1" fmla="*/ 0 w 196396"/>
                    <a:gd name="connsiteY1" fmla="*/ 0 h 22042"/>
                  </a:gdLst>
                  <a:ahLst/>
                  <a:cxnLst>
                    <a:cxn ang="0">
                      <a:pos x="connsiteX0" y="connsiteY0"/>
                    </a:cxn>
                    <a:cxn ang="0">
                      <a:pos x="connsiteX1" y="connsiteY1"/>
                    </a:cxn>
                  </a:cxnLst>
                  <a:rect l="l" t="t" r="r" b="b"/>
                  <a:pathLst>
                    <a:path w="196396" h="22042">
                      <a:moveTo>
                        <a:pt x="196396" y="0"/>
                      </a:moveTo>
                      <a:lnTo>
                        <a:pt x="0" y="0"/>
                      </a:lnTo>
                    </a:path>
                  </a:pathLst>
                </a:custGeom>
                <a:ln w="25400" cap="flat">
                  <a:solidFill>
                    <a:srgbClr val="232F3E"/>
                  </a:solidFill>
                  <a:prstDash val="solid"/>
                  <a:round/>
                </a:ln>
              </p:spPr>
              <p:txBody>
                <a:bodyPr rtlCol="0" anchor="ctr"/>
                <a:lstStyle/>
                <a:p>
                  <a:endParaRPr lang="en-US"/>
                </a:p>
              </p:txBody>
            </p:sp>
            <p:sp>
              <p:nvSpPr>
                <p:cNvPr id="20" name="Freeform 19">
                  <a:extLst>
                    <a:ext uri="{FF2B5EF4-FFF2-40B4-BE49-F238E27FC236}">
                      <a16:creationId xmlns:a16="http://schemas.microsoft.com/office/drawing/2014/main" id="{077E5B5A-419B-38EF-0306-17108A3A3A31}"/>
                    </a:ext>
                  </a:extLst>
                </p:cNvPr>
                <p:cNvSpPr/>
                <p:nvPr/>
              </p:nvSpPr>
              <p:spPr>
                <a:xfrm>
                  <a:off x="8712818" y="3844311"/>
                  <a:ext cx="280377" cy="22042"/>
                </a:xfrm>
                <a:custGeom>
                  <a:avLst/>
                  <a:gdLst>
                    <a:gd name="connsiteX0" fmla="*/ 0 w 280377"/>
                    <a:gd name="connsiteY0" fmla="*/ 0 h 22042"/>
                    <a:gd name="connsiteX1" fmla="*/ 280377 w 280377"/>
                    <a:gd name="connsiteY1" fmla="*/ 0 h 22042"/>
                  </a:gdLst>
                  <a:ahLst/>
                  <a:cxnLst>
                    <a:cxn ang="0">
                      <a:pos x="connsiteX0" y="connsiteY0"/>
                    </a:cxn>
                    <a:cxn ang="0">
                      <a:pos x="connsiteX1" y="connsiteY1"/>
                    </a:cxn>
                  </a:cxnLst>
                  <a:rect l="l" t="t" r="r" b="b"/>
                  <a:pathLst>
                    <a:path w="280377" h="22042">
                      <a:moveTo>
                        <a:pt x="0" y="0"/>
                      </a:moveTo>
                      <a:lnTo>
                        <a:pt x="280377" y="0"/>
                      </a:lnTo>
                    </a:path>
                  </a:pathLst>
                </a:custGeom>
                <a:ln w="25400" cap="flat">
                  <a:solidFill>
                    <a:srgbClr val="232F3E"/>
                  </a:solidFill>
                  <a:prstDash val="solid"/>
                  <a:round/>
                </a:ln>
              </p:spPr>
              <p:txBody>
                <a:bodyPr rtlCol="0" anchor="ctr"/>
                <a:lstStyle/>
                <a:p>
                  <a:endParaRPr lang="en-US"/>
                </a:p>
              </p:txBody>
            </p:sp>
            <p:sp>
              <p:nvSpPr>
                <p:cNvPr id="21" name="Freeform 20">
                  <a:extLst>
                    <a:ext uri="{FF2B5EF4-FFF2-40B4-BE49-F238E27FC236}">
                      <a16:creationId xmlns:a16="http://schemas.microsoft.com/office/drawing/2014/main" id="{F1E62BD9-81BD-1443-8124-5E0434AA1786}"/>
                    </a:ext>
                  </a:extLst>
                </p:cNvPr>
                <p:cNvSpPr/>
                <p:nvPr/>
              </p:nvSpPr>
              <p:spPr>
                <a:xfrm>
                  <a:off x="9161598" y="252618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C91E0B7C-05BC-6804-6C3D-9AF0705B46D9}"/>
                    </a:ext>
                  </a:extLst>
                </p:cNvPr>
                <p:cNvSpPr/>
                <p:nvPr/>
              </p:nvSpPr>
              <p:spPr>
                <a:xfrm>
                  <a:off x="9357774" y="3199355"/>
                  <a:ext cx="168402" cy="168402"/>
                </a:xfrm>
                <a:custGeom>
                  <a:avLst/>
                  <a:gdLst>
                    <a:gd name="connsiteX0" fmla="*/ 84202 w 168402"/>
                    <a:gd name="connsiteY0" fmla="*/ 0 h 168402"/>
                    <a:gd name="connsiteX1" fmla="*/ 0 w 168402"/>
                    <a:gd name="connsiteY1" fmla="*/ 84201 h 168402"/>
                    <a:gd name="connsiteX2" fmla="*/ 84202 w 168402"/>
                    <a:gd name="connsiteY2" fmla="*/ 168403 h 168402"/>
                    <a:gd name="connsiteX3" fmla="*/ 168403 w 168402"/>
                    <a:gd name="connsiteY3" fmla="*/ 84201 h 168402"/>
                    <a:gd name="connsiteX4" fmla="*/ 84202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2" y="0"/>
                      </a:moveTo>
                      <a:cubicBezTo>
                        <a:pt x="37692" y="0"/>
                        <a:pt x="0" y="37692"/>
                        <a:pt x="0" y="84201"/>
                      </a:cubicBezTo>
                      <a:cubicBezTo>
                        <a:pt x="0" y="130711"/>
                        <a:pt x="37692" y="168403"/>
                        <a:pt x="84202" y="168403"/>
                      </a:cubicBezTo>
                      <a:cubicBezTo>
                        <a:pt x="130711" y="168403"/>
                        <a:pt x="168403" y="130711"/>
                        <a:pt x="168403" y="84201"/>
                      </a:cubicBezTo>
                      <a:cubicBezTo>
                        <a:pt x="168403" y="37692"/>
                        <a:pt x="130711" y="0"/>
                        <a:pt x="84202" y="0"/>
                      </a:cubicBezTo>
                      <a:close/>
                    </a:path>
                  </a:pathLst>
                </a:custGeom>
                <a:noFill/>
                <a:ln w="25400" cap="flat">
                  <a:solidFill>
                    <a:srgbClr val="232F3E"/>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C11F8306-49CE-22EB-2660-E64AC097CA54}"/>
                    </a:ext>
                  </a:extLst>
                </p:cNvPr>
                <p:cNvSpPr/>
                <p:nvPr/>
              </p:nvSpPr>
              <p:spPr>
                <a:xfrm>
                  <a:off x="8993195" y="297496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F39563E3-44A1-50E2-1E96-46C03C014D8F}"/>
                    </a:ext>
                  </a:extLst>
                </p:cNvPr>
                <p:cNvSpPr/>
                <p:nvPr/>
              </p:nvSpPr>
              <p:spPr>
                <a:xfrm>
                  <a:off x="8993195" y="3760110"/>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grpSp>
          <p:cxnSp>
            <p:nvCxnSpPr>
              <p:cNvPr id="26" name="Straight Arrow Connector 25">
                <a:extLst>
                  <a:ext uri="{FF2B5EF4-FFF2-40B4-BE49-F238E27FC236}">
                    <a16:creationId xmlns:a16="http://schemas.microsoft.com/office/drawing/2014/main" id="{EA22AB8B-733C-2AAC-ABC7-991CC0E16F0E}"/>
                  </a:ext>
                </a:extLst>
              </p:cNvPr>
              <p:cNvCxnSpPr/>
              <p:nvPr/>
            </p:nvCxnSpPr>
            <p:spPr>
              <a:xfrm>
                <a:off x="4635499" y="4691169"/>
                <a:ext cx="2044701"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67D92E1A-23DA-ED18-2CFE-5C60695153BA}"/>
                  </a:ext>
                </a:extLst>
              </p:cNvPr>
              <p:cNvGrpSpPr/>
              <p:nvPr/>
            </p:nvGrpSpPr>
            <p:grpSpPr>
              <a:xfrm>
                <a:off x="2467427" y="3958401"/>
                <a:ext cx="1923694" cy="1550298"/>
                <a:chOff x="2467427" y="3958401"/>
                <a:chExt cx="1923694" cy="1550298"/>
              </a:xfrm>
            </p:grpSpPr>
            <p:grpSp>
              <p:nvGrpSpPr>
                <p:cNvPr id="28" name="Graphic 4">
                  <a:extLst>
                    <a:ext uri="{FF2B5EF4-FFF2-40B4-BE49-F238E27FC236}">
                      <a16:creationId xmlns:a16="http://schemas.microsoft.com/office/drawing/2014/main" id="{428F9522-6DB5-547A-E5B0-3AE98803F66B}"/>
                    </a:ext>
                  </a:extLst>
                </p:cNvPr>
                <p:cNvGrpSpPr/>
                <p:nvPr/>
              </p:nvGrpSpPr>
              <p:grpSpPr>
                <a:xfrm>
                  <a:off x="2467427" y="3958401"/>
                  <a:ext cx="1756101" cy="1465534"/>
                  <a:chOff x="2467427" y="3958401"/>
                  <a:chExt cx="1756101" cy="1465534"/>
                </a:xfrm>
                <a:noFill/>
              </p:grpSpPr>
              <p:sp>
                <p:nvSpPr>
                  <p:cNvPr id="29" name="Freeform 28">
                    <a:extLst>
                      <a:ext uri="{FF2B5EF4-FFF2-40B4-BE49-F238E27FC236}">
                        <a16:creationId xmlns:a16="http://schemas.microsoft.com/office/drawing/2014/main" id="{1122A9A0-351F-CB99-05B7-91543FDA499D}"/>
                      </a:ext>
                    </a:extLst>
                  </p:cNvPr>
                  <p:cNvSpPr/>
                  <p:nvPr/>
                </p:nvSpPr>
                <p:spPr>
                  <a:xfrm>
                    <a:off x="2629095" y="3958401"/>
                    <a:ext cx="1594433" cy="1196852"/>
                  </a:xfrm>
                  <a:custGeom>
                    <a:avLst/>
                    <a:gdLst>
                      <a:gd name="connsiteX0" fmla="*/ 1594433 w 1594433"/>
                      <a:gd name="connsiteY0" fmla="*/ 757676 h 1196852"/>
                      <a:gd name="connsiteX1" fmla="*/ 1594433 w 1594433"/>
                      <a:gd name="connsiteY1" fmla="*/ 98065 h 1196852"/>
                      <a:gd name="connsiteX2" fmla="*/ 1496368 w 1594433"/>
                      <a:gd name="connsiteY2" fmla="*/ 0 h 1196852"/>
                      <a:gd name="connsiteX3" fmla="*/ 98065 w 1594433"/>
                      <a:gd name="connsiteY3" fmla="*/ 0 h 1196852"/>
                      <a:gd name="connsiteX4" fmla="*/ 0 w 1594433"/>
                      <a:gd name="connsiteY4" fmla="*/ 98065 h 1196852"/>
                      <a:gd name="connsiteX5" fmla="*/ 0 w 1594433"/>
                      <a:gd name="connsiteY5" fmla="*/ 1196853 h 1196852"/>
                      <a:gd name="connsiteX6" fmla="*/ 993951 w 1594433"/>
                      <a:gd name="connsiteY6" fmla="*/ 1196853 h 119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4433" h="1196852">
                        <a:moveTo>
                          <a:pt x="1594433" y="757676"/>
                        </a:moveTo>
                        <a:lnTo>
                          <a:pt x="1594433" y="98065"/>
                        </a:lnTo>
                        <a:cubicBezTo>
                          <a:pt x="1594433" y="43893"/>
                          <a:pt x="1550540" y="0"/>
                          <a:pt x="1496368" y="0"/>
                        </a:cubicBezTo>
                        <a:lnTo>
                          <a:pt x="98065" y="0"/>
                        </a:lnTo>
                        <a:cubicBezTo>
                          <a:pt x="43893" y="0"/>
                          <a:pt x="0" y="43893"/>
                          <a:pt x="0" y="98065"/>
                        </a:cubicBezTo>
                        <a:lnTo>
                          <a:pt x="0" y="1196853"/>
                        </a:lnTo>
                        <a:lnTo>
                          <a:pt x="993951" y="1196853"/>
                        </a:lnTo>
                      </a:path>
                    </a:pathLst>
                  </a:custGeom>
                  <a:noFill/>
                  <a:ln w="25400" cap="flat">
                    <a:solidFill>
                      <a:srgbClr val="232F3E"/>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790DC360-ECB4-A761-8F8A-43C01F7FBF3B}"/>
                      </a:ext>
                    </a:extLst>
                  </p:cNvPr>
                  <p:cNvSpPr/>
                  <p:nvPr/>
                </p:nvSpPr>
                <p:spPr>
                  <a:xfrm>
                    <a:off x="2467427" y="5162267"/>
                    <a:ext cx="1163721" cy="261667"/>
                  </a:xfrm>
                  <a:custGeom>
                    <a:avLst/>
                    <a:gdLst>
                      <a:gd name="connsiteX0" fmla="*/ 1153685 w 1163721"/>
                      <a:gd name="connsiteY0" fmla="*/ 0 h 261667"/>
                      <a:gd name="connsiteX1" fmla="*/ 0 w 1163721"/>
                      <a:gd name="connsiteY1" fmla="*/ 0 h 261667"/>
                      <a:gd name="connsiteX2" fmla="*/ 188028 w 1163721"/>
                      <a:gd name="connsiteY2" fmla="*/ 261668 h 261667"/>
                      <a:gd name="connsiteX3" fmla="*/ 1163721 w 1163721"/>
                      <a:gd name="connsiteY3" fmla="*/ 261668 h 261667"/>
                    </a:gdLst>
                    <a:ahLst/>
                    <a:cxnLst>
                      <a:cxn ang="0">
                        <a:pos x="connsiteX0" y="connsiteY0"/>
                      </a:cxn>
                      <a:cxn ang="0">
                        <a:pos x="connsiteX1" y="connsiteY1"/>
                      </a:cxn>
                      <a:cxn ang="0">
                        <a:pos x="connsiteX2" y="connsiteY2"/>
                      </a:cxn>
                      <a:cxn ang="0">
                        <a:pos x="connsiteX3" y="connsiteY3"/>
                      </a:cxn>
                    </a:cxnLst>
                    <a:rect l="l" t="t" r="r" b="b"/>
                    <a:pathLst>
                      <a:path w="1163721" h="261667">
                        <a:moveTo>
                          <a:pt x="1153685" y="0"/>
                        </a:moveTo>
                        <a:lnTo>
                          <a:pt x="0" y="0"/>
                        </a:lnTo>
                        <a:lnTo>
                          <a:pt x="188028" y="261668"/>
                        </a:lnTo>
                        <a:lnTo>
                          <a:pt x="1163721" y="261668"/>
                        </a:lnTo>
                      </a:path>
                    </a:pathLst>
                  </a:custGeom>
                  <a:noFill/>
                  <a:ln w="25400" cap="flat">
                    <a:solidFill>
                      <a:srgbClr val="232F3E"/>
                    </a:solidFill>
                    <a:prstDash val="solid"/>
                    <a:round/>
                  </a:ln>
                </p:spPr>
                <p:txBody>
                  <a:bodyPr rtlCol="0" anchor="ctr"/>
                  <a:lstStyle/>
                  <a:p>
                    <a:endParaRPr lang="en-US"/>
                  </a:p>
                </p:txBody>
              </p:sp>
            </p:grpSp>
            <p:sp>
              <p:nvSpPr>
                <p:cNvPr id="31" name="Freeform 30">
                  <a:extLst>
                    <a:ext uri="{FF2B5EF4-FFF2-40B4-BE49-F238E27FC236}">
                      <a16:creationId xmlns:a16="http://schemas.microsoft.com/office/drawing/2014/main" id="{C257A272-81F7-AE52-1CD4-77ABAB7AB614}"/>
                    </a:ext>
                  </a:extLst>
                </p:cNvPr>
                <p:cNvSpPr/>
                <p:nvPr/>
              </p:nvSpPr>
              <p:spPr>
                <a:xfrm>
                  <a:off x="3724376" y="4841954"/>
                  <a:ext cx="666745" cy="666745"/>
                </a:xfrm>
                <a:custGeom>
                  <a:avLst/>
                  <a:gdLst>
                    <a:gd name="connsiteX0" fmla="*/ 666745 w 666745"/>
                    <a:gd name="connsiteY0" fmla="*/ 333373 h 666745"/>
                    <a:gd name="connsiteX1" fmla="*/ 333373 w 666745"/>
                    <a:gd name="connsiteY1" fmla="*/ 666745 h 666745"/>
                    <a:gd name="connsiteX2" fmla="*/ 0 w 666745"/>
                    <a:gd name="connsiteY2" fmla="*/ 333373 h 666745"/>
                    <a:gd name="connsiteX3" fmla="*/ 333373 w 666745"/>
                    <a:gd name="connsiteY3" fmla="*/ 0 h 666745"/>
                    <a:gd name="connsiteX4" fmla="*/ 666745 w 666745"/>
                    <a:gd name="connsiteY4" fmla="*/ 333373 h 66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45" h="666745">
                      <a:moveTo>
                        <a:pt x="666745" y="333373"/>
                      </a:moveTo>
                      <a:cubicBezTo>
                        <a:pt x="666745" y="517489"/>
                        <a:pt x="517489" y="666745"/>
                        <a:pt x="333373" y="666745"/>
                      </a:cubicBezTo>
                      <a:cubicBezTo>
                        <a:pt x="149256" y="666745"/>
                        <a:pt x="0" y="517489"/>
                        <a:pt x="0" y="333373"/>
                      </a:cubicBezTo>
                      <a:cubicBezTo>
                        <a:pt x="0" y="149256"/>
                        <a:pt x="149256" y="0"/>
                        <a:pt x="333373" y="0"/>
                      </a:cubicBezTo>
                      <a:cubicBezTo>
                        <a:pt x="517489" y="0"/>
                        <a:pt x="666745" y="149256"/>
                        <a:pt x="666745" y="333373"/>
                      </a:cubicBezTo>
                      <a:close/>
                    </a:path>
                  </a:pathLst>
                </a:custGeom>
                <a:noFill/>
                <a:ln w="25400" cap="flat">
                  <a:solidFill>
                    <a:srgbClr val="232F3E"/>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3A87766F-2678-EE6E-E25E-7ED35E9B39A6}"/>
                    </a:ext>
                  </a:extLst>
                </p:cNvPr>
                <p:cNvSpPr/>
                <p:nvPr/>
              </p:nvSpPr>
              <p:spPr>
                <a:xfrm>
                  <a:off x="3835380" y="5019704"/>
                  <a:ext cx="400119" cy="155622"/>
                </a:xfrm>
                <a:custGeom>
                  <a:avLst/>
                  <a:gdLst>
                    <a:gd name="connsiteX0" fmla="*/ 244498 w 400119"/>
                    <a:gd name="connsiteY0" fmla="*/ 0 h 155622"/>
                    <a:gd name="connsiteX1" fmla="*/ 400120 w 400119"/>
                    <a:gd name="connsiteY1" fmla="*/ 155622 h 155622"/>
                    <a:gd name="connsiteX2" fmla="*/ 0 w 400119"/>
                    <a:gd name="connsiteY2" fmla="*/ 155622 h 155622"/>
                  </a:gdLst>
                  <a:ahLst/>
                  <a:cxnLst>
                    <a:cxn ang="0">
                      <a:pos x="connsiteX0" y="connsiteY0"/>
                    </a:cxn>
                    <a:cxn ang="0">
                      <a:pos x="connsiteX1" y="connsiteY1"/>
                    </a:cxn>
                    <a:cxn ang="0">
                      <a:pos x="connsiteX2" y="connsiteY2"/>
                    </a:cxn>
                  </a:cxnLst>
                  <a:rect l="l" t="t" r="r" b="b"/>
                  <a:pathLst>
                    <a:path w="400119" h="155622">
                      <a:moveTo>
                        <a:pt x="244498" y="0"/>
                      </a:moveTo>
                      <a:lnTo>
                        <a:pt x="400120" y="155622"/>
                      </a:lnTo>
                      <a:lnTo>
                        <a:pt x="0" y="155622"/>
                      </a:lnTo>
                    </a:path>
                  </a:pathLst>
                </a:custGeom>
                <a:noFill/>
                <a:ln w="25400" cap="flat">
                  <a:solidFill>
                    <a:srgbClr val="232F3E"/>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CC8BE22C-112E-66FE-C52A-DEF608820F21}"/>
                    </a:ext>
                  </a:extLst>
                </p:cNvPr>
                <p:cNvSpPr/>
                <p:nvPr/>
              </p:nvSpPr>
              <p:spPr>
                <a:xfrm>
                  <a:off x="4079877" y="5175326"/>
                  <a:ext cx="155622" cy="155501"/>
                </a:xfrm>
                <a:custGeom>
                  <a:avLst/>
                  <a:gdLst>
                    <a:gd name="connsiteX0" fmla="*/ 0 w 155622"/>
                    <a:gd name="connsiteY0" fmla="*/ 155501 h 155501"/>
                    <a:gd name="connsiteX1" fmla="*/ 155622 w 155622"/>
                    <a:gd name="connsiteY1" fmla="*/ 0 h 155501"/>
                  </a:gdLst>
                  <a:ahLst/>
                  <a:cxnLst>
                    <a:cxn ang="0">
                      <a:pos x="connsiteX0" y="connsiteY0"/>
                    </a:cxn>
                    <a:cxn ang="0">
                      <a:pos x="connsiteX1" y="connsiteY1"/>
                    </a:cxn>
                  </a:cxnLst>
                  <a:rect l="l" t="t" r="r" b="b"/>
                  <a:pathLst>
                    <a:path w="155622" h="155501">
                      <a:moveTo>
                        <a:pt x="0" y="155501"/>
                      </a:moveTo>
                      <a:lnTo>
                        <a:pt x="155622" y="0"/>
                      </a:lnTo>
                    </a:path>
                  </a:pathLst>
                </a:custGeom>
                <a:ln w="25400" cap="flat">
                  <a:solidFill>
                    <a:srgbClr val="232F3E"/>
                  </a:solidFill>
                  <a:prstDash val="solid"/>
                  <a:round/>
                </a:ln>
              </p:spPr>
              <p:txBody>
                <a:bodyPr rtlCol="0" anchor="ctr"/>
                <a:lstStyle/>
                <a:p>
                  <a:endParaRPr lang="en-US"/>
                </a:p>
              </p:txBody>
            </p:sp>
          </p:grpSp>
          <p:sp>
            <p:nvSpPr>
              <p:cNvPr id="34" name="Oval 33">
                <a:extLst>
                  <a:ext uri="{FF2B5EF4-FFF2-40B4-BE49-F238E27FC236}">
                    <a16:creationId xmlns:a16="http://schemas.microsoft.com/office/drawing/2014/main" id="{F4A9F241-CB2E-9E69-4973-239B94E6F8B9}"/>
                  </a:ext>
                </a:extLst>
              </p:cNvPr>
              <p:cNvSpPr/>
              <p:nvPr/>
            </p:nvSpPr>
            <p:spPr>
              <a:xfrm>
                <a:off x="3245323" y="4030239"/>
                <a:ext cx="361976" cy="32844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96A668D5-EB47-9E9B-3041-2B0370FBC472}"/>
                  </a:ext>
                </a:extLst>
              </p:cNvPr>
              <p:cNvSpPr/>
              <p:nvPr/>
            </p:nvSpPr>
            <p:spPr>
              <a:xfrm>
                <a:off x="3242822" y="4382532"/>
                <a:ext cx="380801" cy="367153"/>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21080EBA-6049-AC32-1B95-F781D3447532}"/>
                  </a:ext>
                </a:extLst>
              </p:cNvPr>
              <p:cNvSpPr/>
              <p:nvPr/>
            </p:nvSpPr>
            <p:spPr>
              <a:xfrm>
                <a:off x="3242822" y="4774241"/>
                <a:ext cx="388326" cy="342528"/>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5" name="TextBox 24">
              <a:extLst>
                <a:ext uri="{FF2B5EF4-FFF2-40B4-BE49-F238E27FC236}">
                  <a16:creationId xmlns:a16="http://schemas.microsoft.com/office/drawing/2014/main" id="{F10CF3C1-065C-C958-3ABA-7E9E3847EDE4}"/>
                </a:ext>
              </a:extLst>
            </p:cNvPr>
            <p:cNvSpPr txBox="1"/>
            <p:nvPr/>
          </p:nvSpPr>
          <p:spPr>
            <a:xfrm>
              <a:off x="11295254" y="1497142"/>
              <a:ext cx="550151" cy="923330"/>
            </a:xfrm>
            <a:prstGeom prst="rect">
              <a:avLst/>
            </a:prstGeom>
            <a:noFill/>
          </p:spPr>
          <p:txBody>
            <a:bodyPr wrap="none" rtlCol="0">
              <a:spAutoFit/>
            </a:bodyPr>
            <a:lstStyle/>
            <a:p>
              <a:r>
                <a:rPr lang="en-US" dirty="0"/>
                <a:t>1.</a:t>
              </a:r>
            </a:p>
            <a:p>
              <a:r>
                <a:rPr lang="en-US" dirty="0"/>
                <a:t>2..</a:t>
              </a:r>
            </a:p>
            <a:p>
              <a:r>
                <a:rPr lang="en-US" dirty="0"/>
                <a:t>3…</a:t>
              </a:r>
            </a:p>
          </p:txBody>
        </p:sp>
      </p:grpSp>
      <p:grpSp>
        <p:nvGrpSpPr>
          <p:cNvPr id="90" name="Group 89" descr="Diagram showing tree of thoughts prompting techniques with branching thought processes.">
            <a:extLst>
              <a:ext uri="{FF2B5EF4-FFF2-40B4-BE49-F238E27FC236}">
                <a16:creationId xmlns:a16="http://schemas.microsoft.com/office/drawing/2014/main" id="{B6A32AC4-9BA5-6521-A983-A4320D8640AF}"/>
              </a:ext>
            </a:extLst>
          </p:cNvPr>
          <p:cNvGrpSpPr/>
          <p:nvPr/>
        </p:nvGrpSpPr>
        <p:grpSpPr>
          <a:xfrm>
            <a:off x="6976894" y="4102471"/>
            <a:ext cx="3969080" cy="1019124"/>
            <a:chOff x="6976894" y="4102471"/>
            <a:chExt cx="3969080" cy="1019124"/>
          </a:xfrm>
        </p:grpSpPr>
        <p:grpSp>
          <p:nvGrpSpPr>
            <p:cNvPr id="40" name="Graphic 4" descr="Run ML Queries">
              <a:extLst>
                <a:ext uri="{FF2B5EF4-FFF2-40B4-BE49-F238E27FC236}">
                  <a16:creationId xmlns:a16="http://schemas.microsoft.com/office/drawing/2014/main" id="{AEBDB574-8694-1B53-3F16-505B61A212FF}"/>
                </a:ext>
              </a:extLst>
            </p:cNvPr>
            <p:cNvGrpSpPr/>
            <p:nvPr/>
          </p:nvGrpSpPr>
          <p:grpSpPr>
            <a:xfrm>
              <a:off x="8952366" y="4102471"/>
              <a:ext cx="1021388" cy="1019124"/>
              <a:chOff x="7618861" y="2107162"/>
              <a:chExt cx="2187913" cy="2183063"/>
            </a:xfrm>
            <a:noFill/>
          </p:grpSpPr>
          <p:sp>
            <p:nvSpPr>
              <p:cNvPr id="53" name="Freeform 52">
                <a:extLst>
                  <a:ext uri="{FF2B5EF4-FFF2-40B4-BE49-F238E27FC236}">
                    <a16:creationId xmlns:a16="http://schemas.microsoft.com/office/drawing/2014/main" id="{C70B6AB2-CCAB-1458-0E90-ED9F22C067AF}"/>
                  </a:ext>
                </a:extLst>
              </p:cNvPr>
              <p:cNvSpPr/>
              <p:nvPr/>
            </p:nvSpPr>
            <p:spPr>
              <a:xfrm>
                <a:off x="8151843" y="2497971"/>
                <a:ext cx="280597" cy="729377"/>
              </a:xfrm>
              <a:custGeom>
                <a:avLst/>
                <a:gdLst>
                  <a:gd name="connsiteX0" fmla="*/ 0 w 280597"/>
                  <a:gd name="connsiteY0" fmla="*/ 729378 h 729377"/>
                  <a:gd name="connsiteX1" fmla="*/ 0 w 280597"/>
                  <a:gd name="connsiteY1" fmla="*/ 430044 h 729377"/>
                  <a:gd name="connsiteX2" fmla="*/ 280598 w 280597"/>
                  <a:gd name="connsiteY2" fmla="*/ 289635 h 729377"/>
                  <a:gd name="connsiteX3" fmla="*/ 280598 w 280597"/>
                  <a:gd name="connsiteY3" fmla="*/ 0 h 729377"/>
                </a:gdLst>
                <a:ahLst/>
                <a:cxnLst>
                  <a:cxn ang="0">
                    <a:pos x="connsiteX0" y="connsiteY0"/>
                  </a:cxn>
                  <a:cxn ang="0">
                    <a:pos x="connsiteX1" y="connsiteY1"/>
                  </a:cxn>
                  <a:cxn ang="0">
                    <a:pos x="connsiteX2" y="connsiteY2"/>
                  </a:cxn>
                  <a:cxn ang="0">
                    <a:pos x="connsiteX3" y="connsiteY3"/>
                  </a:cxn>
                </a:cxnLst>
                <a:rect l="l" t="t" r="r" b="b"/>
                <a:pathLst>
                  <a:path w="280597" h="729377">
                    <a:moveTo>
                      <a:pt x="0" y="729378"/>
                    </a:moveTo>
                    <a:lnTo>
                      <a:pt x="0" y="430044"/>
                    </a:lnTo>
                    <a:lnTo>
                      <a:pt x="280598" y="289635"/>
                    </a:lnTo>
                    <a:lnTo>
                      <a:pt x="280598" y="0"/>
                    </a:lnTo>
                  </a:path>
                </a:pathLst>
              </a:custGeom>
              <a:noFill/>
              <a:ln w="25400" cap="flat">
                <a:solidFill>
                  <a:srgbClr val="232F3E"/>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63905A99-8B17-6AB3-7ADD-303EF429BD0D}"/>
                  </a:ext>
                </a:extLst>
              </p:cNvPr>
              <p:cNvSpPr/>
              <p:nvPr/>
            </p:nvSpPr>
            <p:spPr>
              <a:xfrm>
                <a:off x="7893729" y="2789810"/>
                <a:ext cx="273102" cy="136441"/>
              </a:xfrm>
              <a:custGeom>
                <a:avLst/>
                <a:gdLst>
                  <a:gd name="connsiteX0" fmla="*/ 273104 w 273103"/>
                  <a:gd name="connsiteY0" fmla="*/ 136441 h 136441"/>
                  <a:gd name="connsiteX1" fmla="*/ 0 w 273103"/>
                  <a:gd name="connsiteY1" fmla="*/ 0 h 136441"/>
                </a:gdLst>
                <a:ahLst/>
                <a:cxnLst>
                  <a:cxn ang="0">
                    <a:pos x="connsiteX0" y="connsiteY0"/>
                  </a:cxn>
                  <a:cxn ang="0">
                    <a:pos x="connsiteX1" y="connsiteY1"/>
                  </a:cxn>
                </a:cxnLst>
                <a:rect l="l" t="t" r="r" b="b"/>
                <a:pathLst>
                  <a:path w="273103" h="136441">
                    <a:moveTo>
                      <a:pt x="273104" y="136441"/>
                    </a:moveTo>
                    <a:lnTo>
                      <a:pt x="0" y="0"/>
                    </a:lnTo>
                  </a:path>
                </a:pathLst>
              </a:custGeom>
              <a:ln w="25400" cap="flat">
                <a:solidFill>
                  <a:srgbClr val="232F3E"/>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2553064E-17D9-353B-0EEB-1DE2803BFB6F}"/>
                  </a:ext>
                </a:extLst>
              </p:cNvPr>
              <p:cNvSpPr/>
              <p:nvPr/>
            </p:nvSpPr>
            <p:spPr>
              <a:xfrm>
                <a:off x="8179837" y="2273801"/>
                <a:ext cx="22042" cy="336364"/>
              </a:xfrm>
              <a:custGeom>
                <a:avLst/>
                <a:gdLst>
                  <a:gd name="connsiteX0" fmla="*/ 0 w 22042"/>
                  <a:gd name="connsiteY0" fmla="*/ 336365 h 336364"/>
                  <a:gd name="connsiteX1" fmla="*/ 0 w 22042"/>
                  <a:gd name="connsiteY1" fmla="*/ 0 h 336364"/>
                </a:gdLst>
                <a:ahLst/>
                <a:cxnLst>
                  <a:cxn ang="0">
                    <a:pos x="connsiteX0" y="connsiteY0"/>
                  </a:cxn>
                  <a:cxn ang="0">
                    <a:pos x="connsiteX1" y="connsiteY1"/>
                  </a:cxn>
                </a:cxnLst>
                <a:rect l="l" t="t" r="r" b="b"/>
                <a:pathLst>
                  <a:path w="22042" h="336364">
                    <a:moveTo>
                      <a:pt x="0" y="336365"/>
                    </a:moveTo>
                    <a:lnTo>
                      <a:pt x="0" y="0"/>
                    </a:lnTo>
                  </a:path>
                </a:pathLst>
              </a:custGeom>
              <a:ln w="25400" cap="flat">
                <a:solidFill>
                  <a:srgbClr val="232F3E"/>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57EABCBD-64E6-E80E-F3E0-A1B763D30D44}"/>
                  </a:ext>
                </a:extLst>
              </p:cNvPr>
              <p:cNvSpPr/>
              <p:nvPr/>
            </p:nvSpPr>
            <p:spPr>
              <a:xfrm>
                <a:off x="7620845" y="3059167"/>
                <a:ext cx="262743" cy="154736"/>
              </a:xfrm>
              <a:custGeom>
                <a:avLst/>
                <a:gdLst>
                  <a:gd name="connsiteX0" fmla="*/ 0 w 262743"/>
                  <a:gd name="connsiteY0" fmla="*/ 154737 h 154736"/>
                  <a:gd name="connsiteX1" fmla="*/ 262744 w 262743"/>
                  <a:gd name="connsiteY1" fmla="*/ 0 h 154736"/>
                </a:gdLst>
                <a:ahLst/>
                <a:cxnLst>
                  <a:cxn ang="0">
                    <a:pos x="connsiteX0" y="connsiteY0"/>
                  </a:cxn>
                  <a:cxn ang="0">
                    <a:pos x="connsiteX1" y="connsiteY1"/>
                  </a:cxn>
                </a:cxnLst>
                <a:rect l="l" t="t" r="r" b="b"/>
                <a:pathLst>
                  <a:path w="262743" h="154736">
                    <a:moveTo>
                      <a:pt x="0" y="154737"/>
                    </a:moveTo>
                    <a:lnTo>
                      <a:pt x="262744" y="0"/>
                    </a:lnTo>
                  </a:path>
                </a:pathLst>
              </a:custGeom>
              <a:ln w="25400" cap="flat">
                <a:solidFill>
                  <a:srgbClr val="232F3E"/>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4D53DA2D-172E-3143-1234-065E08EE9B4B}"/>
                  </a:ext>
                </a:extLst>
              </p:cNvPr>
              <p:cNvSpPr/>
              <p:nvPr/>
            </p:nvSpPr>
            <p:spPr>
              <a:xfrm>
                <a:off x="7893728" y="3472238"/>
                <a:ext cx="273103" cy="182068"/>
              </a:xfrm>
              <a:custGeom>
                <a:avLst/>
                <a:gdLst>
                  <a:gd name="connsiteX0" fmla="*/ 0 w 273103"/>
                  <a:gd name="connsiteY0" fmla="*/ 182069 h 182068"/>
                  <a:gd name="connsiteX1" fmla="*/ 273104 w 273103"/>
                  <a:gd name="connsiteY1" fmla="*/ 0 h 182068"/>
                </a:gdLst>
                <a:ahLst/>
                <a:cxnLst>
                  <a:cxn ang="0">
                    <a:pos x="connsiteX0" y="connsiteY0"/>
                  </a:cxn>
                  <a:cxn ang="0">
                    <a:pos x="connsiteX1" y="connsiteY1"/>
                  </a:cxn>
                </a:cxnLst>
                <a:rect l="l" t="t" r="r" b="b"/>
                <a:pathLst>
                  <a:path w="273103" h="182068">
                    <a:moveTo>
                      <a:pt x="0" y="182069"/>
                    </a:moveTo>
                    <a:lnTo>
                      <a:pt x="273104" y="0"/>
                    </a:lnTo>
                  </a:path>
                </a:pathLst>
              </a:custGeom>
              <a:ln w="25400" cap="flat">
                <a:solidFill>
                  <a:srgbClr val="232F3E"/>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23D267A3-C4D2-A6FE-BE13-A6745EB7EC86}"/>
                  </a:ext>
                </a:extLst>
              </p:cNvPr>
              <p:cNvSpPr/>
              <p:nvPr/>
            </p:nvSpPr>
            <p:spPr>
              <a:xfrm>
                <a:off x="8151843" y="3988247"/>
                <a:ext cx="254367" cy="136661"/>
              </a:xfrm>
              <a:custGeom>
                <a:avLst/>
                <a:gdLst>
                  <a:gd name="connsiteX0" fmla="*/ 0 w 254367"/>
                  <a:gd name="connsiteY0" fmla="*/ 136662 h 136661"/>
                  <a:gd name="connsiteX1" fmla="*/ 254367 w 254367"/>
                  <a:gd name="connsiteY1" fmla="*/ 0 h 136661"/>
                </a:gdLst>
                <a:ahLst/>
                <a:cxnLst>
                  <a:cxn ang="0">
                    <a:pos x="connsiteX0" y="connsiteY0"/>
                  </a:cxn>
                  <a:cxn ang="0">
                    <a:pos x="connsiteX1" y="connsiteY1"/>
                  </a:cxn>
                </a:cxnLst>
                <a:rect l="l" t="t" r="r" b="b"/>
                <a:pathLst>
                  <a:path w="254367" h="136661">
                    <a:moveTo>
                      <a:pt x="0" y="136662"/>
                    </a:moveTo>
                    <a:lnTo>
                      <a:pt x="254367" y="0"/>
                    </a:lnTo>
                  </a:path>
                </a:pathLst>
              </a:custGeom>
              <a:ln w="25400" cap="flat">
                <a:solidFill>
                  <a:srgbClr val="232F3E"/>
                </a:solidFill>
                <a:prstDash val="solid"/>
                <a:round/>
              </a:ln>
            </p:spPr>
            <p:txBody>
              <a:bodyPr rtlCol="0" anchor="ctr"/>
              <a:lstStyle/>
              <a:p>
                <a:endParaRPr lang="en-US"/>
              </a:p>
            </p:txBody>
          </p:sp>
          <p:sp>
            <p:nvSpPr>
              <p:cNvPr id="59" name="Freeform 58">
                <a:extLst>
                  <a:ext uri="{FF2B5EF4-FFF2-40B4-BE49-F238E27FC236}">
                    <a16:creationId xmlns:a16="http://schemas.microsoft.com/office/drawing/2014/main" id="{D80F757E-5BB1-1181-2180-07DCFD5F55EA}"/>
                  </a:ext>
                </a:extLst>
              </p:cNvPr>
              <p:cNvSpPr/>
              <p:nvPr/>
            </p:nvSpPr>
            <p:spPr>
              <a:xfrm>
                <a:off x="8121204" y="3472238"/>
                <a:ext cx="591613" cy="318510"/>
              </a:xfrm>
              <a:custGeom>
                <a:avLst/>
                <a:gdLst>
                  <a:gd name="connsiteX0" fmla="*/ 0 w 591613"/>
                  <a:gd name="connsiteY0" fmla="*/ 318510 h 318510"/>
                  <a:gd name="connsiteX1" fmla="*/ 591614 w 591613"/>
                  <a:gd name="connsiteY1" fmla="*/ 0 h 318510"/>
                </a:gdLst>
                <a:ahLst/>
                <a:cxnLst>
                  <a:cxn ang="0">
                    <a:pos x="connsiteX0" y="connsiteY0"/>
                  </a:cxn>
                  <a:cxn ang="0">
                    <a:pos x="connsiteX1" y="connsiteY1"/>
                  </a:cxn>
                </a:cxnLst>
                <a:rect l="l" t="t" r="r" b="b"/>
                <a:pathLst>
                  <a:path w="591613" h="318510">
                    <a:moveTo>
                      <a:pt x="0" y="318510"/>
                    </a:moveTo>
                    <a:lnTo>
                      <a:pt x="591614" y="0"/>
                    </a:lnTo>
                  </a:path>
                </a:pathLst>
              </a:custGeom>
              <a:ln w="25400" cap="flat">
                <a:solidFill>
                  <a:srgbClr val="232F3E"/>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E358140B-4473-B2E0-4FF8-DBAD7651A697}"/>
                  </a:ext>
                </a:extLst>
              </p:cNvPr>
              <p:cNvSpPr/>
              <p:nvPr/>
            </p:nvSpPr>
            <p:spPr>
              <a:xfrm>
                <a:off x="7893728" y="3199355"/>
                <a:ext cx="273103" cy="181848"/>
              </a:xfrm>
              <a:custGeom>
                <a:avLst/>
                <a:gdLst>
                  <a:gd name="connsiteX0" fmla="*/ 0 w 273103"/>
                  <a:gd name="connsiteY0" fmla="*/ 181849 h 181848"/>
                  <a:gd name="connsiteX1" fmla="*/ 273104 w 273103"/>
                  <a:gd name="connsiteY1" fmla="*/ 0 h 181848"/>
                </a:gdLst>
                <a:ahLst/>
                <a:cxnLst>
                  <a:cxn ang="0">
                    <a:pos x="connsiteX0" y="connsiteY0"/>
                  </a:cxn>
                  <a:cxn ang="0">
                    <a:pos x="connsiteX1" y="connsiteY1"/>
                  </a:cxn>
                </a:cxnLst>
                <a:rect l="l" t="t" r="r" b="b"/>
                <a:pathLst>
                  <a:path w="273103" h="181848">
                    <a:moveTo>
                      <a:pt x="0" y="181849"/>
                    </a:moveTo>
                    <a:lnTo>
                      <a:pt x="273104" y="0"/>
                    </a:lnTo>
                  </a:path>
                </a:pathLst>
              </a:custGeom>
              <a:ln w="25400" cap="flat">
                <a:solidFill>
                  <a:srgbClr val="232F3E"/>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D09F4D00-7AC6-F4FF-596B-A8833C04256F}"/>
                  </a:ext>
                </a:extLst>
              </p:cNvPr>
              <p:cNvSpPr/>
              <p:nvPr/>
            </p:nvSpPr>
            <p:spPr>
              <a:xfrm>
                <a:off x="7618861" y="2107162"/>
                <a:ext cx="1099687" cy="2183063"/>
              </a:xfrm>
              <a:custGeom>
                <a:avLst/>
                <a:gdLst>
                  <a:gd name="connsiteX0" fmla="*/ 1099688 w 1099687"/>
                  <a:gd name="connsiteY0" fmla="*/ 182069 h 2183063"/>
                  <a:gd name="connsiteX1" fmla="*/ 826584 w 1099687"/>
                  <a:gd name="connsiteY1" fmla="*/ 0 h 2183063"/>
                  <a:gd name="connsiteX2" fmla="*/ 280598 w 1099687"/>
                  <a:gd name="connsiteY2" fmla="*/ 318510 h 2183063"/>
                  <a:gd name="connsiteX3" fmla="*/ 280598 w 1099687"/>
                  <a:gd name="connsiteY3" fmla="*/ 678460 h 2183063"/>
                  <a:gd name="connsiteX4" fmla="*/ 0 w 1099687"/>
                  <a:gd name="connsiteY4" fmla="*/ 820853 h 2183063"/>
                  <a:gd name="connsiteX5" fmla="*/ 0 w 1099687"/>
                  <a:gd name="connsiteY5" fmla="*/ 1372571 h 2183063"/>
                  <a:gd name="connsiteX6" fmla="*/ 280598 w 1099687"/>
                  <a:gd name="connsiteY6" fmla="*/ 1540312 h 2183063"/>
                  <a:gd name="connsiteX7" fmla="*/ 280598 w 1099687"/>
                  <a:gd name="connsiteY7" fmla="*/ 1866758 h 2183063"/>
                  <a:gd name="connsiteX8" fmla="*/ 822837 w 1099687"/>
                  <a:gd name="connsiteY8" fmla="*/ 2183064 h 2183063"/>
                  <a:gd name="connsiteX9" fmla="*/ 1093957 w 1099687"/>
                  <a:gd name="connsiteY9" fmla="*/ 2037806 h 2183063"/>
                  <a:gd name="connsiteX10" fmla="*/ 1093957 w 1099687"/>
                  <a:gd name="connsiteY10" fmla="*/ 1092193 h 2183063"/>
                  <a:gd name="connsiteX11" fmla="*/ 821074 w 1099687"/>
                  <a:gd name="connsiteY11" fmla="*/ 955531 h 21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687" h="2183063">
                    <a:moveTo>
                      <a:pt x="1099688" y="182069"/>
                    </a:moveTo>
                    <a:lnTo>
                      <a:pt x="826584" y="0"/>
                    </a:lnTo>
                    <a:lnTo>
                      <a:pt x="280598" y="318510"/>
                    </a:lnTo>
                    <a:lnTo>
                      <a:pt x="280598" y="678460"/>
                    </a:lnTo>
                    <a:lnTo>
                      <a:pt x="0" y="820853"/>
                    </a:lnTo>
                    <a:lnTo>
                      <a:pt x="0" y="1372571"/>
                    </a:lnTo>
                    <a:lnTo>
                      <a:pt x="280598" y="1540312"/>
                    </a:lnTo>
                    <a:lnTo>
                      <a:pt x="280598" y="1866758"/>
                    </a:lnTo>
                    <a:lnTo>
                      <a:pt x="822837" y="2183064"/>
                    </a:lnTo>
                    <a:lnTo>
                      <a:pt x="1093957" y="2037806"/>
                    </a:lnTo>
                    <a:lnTo>
                      <a:pt x="1093957" y="1092193"/>
                    </a:lnTo>
                    <a:lnTo>
                      <a:pt x="821074" y="955531"/>
                    </a:lnTo>
                  </a:path>
                </a:pathLst>
              </a:custGeom>
              <a:noFill/>
              <a:ln w="25400" cap="flat">
                <a:solidFill>
                  <a:srgbClr val="232F3E"/>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C36CB2B9-674A-7C0C-8D89-5E81157F0E5C}"/>
                  </a:ext>
                </a:extLst>
              </p:cNvPr>
              <p:cNvSpPr/>
              <p:nvPr/>
            </p:nvSpPr>
            <p:spPr>
              <a:xfrm>
                <a:off x="8159337" y="3199355"/>
                <a:ext cx="273103" cy="420565"/>
              </a:xfrm>
              <a:custGeom>
                <a:avLst/>
                <a:gdLst>
                  <a:gd name="connsiteX0" fmla="*/ 273103 w 273103"/>
                  <a:gd name="connsiteY0" fmla="*/ 420566 h 420565"/>
                  <a:gd name="connsiteX1" fmla="*/ 273103 w 273103"/>
                  <a:gd name="connsiteY1" fmla="*/ 181849 h 420565"/>
                  <a:gd name="connsiteX2" fmla="*/ 0 w 273103"/>
                  <a:gd name="connsiteY2" fmla="*/ 0 h 420565"/>
                </a:gdLst>
                <a:ahLst/>
                <a:cxnLst>
                  <a:cxn ang="0">
                    <a:pos x="connsiteX0" y="connsiteY0"/>
                  </a:cxn>
                  <a:cxn ang="0">
                    <a:pos x="connsiteX1" y="connsiteY1"/>
                  </a:cxn>
                  <a:cxn ang="0">
                    <a:pos x="connsiteX2" y="connsiteY2"/>
                  </a:cxn>
                </a:cxnLst>
                <a:rect l="l" t="t" r="r" b="b"/>
                <a:pathLst>
                  <a:path w="273103" h="420565">
                    <a:moveTo>
                      <a:pt x="273103" y="420566"/>
                    </a:moveTo>
                    <a:lnTo>
                      <a:pt x="273103" y="181849"/>
                    </a:lnTo>
                    <a:lnTo>
                      <a:pt x="0" y="0"/>
                    </a:lnTo>
                  </a:path>
                </a:pathLst>
              </a:custGeom>
              <a:noFill/>
              <a:ln w="25400" cap="flat">
                <a:solidFill>
                  <a:srgbClr val="232F3E"/>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ED6C9648-166D-226B-9608-66257CAD514C}"/>
                  </a:ext>
                </a:extLst>
              </p:cNvPr>
              <p:cNvSpPr/>
              <p:nvPr/>
            </p:nvSpPr>
            <p:spPr>
              <a:xfrm>
                <a:off x="8712818" y="2108264"/>
                <a:ext cx="1093956" cy="2181961"/>
              </a:xfrm>
              <a:custGeom>
                <a:avLst/>
                <a:gdLst>
                  <a:gd name="connsiteX0" fmla="*/ 273103 w 1093956"/>
                  <a:gd name="connsiteY0" fmla="*/ 909022 h 2181961"/>
                  <a:gd name="connsiteX1" fmla="*/ 0 w 1093956"/>
                  <a:gd name="connsiteY1" fmla="*/ 726953 h 2181961"/>
                  <a:gd name="connsiteX2" fmla="*/ 0 w 1093956"/>
                  <a:gd name="connsiteY2" fmla="*/ 180746 h 2181961"/>
                  <a:gd name="connsiteX3" fmla="*/ 271120 w 1093956"/>
                  <a:gd name="connsiteY3" fmla="*/ 0 h 2181961"/>
                  <a:gd name="connsiteX4" fmla="*/ 813359 w 1093956"/>
                  <a:gd name="connsiteY4" fmla="*/ 324241 h 2181961"/>
                  <a:gd name="connsiteX5" fmla="*/ 813359 w 1093956"/>
                  <a:gd name="connsiteY5" fmla="*/ 685073 h 2181961"/>
                  <a:gd name="connsiteX6" fmla="*/ 1093957 w 1093956"/>
                  <a:gd name="connsiteY6" fmla="*/ 838487 h 2181961"/>
                  <a:gd name="connsiteX7" fmla="*/ 1093957 w 1093956"/>
                  <a:gd name="connsiteY7" fmla="*/ 1361550 h 2181961"/>
                  <a:gd name="connsiteX8" fmla="*/ 813359 w 1093956"/>
                  <a:gd name="connsiteY8" fmla="*/ 1548468 h 2181961"/>
                  <a:gd name="connsiteX9" fmla="*/ 813359 w 1093956"/>
                  <a:gd name="connsiteY9" fmla="*/ 1865656 h 2181961"/>
                  <a:gd name="connsiteX10" fmla="*/ 271120 w 1093956"/>
                  <a:gd name="connsiteY10" fmla="*/ 2181962 h 2181961"/>
                  <a:gd name="connsiteX11" fmla="*/ 0 w 1093956"/>
                  <a:gd name="connsiteY11" fmla="*/ 2046402 h 218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956" h="2181961">
                    <a:moveTo>
                      <a:pt x="273103" y="909022"/>
                    </a:moveTo>
                    <a:lnTo>
                      <a:pt x="0" y="726953"/>
                    </a:lnTo>
                    <a:lnTo>
                      <a:pt x="0" y="180746"/>
                    </a:lnTo>
                    <a:lnTo>
                      <a:pt x="271120" y="0"/>
                    </a:lnTo>
                    <a:lnTo>
                      <a:pt x="813359" y="324241"/>
                    </a:lnTo>
                    <a:lnTo>
                      <a:pt x="813359" y="685073"/>
                    </a:lnTo>
                    <a:lnTo>
                      <a:pt x="1093957" y="838487"/>
                    </a:lnTo>
                    <a:lnTo>
                      <a:pt x="1093957" y="1361550"/>
                    </a:lnTo>
                    <a:lnTo>
                      <a:pt x="813359" y="1548468"/>
                    </a:lnTo>
                    <a:lnTo>
                      <a:pt x="813359" y="1865656"/>
                    </a:lnTo>
                    <a:lnTo>
                      <a:pt x="271120" y="2181962"/>
                    </a:lnTo>
                    <a:lnTo>
                      <a:pt x="0" y="2046402"/>
                    </a:lnTo>
                  </a:path>
                </a:pathLst>
              </a:custGeom>
              <a:noFill/>
              <a:ln w="25400" cap="flat">
                <a:solidFill>
                  <a:srgbClr val="232F3E"/>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7B6D0E3D-B03C-AC8D-396E-2E499C67BF1E}"/>
                  </a:ext>
                </a:extLst>
              </p:cNvPr>
              <p:cNvSpPr/>
              <p:nvPr/>
            </p:nvSpPr>
            <p:spPr>
              <a:xfrm>
                <a:off x="9531908" y="3335797"/>
                <a:ext cx="272882" cy="136441"/>
              </a:xfrm>
              <a:custGeom>
                <a:avLst/>
                <a:gdLst>
                  <a:gd name="connsiteX0" fmla="*/ 0 w 272882"/>
                  <a:gd name="connsiteY0" fmla="*/ 0 h 136441"/>
                  <a:gd name="connsiteX1" fmla="*/ 272883 w 272882"/>
                  <a:gd name="connsiteY1" fmla="*/ 136441 h 136441"/>
                </a:gdLst>
                <a:ahLst/>
                <a:cxnLst>
                  <a:cxn ang="0">
                    <a:pos x="connsiteX0" y="connsiteY0"/>
                  </a:cxn>
                  <a:cxn ang="0">
                    <a:pos x="connsiteX1" y="connsiteY1"/>
                  </a:cxn>
                </a:cxnLst>
                <a:rect l="l" t="t" r="r" b="b"/>
                <a:pathLst>
                  <a:path w="272882" h="136441">
                    <a:moveTo>
                      <a:pt x="0" y="0"/>
                    </a:moveTo>
                    <a:lnTo>
                      <a:pt x="272883" y="136441"/>
                    </a:lnTo>
                  </a:path>
                </a:pathLst>
              </a:custGeom>
              <a:ln w="25400" cap="flat">
                <a:solidFill>
                  <a:srgbClr val="232F3E"/>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76A169FA-F5E2-3F05-1567-58E340DB2954}"/>
                  </a:ext>
                </a:extLst>
              </p:cNvPr>
              <p:cNvSpPr/>
              <p:nvPr/>
            </p:nvSpPr>
            <p:spPr>
              <a:xfrm>
                <a:off x="9329780" y="2610166"/>
                <a:ext cx="196396" cy="22042"/>
              </a:xfrm>
              <a:custGeom>
                <a:avLst/>
                <a:gdLst>
                  <a:gd name="connsiteX0" fmla="*/ 196396 w 196396"/>
                  <a:gd name="connsiteY0" fmla="*/ 0 h 22042"/>
                  <a:gd name="connsiteX1" fmla="*/ 0 w 196396"/>
                  <a:gd name="connsiteY1" fmla="*/ 0 h 22042"/>
                </a:gdLst>
                <a:ahLst/>
                <a:cxnLst>
                  <a:cxn ang="0">
                    <a:pos x="connsiteX0" y="connsiteY0"/>
                  </a:cxn>
                  <a:cxn ang="0">
                    <a:pos x="connsiteX1" y="connsiteY1"/>
                  </a:cxn>
                </a:cxnLst>
                <a:rect l="l" t="t" r="r" b="b"/>
                <a:pathLst>
                  <a:path w="196396" h="22042">
                    <a:moveTo>
                      <a:pt x="196396" y="0"/>
                    </a:moveTo>
                    <a:lnTo>
                      <a:pt x="0" y="0"/>
                    </a:lnTo>
                  </a:path>
                </a:pathLst>
              </a:custGeom>
              <a:ln w="25400" cap="flat">
                <a:solidFill>
                  <a:srgbClr val="232F3E"/>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307F9F6B-EC94-299D-2E3A-092D842AF4C1}"/>
                  </a:ext>
                </a:extLst>
              </p:cNvPr>
              <p:cNvSpPr/>
              <p:nvPr/>
            </p:nvSpPr>
            <p:spPr>
              <a:xfrm>
                <a:off x="8712818" y="3844311"/>
                <a:ext cx="280377" cy="22042"/>
              </a:xfrm>
              <a:custGeom>
                <a:avLst/>
                <a:gdLst>
                  <a:gd name="connsiteX0" fmla="*/ 0 w 280377"/>
                  <a:gd name="connsiteY0" fmla="*/ 0 h 22042"/>
                  <a:gd name="connsiteX1" fmla="*/ 280377 w 280377"/>
                  <a:gd name="connsiteY1" fmla="*/ 0 h 22042"/>
                </a:gdLst>
                <a:ahLst/>
                <a:cxnLst>
                  <a:cxn ang="0">
                    <a:pos x="connsiteX0" y="connsiteY0"/>
                  </a:cxn>
                  <a:cxn ang="0">
                    <a:pos x="connsiteX1" y="connsiteY1"/>
                  </a:cxn>
                </a:cxnLst>
                <a:rect l="l" t="t" r="r" b="b"/>
                <a:pathLst>
                  <a:path w="280377" h="22042">
                    <a:moveTo>
                      <a:pt x="0" y="0"/>
                    </a:moveTo>
                    <a:lnTo>
                      <a:pt x="280377" y="0"/>
                    </a:lnTo>
                  </a:path>
                </a:pathLst>
              </a:custGeom>
              <a:ln w="25400" cap="flat">
                <a:solidFill>
                  <a:srgbClr val="232F3E"/>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2F0A23F2-37C6-D0D6-853D-A6E1122FFD96}"/>
                  </a:ext>
                </a:extLst>
              </p:cNvPr>
              <p:cNvSpPr/>
              <p:nvPr/>
            </p:nvSpPr>
            <p:spPr>
              <a:xfrm>
                <a:off x="9161598" y="252618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8B3E6C0-5B34-9166-A7D1-22892EA57069}"/>
                  </a:ext>
                </a:extLst>
              </p:cNvPr>
              <p:cNvSpPr/>
              <p:nvPr/>
            </p:nvSpPr>
            <p:spPr>
              <a:xfrm>
                <a:off x="9357774" y="3199355"/>
                <a:ext cx="168402" cy="168402"/>
              </a:xfrm>
              <a:custGeom>
                <a:avLst/>
                <a:gdLst>
                  <a:gd name="connsiteX0" fmla="*/ 84202 w 168402"/>
                  <a:gd name="connsiteY0" fmla="*/ 0 h 168402"/>
                  <a:gd name="connsiteX1" fmla="*/ 0 w 168402"/>
                  <a:gd name="connsiteY1" fmla="*/ 84201 h 168402"/>
                  <a:gd name="connsiteX2" fmla="*/ 84202 w 168402"/>
                  <a:gd name="connsiteY2" fmla="*/ 168403 h 168402"/>
                  <a:gd name="connsiteX3" fmla="*/ 168403 w 168402"/>
                  <a:gd name="connsiteY3" fmla="*/ 84201 h 168402"/>
                  <a:gd name="connsiteX4" fmla="*/ 84202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2" y="0"/>
                    </a:moveTo>
                    <a:cubicBezTo>
                      <a:pt x="37692" y="0"/>
                      <a:pt x="0" y="37692"/>
                      <a:pt x="0" y="84201"/>
                    </a:cubicBezTo>
                    <a:cubicBezTo>
                      <a:pt x="0" y="130711"/>
                      <a:pt x="37692" y="168403"/>
                      <a:pt x="84202" y="168403"/>
                    </a:cubicBezTo>
                    <a:cubicBezTo>
                      <a:pt x="130711" y="168403"/>
                      <a:pt x="168403" y="130711"/>
                      <a:pt x="168403" y="84201"/>
                    </a:cubicBezTo>
                    <a:cubicBezTo>
                      <a:pt x="168403" y="37692"/>
                      <a:pt x="130711" y="0"/>
                      <a:pt x="84202" y="0"/>
                    </a:cubicBezTo>
                    <a:close/>
                  </a:path>
                </a:pathLst>
              </a:custGeom>
              <a:noFill/>
              <a:ln w="25400" cap="flat">
                <a:solidFill>
                  <a:srgbClr val="232F3E"/>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F152D3DD-D048-8D8C-15EC-44197AD80E60}"/>
                  </a:ext>
                </a:extLst>
              </p:cNvPr>
              <p:cNvSpPr/>
              <p:nvPr/>
            </p:nvSpPr>
            <p:spPr>
              <a:xfrm>
                <a:off x="8993195" y="297496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F32ED6C4-CB83-9B83-8094-67417CEEAB56}"/>
                  </a:ext>
                </a:extLst>
              </p:cNvPr>
              <p:cNvSpPr/>
              <p:nvPr/>
            </p:nvSpPr>
            <p:spPr>
              <a:xfrm>
                <a:off x="8993195" y="3760110"/>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grpSp>
        <p:cxnSp>
          <p:nvCxnSpPr>
            <p:cNvPr id="41" name="Straight Arrow Connector 40">
              <a:extLst>
                <a:ext uri="{FF2B5EF4-FFF2-40B4-BE49-F238E27FC236}">
                  <a16:creationId xmlns:a16="http://schemas.microsoft.com/office/drawing/2014/main" id="{E33AAECB-F05A-BC9E-9680-81E58791A857}"/>
                </a:ext>
              </a:extLst>
            </p:cNvPr>
            <p:cNvCxnSpPr>
              <a:cxnSpLocks/>
            </p:cNvCxnSpPr>
            <p:nvPr/>
          </p:nvCxnSpPr>
          <p:spPr>
            <a:xfrm>
              <a:off x="8221565" y="4578440"/>
              <a:ext cx="489949" cy="7101"/>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9D1EAFDC-68C3-5666-048E-0D9B95DC3C68}"/>
                </a:ext>
              </a:extLst>
            </p:cNvPr>
            <p:cNvGrpSpPr/>
            <p:nvPr/>
          </p:nvGrpSpPr>
          <p:grpSpPr>
            <a:xfrm>
              <a:off x="6976894" y="4157764"/>
              <a:ext cx="1104376" cy="890013"/>
              <a:chOff x="2467427" y="3958401"/>
              <a:chExt cx="1923694" cy="1550298"/>
            </a:xfrm>
          </p:grpSpPr>
          <p:grpSp>
            <p:nvGrpSpPr>
              <p:cNvPr id="46" name="Graphic 4">
                <a:extLst>
                  <a:ext uri="{FF2B5EF4-FFF2-40B4-BE49-F238E27FC236}">
                    <a16:creationId xmlns:a16="http://schemas.microsoft.com/office/drawing/2014/main" id="{6EA358AA-38A6-0562-A064-F2F11FE8B9E9}"/>
                  </a:ext>
                </a:extLst>
              </p:cNvPr>
              <p:cNvGrpSpPr/>
              <p:nvPr/>
            </p:nvGrpSpPr>
            <p:grpSpPr>
              <a:xfrm>
                <a:off x="2467427" y="3958401"/>
                <a:ext cx="1756101" cy="1465534"/>
                <a:chOff x="2467427" y="3958401"/>
                <a:chExt cx="1756101" cy="1465534"/>
              </a:xfrm>
              <a:noFill/>
            </p:grpSpPr>
            <p:sp>
              <p:nvSpPr>
                <p:cNvPr id="50" name="Freeform 49">
                  <a:extLst>
                    <a:ext uri="{FF2B5EF4-FFF2-40B4-BE49-F238E27FC236}">
                      <a16:creationId xmlns:a16="http://schemas.microsoft.com/office/drawing/2014/main" id="{D3163C68-48E2-D2B5-8915-4A7A1390A6A0}"/>
                    </a:ext>
                  </a:extLst>
                </p:cNvPr>
                <p:cNvSpPr/>
                <p:nvPr/>
              </p:nvSpPr>
              <p:spPr>
                <a:xfrm>
                  <a:off x="2629095" y="3958401"/>
                  <a:ext cx="1594433" cy="1196852"/>
                </a:xfrm>
                <a:custGeom>
                  <a:avLst/>
                  <a:gdLst>
                    <a:gd name="connsiteX0" fmla="*/ 1594433 w 1594433"/>
                    <a:gd name="connsiteY0" fmla="*/ 757676 h 1196852"/>
                    <a:gd name="connsiteX1" fmla="*/ 1594433 w 1594433"/>
                    <a:gd name="connsiteY1" fmla="*/ 98065 h 1196852"/>
                    <a:gd name="connsiteX2" fmla="*/ 1496368 w 1594433"/>
                    <a:gd name="connsiteY2" fmla="*/ 0 h 1196852"/>
                    <a:gd name="connsiteX3" fmla="*/ 98065 w 1594433"/>
                    <a:gd name="connsiteY3" fmla="*/ 0 h 1196852"/>
                    <a:gd name="connsiteX4" fmla="*/ 0 w 1594433"/>
                    <a:gd name="connsiteY4" fmla="*/ 98065 h 1196852"/>
                    <a:gd name="connsiteX5" fmla="*/ 0 w 1594433"/>
                    <a:gd name="connsiteY5" fmla="*/ 1196853 h 1196852"/>
                    <a:gd name="connsiteX6" fmla="*/ 993951 w 1594433"/>
                    <a:gd name="connsiteY6" fmla="*/ 1196853 h 119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4433" h="1196852">
                      <a:moveTo>
                        <a:pt x="1594433" y="757676"/>
                      </a:moveTo>
                      <a:lnTo>
                        <a:pt x="1594433" y="98065"/>
                      </a:lnTo>
                      <a:cubicBezTo>
                        <a:pt x="1594433" y="43893"/>
                        <a:pt x="1550540" y="0"/>
                        <a:pt x="1496368" y="0"/>
                      </a:cubicBezTo>
                      <a:lnTo>
                        <a:pt x="98065" y="0"/>
                      </a:lnTo>
                      <a:cubicBezTo>
                        <a:pt x="43893" y="0"/>
                        <a:pt x="0" y="43893"/>
                        <a:pt x="0" y="98065"/>
                      </a:cubicBezTo>
                      <a:lnTo>
                        <a:pt x="0" y="1196853"/>
                      </a:lnTo>
                      <a:lnTo>
                        <a:pt x="993951" y="1196853"/>
                      </a:lnTo>
                    </a:path>
                  </a:pathLst>
                </a:custGeom>
                <a:noFill/>
                <a:ln w="25400" cap="flat">
                  <a:solidFill>
                    <a:srgbClr val="232F3E"/>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5A5B5B6-F1F9-8AE0-2298-EDD47EBDB137}"/>
                    </a:ext>
                  </a:extLst>
                </p:cNvPr>
                <p:cNvSpPr/>
                <p:nvPr/>
              </p:nvSpPr>
              <p:spPr>
                <a:xfrm>
                  <a:off x="2467427" y="5162267"/>
                  <a:ext cx="1163721" cy="261667"/>
                </a:xfrm>
                <a:custGeom>
                  <a:avLst/>
                  <a:gdLst>
                    <a:gd name="connsiteX0" fmla="*/ 1153685 w 1163721"/>
                    <a:gd name="connsiteY0" fmla="*/ 0 h 261667"/>
                    <a:gd name="connsiteX1" fmla="*/ 0 w 1163721"/>
                    <a:gd name="connsiteY1" fmla="*/ 0 h 261667"/>
                    <a:gd name="connsiteX2" fmla="*/ 188028 w 1163721"/>
                    <a:gd name="connsiteY2" fmla="*/ 261668 h 261667"/>
                    <a:gd name="connsiteX3" fmla="*/ 1163721 w 1163721"/>
                    <a:gd name="connsiteY3" fmla="*/ 261668 h 261667"/>
                  </a:gdLst>
                  <a:ahLst/>
                  <a:cxnLst>
                    <a:cxn ang="0">
                      <a:pos x="connsiteX0" y="connsiteY0"/>
                    </a:cxn>
                    <a:cxn ang="0">
                      <a:pos x="connsiteX1" y="connsiteY1"/>
                    </a:cxn>
                    <a:cxn ang="0">
                      <a:pos x="connsiteX2" y="connsiteY2"/>
                    </a:cxn>
                    <a:cxn ang="0">
                      <a:pos x="connsiteX3" y="connsiteY3"/>
                    </a:cxn>
                  </a:cxnLst>
                  <a:rect l="l" t="t" r="r" b="b"/>
                  <a:pathLst>
                    <a:path w="1163721" h="261667">
                      <a:moveTo>
                        <a:pt x="1153685" y="0"/>
                      </a:moveTo>
                      <a:lnTo>
                        <a:pt x="0" y="0"/>
                      </a:lnTo>
                      <a:lnTo>
                        <a:pt x="188028" y="261668"/>
                      </a:lnTo>
                      <a:lnTo>
                        <a:pt x="1163721" y="261668"/>
                      </a:lnTo>
                    </a:path>
                  </a:pathLst>
                </a:custGeom>
                <a:noFill/>
                <a:ln w="25400" cap="flat">
                  <a:solidFill>
                    <a:srgbClr val="232F3E"/>
                  </a:solidFill>
                  <a:prstDash val="solid"/>
                  <a:round/>
                </a:ln>
              </p:spPr>
              <p:txBody>
                <a:bodyPr rtlCol="0" anchor="ctr"/>
                <a:lstStyle/>
                <a:p>
                  <a:endParaRPr lang="en-US"/>
                </a:p>
              </p:txBody>
            </p:sp>
          </p:grpSp>
          <p:sp>
            <p:nvSpPr>
              <p:cNvPr id="47" name="Freeform 46">
                <a:extLst>
                  <a:ext uri="{FF2B5EF4-FFF2-40B4-BE49-F238E27FC236}">
                    <a16:creationId xmlns:a16="http://schemas.microsoft.com/office/drawing/2014/main" id="{7368504F-9757-495F-4B8E-0D02452DC99F}"/>
                  </a:ext>
                </a:extLst>
              </p:cNvPr>
              <p:cNvSpPr/>
              <p:nvPr/>
            </p:nvSpPr>
            <p:spPr>
              <a:xfrm>
                <a:off x="3724376" y="4841954"/>
                <a:ext cx="666745" cy="666745"/>
              </a:xfrm>
              <a:custGeom>
                <a:avLst/>
                <a:gdLst>
                  <a:gd name="connsiteX0" fmla="*/ 666745 w 666745"/>
                  <a:gd name="connsiteY0" fmla="*/ 333373 h 666745"/>
                  <a:gd name="connsiteX1" fmla="*/ 333373 w 666745"/>
                  <a:gd name="connsiteY1" fmla="*/ 666745 h 666745"/>
                  <a:gd name="connsiteX2" fmla="*/ 0 w 666745"/>
                  <a:gd name="connsiteY2" fmla="*/ 333373 h 666745"/>
                  <a:gd name="connsiteX3" fmla="*/ 333373 w 666745"/>
                  <a:gd name="connsiteY3" fmla="*/ 0 h 666745"/>
                  <a:gd name="connsiteX4" fmla="*/ 666745 w 666745"/>
                  <a:gd name="connsiteY4" fmla="*/ 333373 h 66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45" h="666745">
                    <a:moveTo>
                      <a:pt x="666745" y="333373"/>
                    </a:moveTo>
                    <a:cubicBezTo>
                      <a:pt x="666745" y="517489"/>
                      <a:pt x="517489" y="666745"/>
                      <a:pt x="333373" y="666745"/>
                    </a:cubicBezTo>
                    <a:cubicBezTo>
                      <a:pt x="149256" y="666745"/>
                      <a:pt x="0" y="517489"/>
                      <a:pt x="0" y="333373"/>
                    </a:cubicBezTo>
                    <a:cubicBezTo>
                      <a:pt x="0" y="149256"/>
                      <a:pt x="149256" y="0"/>
                      <a:pt x="333373" y="0"/>
                    </a:cubicBezTo>
                    <a:cubicBezTo>
                      <a:pt x="517489" y="0"/>
                      <a:pt x="666745" y="149256"/>
                      <a:pt x="666745" y="333373"/>
                    </a:cubicBezTo>
                    <a:close/>
                  </a:path>
                </a:pathLst>
              </a:custGeom>
              <a:noFill/>
              <a:ln w="25400" cap="flat">
                <a:solidFill>
                  <a:srgbClr val="232F3E"/>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E17257B5-C180-DF2E-5CF2-46A5D238C93F}"/>
                  </a:ext>
                </a:extLst>
              </p:cNvPr>
              <p:cNvSpPr/>
              <p:nvPr/>
            </p:nvSpPr>
            <p:spPr>
              <a:xfrm>
                <a:off x="3835380" y="5019704"/>
                <a:ext cx="400119" cy="155622"/>
              </a:xfrm>
              <a:custGeom>
                <a:avLst/>
                <a:gdLst>
                  <a:gd name="connsiteX0" fmla="*/ 244498 w 400119"/>
                  <a:gd name="connsiteY0" fmla="*/ 0 h 155622"/>
                  <a:gd name="connsiteX1" fmla="*/ 400120 w 400119"/>
                  <a:gd name="connsiteY1" fmla="*/ 155622 h 155622"/>
                  <a:gd name="connsiteX2" fmla="*/ 0 w 400119"/>
                  <a:gd name="connsiteY2" fmla="*/ 155622 h 155622"/>
                </a:gdLst>
                <a:ahLst/>
                <a:cxnLst>
                  <a:cxn ang="0">
                    <a:pos x="connsiteX0" y="connsiteY0"/>
                  </a:cxn>
                  <a:cxn ang="0">
                    <a:pos x="connsiteX1" y="connsiteY1"/>
                  </a:cxn>
                  <a:cxn ang="0">
                    <a:pos x="connsiteX2" y="connsiteY2"/>
                  </a:cxn>
                </a:cxnLst>
                <a:rect l="l" t="t" r="r" b="b"/>
                <a:pathLst>
                  <a:path w="400119" h="155622">
                    <a:moveTo>
                      <a:pt x="244498" y="0"/>
                    </a:moveTo>
                    <a:lnTo>
                      <a:pt x="400120" y="155622"/>
                    </a:lnTo>
                    <a:lnTo>
                      <a:pt x="0" y="155622"/>
                    </a:lnTo>
                  </a:path>
                </a:pathLst>
              </a:custGeom>
              <a:noFill/>
              <a:ln w="25400" cap="flat">
                <a:solidFill>
                  <a:srgbClr val="232F3E"/>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83AA899A-83ED-E032-A1F5-AE4EC11D6A73}"/>
                  </a:ext>
                </a:extLst>
              </p:cNvPr>
              <p:cNvSpPr/>
              <p:nvPr/>
            </p:nvSpPr>
            <p:spPr>
              <a:xfrm>
                <a:off x="4079877" y="5175326"/>
                <a:ext cx="155622" cy="155501"/>
              </a:xfrm>
              <a:custGeom>
                <a:avLst/>
                <a:gdLst>
                  <a:gd name="connsiteX0" fmla="*/ 0 w 155622"/>
                  <a:gd name="connsiteY0" fmla="*/ 155501 h 155501"/>
                  <a:gd name="connsiteX1" fmla="*/ 155622 w 155622"/>
                  <a:gd name="connsiteY1" fmla="*/ 0 h 155501"/>
                </a:gdLst>
                <a:ahLst/>
                <a:cxnLst>
                  <a:cxn ang="0">
                    <a:pos x="connsiteX0" y="connsiteY0"/>
                  </a:cxn>
                  <a:cxn ang="0">
                    <a:pos x="connsiteX1" y="connsiteY1"/>
                  </a:cxn>
                </a:cxnLst>
                <a:rect l="l" t="t" r="r" b="b"/>
                <a:pathLst>
                  <a:path w="155622" h="155501">
                    <a:moveTo>
                      <a:pt x="0" y="155501"/>
                    </a:moveTo>
                    <a:lnTo>
                      <a:pt x="155622" y="0"/>
                    </a:lnTo>
                  </a:path>
                </a:pathLst>
              </a:custGeom>
              <a:ln w="25400" cap="flat">
                <a:solidFill>
                  <a:srgbClr val="232F3E"/>
                </a:solidFill>
                <a:prstDash val="solid"/>
                <a:round/>
              </a:ln>
            </p:spPr>
            <p:txBody>
              <a:bodyPr rtlCol="0" anchor="ctr"/>
              <a:lstStyle/>
              <a:p>
                <a:endParaRPr lang="en-US"/>
              </a:p>
            </p:txBody>
          </p:sp>
        </p:grpSp>
        <p:sp>
          <p:nvSpPr>
            <p:cNvPr id="39" name="TextBox 38">
              <a:extLst>
                <a:ext uri="{FF2B5EF4-FFF2-40B4-BE49-F238E27FC236}">
                  <a16:creationId xmlns:a16="http://schemas.microsoft.com/office/drawing/2014/main" id="{A7944690-A4BF-C607-8670-DF62D0227DDF}"/>
                </a:ext>
              </a:extLst>
            </p:cNvPr>
            <p:cNvSpPr txBox="1"/>
            <p:nvPr/>
          </p:nvSpPr>
          <p:spPr>
            <a:xfrm>
              <a:off x="10626656" y="4156904"/>
              <a:ext cx="319318" cy="923330"/>
            </a:xfrm>
            <a:prstGeom prst="rect">
              <a:avLst/>
            </a:prstGeom>
            <a:noFill/>
          </p:spPr>
          <p:txBody>
            <a:bodyPr wrap="none" rtlCol="0">
              <a:spAutoFit/>
            </a:bodyPr>
            <a:lstStyle/>
            <a:p>
              <a:r>
                <a:rPr lang="en-US" dirty="0"/>
                <a:t>1</a:t>
              </a:r>
            </a:p>
            <a:p>
              <a:r>
                <a:rPr lang="en-US" dirty="0"/>
                <a:t>2</a:t>
              </a:r>
            </a:p>
            <a:p>
              <a:r>
                <a:rPr lang="en-US" dirty="0"/>
                <a:t>3</a:t>
              </a:r>
            </a:p>
          </p:txBody>
        </p:sp>
        <p:cxnSp>
          <p:nvCxnSpPr>
            <p:cNvPr id="71" name="Straight Arrow Connector 70">
              <a:extLst>
                <a:ext uri="{FF2B5EF4-FFF2-40B4-BE49-F238E27FC236}">
                  <a16:creationId xmlns:a16="http://schemas.microsoft.com/office/drawing/2014/main" id="{B5402370-AAE4-C9CF-0CCC-E8AD7AAB0772}"/>
                </a:ext>
              </a:extLst>
            </p:cNvPr>
            <p:cNvCxnSpPr>
              <a:cxnSpLocks/>
            </p:cNvCxnSpPr>
            <p:nvPr/>
          </p:nvCxnSpPr>
          <p:spPr>
            <a:xfrm flipV="1">
              <a:off x="10053120" y="4284678"/>
              <a:ext cx="546276" cy="314591"/>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5CE0B8D-FEC0-8ECD-9BE9-06C7F202B11A}"/>
                </a:ext>
              </a:extLst>
            </p:cNvPr>
            <p:cNvCxnSpPr>
              <a:cxnSpLocks/>
            </p:cNvCxnSpPr>
            <p:nvPr/>
          </p:nvCxnSpPr>
          <p:spPr>
            <a:xfrm>
              <a:off x="10049591" y="4600907"/>
              <a:ext cx="519812" cy="4473"/>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A2E5B95-434A-45F0-F356-6FC0A91638ED}"/>
                </a:ext>
              </a:extLst>
            </p:cNvPr>
            <p:cNvCxnSpPr>
              <a:cxnSpLocks/>
            </p:cNvCxnSpPr>
            <p:nvPr/>
          </p:nvCxnSpPr>
          <p:spPr>
            <a:xfrm>
              <a:off x="10049591" y="4595090"/>
              <a:ext cx="487990" cy="293333"/>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5267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C0966AF-A2A2-4627-A63B-0381B05009D9}"/>
              </a:ext>
            </a:extLst>
          </p:cNvPr>
          <p:cNvSpPr>
            <a:spLocks noGrp="1"/>
          </p:cNvSpPr>
          <p:nvPr>
            <p:ph type="sldNum" idx="97"/>
          </p:nvPr>
        </p:nvSpPr>
        <p:spPr/>
        <p:txBody>
          <a:bodyPr/>
          <a:lstStyle/>
          <a:p>
            <a:fld id="{4037B1B0-0345-4E15-985A-6BECCDBE474F}" type="slidenum">
              <a:rPr lang="en-US" smtClean="0"/>
              <a:pPr/>
              <a:t>23</a:t>
            </a:fld>
            <a:endParaRPr lang="en-US" dirty="0"/>
          </a:p>
        </p:txBody>
      </p:sp>
      <p:sp>
        <p:nvSpPr>
          <p:cNvPr id="6" name="Title">
            <a:extLst>
              <a:ext uri="{FF2B5EF4-FFF2-40B4-BE49-F238E27FC236}">
                <a16:creationId xmlns:a16="http://schemas.microsoft.com/office/drawing/2014/main" id="{7161BDD4-F5B8-43FE-8380-46C28425D31D}"/>
              </a:ext>
            </a:extLst>
          </p:cNvPr>
          <p:cNvSpPr>
            <a:spLocks noGrp="1"/>
          </p:cNvSpPr>
          <p:nvPr>
            <p:ph type="title" idx="1"/>
          </p:nvPr>
        </p:nvSpPr>
        <p:spPr/>
        <p:txBody>
          <a:bodyPr/>
          <a:lstStyle/>
          <a:p>
            <a:r>
              <a:rPr lang="en-US" dirty="0">
                <a:effectLst/>
              </a:rPr>
              <a:t>Constraint techniques: Negative prompting</a:t>
            </a:r>
          </a:p>
        </p:txBody>
      </p:sp>
      <p:sp>
        <p:nvSpPr>
          <p:cNvPr id="7" name="Content Placeholder 6">
            <a:extLst>
              <a:ext uri="{FF2B5EF4-FFF2-40B4-BE49-F238E27FC236}">
                <a16:creationId xmlns:a16="http://schemas.microsoft.com/office/drawing/2014/main" id="{1D7C9ADE-1B05-4D31-9C78-4B87CFF04083}"/>
              </a:ext>
            </a:extLst>
          </p:cNvPr>
          <p:cNvSpPr>
            <a:spLocks noGrp="1"/>
          </p:cNvSpPr>
          <p:nvPr>
            <p:ph idx="2"/>
          </p:nvPr>
        </p:nvSpPr>
        <p:spPr/>
        <p:txBody>
          <a:bodyPr/>
          <a:lstStyle/>
          <a:p>
            <a:pPr>
              <a:buFont typeface="Arial" panose="020B0604020202020204" pitchFamily="34" charset="0"/>
              <a:buChar char="•"/>
            </a:pPr>
            <a:r>
              <a:rPr lang="en-US" dirty="0">
                <a:effectLst/>
              </a:rPr>
              <a:t>Specifying what you don't want in the output</a:t>
            </a:r>
          </a:p>
          <a:p>
            <a:pPr>
              <a:buFont typeface="Arial" panose="020B0604020202020204" pitchFamily="34" charset="0"/>
              <a:buChar char="•"/>
            </a:pPr>
            <a:r>
              <a:rPr lang="en-US" dirty="0">
                <a:effectLst/>
              </a:rPr>
              <a:t>Examples: </a:t>
            </a:r>
          </a:p>
          <a:p>
            <a:pPr marL="742950" lvl="1" indent="-285750">
              <a:buFont typeface="Arial" panose="020B0604020202020204" pitchFamily="34" charset="0"/>
              <a:buChar char="•"/>
            </a:pPr>
            <a:r>
              <a:rPr lang="en-US" dirty="0">
                <a:effectLst/>
              </a:rPr>
              <a:t>"Don't include any profanity."</a:t>
            </a:r>
          </a:p>
          <a:p>
            <a:pPr marL="742950" lvl="1" indent="-285750">
              <a:buFont typeface="Arial" panose="020B0604020202020204" pitchFamily="34" charset="0"/>
              <a:buChar char="•"/>
            </a:pPr>
            <a:r>
              <a:rPr lang="en-US" dirty="0">
                <a:effectLst/>
              </a:rPr>
              <a:t>"Avoid mentioning specific individuals."</a:t>
            </a:r>
          </a:p>
          <a:p>
            <a:pPr marL="742950" lvl="1" indent="-285750">
              <a:buFont typeface="Arial" panose="020B0604020202020204" pitchFamily="34" charset="0"/>
              <a:buChar char="•"/>
            </a:pPr>
            <a:r>
              <a:rPr lang="en-US" dirty="0">
                <a:effectLst/>
              </a:rPr>
              <a:t>"Don't use a sarcastic or condescending tone."</a:t>
            </a:r>
          </a:p>
        </p:txBody>
      </p:sp>
      <p:grpSp>
        <p:nvGrpSpPr>
          <p:cNvPr id="38" name="diagram" descr="Visual representation of negative prompting, showing excluded content types and examples of constraint phrases.">
            <a:extLst>
              <a:ext uri="{FF2B5EF4-FFF2-40B4-BE49-F238E27FC236}">
                <a16:creationId xmlns:a16="http://schemas.microsoft.com/office/drawing/2014/main" id="{24B4BA51-05CA-914B-9542-395B4D506F5C}"/>
              </a:ext>
            </a:extLst>
          </p:cNvPr>
          <p:cNvGrpSpPr/>
          <p:nvPr/>
        </p:nvGrpSpPr>
        <p:grpSpPr>
          <a:xfrm>
            <a:off x="5927451" y="3253194"/>
            <a:ext cx="5420253" cy="1019124"/>
            <a:chOff x="6096000" y="4553045"/>
            <a:chExt cx="5420253" cy="1019124"/>
          </a:xfrm>
        </p:grpSpPr>
        <p:grpSp>
          <p:nvGrpSpPr>
            <p:cNvPr id="3" name="Group 2">
              <a:extLst>
                <a:ext uri="{FF2B5EF4-FFF2-40B4-BE49-F238E27FC236}">
                  <a16:creationId xmlns:a16="http://schemas.microsoft.com/office/drawing/2014/main" id="{EBA68734-A068-B8CB-B84C-F408C867DC96}"/>
                </a:ext>
              </a:extLst>
            </p:cNvPr>
            <p:cNvGrpSpPr/>
            <p:nvPr/>
          </p:nvGrpSpPr>
          <p:grpSpPr>
            <a:xfrm>
              <a:off x="6096000" y="4553045"/>
              <a:ext cx="5420253" cy="1019124"/>
              <a:chOff x="6976894" y="4102471"/>
              <a:chExt cx="5420253" cy="1019124"/>
            </a:xfrm>
          </p:grpSpPr>
          <p:grpSp>
            <p:nvGrpSpPr>
              <p:cNvPr id="4" name="Graphic 4" descr="Run ML Queries">
                <a:extLst>
                  <a:ext uri="{FF2B5EF4-FFF2-40B4-BE49-F238E27FC236}">
                    <a16:creationId xmlns:a16="http://schemas.microsoft.com/office/drawing/2014/main" id="{3544D960-5D00-D7B2-E282-DBA9B436A503}"/>
                  </a:ext>
                </a:extLst>
              </p:cNvPr>
              <p:cNvGrpSpPr/>
              <p:nvPr/>
            </p:nvGrpSpPr>
            <p:grpSpPr>
              <a:xfrm>
                <a:off x="8952366" y="4102471"/>
                <a:ext cx="1021388" cy="1019124"/>
                <a:chOff x="7618861" y="2107162"/>
                <a:chExt cx="2187913" cy="2183063"/>
              </a:xfrm>
              <a:noFill/>
            </p:grpSpPr>
            <p:sp>
              <p:nvSpPr>
                <p:cNvPr id="19" name="Freeform 18">
                  <a:extLst>
                    <a:ext uri="{FF2B5EF4-FFF2-40B4-BE49-F238E27FC236}">
                      <a16:creationId xmlns:a16="http://schemas.microsoft.com/office/drawing/2014/main" id="{CFC00C7B-7FAA-6B32-0A6F-11EEAD9DE223}"/>
                    </a:ext>
                  </a:extLst>
                </p:cNvPr>
                <p:cNvSpPr/>
                <p:nvPr/>
              </p:nvSpPr>
              <p:spPr>
                <a:xfrm>
                  <a:off x="8151843" y="2497971"/>
                  <a:ext cx="280597" cy="729377"/>
                </a:xfrm>
                <a:custGeom>
                  <a:avLst/>
                  <a:gdLst>
                    <a:gd name="connsiteX0" fmla="*/ 0 w 280597"/>
                    <a:gd name="connsiteY0" fmla="*/ 729378 h 729377"/>
                    <a:gd name="connsiteX1" fmla="*/ 0 w 280597"/>
                    <a:gd name="connsiteY1" fmla="*/ 430044 h 729377"/>
                    <a:gd name="connsiteX2" fmla="*/ 280598 w 280597"/>
                    <a:gd name="connsiteY2" fmla="*/ 289635 h 729377"/>
                    <a:gd name="connsiteX3" fmla="*/ 280598 w 280597"/>
                    <a:gd name="connsiteY3" fmla="*/ 0 h 729377"/>
                  </a:gdLst>
                  <a:ahLst/>
                  <a:cxnLst>
                    <a:cxn ang="0">
                      <a:pos x="connsiteX0" y="connsiteY0"/>
                    </a:cxn>
                    <a:cxn ang="0">
                      <a:pos x="connsiteX1" y="connsiteY1"/>
                    </a:cxn>
                    <a:cxn ang="0">
                      <a:pos x="connsiteX2" y="connsiteY2"/>
                    </a:cxn>
                    <a:cxn ang="0">
                      <a:pos x="connsiteX3" y="connsiteY3"/>
                    </a:cxn>
                  </a:cxnLst>
                  <a:rect l="l" t="t" r="r" b="b"/>
                  <a:pathLst>
                    <a:path w="280597" h="729377">
                      <a:moveTo>
                        <a:pt x="0" y="729378"/>
                      </a:moveTo>
                      <a:lnTo>
                        <a:pt x="0" y="430044"/>
                      </a:lnTo>
                      <a:lnTo>
                        <a:pt x="280598" y="289635"/>
                      </a:lnTo>
                      <a:lnTo>
                        <a:pt x="280598" y="0"/>
                      </a:lnTo>
                    </a:path>
                  </a:pathLst>
                </a:custGeom>
                <a:noFill/>
                <a:ln w="25400" cap="flat">
                  <a:solidFill>
                    <a:srgbClr val="232F3E"/>
                  </a:solidFill>
                  <a:prstDash val="solid"/>
                  <a:round/>
                </a:ln>
              </p:spPr>
              <p:txBody>
                <a:bodyPr rtlCol="0" anchor="ctr"/>
                <a:lstStyle/>
                <a:p>
                  <a:endParaRPr lang="en-US"/>
                </a:p>
              </p:txBody>
            </p:sp>
            <p:sp>
              <p:nvSpPr>
                <p:cNvPr id="20" name="Freeform 19">
                  <a:extLst>
                    <a:ext uri="{FF2B5EF4-FFF2-40B4-BE49-F238E27FC236}">
                      <a16:creationId xmlns:a16="http://schemas.microsoft.com/office/drawing/2014/main" id="{49EB9686-F2CE-13ED-4852-FA05DB01E004}"/>
                    </a:ext>
                  </a:extLst>
                </p:cNvPr>
                <p:cNvSpPr/>
                <p:nvPr/>
              </p:nvSpPr>
              <p:spPr>
                <a:xfrm>
                  <a:off x="7893729" y="2789810"/>
                  <a:ext cx="273102" cy="136441"/>
                </a:xfrm>
                <a:custGeom>
                  <a:avLst/>
                  <a:gdLst>
                    <a:gd name="connsiteX0" fmla="*/ 273104 w 273103"/>
                    <a:gd name="connsiteY0" fmla="*/ 136441 h 136441"/>
                    <a:gd name="connsiteX1" fmla="*/ 0 w 273103"/>
                    <a:gd name="connsiteY1" fmla="*/ 0 h 136441"/>
                  </a:gdLst>
                  <a:ahLst/>
                  <a:cxnLst>
                    <a:cxn ang="0">
                      <a:pos x="connsiteX0" y="connsiteY0"/>
                    </a:cxn>
                    <a:cxn ang="0">
                      <a:pos x="connsiteX1" y="connsiteY1"/>
                    </a:cxn>
                  </a:cxnLst>
                  <a:rect l="l" t="t" r="r" b="b"/>
                  <a:pathLst>
                    <a:path w="273103" h="136441">
                      <a:moveTo>
                        <a:pt x="273104" y="136441"/>
                      </a:moveTo>
                      <a:lnTo>
                        <a:pt x="0" y="0"/>
                      </a:lnTo>
                    </a:path>
                  </a:pathLst>
                </a:custGeom>
                <a:ln w="25400" cap="flat">
                  <a:solidFill>
                    <a:srgbClr val="232F3E"/>
                  </a:solidFill>
                  <a:prstDash val="solid"/>
                  <a:round/>
                </a:ln>
              </p:spPr>
              <p:txBody>
                <a:bodyPr rtlCol="0" anchor="ctr"/>
                <a:lstStyle/>
                <a:p>
                  <a:endParaRPr lang="en-US"/>
                </a:p>
              </p:txBody>
            </p:sp>
            <p:sp>
              <p:nvSpPr>
                <p:cNvPr id="21" name="Freeform 20">
                  <a:extLst>
                    <a:ext uri="{FF2B5EF4-FFF2-40B4-BE49-F238E27FC236}">
                      <a16:creationId xmlns:a16="http://schemas.microsoft.com/office/drawing/2014/main" id="{52B07CEE-787D-98A0-4CD9-A22FDE0FE879}"/>
                    </a:ext>
                  </a:extLst>
                </p:cNvPr>
                <p:cNvSpPr/>
                <p:nvPr/>
              </p:nvSpPr>
              <p:spPr>
                <a:xfrm>
                  <a:off x="8179837" y="2273801"/>
                  <a:ext cx="22042" cy="336364"/>
                </a:xfrm>
                <a:custGeom>
                  <a:avLst/>
                  <a:gdLst>
                    <a:gd name="connsiteX0" fmla="*/ 0 w 22042"/>
                    <a:gd name="connsiteY0" fmla="*/ 336365 h 336364"/>
                    <a:gd name="connsiteX1" fmla="*/ 0 w 22042"/>
                    <a:gd name="connsiteY1" fmla="*/ 0 h 336364"/>
                  </a:gdLst>
                  <a:ahLst/>
                  <a:cxnLst>
                    <a:cxn ang="0">
                      <a:pos x="connsiteX0" y="connsiteY0"/>
                    </a:cxn>
                    <a:cxn ang="0">
                      <a:pos x="connsiteX1" y="connsiteY1"/>
                    </a:cxn>
                  </a:cxnLst>
                  <a:rect l="l" t="t" r="r" b="b"/>
                  <a:pathLst>
                    <a:path w="22042" h="336364">
                      <a:moveTo>
                        <a:pt x="0" y="336365"/>
                      </a:moveTo>
                      <a:lnTo>
                        <a:pt x="0" y="0"/>
                      </a:lnTo>
                    </a:path>
                  </a:pathLst>
                </a:custGeom>
                <a:ln w="25400" cap="flat">
                  <a:solidFill>
                    <a:srgbClr val="232F3E"/>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E7220C5-5E9C-5C1C-F01E-BA4B4379FE2A}"/>
                    </a:ext>
                  </a:extLst>
                </p:cNvPr>
                <p:cNvSpPr/>
                <p:nvPr/>
              </p:nvSpPr>
              <p:spPr>
                <a:xfrm>
                  <a:off x="7620845" y="3059167"/>
                  <a:ext cx="262743" cy="154736"/>
                </a:xfrm>
                <a:custGeom>
                  <a:avLst/>
                  <a:gdLst>
                    <a:gd name="connsiteX0" fmla="*/ 0 w 262743"/>
                    <a:gd name="connsiteY0" fmla="*/ 154737 h 154736"/>
                    <a:gd name="connsiteX1" fmla="*/ 262744 w 262743"/>
                    <a:gd name="connsiteY1" fmla="*/ 0 h 154736"/>
                  </a:gdLst>
                  <a:ahLst/>
                  <a:cxnLst>
                    <a:cxn ang="0">
                      <a:pos x="connsiteX0" y="connsiteY0"/>
                    </a:cxn>
                    <a:cxn ang="0">
                      <a:pos x="connsiteX1" y="connsiteY1"/>
                    </a:cxn>
                  </a:cxnLst>
                  <a:rect l="l" t="t" r="r" b="b"/>
                  <a:pathLst>
                    <a:path w="262743" h="154736">
                      <a:moveTo>
                        <a:pt x="0" y="154737"/>
                      </a:moveTo>
                      <a:lnTo>
                        <a:pt x="262744" y="0"/>
                      </a:lnTo>
                    </a:path>
                  </a:pathLst>
                </a:custGeom>
                <a:ln w="25400" cap="flat">
                  <a:solidFill>
                    <a:srgbClr val="232F3E"/>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AFD69CDB-7107-9C3A-0296-7ED778CCD536}"/>
                    </a:ext>
                  </a:extLst>
                </p:cNvPr>
                <p:cNvSpPr/>
                <p:nvPr/>
              </p:nvSpPr>
              <p:spPr>
                <a:xfrm>
                  <a:off x="7893728" y="3472238"/>
                  <a:ext cx="273103" cy="182068"/>
                </a:xfrm>
                <a:custGeom>
                  <a:avLst/>
                  <a:gdLst>
                    <a:gd name="connsiteX0" fmla="*/ 0 w 273103"/>
                    <a:gd name="connsiteY0" fmla="*/ 182069 h 182068"/>
                    <a:gd name="connsiteX1" fmla="*/ 273104 w 273103"/>
                    <a:gd name="connsiteY1" fmla="*/ 0 h 182068"/>
                  </a:gdLst>
                  <a:ahLst/>
                  <a:cxnLst>
                    <a:cxn ang="0">
                      <a:pos x="connsiteX0" y="connsiteY0"/>
                    </a:cxn>
                    <a:cxn ang="0">
                      <a:pos x="connsiteX1" y="connsiteY1"/>
                    </a:cxn>
                  </a:cxnLst>
                  <a:rect l="l" t="t" r="r" b="b"/>
                  <a:pathLst>
                    <a:path w="273103" h="182068">
                      <a:moveTo>
                        <a:pt x="0" y="182069"/>
                      </a:moveTo>
                      <a:lnTo>
                        <a:pt x="273104" y="0"/>
                      </a:lnTo>
                    </a:path>
                  </a:pathLst>
                </a:custGeom>
                <a:ln w="25400" cap="flat">
                  <a:solidFill>
                    <a:srgbClr val="232F3E"/>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43D14F46-87CC-D29D-B751-4FD11FF09178}"/>
                    </a:ext>
                  </a:extLst>
                </p:cNvPr>
                <p:cNvSpPr/>
                <p:nvPr/>
              </p:nvSpPr>
              <p:spPr>
                <a:xfrm>
                  <a:off x="8151843" y="3988247"/>
                  <a:ext cx="254367" cy="136661"/>
                </a:xfrm>
                <a:custGeom>
                  <a:avLst/>
                  <a:gdLst>
                    <a:gd name="connsiteX0" fmla="*/ 0 w 254367"/>
                    <a:gd name="connsiteY0" fmla="*/ 136662 h 136661"/>
                    <a:gd name="connsiteX1" fmla="*/ 254367 w 254367"/>
                    <a:gd name="connsiteY1" fmla="*/ 0 h 136661"/>
                  </a:gdLst>
                  <a:ahLst/>
                  <a:cxnLst>
                    <a:cxn ang="0">
                      <a:pos x="connsiteX0" y="connsiteY0"/>
                    </a:cxn>
                    <a:cxn ang="0">
                      <a:pos x="connsiteX1" y="connsiteY1"/>
                    </a:cxn>
                  </a:cxnLst>
                  <a:rect l="l" t="t" r="r" b="b"/>
                  <a:pathLst>
                    <a:path w="254367" h="136661">
                      <a:moveTo>
                        <a:pt x="0" y="136662"/>
                      </a:moveTo>
                      <a:lnTo>
                        <a:pt x="254367" y="0"/>
                      </a:lnTo>
                    </a:path>
                  </a:pathLst>
                </a:custGeom>
                <a:ln w="25400" cap="flat">
                  <a:solidFill>
                    <a:srgbClr val="232F3E"/>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94C62A0F-2C85-9B56-D877-C9D39810D519}"/>
                    </a:ext>
                  </a:extLst>
                </p:cNvPr>
                <p:cNvSpPr/>
                <p:nvPr/>
              </p:nvSpPr>
              <p:spPr>
                <a:xfrm>
                  <a:off x="8121204" y="3472238"/>
                  <a:ext cx="591613" cy="318510"/>
                </a:xfrm>
                <a:custGeom>
                  <a:avLst/>
                  <a:gdLst>
                    <a:gd name="connsiteX0" fmla="*/ 0 w 591613"/>
                    <a:gd name="connsiteY0" fmla="*/ 318510 h 318510"/>
                    <a:gd name="connsiteX1" fmla="*/ 591614 w 591613"/>
                    <a:gd name="connsiteY1" fmla="*/ 0 h 318510"/>
                  </a:gdLst>
                  <a:ahLst/>
                  <a:cxnLst>
                    <a:cxn ang="0">
                      <a:pos x="connsiteX0" y="connsiteY0"/>
                    </a:cxn>
                    <a:cxn ang="0">
                      <a:pos x="connsiteX1" y="connsiteY1"/>
                    </a:cxn>
                  </a:cxnLst>
                  <a:rect l="l" t="t" r="r" b="b"/>
                  <a:pathLst>
                    <a:path w="591613" h="318510">
                      <a:moveTo>
                        <a:pt x="0" y="318510"/>
                      </a:moveTo>
                      <a:lnTo>
                        <a:pt x="591614" y="0"/>
                      </a:lnTo>
                    </a:path>
                  </a:pathLst>
                </a:custGeom>
                <a:ln w="25400" cap="flat">
                  <a:solidFill>
                    <a:srgbClr val="232F3E"/>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E4C087A4-A4F2-B2C5-2BDA-AD20ACDD48A3}"/>
                    </a:ext>
                  </a:extLst>
                </p:cNvPr>
                <p:cNvSpPr/>
                <p:nvPr/>
              </p:nvSpPr>
              <p:spPr>
                <a:xfrm>
                  <a:off x="7893728" y="3199355"/>
                  <a:ext cx="273103" cy="181848"/>
                </a:xfrm>
                <a:custGeom>
                  <a:avLst/>
                  <a:gdLst>
                    <a:gd name="connsiteX0" fmla="*/ 0 w 273103"/>
                    <a:gd name="connsiteY0" fmla="*/ 181849 h 181848"/>
                    <a:gd name="connsiteX1" fmla="*/ 273104 w 273103"/>
                    <a:gd name="connsiteY1" fmla="*/ 0 h 181848"/>
                  </a:gdLst>
                  <a:ahLst/>
                  <a:cxnLst>
                    <a:cxn ang="0">
                      <a:pos x="connsiteX0" y="connsiteY0"/>
                    </a:cxn>
                    <a:cxn ang="0">
                      <a:pos x="connsiteX1" y="connsiteY1"/>
                    </a:cxn>
                  </a:cxnLst>
                  <a:rect l="l" t="t" r="r" b="b"/>
                  <a:pathLst>
                    <a:path w="273103" h="181848">
                      <a:moveTo>
                        <a:pt x="0" y="181849"/>
                      </a:moveTo>
                      <a:lnTo>
                        <a:pt x="273104" y="0"/>
                      </a:lnTo>
                    </a:path>
                  </a:pathLst>
                </a:custGeom>
                <a:ln w="25400" cap="flat">
                  <a:solidFill>
                    <a:srgbClr val="232F3E"/>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8103C36E-1BC4-9AFD-3C8F-95599A934337}"/>
                    </a:ext>
                  </a:extLst>
                </p:cNvPr>
                <p:cNvSpPr/>
                <p:nvPr/>
              </p:nvSpPr>
              <p:spPr>
                <a:xfrm>
                  <a:off x="7618861" y="2107162"/>
                  <a:ext cx="1099687" cy="2183063"/>
                </a:xfrm>
                <a:custGeom>
                  <a:avLst/>
                  <a:gdLst>
                    <a:gd name="connsiteX0" fmla="*/ 1099688 w 1099687"/>
                    <a:gd name="connsiteY0" fmla="*/ 182069 h 2183063"/>
                    <a:gd name="connsiteX1" fmla="*/ 826584 w 1099687"/>
                    <a:gd name="connsiteY1" fmla="*/ 0 h 2183063"/>
                    <a:gd name="connsiteX2" fmla="*/ 280598 w 1099687"/>
                    <a:gd name="connsiteY2" fmla="*/ 318510 h 2183063"/>
                    <a:gd name="connsiteX3" fmla="*/ 280598 w 1099687"/>
                    <a:gd name="connsiteY3" fmla="*/ 678460 h 2183063"/>
                    <a:gd name="connsiteX4" fmla="*/ 0 w 1099687"/>
                    <a:gd name="connsiteY4" fmla="*/ 820853 h 2183063"/>
                    <a:gd name="connsiteX5" fmla="*/ 0 w 1099687"/>
                    <a:gd name="connsiteY5" fmla="*/ 1372571 h 2183063"/>
                    <a:gd name="connsiteX6" fmla="*/ 280598 w 1099687"/>
                    <a:gd name="connsiteY6" fmla="*/ 1540312 h 2183063"/>
                    <a:gd name="connsiteX7" fmla="*/ 280598 w 1099687"/>
                    <a:gd name="connsiteY7" fmla="*/ 1866758 h 2183063"/>
                    <a:gd name="connsiteX8" fmla="*/ 822837 w 1099687"/>
                    <a:gd name="connsiteY8" fmla="*/ 2183064 h 2183063"/>
                    <a:gd name="connsiteX9" fmla="*/ 1093957 w 1099687"/>
                    <a:gd name="connsiteY9" fmla="*/ 2037806 h 2183063"/>
                    <a:gd name="connsiteX10" fmla="*/ 1093957 w 1099687"/>
                    <a:gd name="connsiteY10" fmla="*/ 1092193 h 2183063"/>
                    <a:gd name="connsiteX11" fmla="*/ 821074 w 1099687"/>
                    <a:gd name="connsiteY11" fmla="*/ 955531 h 2183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9687" h="2183063">
                      <a:moveTo>
                        <a:pt x="1099688" y="182069"/>
                      </a:moveTo>
                      <a:lnTo>
                        <a:pt x="826584" y="0"/>
                      </a:lnTo>
                      <a:lnTo>
                        <a:pt x="280598" y="318510"/>
                      </a:lnTo>
                      <a:lnTo>
                        <a:pt x="280598" y="678460"/>
                      </a:lnTo>
                      <a:lnTo>
                        <a:pt x="0" y="820853"/>
                      </a:lnTo>
                      <a:lnTo>
                        <a:pt x="0" y="1372571"/>
                      </a:lnTo>
                      <a:lnTo>
                        <a:pt x="280598" y="1540312"/>
                      </a:lnTo>
                      <a:lnTo>
                        <a:pt x="280598" y="1866758"/>
                      </a:lnTo>
                      <a:lnTo>
                        <a:pt x="822837" y="2183064"/>
                      </a:lnTo>
                      <a:lnTo>
                        <a:pt x="1093957" y="2037806"/>
                      </a:lnTo>
                      <a:lnTo>
                        <a:pt x="1093957" y="1092193"/>
                      </a:lnTo>
                      <a:lnTo>
                        <a:pt x="821074" y="955531"/>
                      </a:lnTo>
                    </a:path>
                  </a:pathLst>
                </a:custGeom>
                <a:noFill/>
                <a:ln w="25400" cap="flat">
                  <a:solidFill>
                    <a:srgbClr val="232F3E"/>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174F81E1-5951-28B7-954B-47466B12F331}"/>
                    </a:ext>
                  </a:extLst>
                </p:cNvPr>
                <p:cNvSpPr/>
                <p:nvPr/>
              </p:nvSpPr>
              <p:spPr>
                <a:xfrm>
                  <a:off x="8159337" y="3199355"/>
                  <a:ext cx="273103" cy="420565"/>
                </a:xfrm>
                <a:custGeom>
                  <a:avLst/>
                  <a:gdLst>
                    <a:gd name="connsiteX0" fmla="*/ 273103 w 273103"/>
                    <a:gd name="connsiteY0" fmla="*/ 420566 h 420565"/>
                    <a:gd name="connsiteX1" fmla="*/ 273103 w 273103"/>
                    <a:gd name="connsiteY1" fmla="*/ 181849 h 420565"/>
                    <a:gd name="connsiteX2" fmla="*/ 0 w 273103"/>
                    <a:gd name="connsiteY2" fmla="*/ 0 h 420565"/>
                  </a:gdLst>
                  <a:ahLst/>
                  <a:cxnLst>
                    <a:cxn ang="0">
                      <a:pos x="connsiteX0" y="connsiteY0"/>
                    </a:cxn>
                    <a:cxn ang="0">
                      <a:pos x="connsiteX1" y="connsiteY1"/>
                    </a:cxn>
                    <a:cxn ang="0">
                      <a:pos x="connsiteX2" y="connsiteY2"/>
                    </a:cxn>
                  </a:cxnLst>
                  <a:rect l="l" t="t" r="r" b="b"/>
                  <a:pathLst>
                    <a:path w="273103" h="420565">
                      <a:moveTo>
                        <a:pt x="273103" y="420566"/>
                      </a:moveTo>
                      <a:lnTo>
                        <a:pt x="273103" y="181849"/>
                      </a:lnTo>
                      <a:lnTo>
                        <a:pt x="0" y="0"/>
                      </a:lnTo>
                    </a:path>
                  </a:pathLst>
                </a:custGeom>
                <a:noFill/>
                <a:ln w="25400" cap="flat">
                  <a:solidFill>
                    <a:srgbClr val="232F3E"/>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9593F1D8-A68E-4BFB-3A06-638D5CC99E9F}"/>
                    </a:ext>
                  </a:extLst>
                </p:cNvPr>
                <p:cNvSpPr/>
                <p:nvPr/>
              </p:nvSpPr>
              <p:spPr>
                <a:xfrm>
                  <a:off x="8712818" y="2108264"/>
                  <a:ext cx="1093956" cy="2181961"/>
                </a:xfrm>
                <a:custGeom>
                  <a:avLst/>
                  <a:gdLst>
                    <a:gd name="connsiteX0" fmla="*/ 273103 w 1093956"/>
                    <a:gd name="connsiteY0" fmla="*/ 909022 h 2181961"/>
                    <a:gd name="connsiteX1" fmla="*/ 0 w 1093956"/>
                    <a:gd name="connsiteY1" fmla="*/ 726953 h 2181961"/>
                    <a:gd name="connsiteX2" fmla="*/ 0 w 1093956"/>
                    <a:gd name="connsiteY2" fmla="*/ 180746 h 2181961"/>
                    <a:gd name="connsiteX3" fmla="*/ 271120 w 1093956"/>
                    <a:gd name="connsiteY3" fmla="*/ 0 h 2181961"/>
                    <a:gd name="connsiteX4" fmla="*/ 813359 w 1093956"/>
                    <a:gd name="connsiteY4" fmla="*/ 324241 h 2181961"/>
                    <a:gd name="connsiteX5" fmla="*/ 813359 w 1093956"/>
                    <a:gd name="connsiteY5" fmla="*/ 685073 h 2181961"/>
                    <a:gd name="connsiteX6" fmla="*/ 1093957 w 1093956"/>
                    <a:gd name="connsiteY6" fmla="*/ 838487 h 2181961"/>
                    <a:gd name="connsiteX7" fmla="*/ 1093957 w 1093956"/>
                    <a:gd name="connsiteY7" fmla="*/ 1361550 h 2181961"/>
                    <a:gd name="connsiteX8" fmla="*/ 813359 w 1093956"/>
                    <a:gd name="connsiteY8" fmla="*/ 1548468 h 2181961"/>
                    <a:gd name="connsiteX9" fmla="*/ 813359 w 1093956"/>
                    <a:gd name="connsiteY9" fmla="*/ 1865656 h 2181961"/>
                    <a:gd name="connsiteX10" fmla="*/ 271120 w 1093956"/>
                    <a:gd name="connsiteY10" fmla="*/ 2181962 h 2181961"/>
                    <a:gd name="connsiteX11" fmla="*/ 0 w 1093956"/>
                    <a:gd name="connsiteY11" fmla="*/ 2046402 h 2181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956" h="2181961">
                      <a:moveTo>
                        <a:pt x="273103" y="909022"/>
                      </a:moveTo>
                      <a:lnTo>
                        <a:pt x="0" y="726953"/>
                      </a:lnTo>
                      <a:lnTo>
                        <a:pt x="0" y="180746"/>
                      </a:lnTo>
                      <a:lnTo>
                        <a:pt x="271120" y="0"/>
                      </a:lnTo>
                      <a:lnTo>
                        <a:pt x="813359" y="324241"/>
                      </a:lnTo>
                      <a:lnTo>
                        <a:pt x="813359" y="685073"/>
                      </a:lnTo>
                      <a:lnTo>
                        <a:pt x="1093957" y="838487"/>
                      </a:lnTo>
                      <a:lnTo>
                        <a:pt x="1093957" y="1361550"/>
                      </a:lnTo>
                      <a:lnTo>
                        <a:pt x="813359" y="1548468"/>
                      </a:lnTo>
                      <a:lnTo>
                        <a:pt x="813359" y="1865656"/>
                      </a:lnTo>
                      <a:lnTo>
                        <a:pt x="271120" y="2181962"/>
                      </a:lnTo>
                      <a:lnTo>
                        <a:pt x="0" y="2046402"/>
                      </a:lnTo>
                    </a:path>
                  </a:pathLst>
                </a:custGeom>
                <a:noFill/>
                <a:ln w="25400" cap="flat">
                  <a:solidFill>
                    <a:srgbClr val="232F3E"/>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4FE6E398-4403-CA82-BAE0-AE864D16718F}"/>
                    </a:ext>
                  </a:extLst>
                </p:cNvPr>
                <p:cNvSpPr/>
                <p:nvPr/>
              </p:nvSpPr>
              <p:spPr>
                <a:xfrm>
                  <a:off x="9531908" y="3335797"/>
                  <a:ext cx="272882" cy="136441"/>
                </a:xfrm>
                <a:custGeom>
                  <a:avLst/>
                  <a:gdLst>
                    <a:gd name="connsiteX0" fmla="*/ 0 w 272882"/>
                    <a:gd name="connsiteY0" fmla="*/ 0 h 136441"/>
                    <a:gd name="connsiteX1" fmla="*/ 272883 w 272882"/>
                    <a:gd name="connsiteY1" fmla="*/ 136441 h 136441"/>
                  </a:gdLst>
                  <a:ahLst/>
                  <a:cxnLst>
                    <a:cxn ang="0">
                      <a:pos x="connsiteX0" y="connsiteY0"/>
                    </a:cxn>
                    <a:cxn ang="0">
                      <a:pos x="connsiteX1" y="connsiteY1"/>
                    </a:cxn>
                  </a:cxnLst>
                  <a:rect l="l" t="t" r="r" b="b"/>
                  <a:pathLst>
                    <a:path w="272882" h="136441">
                      <a:moveTo>
                        <a:pt x="0" y="0"/>
                      </a:moveTo>
                      <a:lnTo>
                        <a:pt x="272883" y="136441"/>
                      </a:lnTo>
                    </a:path>
                  </a:pathLst>
                </a:custGeom>
                <a:ln w="25400" cap="flat">
                  <a:solidFill>
                    <a:srgbClr val="232F3E"/>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B7273F2D-B809-0673-F9BD-9AD06510D590}"/>
                    </a:ext>
                  </a:extLst>
                </p:cNvPr>
                <p:cNvSpPr/>
                <p:nvPr/>
              </p:nvSpPr>
              <p:spPr>
                <a:xfrm>
                  <a:off x="9329780" y="2610166"/>
                  <a:ext cx="196396" cy="22042"/>
                </a:xfrm>
                <a:custGeom>
                  <a:avLst/>
                  <a:gdLst>
                    <a:gd name="connsiteX0" fmla="*/ 196396 w 196396"/>
                    <a:gd name="connsiteY0" fmla="*/ 0 h 22042"/>
                    <a:gd name="connsiteX1" fmla="*/ 0 w 196396"/>
                    <a:gd name="connsiteY1" fmla="*/ 0 h 22042"/>
                  </a:gdLst>
                  <a:ahLst/>
                  <a:cxnLst>
                    <a:cxn ang="0">
                      <a:pos x="connsiteX0" y="connsiteY0"/>
                    </a:cxn>
                    <a:cxn ang="0">
                      <a:pos x="connsiteX1" y="connsiteY1"/>
                    </a:cxn>
                  </a:cxnLst>
                  <a:rect l="l" t="t" r="r" b="b"/>
                  <a:pathLst>
                    <a:path w="196396" h="22042">
                      <a:moveTo>
                        <a:pt x="196396" y="0"/>
                      </a:moveTo>
                      <a:lnTo>
                        <a:pt x="0" y="0"/>
                      </a:lnTo>
                    </a:path>
                  </a:pathLst>
                </a:custGeom>
                <a:ln w="25400" cap="flat">
                  <a:solidFill>
                    <a:srgbClr val="232F3E"/>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5BFFF4CD-F44F-BC80-3CEA-0A9DF57D1E59}"/>
                    </a:ext>
                  </a:extLst>
                </p:cNvPr>
                <p:cNvSpPr/>
                <p:nvPr/>
              </p:nvSpPr>
              <p:spPr>
                <a:xfrm>
                  <a:off x="8712818" y="3844311"/>
                  <a:ext cx="280377" cy="22042"/>
                </a:xfrm>
                <a:custGeom>
                  <a:avLst/>
                  <a:gdLst>
                    <a:gd name="connsiteX0" fmla="*/ 0 w 280377"/>
                    <a:gd name="connsiteY0" fmla="*/ 0 h 22042"/>
                    <a:gd name="connsiteX1" fmla="*/ 280377 w 280377"/>
                    <a:gd name="connsiteY1" fmla="*/ 0 h 22042"/>
                  </a:gdLst>
                  <a:ahLst/>
                  <a:cxnLst>
                    <a:cxn ang="0">
                      <a:pos x="connsiteX0" y="connsiteY0"/>
                    </a:cxn>
                    <a:cxn ang="0">
                      <a:pos x="connsiteX1" y="connsiteY1"/>
                    </a:cxn>
                  </a:cxnLst>
                  <a:rect l="l" t="t" r="r" b="b"/>
                  <a:pathLst>
                    <a:path w="280377" h="22042">
                      <a:moveTo>
                        <a:pt x="0" y="0"/>
                      </a:moveTo>
                      <a:lnTo>
                        <a:pt x="280377" y="0"/>
                      </a:lnTo>
                    </a:path>
                  </a:pathLst>
                </a:custGeom>
                <a:ln w="25400" cap="flat">
                  <a:solidFill>
                    <a:srgbClr val="232F3E"/>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3DE979C6-832A-C797-5F9B-EA6CBDA54A5A}"/>
                    </a:ext>
                  </a:extLst>
                </p:cNvPr>
                <p:cNvSpPr/>
                <p:nvPr/>
              </p:nvSpPr>
              <p:spPr>
                <a:xfrm>
                  <a:off x="9161598" y="252618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D721771E-34CC-6D79-475A-25F3FE2A6DC1}"/>
                    </a:ext>
                  </a:extLst>
                </p:cNvPr>
                <p:cNvSpPr/>
                <p:nvPr/>
              </p:nvSpPr>
              <p:spPr>
                <a:xfrm>
                  <a:off x="9357774" y="3199355"/>
                  <a:ext cx="168402" cy="168402"/>
                </a:xfrm>
                <a:custGeom>
                  <a:avLst/>
                  <a:gdLst>
                    <a:gd name="connsiteX0" fmla="*/ 84202 w 168402"/>
                    <a:gd name="connsiteY0" fmla="*/ 0 h 168402"/>
                    <a:gd name="connsiteX1" fmla="*/ 0 w 168402"/>
                    <a:gd name="connsiteY1" fmla="*/ 84201 h 168402"/>
                    <a:gd name="connsiteX2" fmla="*/ 84202 w 168402"/>
                    <a:gd name="connsiteY2" fmla="*/ 168403 h 168402"/>
                    <a:gd name="connsiteX3" fmla="*/ 168403 w 168402"/>
                    <a:gd name="connsiteY3" fmla="*/ 84201 h 168402"/>
                    <a:gd name="connsiteX4" fmla="*/ 84202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2" y="0"/>
                      </a:moveTo>
                      <a:cubicBezTo>
                        <a:pt x="37692" y="0"/>
                        <a:pt x="0" y="37692"/>
                        <a:pt x="0" y="84201"/>
                      </a:cubicBezTo>
                      <a:cubicBezTo>
                        <a:pt x="0" y="130711"/>
                        <a:pt x="37692" y="168403"/>
                        <a:pt x="84202" y="168403"/>
                      </a:cubicBezTo>
                      <a:cubicBezTo>
                        <a:pt x="130711" y="168403"/>
                        <a:pt x="168403" y="130711"/>
                        <a:pt x="168403" y="84201"/>
                      </a:cubicBezTo>
                      <a:cubicBezTo>
                        <a:pt x="168403" y="37692"/>
                        <a:pt x="130711" y="0"/>
                        <a:pt x="84202" y="0"/>
                      </a:cubicBezTo>
                      <a:close/>
                    </a:path>
                  </a:pathLst>
                </a:custGeom>
                <a:noFill/>
                <a:ln w="25400" cap="flat">
                  <a:solidFill>
                    <a:srgbClr val="232F3E"/>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1E9FDC6-256C-66A2-3731-9AB64F03BD18}"/>
                    </a:ext>
                  </a:extLst>
                </p:cNvPr>
                <p:cNvSpPr/>
                <p:nvPr/>
              </p:nvSpPr>
              <p:spPr>
                <a:xfrm>
                  <a:off x="8993195" y="2974965"/>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D1619467-D72D-C2A8-23A6-E12836CBBBDB}"/>
                    </a:ext>
                  </a:extLst>
                </p:cNvPr>
                <p:cNvSpPr/>
                <p:nvPr/>
              </p:nvSpPr>
              <p:spPr>
                <a:xfrm>
                  <a:off x="8993195" y="3760110"/>
                  <a:ext cx="168402" cy="168402"/>
                </a:xfrm>
                <a:custGeom>
                  <a:avLst/>
                  <a:gdLst>
                    <a:gd name="connsiteX0" fmla="*/ 84201 w 168402"/>
                    <a:gd name="connsiteY0" fmla="*/ 0 h 168402"/>
                    <a:gd name="connsiteX1" fmla="*/ 0 w 168402"/>
                    <a:gd name="connsiteY1" fmla="*/ 84201 h 168402"/>
                    <a:gd name="connsiteX2" fmla="*/ 84201 w 168402"/>
                    <a:gd name="connsiteY2" fmla="*/ 168403 h 168402"/>
                    <a:gd name="connsiteX3" fmla="*/ 168403 w 168402"/>
                    <a:gd name="connsiteY3" fmla="*/ 84201 h 168402"/>
                    <a:gd name="connsiteX4" fmla="*/ 84201 w 168402"/>
                    <a:gd name="connsiteY4" fmla="*/ 0 h 168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402" h="168402">
                      <a:moveTo>
                        <a:pt x="84201" y="0"/>
                      </a:moveTo>
                      <a:cubicBezTo>
                        <a:pt x="37692" y="0"/>
                        <a:pt x="0" y="37692"/>
                        <a:pt x="0" y="84201"/>
                      </a:cubicBezTo>
                      <a:cubicBezTo>
                        <a:pt x="0" y="130711"/>
                        <a:pt x="37692" y="168403"/>
                        <a:pt x="84201" y="168403"/>
                      </a:cubicBezTo>
                      <a:cubicBezTo>
                        <a:pt x="130711" y="168403"/>
                        <a:pt x="168403" y="130711"/>
                        <a:pt x="168403" y="84201"/>
                      </a:cubicBezTo>
                      <a:cubicBezTo>
                        <a:pt x="168403" y="37692"/>
                        <a:pt x="130711" y="0"/>
                        <a:pt x="84201" y="0"/>
                      </a:cubicBezTo>
                      <a:close/>
                    </a:path>
                  </a:pathLst>
                </a:custGeom>
                <a:noFill/>
                <a:ln w="25400" cap="flat">
                  <a:solidFill>
                    <a:srgbClr val="232F3E"/>
                  </a:solidFill>
                  <a:prstDash val="solid"/>
                  <a:round/>
                </a:ln>
              </p:spPr>
              <p:txBody>
                <a:bodyPr rtlCol="0" anchor="ctr"/>
                <a:lstStyle/>
                <a:p>
                  <a:endParaRPr lang="en-US"/>
                </a:p>
              </p:txBody>
            </p:sp>
          </p:grpSp>
          <p:cxnSp>
            <p:nvCxnSpPr>
              <p:cNvPr id="5" name="Straight Arrow Connector 4">
                <a:extLst>
                  <a:ext uri="{FF2B5EF4-FFF2-40B4-BE49-F238E27FC236}">
                    <a16:creationId xmlns:a16="http://schemas.microsoft.com/office/drawing/2014/main" id="{EFC8F653-9682-6883-6BF9-15D4637433ED}"/>
                  </a:ext>
                </a:extLst>
              </p:cNvPr>
              <p:cNvCxnSpPr>
                <a:cxnSpLocks/>
              </p:cNvCxnSpPr>
              <p:nvPr/>
            </p:nvCxnSpPr>
            <p:spPr>
              <a:xfrm>
                <a:off x="8221565" y="4578440"/>
                <a:ext cx="489949" cy="7101"/>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8CB1F4C-25A2-9D11-0AA7-114B904F95B7}"/>
                  </a:ext>
                </a:extLst>
              </p:cNvPr>
              <p:cNvGrpSpPr/>
              <p:nvPr/>
            </p:nvGrpSpPr>
            <p:grpSpPr>
              <a:xfrm>
                <a:off x="6976894" y="4157764"/>
                <a:ext cx="1104376" cy="890013"/>
                <a:chOff x="2467427" y="3958401"/>
                <a:chExt cx="1923694" cy="1550298"/>
              </a:xfrm>
            </p:grpSpPr>
            <p:grpSp>
              <p:nvGrpSpPr>
                <p:cNvPr id="13" name="Graphic 4">
                  <a:extLst>
                    <a:ext uri="{FF2B5EF4-FFF2-40B4-BE49-F238E27FC236}">
                      <a16:creationId xmlns:a16="http://schemas.microsoft.com/office/drawing/2014/main" id="{D476C982-5295-1EBF-36A8-A4041BFEEACA}"/>
                    </a:ext>
                  </a:extLst>
                </p:cNvPr>
                <p:cNvGrpSpPr/>
                <p:nvPr/>
              </p:nvGrpSpPr>
              <p:grpSpPr>
                <a:xfrm>
                  <a:off x="2467427" y="3958401"/>
                  <a:ext cx="1756101" cy="1465534"/>
                  <a:chOff x="2467427" y="3958401"/>
                  <a:chExt cx="1756101" cy="1465534"/>
                </a:xfrm>
                <a:noFill/>
              </p:grpSpPr>
              <p:sp>
                <p:nvSpPr>
                  <p:cNvPr id="17" name="Freeform 16">
                    <a:extLst>
                      <a:ext uri="{FF2B5EF4-FFF2-40B4-BE49-F238E27FC236}">
                        <a16:creationId xmlns:a16="http://schemas.microsoft.com/office/drawing/2014/main" id="{94967F03-12DD-9E3A-DEFF-01E7F18B8152}"/>
                      </a:ext>
                    </a:extLst>
                  </p:cNvPr>
                  <p:cNvSpPr/>
                  <p:nvPr/>
                </p:nvSpPr>
                <p:spPr>
                  <a:xfrm>
                    <a:off x="2629095" y="3958401"/>
                    <a:ext cx="1594433" cy="1196852"/>
                  </a:xfrm>
                  <a:custGeom>
                    <a:avLst/>
                    <a:gdLst>
                      <a:gd name="connsiteX0" fmla="*/ 1594433 w 1594433"/>
                      <a:gd name="connsiteY0" fmla="*/ 757676 h 1196852"/>
                      <a:gd name="connsiteX1" fmla="*/ 1594433 w 1594433"/>
                      <a:gd name="connsiteY1" fmla="*/ 98065 h 1196852"/>
                      <a:gd name="connsiteX2" fmla="*/ 1496368 w 1594433"/>
                      <a:gd name="connsiteY2" fmla="*/ 0 h 1196852"/>
                      <a:gd name="connsiteX3" fmla="*/ 98065 w 1594433"/>
                      <a:gd name="connsiteY3" fmla="*/ 0 h 1196852"/>
                      <a:gd name="connsiteX4" fmla="*/ 0 w 1594433"/>
                      <a:gd name="connsiteY4" fmla="*/ 98065 h 1196852"/>
                      <a:gd name="connsiteX5" fmla="*/ 0 w 1594433"/>
                      <a:gd name="connsiteY5" fmla="*/ 1196853 h 1196852"/>
                      <a:gd name="connsiteX6" fmla="*/ 993951 w 1594433"/>
                      <a:gd name="connsiteY6" fmla="*/ 1196853 h 119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94433" h="1196852">
                        <a:moveTo>
                          <a:pt x="1594433" y="757676"/>
                        </a:moveTo>
                        <a:lnTo>
                          <a:pt x="1594433" y="98065"/>
                        </a:lnTo>
                        <a:cubicBezTo>
                          <a:pt x="1594433" y="43893"/>
                          <a:pt x="1550540" y="0"/>
                          <a:pt x="1496368" y="0"/>
                        </a:cubicBezTo>
                        <a:lnTo>
                          <a:pt x="98065" y="0"/>
                        </a:lnTo>
                        <a:cubicBezTo>
                          <a:pt x="43893" y="0"/>
                          <a:pt x="0" y="43893"/>
                          <a:pt x="0" y="98065"/>
                        </a:cubicBezTo>
                        <a:lnTo>
                          <a:pt x="0" y="1196853"/>
                        </a:lnTo>
                        <a:lnTo>
                          <a:pt x="993951" y="1196853"/>
                        </a:lnTo>
                      </a:path>
                    </a:pathLst>
                  </a:custGeom>
                  <a:noFill/>
                  <a:ln w="25400" cap="flat">
                    <a:solidFill>
                      <a:srgbClr val="232F3E"/>
                    </a:solidFill>
                    <a:prstDash val="solid"/>
                    <a:round/>
                  </a:ln>
                </p:spPr>
                <p:txBody>
                  <a:bodyPr rtlCol="0" anchor="ctr"/>
                  <a:lstStyle/>
                  <a:p>
                    <a:endParaRPr lang="en-US"/>
                  </a:p>
                </p:txBody>
              </p:sp>
              <p:sp>
                <p:nvSpPr>
                  <p:cNvPr id="18" name="Freeform 17">
                    <a:extLst>
                      <a:ext uri="{FF2B5EF4-FFF2-40B4-BE49-F238E27FC236}">
                        <a16:creationId xmlns:a16="http://schemas.microsoft.com/office/drawing/2014/main" id="{A58195E9-0B2D-1520-1923-10E3AC421494}"/>
                      </a:ext>
                    </a:extLst>
                  </p:cNvPr>
                  <p:cNvSpPr/>
                  <p:nvPr/>
                </p:nvSpPr>
                <p:spPr>
                  <a:xfrm>
                    <a:off x="2467427" y="5162267"/>
                    <a:ext cx="1163721" cy="261667"/>
                  </a:xfrm>
                  <a:custGeom>
                    <a:avLst/>
                    <a:gdLst>
                      <a:gd name="connsiteX0" fmla="*/ 1153685 w 1163721"/>
                      <a:gd name="connsiteY0" fmla="*/ 0 h 261667"/>
                      <a:gd name="connsiteX1" fmla="*/ 0 w 1163721"/>
                      <a:gd name="connsiteY1" fmla="*/ 0 h 261667"/>
                      <a:gd name="connsiteX2" fmla="*/ 188028 w 1163721"/>
                      <a:gd name="connsiteY2" fmla="*/ 261668 h 261667"/>
                      <a:gd name="connsiteX3" fmla="*/ 1163721 w 1163721"/>
                      <a:gd name="connsiteY3" fmla="*/ 261668 h 261667"/>
                    </a:gdLst>
                    <a:ahLst/>
                    <a:cxnLst>
                      <a:cxn ang="0">
                        <a:pos x="connsiteX0" y="connsiteY0"/>
                      </a:cxn>
                      <a:cxn ang="0">
                        <a:pos x="connsiteX1" y="connsiteY1"/>
                      </a:cxn>
                      <a:cxn ang="0">
                        <a:pos x="connsiteX2" y="connsiteY2"/>
                      </a:cxn>
                      <a:cxn ang="0">
                        <a:pos x="connsiteX3" y="connsiteY3"/>
                      </a:cxn>
                    </a:cxnLst>
                    <a:rect l="l" t="t" r="r" b="b"/>
                    <a:pathLst>
                      <a:path w="1163721" h="261667">
                        <a:moveTo>
                          <a:pt x="1153685" y="0"/>
                        </a:moveTo>
                        <a:lnTo>
                          <a:pt x="0" y="0"/>
                        </a:lnTo>
                        <a:lnTo>
                          <a:pt x="188028" y="261668"/>
                        </a:lnTo>
                        <a:lnTo>
                          <a:pt x="1163721" y="261668"/>
                        </a:lnTo>
                      </a:path>
                    </a:pathLst>
                  </a:custGeom>
                  <a:noFill/>
                  <a:ln w="25400" cap="flat">
                    <a:solidFill>
                      <a:srgbClr val="232F3E"/>
                    </a:solidFill>
                    <a:prstDash val="solid"/>
                    <a:round/>
                  </a:ln>
                </p:spPr>
                <p:txBody>
                  <a:bodyPr rtlCol="0" anchor="ctr"/>
                  <a:lstStyle/>
                  <a:p>
                    <a:endParaRPr lang="en-US"/>
                  </a:p>
                </p:txBody>
              </p:sp>
            </p:grpSp>
            <p:sp>
              <p:nvSpPr>
                <p:cNvPr id="14" name="Freeform 13">
                  <a:extLst>
                    <a:ext uri="{FF2B5EF4-FFF2-40B4-BE49-F238E27FC236}">
                      <a16:creationId xmlns:a16="http://schemas.microsoft.com/office/drawing/2014/main" id="{F32BA1A7-B751-39D2-D84F-EDF551B2901E}"/>
                    </a:ext>
                  </a:extLst>
                </p:cNvPr>
                <p:cNvSpPr/>
                <p:nvPr/>
              </p:nvSpPr>
              <p:spPr>
                <a:xfrm>
                  <a:off x="3724376" y="4841954"/>
                  <a:ext cx="666745" cy="666745"/>
                </a:xfrm>
                <a:custGeom>
                  <a:avLst/>
                  <a:gdLst>
                    <a:gd name="connsiteX0" fmla="*/ 666745 w 666745"/>
                    <a:gd name="connsiteY0" fmla="*/ 333373 h 666745"/>
                    <a:gd name="connsiteX1" fmla="*/ 333373 w 666745"/>
                    <a:gd name="connsiteY1" fmla="*/ 666745 h 666745"/>
                    <a:gd name="connsiteX2" fmla="*/ 0 w 666745"/>
                    <a:gd name="connsiteY2" fmla="*/ 333373 h 666745"/>
                    <a:gd name="connsiteX3" fmla="*/ 333373 w 666745"/>
                    <a:gd name="connsiteY3" fmla="*/ 0 h 666745"/>
                    <a:gd name="connsiteX4" fmla="*/ 666745 w 666745"/>
                    <a:gd name="connsiteY4" fmla="*/ 333373 h 666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45" h="666745">
                      <a:moveTo>
                        <a:pt x="666745" y="333373"/>
                      </a:moveTo>
                      <a:cubicBezTo>
                        <a:pt x="666745" y="517489"/>
                        <a:pt x="517489" y="666745"/>
                        <a:pt x="333373" y="666745"/>
                      </a:cubicBezTo>
                      <a:cubicBezTo>
                        <a:pt x="149256" y="666745"/>
                        <a:pt x="0" y="517489"/>
                        <a:pt x="0" y="333373"/>
                      </a:cubicBezTo>
                      <a:cubicBezTo>
                        <a:pt x="0" y="149256"/>
                        <a:pt x="149256" y="0"/>
                        <a:pt x="333373" y="0"/>
                      </a:cubicBezTo>
                      <a:cubicBezTo>
                        <a:pt x="517489" y="0"/>
                        <a:pt x="666745" y="149256"/>
                        <a:pt x="666745" y="333373"/>
                      </a:cubicBezTo>
                      <a:close/>
                    </a:path>
                  </a:pathLst>
                </a:custGeom>
                <a:noFill/>
                <a:ln w="25400" cap="flat">
                  <a:solidFill>
                    <a:srgbClr val="232F3E"/>
                  </a:solidFill>
                  <a:prstDash val="solid"/>
                  <a:round/>
                </a:ln>
              </p:spPr>
              <p:txBody>
                <a:bodyPr rtlCol="0" anchor="ctr"/>
                <a:lstStyle/>
                <a:p>
                  <a:endParaRPr lang="en-US"/>
                </a:p>
              </p:txBody>
            </p:sp>
            <p:sp>
              <p:nvSpPr>
                <p:cNvPr id="15" name="Freeform 14">
                  <a:extLst>
                    <a:ext uri="{FF2B5EF4-FFF2-40B4-BE49-F238E27FC236}">
                      <a16:creationId xmlns:a16="http://schemas.microsoft.com/office/drawing/2014/main" id="{CE385743-BEAD-AF26-EF2C-42E152D0193E}"/>
                    </a:ext>
                  </a:extLst>
                </p:cNvPr>
                <p:cNvSpPr/>
                <p:nvPr/>
              </p:nvSpPr>
              <p:spPr>
                <a:xfrm>
                  <a:off x="3835380" y="5019704"/>
                  <a:ext cx="400119" cy="155622"/>
                </a:xfrm>
                <a:custGeom>
                  <a:avLst/>
                  <a:gdLst>
                    <a:gd name="connsiteX0" fmla="*/ 244498 w 400119"/>
                    <a:gd name="connsiteY0" fmla="*/ 0 h 155622"/>
                    <a:gd name="connsiteX1" fmla="*/ 400120 w 400119"/>
                    <a:gd name="connsiteY1" fmla="*/ 155622 h 155622"/>
                    <a:gd name="connsiteX2" fmla="*/ 0 w 400119"/>
                    <a:gd name="connsiteY2" fmla="*/ 155622 h 155622"/>
                  </a:gdLst>
                  <a:ahLst/>
                  <a:cxnLst>
                    <a:cxn ang="0">
                      <a:pos x="connsiteX0" y="connsiteY0"/>
                    </a:cxn>
                    <a:cxn ang="0">
                      <a:pos x="connsiteX1" y="connsiteY1"/>
                    </a:cxn>
                    <a:cxn ang="0">
                      <a:pos x="connsiteX2" y="connsiteY2"/>
                    </a:cxn>
                  </a:cxnLst>
                  <a:rect l="l" t="t" r="r" b="b"/>
                  <a:pathLst>
                    <a:path w="400119" h="155622">
                      <a:moveTo>
                        <a:pt x="244498" y="0"/>
                      </a:moveTo>
                      <a:lnTo>
                        <a:pt x="400120" y="155622"/>
                      </a:lnTo>
                      <a:lnTo>
                        <a:pt x="0" y="155622"/>
                      </a:lnTo>
                    </a:path>
                  </a:pathLst>
                </a:custGeom>
                <a:noFill/>
                <a:ln w="25400" cap="flat">
                  <a:solidFill>
                    <a:srgbClr val="232F3E"/>
                  </a:solidFill>
                  <a:prstDash val="solid"/>
                  <a:round/>
                </a:ln>
              </p:spPr>
              <p:txBody>
                <a:bodyPr rtlCol="0" anchor="ctr"/>
                <a:lstStyle/>
                <a:p>
                  <a:endParaRPr lang="en-US"/>
                </a:p>
              </p:txBody>
            </p:sp>
            <p:sp>
              <p:nvSpPr>
                <p:cNvPr id="16" name="Freeform 15">
                  <a:extLst>
                    <a:ext uri="{FF2B5EF4-FFF2-40B4-BE49-F238E27FC236}">
                      <a16:creationId xmlns:a16="http://schemas.microsoft.com/office/drawing/2014/main" id="{5D36ADE6-5BA0-537D-1802-F17D653199EF}"/>
                    </a:ext>
                  </a:extLst>
                </p:cNvPr>
                <p:cNvSpPr/>
                <p:nvPr/>
              </p:nvSpPr>
              <p:spPr>
                <a:xfrm>
                  <a:off x="4079877" y="5175326"/>
                  <a:ext cx="155622" cy="155501"/>
                </a:xfrm>
                <a:custGeom>
                  <a:avLst/>
                  <a:gdLst>
                    <a:gd name="connsiteX0" fmla="*/ 0 w 155622"/>
                    <a:gd name="connsiteY0" fmla="*/ 155501 h 155501"/>
                    <a:gd name="connsiteX1" fmla="*/ 155622 w 155622"/>
                    <a:gd name="connsiteY1" fmla="*/ 0 h 155501"/>
                  </a:gdLst>
                  <a:ahLst/>
                  <a:cxnLst>
                    <a:cxn ang="0">
                      <a:pos x="connsiteX0" y="connsiteY0"/>
                    </a:cxn>
                    <a:cxn ang="0">
                      <a:pos x="connsiteX1" y="connsiteY1"/>
                    </a:cxn>
                  </a:cxnLst>
                  <a:rect l="l" t="t" r="r" b="b"/>
                  <a:pathLst>
                    <a:path w="155622" h="155501">
                      <a:moveTo>
                        <a:pt x="0" y="155501"/>
                      </a:moveTo>
                      <a:lnTo>
                        <a:pt x="155622" y="0"/>
                      </a:lnTo>
                    </a:path>
                  </a:pathLst>
                </a:custGeom>
                <a:ln w="25400" cap="flat">
                  <a:solidFill>
                    <a:srgbClr val="232F3E"/>
                  </a:solidFill>
                  <a:prstDash val="solid"/>
                  <a:round/>
                </a:ln>
              </p:spPr>
              <p:txBody>
                <a:bodyPr rtlCol="0" anchor="ctr"/>
                <a:lstStyle/>
                <a:p>
                  <a:endParaRPr lang="en-US"/>
                </a:p>
              </p:txBody>
            </p:sp>
          </p:grpSp>
          <p:sp>
            <p:nvSpPr>
              <p:cNvPr id="9" name="TextBox 8">
                <a:extLst>
                  <a:ext uri="{FF2B5EF4-FFF2-40B4-BE49-F238E27FC236}">
                    <a16:creationId xmlns:a16="http://schemas.microsoft.com/office/drawing/2014/main" id="{1B04C1C1-2670-599F-2ABB-1C286469132E}"/>
                  </a:ext>
                </a:extLst>
              </p:cNvPr>
              <p:cNvSpPr txBox="1"/>
              <p:nvPr/>
            </p:nvSpPr>
            <p:spPr>
              <a:xfrm>
                <a:off x="10569403" y="4439343"/>
                <a:ext cx="1827744" cy="369332"/>
              </a:xfrm>
              <a:prstGeom prst="rect">
                <a:avLst/>
              </a:prstGeom>
              <a:noFill/>
            </p:spPr>
            <p:txBody>
              <a:bodyPr wrap="none" rtlCol="0">
                <a:spAutoFit/>
              </a:bodyPr>
              <a:lstStyle/>
              <a:p>
                <a:r>
                  <a:rPr lang="en-US" dirty="0"/>
                  <a:t>Content limited</a:t>
                </a:r>
              </a:p>
            </p:txBody>
          </p:sp>
          <p:cxnSp>
            <p:nvCxnSpPr>
              <p:cNvPr id="11" name="Straight Arrow Connector 10">
                <a:extLst>
                  <a:ext uri="{FF2B5EF4-FFF2-40B4-BE49-F238E27FC236}">
                    <a16:creationId xmlns:a16="http://schemas.microsoft.com/office/drawing/2014/main" id="{DC04CBBC-E2AF-6F7A-0178-E416049E0C25}"/>
                  </a:ext>
                </a:extLst>
              </p:cNvPr>
              <p:cNvCxnSpPr>
                <a:cxnSpLocks/>
              </p:cNvCxnSpPr>
              <p:nvPr/>
            </p:nvCxnSpPr>
            <p:spPr>
              <a:xfrm>
                <a:off x="10049591" y="4600907"/>
                <a:ext cx="519812" cy="4473"/>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F7465BCB-EB9D-F912-08E0-B6533A843A4E}"/>
                </a:ext>
              </a:extLst>
            </p:cNvPr>
            <p:cNvSpPr txBox="1"/>
            <p:nvPr/>
          </p:nvSpPr>
          <p:spPr>
            <a:xfrm>
              <a:off x="6455644" y="4674003"/>
              <a:ext cx="401072" cy="523220"/>
            </a:xfrm>
            <a:prstGeom prst="rect">
              <a:avLst/>
            </a:prstGeom>
            <a:noFill/>
          </p:spPr>
          <p:txBody>
            <a:bodyPr wrap="none" rtlCol="0">
              <a:spAutoFit/>
            </a:bodyPr>
            <a:lstStyle/>
            <a:p>
              <a:r>
                <a:rPr lang="en-US" sz="2800" dirty="0">
                  <a:solidFill>
                    <a:srgbClr val="C00000"/>
                  </a:solidFill>
                </a:rPr>
                <a:t>X</a:t>
              </a:r>
            </a:p>
          </p:txBody>
        </p:sp>
      </p:grpSp>
    </p:spTree>
    <p:extLst>
      <p:ext uri="{BB962C8B-B14F-4D97-AF65-F5344CB8AC3E}">
        <p14:creationId xmlns:p14="http://schemas.microsoft.com/office/powerpoint/2010/main" val="3365314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C0966AF-A2A2-4627-A63B-0381B05009D9}"/>
              </a:ext>
            </a:extLst>
          </p:cNvPr>
          <p:cNvSpPr>
            <a:spLocks noGrp="1"/>
          </p:cNvSpPr>
          <p:nvPr>
            <p:ph type="sldNum" idx="97"/>
          </p:nvPr>
        </p:nvSpPr>
        <p:spPr/>
        <p:txBody>
          <a:bodyPr/>
          <a:lstStyle/>
          <a:p>
            <a:fld id="{4037B1B0-0345-4E15-985A-6BECCDBE474F}" type="slidenum">
              <a:rPr lang="en-US" smtClean="0"/>
              <a:pPr/>
              <a:t>24</a:t>
            </a:fld>
            <a:endParaRPr lang="en-US" dirty="0"/>
          </a:p>
        </p:txBody>
      </p:sp>
      <p:sp>
        <p:nvSpPr>
          <p:cNvPr id="6" name="Title">
            <a:extLst>
              <a:ext uri="{FF2B5EF4-FFF2-40B4-BE49-F238E27FC236}">
                <a16:creationId xmlns:a16="http://schemas.microsoft.com/office/drawing/2014/main" id="{7161BDD4-F5B8-43FE-8380-46C28425D31D}"/>
              </a:ext>
            </a:extLst>
          </p:cNvPr>
          <p:cNvSpPr>
            <a:spLocks noGrp="1"/>
          </p:cNvSpPr>
          <p:nvPr>
            <p:ph type="title" idx="1"/>
          </p:nvPr>
        </p:nvSpPr>
        <p:spPr/>
        <p:txBody>
          <a:bodyPr/>
          <a:lstStyle/>
          <a:p>
            <a:r>
              <a:rPr lang="en-US" dirty="0">
                <a:effectLst/>
              </a:rPr>
              <a:t>Other output refinement techniques</a:t>
            </a:r>
          </a:p>
        </p:txBody>
      </p:sp>
      <p:sp>
        <p:nvSpPr>
          <p:cNvPr id="7" name="Content Placeholder 6">
            <a:extLst>
              <a:ext uri="{FF2B5EF4-FFF2-40B4-BE49-F238E27FC236}">
                <a16:creationId xmlns:a16="http://schemas.microsoft.com/office/drawing/2014/main" id="{1D7C9ADE-1B05-4D31-9C78-4B87CFF04083}"/>
              </a:ext>
            </a:extLst>
          </p:cNvPr>
          <p:cNvSpPr>
            <a:spLocks noGrp="1"/>
          </p:cNvSpPr>
          <p:nvPr>
            <p:ph idx="2"/>
          </p:nvPr>
        </p:nvSpPr>
        <p:spPr/>
        <p:txBody>
          <a:bodyPr/>
          <a:lstStyle/>
          <a:p>
            <a:pPr marL="0" indent="0">
              <a:buNone/>
            </a:pPr>
            <a:r>
              <a:rPr lang="en-US" sz="2400" b="1" dirty="0"/>
              <a:t>Filtering: </a:t>
            </a:r>
            <a:br>
              <a:rPr lang="en-US" sz="2400" dirty="0"/>
            </a:br>
            <a:r>
              <a:rPr lang="en-US" sz="2400" dirty="0"/>
              <a:t>Relevance, threshold, similarity</a:t>
            </a:r>
          </a:p>
          <a:p>
            <a:pPr marL="0" indent="0">
              <a:buNone/>
            </a:pPr>
            <a:r>
              <a:rPr lang="en-US" sz="2400" b="1" dirty="0"/>
              <a:t>Ranking and sorting: </a:t>
            </a:r>
            <a:br>
              <a:rPr lang="en-US" sz="2400" dirty="0"/>
            </a:br>
            <a:r>
              <a:rPr lang="en-US" sz="2400" dirty="0"/>
              <a:t>Contextual, diversity, preference-based</a:t>
            </a:r>
          </a:p>
          <a:p>
            <a:pPr marL="0" indent="0">
              <a:buNone/>
            </a:pPr>
            <a:r>
              <a:rPr lang="en-US" sz="2400" b="1" dirty="0"/>
              <a:t>Summarization: </a:t>
            </a:r>
            <a:br>
              <a:rPr lang="en-US" sz="2400" dirty="0"/>
            </a:br>
            <a:r>
              <a:rPr lang="en-US" sz="2400" dirty="0"/>
              <a:t>Extractive, abstractive, multi-document</a:t>
            </a:r>
          </a:p>
          <a:p>
            <a:pPr marL="0" indent="0">
              <a:buNone/>
            </a:pPr>
            <a:r>
              <a:rPr lang="en-US" sz="2400" b="1" dirty="0"/>
              <a:t>Post-processing: </a:t>
            </a:r>
            <a:br>
              <a:rPr lang="en-US" sz="2400" dirty="0"/>
            </a:br>
            <a:r>
              <a:rPr lang="en-US" sz="2400" dirty="0"/>
              <a:t>Element extraction, fact-checking, content moderation</a:t>
            </a:r>
          </a:p>
        </p:txBody>
      </p:sp>
      <p:pic>
        <p:nvPicPr>
          <p:cNvPr id="3" name="Graphic 2">
            <a:extLst>
              <a:ext uri="{FF2B5EF4-FFF2-40B4-BE49-F238E27FC236}">
                <a16:creationId xmlns:a16="http://schemas.microsoft.com/office/drawing/2014/main" id="{E8360FA1-A0B5-F4C4-90D4-E0C352419A4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66561" y="2018020"/>
            <a:ext cx="1248477" cy="1248477"/>
          </a:xfrm>
          <a:prstGeom prst="rect">
            <a:avLst/>
          </a:prstGeom>
        </p:spPr>
      </p:pic>
      <p:pic>
        <p:nvPicPr>
          <p:cNvPr id="4" name="Graphic 3">
            <a:extLst>
              <a:ext uri="{FF2B5EF4-FFF2-40B4-BE49-F238E27FC236}">
                <a16:creationId xmlns:a16="http://schemas.microsoft.com/office/drawing/2014/main" id="{BA09D3EE-2331-FF20-32B9-81972AE8DE05}"/>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49524" y="3266497"/>
            <a:ext cx="1266925" cy="1266925"/>
          </a:xfrm>
          <a:prstGeom prst="rect">
            <a:avLst/>
          </a:prstGeom>
        </p:spPr>
      </p:pic>
      <p:pic>
        <p:nvPicPr>
          <p:cNvPr id="5" name="Graphic 4">
            <a:extLst>
              <a:ext uri="{FF2B5EF4-FFF2-40B4-BE49-F238E27FC236}">
                <a16:creationId xmlns:a16="http://schemas.microsoft.com/office/drawing/2014/main" id="{221EF5F7-F3E2-370A-4AD2-3C559542A2FC}"/>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66561" y="4355069"/>
            <a:ext cx="1248477" cy="1248477"/>
          </a:xfrm>
          <a:prstGeom prst="rect">
            <a:avLst/>
          </a:prstGeom>
        </p:spPr>
      </p:pic>
    </p:spTree>
    <p:extLst>
      <p:ext uri="{BB962C8B-B14F-4D97-AF65-F5344CB8AC3E}">
        <p14:creationId xmlns:p14="http://schemas.microsoft.com/office/powerpoint/2010/main" val="4159546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25</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Model settings and parameters</a:t>
            </a:r>
          </a:p>
        </p:txBody>
      </p:sp>
    </p:spTree>
    <p:extLst>
      <p:ext uri="{BB962C8B-B14F-4D97-AF65-F5344CB8AC3E}">
        <p14:creationId xmlns:p14="http://schemas.microsoft.com/office/powerpoint/2010/main" val="21367919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13A1F84-6451-44BC-9184-CF3AFDC42D2E}"/>
              </a:ext>
            </a:extLst>
          </p:cNvPr>
          <p:cNvSpPr>
            <a:spLocks noGrp="1"/>
          </p:cNvSpPr>
          <p:nvPr>
            <p:ph type="sldNum" idx="97"/>
          </p:nvPr>
        </p:nvSpPr>
        <p:spPr/>
        <p:txBody>
          <a:bodyPr/>
          <a:lstStyle/>
          <a:p>
            <a:fld id="{4037B1B0-0345-4E15-985A-6BECCDBE474F}" type="slidenum">
              <a:rPr lang="en-US" smtClean="0"/>
              <a:pPr/>
              <a:t>26</a:t>
            </a:fld>
            <a:endParaRPr lang="en-US" dirty="0"/>
          </a:p>
        </p:txBody>
      </p:sp>
      <p:sp>
        <p:nvSpPr>
          <p:cNvPr id="3" name="Title">
            <a:extLst>
              <a:ext uri="{FF2B5EF4-FFF2-40B4-BE49-F238E27FC236}">
                <a16:creationId xmlns:a16="http://schemas.microsoft.com/office/drawing/2014/main" id="{6D7ECE1F-E47B-4DA8-8579-4D4C252A7989}"/>
              </a:ext>
            </a:extLst>
          </p:cNvPr>
          <p:cNvSpPr>
            <a:spLocks noGrp="1"/>
          </p:cNvSpPr>
          <p:nvPr>
            <p:ph type="title" idx="1"/>
          </p:nvPr>
        </p:nvSpPr>
        <p:spPr/>
        <p:txBody>
          <a:bodyPr/>
          <a:lstStyle/>
          <a:p>
            <a:r>
              <a:rPr lang="en-US" dirty="0"/>
              <a:t>Settings overview</a:t>
            </a:r>
          </a:p>
        </p:txBody>
      </p:sp>
      <p:grpSp>
        <p:nvGrpSpPr>
          <p:cNvPr id="5" name="Group 4" descr="Overview diagram showing the relationship between prompts, model parameters, and output, with emphasis on creativity level and output length.">
            <a:extLst>
              <a:ext uri="{FF2B5EF4-FFF2-40B4-BE49-F238E27FC236}">
                <a16:creationId xmlns:a16="http://schemas.microsoft.com/office/drawing/2014/main" id="{60E31FAC-D8DB-488A-AF8D-788614C3596C}"/>
              </a:ext>
            </a:extLst>
          </p:cNvPr>
          <p:cNvGrpSpPr/>
          <p:nvPr/>
        </p:nvGrpSpPr>
        <p:grpSpPr>
          <a:xfrm>
            <a:off x="2068256" y="1602510"/>
            <a:ext cx="7258824" cy="2745463"/>
            <a:chOff x="2068256" y="1602510"/>
            <a:chExt cx="7258824" cy="2745463"/>
          </a:xfrm>
        </p:grpSpPr>
        <p:grpSp>
          <p:nvGrpSpPr>
            <p:cNvPr id="7" name="Graphic 8" descr="Run ML Queries">
              <a:extLst>
                <a:ext uri="{FF2B5EF4-FFF2-40B4-BE49-F238E27FC236}">
                  <a16:creationId xmlns:a16="http://schemas.microsoft.com/office/drawing/2014/main" id="{56BB2348-3EA3-40B1-B865-A204D56EED32}"/>
                </a:ext>
              </a:extLst>
            </p:cNvPr>
            <p:cNvGrpSpPr/>
            <p:nvPr/>
          </p:nvGrpSpPr>
          <p:grpSpPr>
            <a:xfrm>
              <a:off x="5006211" y="1602510"/>
              <a:ext cx="1457290" cy="1529307"/>
              <a:chOff x="5687967" y="4500432"/>
              <a:chExt cx="619619" cy="618246"/>
            </a:xfrm>
            <a:noFill/>
          </p:grpSpPr>
          <p:sp>
            <p:nvSpPr>
              <p:cNvPr id="8" name="Freeform 11">
                <a:extLst>
                  <a:ext uri="{FF2B5EF4-FFF2-40B4-BE49-F238E27FC236}">
                    <a16:creationId xmlns:a16="http://schemas.microsoft.com/office/drawing/2014/main" id="{290A2625-5991-4728-A546-F9C17FF1B8D2}"/>
                  </a:ext>
                </a:extLst>
              </p:cNvPr>
              <p:cNvSpPr/>
              <p:nvPr/>
            </p:nvSpPr>
            <p:spPr>
              <a:xfrm>
                <a:off x="5838908" y="4611109"/>
                <a:ext cx="79465" cy="206560"/>
              </a:xfrm>
              <a:custGeom>
                <a:avLst/>
                <a:gdLst>
                  <a:gd name="connsiteX0" fmla="*/ 0 w 79465"/>
                  <a:gd name="connsiteY0" fmla="*/ 206561 h 206560"/>
                  <a:gd name="connsiteX1" fmla="*/ 0 w 79465"/>
                  <a:gd name="connsiteY1" fmla="*/ 121789 h 206560"/>
                  <a:gd name="connsiteX2" fmla="*/ 79466 w 79465"/>
                  <a:gd name="connsiteY2" fmla="*/ 82025 h 206560"/>
                  <a:gd name="connsiteX3" fmla="*/ 79466 w 79465"/>
                  <a:gd name="connsiteY3" fmla="*/ 0 h 206560"/>
                </a:gdLst>
                <a:ahLst/>
                <a:cxnLst>
                  <a:cxn ang="0">
                    <a:pos x="connsiteX0" y="connsiteY0"/>
                  </a:cxn>
                  <a:cxn ang="0">
                    <a:pos x="connsiteX1" y="connsiteY1"/>
                  </a:cxn>
                  <a:cxn ang="0">
                    <a:pos x="connsiteX2" y="connsiteY2"/>
                  </a:cxn>
                  <a:cxn ang="0">
                    <a:pos x="connsiteX3" y="connsiteY3"/>
                  </a:cxn>
                </a:cxnLst>
                <a:rect l="l" t="t" r="r" b="b"/>
                <a:pathLst>
                  <a:path w="79465" h="206560">
                    <a:moveTo>
                      <a:pt x="0" y="206561"/>
                    </a:moveTo>
                    <a:lnTo>
                      <a:pt x="0" y="121789"/>
                    </a:lnTo>
                    <a:lnTo>
                      <a:pt x="79466" y="82025"/>
                    </a:lnTo>
                    <a:lnTo>
                      <a:pt x="79466" y="0"/>
                    </a:lnTo>
                  </a:path>
                </a:pathLst>
              </a:custGeom>
              <a:noFill/>
              <a:ln w="25400" cap="flat">
                <a:solidFill>
                  <a:srgbClr val="232F3E"/>
                </a:solidFill>
                <a:prstDash val="solid"/>
                <a:round/>
              </a:ln>
            </p:spPr>
            <p:txBody>
              <a:bodyPr rtlCol="0" anchor="ctr"/>
              <a:lstStyle/>
              <a:p>
                <a:endParaRPr lang="en-US"/>
              </a:p>
            </p:txBody>
          </p:sp>
          <p:sp>
            <p:nvSpPr>
              <p:cNvPr id="9" name="Freeform 12">
                <a:extLst>
                  <a:ext uri="{FF2B5EF4-FFF2-40B4-BE49-F238E27FC236}">
                    <a16:creationId xmlns:a16="http://schemas.microsoft.com/office/drawing/2014/main" id="{BF555BF3-926B-4FEE-814C-8DC7DC0B5DDD}"/>
                  </a:ext>
                </a:extLst>
              </p:cNvPr>
              <p:cNvSpPr/>
              <p:nvPr/>
            </p:nvSpPr>
            <p:spPr>
              <a:xfrm>
                <a:off x="5765809" y="4693758"/>
                <a:ext cx="77343" cy="38640"/>
              </a:xfrm>
              <a:custGeom>
                <a:avLst/>
                <a:gdLst>
                  <a:gd name="connsiteX0" fmla="*/ 77343 w 77343"/>
                  <a:gd name="connsiteY0" fmla="*/ 38640 h 38640"/>
                  <a:gd name="connsiteX1" fmla="*/ 0 w 77343"/>
                  <a:gd name="connsiteY1" fmla="*/ 0 h 38640"/>
                </a:gdLst>
                <a:ahLst/>
                <a:cxnLst>
                  <a:cxn ang="0">
                    <a:pos x="connsiteX0" y="connsiteY0"/>
                  </a:cxn>
                  <a:cxn ang="0">
                    <a:pos x="connsiteX1" y="connsiteY1"/>
                  </a:cxn>
                </a:cxnLst>
                <a:rect l="l" t="t" r="r" b="b"/>
                <a:pathLst>
                  <a:path w="77343" h="38640">
                    <a:moveTo>
                      <a:pt x="77343" y="38640"/>
                    </a:moveTo>
                    <a:lnTo>
                      <a:pt x="0" y="0"/>
                    </a:lnTo>
                  </a:path>
                </a:pathLst>
              </a:custGeom>
              <a:ln w="25400" cap="flat">
                <a:solidFill>
                  <a:srgbClr val="232F3E"/>
                </a:solidFill>
                <a:prstDash val="solid"/>
                <a:round/>
              </a:ln>
            </p:spPr>
            <p:txBody>
              <a:bodyPr rtlCol="0" anchor="ctr"/>
              <a:lstStyle/>
              <a:p>
                <a:endParaRPr lang="en-US"/>
              </a:p>
            </p:txBody>
          </p:sp>
          <p:sp>
            <p:nvSpPr>
              <p:cNvPr id="10" name="Freeform 13">
                <a:extLst>
                  <a:ext uri="{FF2B5EF4-FFF2-40B4-BE49-F238E27FC236}">
                    <a16:creationId xmlns:a16="http://schemas.microsoft.com/office/drawing/2014/main" id="{1EA9F919-FA02-41FA-9A3C-710C870A6A4F}"/>
                  </a:ext>
                </a:extLst>
              </p:cNvPr>
              <p:cNvSpPr/>
              <p:nvPr/>
            </p:nvSpPr>
            <p:spPr>
              <a:xfrm>
                <a:off x="5846836" y="4547624"/>
                <a:ext cx="6242" cy="95258"/>
              </a:xfrm>
              <a:custGeom>
                <a:avLst/>
                <a:gdLst>
                  <a:gd name="connsiteX0" fmla="*/ 0 w 6242"/>
                  <a:gd name="connsiteY0" fmla="*/ 95259 h 95258"/>
                  <a:gd name="connsiteX1" fmla="*/ 0 w 6242"/>
                  <a:gd name="connsiteY1" fmla="*/ 0 h 95258"/>
                </a:gdLst>
                <a:ahLst/>
                <a:cxnLst>
                  <a:cxn ang="0">
                    <a:pos x="connsiteX0" y="connsiteY0"/>
                  </a:cxn>
                  <a:cxn ang="0">
                    <a:pos x="connsiteX1" y="connsiteY1"/>
                  </a:cxn>
                </a:cxnLst>
                <a:rect l="l" t="t" r="r" b="b"/>
                <a:pathLst>
                  <a:path w="6242" h="95258">
                    <a:moveTo>
                      <a:pt x="0" y="95259"/>
                    </a:moveTo>
                    <a:lnTo>
                      <a:pt x="0" y="0"/>
                    </a:lnTo>
                  </a:path>
                </a:pathLst>
              </a:custGeom>
              <a:ln w="25400" cap="flat">
                <a:solidFill>
                  <a:srgbClr val="232F3E"/>
                </a:solidFill>
                <a:prstDash val="solid"/>
                <a:round/>
              </a:ln>
            </p:spPr>
            <p:txBody>
              <a:bodyPr rtlCol="0" anchor="ctr"/>
              <a:lstStyle/>
              <a:p>
                <a:endParaRPr lang="en-US"/>
              </a:p>
            </p:txBody>
          </p:sp>
          <p:sp>
            <p:nvSpPr>
              <p:cNvPr id="11" name="Freeform 14">
                <a:extLst>
                  <a:ext uri="{FF2B5EF4-FFF2-40B4-BE49-F238E27FC236}">
                    <a16:creationId xmlns:a16="http://schemas.microsoft.com/office/drawing/2014/main" id="{54F8F723-BA32-48CA-A640-38C8344CB1AA}"/>
                  </a:ext>
                </a:extLst>
              </p:cNvPr>
              <p:cNvSpPr/>
              <p:nvPr/>
            </p:nvSpPr>
            <p:spPr>
              <a:xfrm>
                <a:off x="5688528" y="4770040"/>
                <a:ext cx="74409" cy="43821"/>
              </a:xfrm>
              <a:custGeom>
                <a:avLst/>
                <a:gdLst>
                  <a:gd name="connsiteX0" fmla="*/ 0 w 74409"/>
                  <a:gd name="connsiteY0" fmla="*/ 43822 h 43821"/>
                  <a:gd name="connsiteX1" fmla="*/ 74409 w 74409"/>
                  <a:gd name="connsiteY1" fmla="*/ 0 h 43821"/>
                </a:gdLst>
                <a:ahLst/>
                <a:cxnLst>
                  <a:cxn ang="0">
                    <a:pos x="connsiteX0" y="connsiteY0"/>
                  </a:cxn>
                  <a:cxn ang="0">
                    <a:pos x="connsiteX1" y="connsiteY1"/>
                  </a:cxn>
                </a:cxnLst>
                <a:rect l="l" t="t" r="r" b="b"/>
                <a:pathLst>
                  <a:path w="74409" h="43821">
                    <a:moveTo>
                      <a:pt x="0" y="43822"/>
                    </a:moveTo>
                    <a:lnTo>
                      <a:pt x="74409" y="0"/>
                    </a:lnTo>
                  </a:path>
                </a:pathLst>
              </a:custGeom>
              <a:ln w="25400" cap="flat">
                <a:solidFill>
                  <a:srgbClr val="232F3E"/>
                </a:solidFill>
                <a:prstDash val="solid"/>
                <a:round/>
              </a:ln>
            </p:spPr>
            <p:txBody>
              <a:bodyPr rtlCol="0" anchor="ctr"/>
              <a:lstStyle/>
              <a:p>
                <a:endParaRPr lang="en-US"/>
              </a:p>
            </p:txBody>
          </p:sp>
          <p:sp>
            <p:nvSpPr>
              <p:cNvPr id="12" name="Freeform 15">
                <a:extLst>
                  <a:ext uri="{FF2B5EF4-FFF2-40B4-BE49-F238E27FC236}">
                    <a16:creationId xmlns:a16="http://schemas.microsoft.com/office/drawing/2014/main" id="{72C322B5-66A2-43FC-8511-CACB69787C33}"/>
                  </a:ext>
                </a:extLst>
              </p:cNvPr>
              <p:cNvSpPr/>
              <p:nvPr/>
            </p:nvSpPr>
            <p:spPr>
              <a:xfrm>
                <a:off x="5765809" y="4887023"/>
                <a:ext cx="77343" cy="51562"/>
              </a:xfrm>
              <a:custGeom>
                <a:avLst/>
                <a:gdLst>
                  <a:gd name="connsiteX0" fmla="*/ 0 w 77343"/>
                  <a:gd name="connsiteY0" fmla="*/ 51562 h 51562"/>
                  <a:gd name="connsiteX1" fmla="*/ 77343 w 77343"/>
                  <a:gd name="connsiteY1" fmla="*/ 0 h 51562"/>
                </a:gdLst>
                <a:ahLst/>
                <a:cxnLst>
                  <a:cxn ang="0">
                    <a:pos x="connsiteX0" y="connsiteY0"/>
                  </a:cxn>
                  <a:cxn ang="0">
                    <a:pos x="connsiteX1" y="connsiteY1"/>
                  </a:cxn>
                </a:cxnLst>
                <a:rect l="l" t="t" r="r" b="b"/>
                <a:pathLst>
                  <a:path w="77343" h="51562">
                    <a:moveTo>
                      <a:pt x="0" y="51562"/>
                    </a:moveTo>
                    <a:lnTo>
                      <a:pt x="77343" y="0"/>
                    </a:lnTo>
                  </a:path>
                </a:pathLst>
              </a:custGeom>
              <a:ln w="25400" cap="flat">
                <a:solidFill>
                  <a:srgbClr val="232F3E"/>
                </a:solidFill>
                <a:prstDash val="solid"/>
                <a:round/>
              </a:ln>
            </p:spPr>
            <p:txBody>
              <a:bodyPr rtlCol="0" anchor="ctr"/>
              <a:lstStyle/>
              <a:p>
                <a:endParaRPr lang="en-US"/>
              </a:p>
            </p:txBody>
          </p:sp>
          <p:sp>
            <p:nvSpPr>
              <p:cNvPr id="13" name="Freeform 16">
                <a:extLst>
                  <a:ext uri="{FF2B5EF4-FFF2-40B4-BE49-F238E27FC236}">
                    <a16:creationId xmlns:a16="http://schemas.microsoft.com/office/drawing/2014/main" id="{48C06170-A2C7-429B-9259-F356FA7F5B37}"/>
                  </a:ext>
                </a:extLst>
              </p:cNvPr>
              <p:cNvSpPr/>
              <p:nvPr/>
            </p:nvSpPr>
            <p:spPr>
              <a:xfrm>
                <a:off x="5838908" y="5033157"/>
                <a:ext cx="72037" cy="38702"/>
              </a:xfrm>
              <a:custGeom>
                <a:avLst/>
                <a:gdLst>
                  <a:gd name="connsiteX0" fmla="*/ 0 w 72037"/>
                  <a:gd name="connsiteY0" fmla="*/ 38703 h 38702"/>
                  <a:gd name="connsiteX1" fmla="*/ 72037 w 72037"/>
                  <a:gd name="connsiteY1" fmla="*/ 0 h 38702"/>
                </a:gdLst>
                <a:ahLst/>
                <a:cxnLst>
                  <a:cxn ang="0">
                    <a:pos x="connsiteX0" y="connsiteY0"/>
                  </a:cxn>
                  <a:cxn ang="0">
                    <a:pos x="connsiteX1" y="connsiteY1"/>
                  </a:cxn>
                </a:cxnLst>
                <a:rect l="l" t="t" r="r" b="b"/>
                <a:pathLst>
                  <a:path w="72037" h="38702">
                    <a:moveTo>
                      <a:pt x="0" y="38703"/>
                    </a:moveTo>
                    <a:lnTo>
                      <a:pt x="72037" y="0"/>
                    </a:lnTo>
                  </a:path>
                </a:pathLst>
              </a:custGeom>
              <a:ln w="25400" cap="flat">
                <a:solidFill>
                  <a:srgbClr val="232F3E"/>
                </a:solidFill>
                <a:prstDash val="solid"/>
                <a:round/>
              </a:ln>
            </p:spPr>
            <p:txBody>
              <a:bodyPr rtlCol="0" anchor="ctr"/>
              <a:lstStyle/>
              <a:p>
                <a:endParaRPr lang="en-US"/>
              </a:p>
            </p:txBody>
          </p:sp>
          <p:sp>
            <p:nvSpPr>
              <p:cNvPr id="14" name="Freeform 17">
                <a:extLst>
                  <a:ext uri="{FF2B5EF4-FFF2-40B4-BE49-F238E27FC236}">
                    <a16:creationId xmlns:a16="http://schemas.microsoft.com/office/drawing/2014/main" id="{F4363F2E-5148-410B-9187-43FDA20CA6A5}"/>
                  </a:ext>
                </a:extLst>
              </p:cNvPr>
              <p:cNvSpPr/>
              <p:nvPr/>
            </p:nvSpPr>
            <p:spPr>
              <a:xfrm>
                <a:off x="5830231" y="4887023"/>
                <a:ext cx="167545" cy="90202"/>
              </a:xfrm>
              <a:custGeom>
                <a:avLst/>
                <a:gdLst>
                  <a:gd name="connsiteX0" fmla="*/ 0 w 167545"/>
                  <a:gd name="connsiteY0" fmla="*/ 90203 h 90202"/>
                  <a:gd name="connsiteX1" fmla="*/ 167546 w 167545"/>
                  <a:gd name="connsiteY1" fmla="*/ 0 h 90202"/>
                </a:gdLst>
                <a:ahLst/>
                <a:cxnLst>
                  <a:cxn ang="0">
                    <a:pos x="connsiteX0" y="connsiteY0"/>
                  </a:cxn>
                  <a:cxn ang="0">
                    <a:pos x="connsiteX1" y="connsiteY1"/>
                  </a:cxn>
                </a:cxnLst>
                <a:rect l="l" t="t" r="r" b="b"/>
                <a:pathLst>
                  <a:path w="167545" h="90202">
                    <a:moveTo>
                      <a:pt x="0" y="90203"/>
                    </a:moveTo>
                    <a:lnTo>
                      <a:pt x="167546" y="0"/>
                    </a:lnTo>
                  </a:path>
                </a:pathLst>
              </a:custGeom>
              <a:ln w="25400" cap="flat">
                <a:solidFill>
                  <a:srgbClr val="232F3E"/>
                </a:solidFill>
                <a:prstDash val="solid"/>
                <a:round/>
              </a:ln>
            </p:spPr>
            <p:txBody>
              <a:bodyPr rtlCol="0" anchor="ctr"/>
              <a:lstStyle/>
              <a:p>
                <a:endParaRPr lang="en-US"/>
              </a:p>
            </p:txBody>
          </p:sp>
          <p:sp>
            <p:nvSpPr>
              <p:cNvPr id="15" name="Freeform 18">
                <a:extLst>
                  <a:ext uri="{FF2B5EF4-FFF2-40B4-BE49-F238E27FC236}">
                    <a16:creationId xmlns:a16="http://schemas.microsoft.com/office/drawing/2014/main" id="{9A35FE71-006F-4EE0-AE25-437010D62928}"/>
                  </a:ext>
                </a:extLst>
              </p:cNvPr>
              <p:cNvSpPr/>
              <p:nvPr/>
            </p:nvSpPr>
            <p:spPr>
              <a:xfrm>
                <a:off x="5765809" y="4809742"/>
                <a:ext cx="77343" cy="51499"/>
              </a:xfrm>
              <a:custGeom>
                <a:avLst/>
                <a:gdLst>
                  <a:gd name="connsiteX0" fmla="*/ 0 w 77343"/>
                  <a:gd name="connsiteY0" fmla="*/ 51500 h 51499"/>
                  <a:gd name="connsiteX1" fmla="*/ 77343 w 77343"/>
                  <a:gd name="connsiteY1" fmla="*/ 0 h 51499"/>
                </a:gdLst>
                <a:ahLst/>
                <a:cxnLst>
                  <a:cxn ang="0">
                    <a:pos x="connsiteX0" y="connsiteY0"/>
                  </a:cxn>
                  <a:cxn ang="0">
                    <a:pos x="connsiteX1" y="connsiteY1"/>
                  </a:cxn>
                </a:cxnLst>
                <a:rect l="l" t="t" r="r" b="b"/>
                <a:pathLst>
                  <a:path w="77343" h="51499">
                    <a:moveTo>
                      <a:pt x="0" y="51500"/>
                    </a:moveTo>
                    <a:lnTo>
                      <a:pt x="77343" y="0"/>
                    </a:lnTo>
                  </a:path>
                </a:pathLst>
              </a:custGeom>
              <a:ln w="25400" cap="flat">
                <a:solidFill>
                  <a:srgbClr val="232F3E"/>
                </a:solidFill>
                <a:prstDash val="solid"/>
                <a:round/>
              </a:ln>
            </p:spPr>
            <p:txBody>
              <a:bodyPr rtlCol="0" anchor="ctr"/>
              <a:lstStyle/>
              <a:p>
                <a:endParaRPr lang="en-US"/>
              </a:p>
            </p:txBody>
          </p:sp>
          <p:sp>
            <p:nvSpPr>
              <p:cNvPr id="16" name="Freeform 19">
                <a:extLst>
                  <a:ext uri="{FF2B5EF4-FFF2-40B4-BE49-F238E27FC236}">
                    <a16:creationId xmlns:a16="http://schemas.microsoft.com/office/drawing/2014/main" id="{EE6236E2-9DA3-47AD-86BA-766FA1A5794F}"/>
                  </a:ext>
                </a:extLst>
              </p:cNvPr>
              <p:cNvSpPr/>
              <p:nvPr/>
            </p:nvSpPr>
            <p:spPr>
              <a:xfrm>
                <a:off x="5687967" y="4500432"/>
                <a:ext cx="311432" cy="618246"/>
              </a:xfrm>
              <a:custGeom>
                <a:avLst/>
                <a:gdLst>
                  <a:gd name="connsiteX0" fmla="*/ 311433 w 311432"/>
                  <a:gd name="connsiteY0" fmla="*/ 51562 h 618246"/>
                  <a:gd name="connsiteX1" fmla="*/ 234090 w 311432"/>
                  <a:gd name="connsiteY1" fmla="*/ 0 h 618246"/>
                  <a:gd name="connsiteX2" fmla="*/ 79466 w 311432"/>
                  <a:gd name="connsiteY2" fmla="*/ 90203 h 618246"/>
                  <a:gd name="connsiteX3" fmla="*/ 79466 w 311432"/>
                  <a:gd name="connsiteY3" fmla="*/ 192141 h 618246"/>
                  <a:gd name="connsiteX4" fmla="*/ 0 w 311432"/>
                  <a:gd name="connsiteY4" fmla="*/ 232467 h 618246"/>
                  <a:gd name="connsiteX5" fmla="*/ 0 w 311432"/>
                  <a:gd name="connsiteY5" fmla="*/ 388714 h 618246"/>
                  <a:gd name="connsiteX6" fmla="*/ 79466 w 311432"/>
                  <a:gd name="connsiteY6" fmla="*/ 436218 h 618246"/>
                  <a:gd name="connsiteX7" fmla="*/ 79466 w 311432"/>
                  <a:gd name="connsiteY7" fmla="*/ 528668 h 618246"/>
                  <a:gd name="connsiteX8" fmla="*/ 233028 w 311432"/>
                  <a:gd name="connsiteY8" fmla="*/ 618246 h 618246"/>
                  <a:gd name="connsiteX9" fmla="*/ 309810 w 311432"/>
                  <a:gd name="connsiteY9" fmla="*/ 577109 h 618246"/>
                  <a:gd name="connsiteX10" fmla="*/ 309810 w 311432"/>
                  <a:gd name="connsiteY10" fmla="*/ 309310 h 618246"/>
                  <a:gd name="connsiteX11" fmla="*/ 232529 w 311432"/>
                  <a:gd name="connsiteY11" fmla="*/ 270608 h 618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1432" h="618246">
                    <a:moveTo>
                      <a:pt x="311433" y="51562"/>
                    </a:moveTo>
                    <a:lnTo>
                      <a:pt x="234090" y="0"/>
                    </a:lnTo>
                    <a:lnTo>
                      <a:pt x="79466" y="90203"/>
                    </a:lnTo>
                    <a:lnTo>
                      <a:pt x="79466" y="192141"/>
                    </a:lnTo>
                    <a:lnTo>
                      <a:pt x="0" y="232467"/>
                    </a:lnTo>
                    <a:lnTo>
                      <a:pt x="0" y="388714"/>
                    </a:lnTo>
                    <a:lnTo>
                      <a:pt x="79466" y="436218"/>
                    </a:lnTo>
                    <a:lnTo>
                      <a:pt x="79466" y="528668"/>
                    </a:lnTo>
                    <a:lnTo>
                      <a:pt x="233028" y="618246"/>
                    </a:lnTo>
                    <a:lnTo>
                      <a:pt x="309810" y="577109"/>
                    </a:lnTo>
                    <a:lnTo>
                      <a:pt x="309810" y="309310"/>
                    </a:lnTo>
                    <a:lnTo>
                      <a:pt x="232529" y="270608"/>
                    </a:lnTo>
                  </a:path>
                </a:pathLst>
              </a:custGeom>
              <a:noFill/>
              <a:ln w="25400" cap="flat">
                <a:solidFill>
                  <a:srgbClr val="232F3E"/>
                </a:solidFill>
                <a:prstDash val="solid"/>
                <a:round/>
              </a:ln>
            </p:spPr>
            <p:txBody>
              <a:bodyPr rtlCol="0" anchor="ctr"/>
              <a:lstStyle/>
              <a:p>
                <a:endParaRPr lang="en-US"/>
              </a:p>
            </p:txBody>
          </p:sp>
          <p:sp>
            <p:nvSpPr>
              <p:cNvPr id="17" name="Freeform 20">
                <a:extLst>
                  <a:ext uri="{FF2B5EF4-FFF2-40B4-BE49-F238E27FC236}">
                    <a16:creationId xmlns:a16="http://schemas.microsoft.com/office/drawing/2014/main" id="{C6F348C6-B749-48DF-BDD9-446769A7AB46}"/>
                  </a:ext>
                </a:extLst>
              </p:cNvPr>
              <p:cNvSpPr/>
              <p:nvPr/>
            </p:nvSpPr>
            <p:spPr>
              <a:xfrm>
                <a:off x="5841030" y="4809742"/>
                <a:ext cx="77343" cy="119104"/>
              </a:xfrm>
              <a:custGeom>
                <a:avLst/>
                <a:gdLst>
                  <a:gd name="connsiteX0" fmla="*/ 77343 w 77343"/>
                  <a:gd name="connsiteY0" fmla="*/ 119105 h 119104"/>
                  <a:gd name="connsiteX1" fmla="*/ 77343 w 77343"/>
                  <a:gd name="connsiteY1" fmla="*/ 51500 h 119104"/>
                  <a:gd name="connsiteX2" fmla="*/ 0 w 77343"/>
                  <a:gd name="connsiteY2" fmla="*/ 0 h 119104"/>
                </a:gdLst>
                <a:ahLst/>
                <a:cxnLst>
                  <a:cxn ang="0">
                    <a:pos x="connsiteX0" y="connsiteY0"/>
                  </a:cxn>
                  <a:cxn ang="0">
                    <a:pos x="connsiteX1" y="connsiteY1"/>
                  </a:cxn>
                  <a:cxn ang="0">
                    <a:pos x="connsiteX2" y="connsiteY2"/>
                  </a:cxn>
                </a:cxnLst>
                <a:rect l="l" t="t" r="r" b="b"/>
                <a:pathLst>
                  <a:path w="77343" h="119104">
                    <a:moveTo>
                      <a:pt x="77343" y="119105"/>
                    </a:moveTo>
                    <a:lnTo>
                      <a:pt x="77343" y="51500"/>
                    </a:lnTo>
                    <a:lnTo>
                      <a:pt x="0" y="0"/>
                    </a:lnTo>
                  </a:path>
                </a:pathLst>
              </a:custGeom>
              <a:noFill/>
              <a:ln w="25400" cap="flat">
                <a:solidFill>
                  <a:srgbClr val="232F3E"/>
                </a:solidFill>
                <a:prstDash val="solid"/>
                <a:round/>
              </a:ln>
            </p:spPr>
            <p:txBody>
              <a:bodyPr rtlCol="0" anchor="ctr"/>
              <a:lstStyle/>
              <a:p>
                <a:endParaRPr lang="en-US"/>
              </a:p>
            </p:txBody>
          </p:sp>
          <p:sp>
            <p:nvSpPr>
              <p:cNvPr id="18" name="Freeform 21">
                <a:extLst>
                  <a:ext uri="{FF2B5EF4-FFF2-40B4-BE49-F238E27FC236}">
                    <a16:creationId xmlns:a16="http://schemas.microsoft.com/office/drawing/2014/main" id="{9BC1558A-A24D-4954-8954-E9C768BDD8D7}"/>
                  </a:ext>
                </a:extLst>
              </p:cNvPr>
              <p:cNvSpPr/>
              <p:nvPr/>
            </p:nvSpPr>
            <p:spPr>
              <a:xfrm>
                <a:off x="5997777" y="4500744"/>
                <a:ext cx="309809" cy="617934"/>
              </a:xfrm>
              <a:custGeom>
                <a:avLst/>
                <a:gdLst>
                  <a:gd name="connsiteX0" fmla="*/ 77343 w 309809"/>
                  <a:gd name="connsiteY0" fmla="*/ 257436 h 617934"/>
                  <a:gd name="connsiteX1" fmla="*/ 0 w 309809"/>
                  <a:gd name="connsiteY1" fmla="*/ 205874 h 617934"/>
                  <a:gd name="connsiteX2" fmla="*/ 0 w 309809"/>
                  <a:gd name="connsiteY2" fmla="*/ 51188 h 617934"/>
                  <a:gd name="connsiteX3" fmla="*/ 76781 w 309809"/>
                  <a:gd name="connsiteY3" fmla="*/ 0 h 617934"/>
                  <a:gd name="connsiteX4" fmla="*/ 230344 w 309809"/>
                  <a:gd name="connsiteY4" fmla="*/ 91826 h 617934"/>
                  <a:gd name="connsiteX5" fmla="*/ 230344 w 309809"/>
                  <a:gd name="connsiteY5" fmla="*/ 194013 h 617934"/>
                  <a:gd name="connsiteX6" fmla="*/ 309810 w 309809"/>
                  <a:gd name="connsiteY6" fmla="*/ 237461 h 617934"/>
                  <a:gd name="connsiteX7" fmla="*/ 309810 w 309809"/>
                  <a:gd name="connsiteY7" fmla="*/ 385592 h 617934"/>
                  <a:gd name="connsiteX8" fmla="*/ 230344 w 309809"/>
                  <a:gd name="connsiteY8" fmla="*/ 438528 h 617934"/>
                  <a:gd name="connsiteX9" fmla="*/ 230344 w 309809"/>
                  <a:gd name="connsiteY9" fmla="*/ 528356 h 617934"/>
                  <a:gd name="connsiteX10" fmla="*/ 76781 w 309809"/>
                  <a:gd name="connsiteY10" fmla="*/ 617934 h 617934"/>
                  <a:gd name="connsiteX11" fmla="*/ 0 w 309809"/>
                  <a:gd name="connsiteY11" fmla="*/ 579544 h 61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9809" h="617934">
                    <a:moveTo>
                      <a:pt x="77343" y="257436"/>
                    </a:moveTo>
                    <a:lnTo>
                      <a:pt x="0" y="205874"/>
                    </a:lnTo>
                    <a:lnTo>
                      <a:pt x="0" y="51188"/>
                    </a:lnTo>
                    <a:lnTo>
                      <a:pt x="76781" y="0"/>
                    </a:lnTo>
                    <a:lnTo>
                      <a:pt x="230344" y="91826"/>
                    </a:lnTo>
                    <a:lnTo>
                      <a:pt x="230344" y="194013"/>
                    </a:lnTo>
                    <a:lnTo>
                      <a:pt x="309810" y="237461"/>
                    </a:lnTo>
                    <a:lnTo>
                      <a:pt x="309810" y="385592"/>
                    </a:lnTo>
                    <a:lnTo>
                      <a:pt x="230344" y="438528"/>
                    </a:lnTo>
                    <a:lnTo>
                      <a:pt x="230344" y="528356"/>
                    </a:lnTo>
                    <a:lnTo>
                      <a:pt x="76781" y="617934"/>
                    </a:lnTo>
                    <a:lnTo>
                      <a:pt x="0" y="579544"/>
                    </a:lnTo>
                  </a:path>
                </a:pathLst>
              </a:custGeom>
              <a:noFill/>
              <a:ln w="25400" cap="flat">
                <a:solidFill>
                  <a:srgbClr val="232F3E"/>
                </a:solidFill>
                <a:prstDash val="solid"/>
                <a:round/>
              </a:ln>
            </p:spPr>
            <p:txBody>
              <a:bodyPr rtlCol="0" anchor="ctr"/>
              <a:lstStyle/>
              <a:p>
                <a:endParaRPr lang="en-US"/>
              </a:p>
            </p:txBody>
          </p:sp>
          <p:sp>
            <p:nvSpPr>
              <p:cNvPr id="19" name="Freeform 22">
                <a:extLst>
                  <a:ext uri="{FF2B5EF4-FFF2-40B4-BE49-F238E27FC236}">
                    <a16:creationId xmlns:a16="http://schemas.microsoft.com/office/drawing/2014/main" id="{59CCEE66-5377-4831-9573-944D8D75458D}"/>
                  </a:ext>
                </a:extLst>
              </p:cNvPr>
              <p:cNvSpPr/>
              <p:nvPr/>
            </p:nvSpPr>
            <p:spPr>
              <a:xfrm>
                <a:off x="6229744" y="4848382"/>
                <a:ext cx="77280" cy="38640"/>
              </a:xfrm>
              <a:custGeom>
                <a:avLst/>
                <a:gdLst>
                  <a:gd name="connsiteX0" fmla="*/ 0 w 77280"/>
                  <a:gd name="connsiteY0" fmla="*/ 0 h 38640"/>
                  <a:gd name="connsiteX1" fmla="*/ 77281 w 77280"/>
                  <a:gd name="connsiteY1" fmla="*/ 38640 h 38640"/>
                </a:gdLst>
                <a:ahLst/>
                <a:cxnLst>
                  <a:cxn ang="0">
                    <a:pos x="connsiteX0" y="connsiteY0"/>
                  </a:cxn>
                  <a:cxn ang="0">
                    <a:pos x="connsiteX1" y="connsiteY1"/>
                  </a:cxn>
                </a:cxnLst>
                <a:rect l="l" t="t" r="r" b="b"/>
                <a:pathLst>
                  <a:path w="77280" h="38640">
                    <a:moveTo>
                      <a:pt x="0" y="0"/>
                    </a:moveTo>
                    <a:lnTo>
                      <a:pt x="77281" y="38640"/>
                    </a:lnTo>
                  </a:path>
                </a:pathLst>
              </a:custGeom>
              <a:ln w="25400" cap="flat">
                <a:solidFill>
                  <a:srgbClr val="232F3E"/>
                </a:solidFill>
                <a:prstDash val="solid"/>
                <a:round/>
              </a:ln>
            </p:spPr>
            <p:txBody>
              <a:bodyPr rtlCol="0" anchor="ctr"/>
              <a:lstStyle/>
              <a:p>
                <a:endParaRPr lang="en-US"/>
              </a:p>
            </p:txBody>
          </p:sp>
          <p:sp>
            <p:nvSpPr>
              <p:cNvPr id="20" name="Freeform 23">
                <a:extLst>
                  <a:ext uri="{FF2B5EF4-FFF2-40B4-BE49-F238E27FC236}">
                    <a16:creationId xmlns:a16="http://schemas.microsoft.com/office/drawing/2014/main" id="{7E0E9DBD-0B8A-47EC-9C1E-B69838B0CB5F}"/>
                  </a:ext>
                </a:extLst>
              </p:cNvPr>
              <p:cNvSpPr/>
              <p:nvPr/>
            </p:nvSpPr>
            <p:spPr>
              <a:xfrm>
                <a:off x="6172501" y="4642883"/>
                <a:ext cx="55619" cy="6242"/>
              </a:xfrm>
              <a:custGeom>
                <a:avLst/>
                <a:gdLst>
                  <a:gd name="connsiteX0" fmla="*/ 55620 w 55619"/>
                  <a:gd name="connsiteY0" fmla="*/ 0 h 6242"/>
                  <a:gd name="connsiteX1" fmla="*/ 0 w 55619"/>
                  <a:gd name="connsiteY1" fmla="*/ 0 h 6242"/>
                </a:gdLst>
                <a:ahLst/>
                <a:cxnLst>
                  <a:cxn ang="0">
                    <a:pos x="connsiteX0" y="connsiteY0"/>
                  </a:cxn>
                  <a:cxn ang="0">
                    <a:pos x="connsiteX1" y="connsiteY1"/>
                  </a:cxn>
                </a:cxnLst>
                <a:rect l="l" t="t" r="r" b="b"/>
                <a:pathLst>
                  <a:path w="55619" h="6242">
                    <a:moveTo>
                      <a:pt x="55620" y="0"/>
                    </a:moveTo>
                    <a:lnTo>
                      <a:pt x="0" y="0"/>
                    </a:lnTo>
                  </a:path>
                </a:pathLst>
              </a:custGeom>
              <a:ln w="25400" cap="flat">
                <a:solidFill>
                  <a:srgbClr val="232F3E"/>
                </a:solidFill>
                <a:prstDash val="solid"/>
                <a:round/>
              </a:ln>
            </p:spPr>
            <p:txBody>
              <a:bodyPr rtlCol="0" anchor="ctr"/>
              <a:lstStyle/>
              <a:p>
                <a:endParaRPr lang="en-US"/>
              </a:p>
            </p:txBody>
          </p:sp>
          <p:sp>
            <p:nvSpPr>
              <p:cNvPr id="21" name="Freeform 24">
                <a:extLst>
                  <a:ext uri="{FF2B5EF4-FFF2-40B4-BE49-F238E27FC236}">
                    <a16:creationId xmlns:a16="http://schemas.microsoft.com/office/drawing/2014/main" id="{C66639AC-11C1-4375-B6A0-5F4C2D6307B9}"/>
                  </a:ext>
                </a:extLst>
              </p:cNvPr>
              <p:cNvSpPr/>
              <p:nvPr/>
            </p:nvSpPr>
            <p:spPr>
              <a:xfrm>
                <a:off x="5997777" y="4992394"/>
                <a:ext cx="79403" cy="6242"/>
              </a:xfrm>
              <a:custGeom>
                <a:avLst/>
                <a:gdLst>
                  <a:gd name="connsiteX0" fmla="*/ 0 w 79403"/>
                  <a:gd name="connsiteY0" fmla="*/ 0 h 6242"/>
                  <a:gd name="connsiteX1" fmla="*/ 79403 w 79403"/>
                  <a:gd name="connsiteY1" fmla="*/ 0 h 6242"/>
                </a:gdLst>
                <a:ahLst/>
                <a:cxnLst>
                  <a:cxn ang="0">
                    <a:pos x="connsiteX0" y="connsiteY0"/>
                  </a:cxn>
                  <a:cxn ang="0">
                    <a:pos x="connsiteX1" y="connsiteY1"/>
                  </a:cxn>
                </a:cxnLst>
                <a:rect l="l" t="t" r="r" b="b"/>
                <a:pathLst>
                  <a:path w="79403" h="6242">
                    <a:moveTo>
                      <a:pt x="0" y="0"/>
                    </a:moveTo>
                    <a:lnTo>
                      <a:pt x="79403" y="0"/>
                    </a:lnTo>
                  </a:path>
                </a:pathLst>
              </a:custGeom>
              <a:ln w="25400" cap="flat">
                <a:solidFill>
                  <a:srgbClr val="232F3E"/>
                </a:solidFill>
                <a:prstDash val="solid"/>
                <a:round/>
              </a:ln>
            </p:spPr>
            <p:txBody>
              <a:bodyPr rtlCol="0" anchor="ctr"/>
              <a:lstStyle/>
              <a:p>
                <a:endParaRPr lang="en-US"/>
              </a:p>
            </p:txBody>
          </p:sp>
          <p:sp>
            <p:nvSpPr>
              <p:cNvPr id="22" name="Freeform 25">
                <a:extLst>
                  <a:ext uri="{FF2B5EF4-FFF2-40B4-BE49-F238E27FC236}">
                    <a16:creationId xmlns:a16="http://schemas.microsoft.com/office/drawing/2014/main" id="{4867567B-33CC-41C8-B742-37E8370F3431}"/>
                  </a:ext>
                </a:extLst>
              </p:cNvPr>
              <p:cNvSpPr/>
              <p:nvPr/>
            </p:nvSpPr>
            <p:spPr>
              <a:xfrm>
                <a:off x="6124872" y="4619099"/>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3" name="Freeform 26">
                <a:extLst>
                  <a:ext uri="{FF2B5EF4-FFF2-40B4-BE49-F238E27FC236}">
                    <a16:creationId xmlns:a16="http://schemas.microsoft.com/office/drawing/2014/main" id="{939835B7-F224-4BBA-A255-4506C6B6CCD7}"/>
                  </a:ext>
                </a:extLst>
              </p:cNvPr>
              <p:cNvSpPr/>
              <p:nvPr/>
            </p:nvSpPr>
            <p:spPr>
              <a:xfrm>
                <a:off x="6180429" y="4809742"/>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5" y="0"/>
                      <a:pt x="0" y="10674"/>
                      <a:pt x="0" y="23846"/>
                    </a:cubicBezTo>
                    <a:cubicBezTo>
                      <a:pt x="0" y="37017"/>
                      <a:pt x="10675"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4" name="Freeform 27">
                <a:extLst>
                  <a:ext uri="{FF2B5EF4-FFF2-40B4-BE49-F238E27FC236}">
                    <a16:creationId xmlns:a16="http://schemas.microsoft.com/office/drawing/2014/main" id="{D5C5DC4F-9DF9-45FA-8325-4D9F7D287787}"/>
                  </a:ext>
                </a:extLst>
              </p:cNvPr>
              <p:cNvSpPr/>
              <p:nvPr/>
            </p:nvSpPr>
            <p:spPr>
              <a:xfrm>
                <a:off x="6077180" y="4746194"/>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sp>
            <p:nvSpPr>
              <p:cNvPr id="25" name="Freeform 28">
                <a:extLst>
                  <a:ext uri="{FF2B5EF4-FFF2-40B4-BE49-F238E27FC236}">
                    <a16:creationId xmlns:a16="http://schemas.microsoft.com/office/drawing/2014/main" id="{6D47D08D-6FFD-4E50-8A20-739FC9E7EA11}"/>
                  </a:ext>
                </a:extLst>
              </p:cNvPr>
              <p:cNvSpPr/>
              <p:nvPr/>
            </p:nvSpPr>
            <p:spPr>
              <a:xfrm>
                <a:off x="6077180" y="4968548"/>
                <a:ext cx="47691" cy="47691"/>
              </a:xfrm>
              <a:custGeom>
                <a:avLst/>
                <a:gdLst>
                  <a:gd name="connsiteX0" fmla="*/ 23846 w 47691"/>
                  <a:gd name="connsiteY0" fmla="*/ 0 h 47691"/>
                  <a:gd name="connsiteX1" fmla="*/ 0 w 47691"/>
                  <a:gd name="connsiteY1" fmla="*/ 23846 h 47691"/>
                  <a:gd name="connsiteX2" fmla="*/ 23846 w 47691"/>
                  <a:gd name="connsiteY2" fmla="*/ 47692 h 47691"/>
                  <a:gd name="connsiteX3" fmla="*/ 47692 w 47691"/>
                  <a:gd name="connsiteY3" fmla="*/ 23846 h 47691"/>
                  <a:gd name="connsiteX4" fmla="*/ 23846 w 47691"/>
                  <a:gd name="connsiteY4" fmla="*/ 0 h 47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91" h="47691">
                    <a:moveTo>
                      <a:pt x="23846" y="0"/>
                    </a:moveTo>
                    <a:cubicBezTo>
                      <a:pt x="10674" y="0"/>
                      <a:pt x="0" y="10674"/>
                      <a:pt x="0" y="23846"/>
                    </a:cubicBezTo>
                    <a:cubicBezTo>
                      <a:pt x="0" y="37017"/>
                      <a:pt x="10674" y="47692"/>
                      <a:pt x="23846" y="47692"/>
                    </a:cubicBezTo>
                    <a:cubicBezTo>
                      <a:pt x="37017" y="47692"/>
                      <a:pt x="47692" y="37017"/>
                      <a:pt x="47692" y="23846"/>
                    </a:cubicBezTo>
                    <a:cubicBezTo>
                      <a:pt x="47692" y="10674"/>
                      <a:pt x="37017" y="0"/>
                      <a:pt x="23846" y="0"/>
                    </a:cubicBezTo>
                    <a:close/>
                  </a:path>
                </a:pathLst>
              </a:custGeom>
              <a:noFill/>
              <a:ln w="25400" cap="flat">
                <a:solidFill>
                  <a:srgbClr val="232F3E"/>
                </a:solidFill>
                <a:prstDash val="solid"/>
                <a:round/>
              </a:ln>
            </p:spPr>
            <p:txBody>
              <a:bodyPr rtlCol="0" anchor="ctr"/>
              <a:lstStyle/>
              <a:p>
                <a:endParaRPr lang="en-US"/>
              </a:p>
            </p:txBody>
          </p:sp>
        </p:grpSp>
        <p:sp>
          <p:nvSpPr>
            <p:cNvPr id="26" name="TextBox 25">
              <a:extLst>
                <a:ext uri="{FF2B5EF4-FFF2-40B4-BE49-F238E27FC236}">
                  <a16:creationId xmlns:a16="http://schemas.microsoft.com/office/drawing/2014/main" id="{9CD7F945-0344-48E0-A289-95672712BE17}"/>
                </a:ext>
              </a:extLst>
            </p:cNvPr>
            <p:cNvSpPr txBox="1"/>
            <p:nvPr/>
          </p:nvSpPr>
          <p:spPr>
            <a:xfrm>
              <a:off x="2068256" y="2071021"/>
              <a:ext cx="1588897" cy="584775"/>
            </a:xfrm>
            <a:prstGeom prst="rect">
              <a:avLst/>
            </a:prstGeom>
            <a:noFill/>
          </p:spPr>
          <p:txBody>
            <a:bodyPr wrap="none" rtlCol="0">
              <a:spAutoFit/>
            </a:bodyPr>
            <a:lstStyle/>
            <a:p>
              <a:r>
                <a:rPr lang="en-US" sz="3200" dirty="0"/>
                <a:t>Prompt</a:t>
              </a:r>
              <a:endParaRPr lang="en-US" dirty="0"/>
            </a:p>
          </p:txBody>
        </p:sp>
        <p:sp>
          <p:nvSpPr>
            <p:cNvPr id="27" name="TextBox 26">
              <a:extLst>
                <a:ext uri="{FF2B5EF4-FFF2-40B4-BE49-F238E27FC236}">
                  <a16:creationId xmlns:a16="http://schemas.microsoft.com/office/drawing/2014/main" id="{59949CE2-5B3D-458E-8976-341E2AB67B94}"/>
                </a:ext>
              </a:extLst>
            </p:cNvPr>
            <p:cNvSpPr txBox="1"/>
            <p:nvPr/>
          </p:nvSpPr>
          <p:spPr>
            <a:xfrm>
              <a:off x="7794288" y="2074775"/>
              <a:ext cx="1532792" cy="584775"/>
            </a:xfrm>
            <a:prstGeom prst="rect">
              <a:avLst/>
            </a:prstGeom>
            <a:noFill/>
          </p:spPr>
          <p:txBody>
            <a:bodyPr wrap="none" rtlCol="0">
              <a:spAutoFit/>
            </a:bodyPr>
            <a:lstStyle/>
            <a:p>
              <a:r>
                <a:rPr lang="en-US" sz="3200" dirty="0"/>
                <a:t>Output</a:t>
              </a:r>
              <a:endParaRPr lang="en-US" dirty="0"/>
            </a:p>
          </p:txBody>
        </p:sp>
        <p:cxnSp>
          <p:nvCxnSpPr>
            <p:cNvPr id="28" name="Straight Arrow Connector 27">
              <a:extLst>
                <a:ext uri="{FF2B5EF4-FFF2-40B4-BE49-F238E27FC236}">
                  <a16:creationId xmlns:a16="http://schemas.microsoft.com/office/drawing/2014/main" id="{13AD5994-13BA-4911-A93A-434A71129524}"/>
                </a:ext>
              </a:extLst>
            </p:cNvPr>
            <p:cNvCxnSpPr/>
            <p:nvPr/>
          </p:nvCxnSpPr>
          <p:spPr>
            <a:xfrm>
              <a:off x="3827313" y="2385895"/>
              <a:ext cx="970989"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D793255-48F0-4344-903E-1B8407B156FB}"/>
                </a:ext>
              </a:extLst>
            </p:cNvPr>
            <p:cNvCxnSpPr/>
            <p:nvPr/>
          </p:nvCxnSpPr>
          <p:spPr>
            <a:xfrm>
              <a:off x="6643400" y="2377815"/>
              <a:ext cx="970989" cy="0"/>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3957953-A2A2-4404-8AFE-175C2B2FA787}"/>
                </a:ext>
              </a:extLst>
            </p:cNvPr>
            <p:cNvSpPr txBox="1"/>
            <p:nvPr/>
          </p:nvSpPr>
          <p:spPr>
            <a:xfrm>
              <a:off x="4798302" y="3332310"/>
              <a:ext cx="2079415" cy="1015663"/>
            </a:xfrm>
            <a:prstGeom prst="rect">
              <a:avLst/>
            </a:prstGeom>
            <a:noFill/>
          </p:spPr>
          <p:txBody>
            <a:bodyPr wrap="none" rtlCol="0">
              <a:spAutoFit/>
            </a:bodyPr>
            <a:lstStyle/>
            <a:p>
              <a:r>
                <a:rPr lang="en-US" sz="2400" dirty="0"/>
                <a:t>Parameters</a:t>
              </a:r>
            </a:p>
            <a:p>
              <a:pPr marL="285750" indent="-285750">
                <a:buFont typeface="Arial" panose="020B0604020202020204" pitchFamily="34" charset="0"/>
                <a:buChar char="•"/>
              </a:pPr>
              <a:r>
                <a:rPr lang="en-US" dirty="0"/>
                <a:t>Creativity level</a:t>
              </a:r>
            </a:p>
            <a:p>
              <a:pPr marL="285750" indent="-285750">
                <a:buFont typeface="Arial" panose="020B0604020202020204" pitchFamily="34" charset="0"/>
                <a:buChar char="•"/>
              </a:pPr>
              <a:r>
                <a:rPr lang="en-US" dirty="0"/>
                <a:t>Length of story</a:t>
              </a:r>
              <a:endParaRPr lang="en-US" sz="1100" dirty="0"/>
            </a:p>
          </p:txBody>
        </p:sp>
      </p:grpSp>
      <p:sp>
        <p:nvSpPr>
          <p:cNvPr id="4" name="Rectangle 3">
            <a:extLst>
              <a:ext uri="{FF2B5EF4-FFF2-40B4-BE49-F238E27FC236}">
                <a16:creationId xmlns:a16="http://schemas.microsoft.com/office/drawing/2014/main" id="{491B0E34-E8A1-C546-FFFB-C0F449AAB0AF}"/>
              </a:ext>
            </a:extLst>
          </p:cNvPr>
          <p:cNvSpPr/>
          <p:nvPr/>
        </p:nvSpPr>
        <p:spPr>
          <a:xfrm>
            <a:off x="1945517" y="4881376"/>
            <a:ext cx="7784984" cy="109895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tx1"/>
                </a:solidFill>
              </a:rPr>
              <a:t>Adjust model settings and parameters to manage level of creativity.</a:t>
            </a:r>
          </a:p>
        </p:txBody>
      </p:sp>
    </p:spTree>
    <p:extLst>
      <p:ext uri="{BB962C8B-B14F-4D97-AF65-F5344CB8AC3E}">
        <p14:creationId xmlns:p14="http://schemas.microsoft.com/office/powerpoint/2010/main" val="3384270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AF21C-7E54-36D1-A9FF-96F13447AB47}"/>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2344F2AD-20A9-827D-5B42-1C9051348D61}"/>
              </a:ext>
            </a:extLst>
          </p:cNvPr>
          <p:cNvSpPr>
            <a:spLocks noGrp="1"/>
          </p:cNvSpPr>
          <p:nvPr>
            <p:ph type="sldNum" idx="97"/>
          </p:nvPr>
        </p:nvSpPr>
        <p:spPr/>
        <p:txBody>
          <a:bodyPr/>
          <a:lstStyle/>
          <a:p>
            <a:fld id="{4037B1B0-0345-4E15-985A-6BECCDBE474F}" type="slidenum">
              <a:rPr lang="en-US" smtClean="0"/>
              <a:pPr/>
              <a:t>27</a:t>
            </a:fld>
            <a:endParaRPr lang="en-US" dirty="0"/>
          </a:p>
        </p:txBody>
      </p:sp>
      <p:sp>
        <p:nvSpPr>
          <p:cNvPr id="3" name="Title">
            <a:extLst>
              <a:ext uri="{FF2B5EF4-FFF2-40B4-BE49-F238E27FC236}">
                <a16:creationId xmlns:a16="http://schemas.microsoft.com/office/drawing/2014/main" id="{7D5052D9-E7D4-92CF-41B4-51EEF96A2887}"/>
              </a:ext>
            </a:extLst>
          </p:cNvPr>
          <p:cNvSpPr>
            <a:spLocks noGrp="1"/>
          </p:cNvSpPr>
          <p:nvPr>
            <p:ph type="title" idx="1"/>
          </p:nvPr>
        </p:nvSpPr>
        <p:spPr/>
        <p:txBody>
          <a:bodyPr/>
          <a:lstStyle/>
          <a:p>
            <a:r>
              <a:rPr lang="en-US" dirty="0">
                <a:effectLst/>
              </a:rPr>
              <a:t>Generative AI model parameters</a:t>
            </a:r>
          </a:p>
        </p:txBody>
      </p:sp>
      <p:graphicFrame>
        <p:nvGraphicFramePr>
          <p:cNvPr id="9" name="Table 8">
            <a:extLst>
              <a:ext uri="{FF2B5EF4-FFF2-40B4-BE49-F238E27FC236}">
                <a16:creationId xmlns:a16="http://schemas.microsoft.com/office/drawing/2014/main" id="{E4BC789B-1759-5992-53D5-31840C2A514A}"/>
              </a:ext>
            </a:extLst>
          </p:cNvPr>
          <p:cNvGraphicFramePr>
            <a:graphicFrameLocks noGrp="1"/>
          </p:cNvGraphicFramePr>
          <p:nvPr/>
        </p:nvGraphicFramePr>
        <p:xfrm>
          <a:off x="365759" y="1245285"/>
          <a:ext cx="11466576" cy="2565400"/>
        </p:xfrm>
        <a:graphic>
          <a:graphicData uri="http://schemas.openxmlformats.org/drawingml/2006/table">
            <a:tbl>
              <a:tblPr firstRow="1" bandRow="1">
                <a:tableStyleId>{5C22544A-7EE6-4342-B048-85BDC9FD1C3A}</a:tableStyleId>
              </a:tblPr>
              <a:tblGrid>
                <a:gridCol w="3822192">
                  <a:extLst>
                    <a:ext uri="{9D8B030D-6E8A-4147-A177-3AD203B41FA5}">
                      <a16:colId xmlns:a16="http://schemas.microsoft.com/office/drawing/2014/main" val="353534447"/>
                    </a:ext>
                  </a:extLst>
                </a:gridCol>
                <a:gridCol w="3822192">
                  <a:extLst>
                    <a:ext uri="{9D8B030D-6E8A-4147-A177-3AD203B41FA5}">
                      <a16:colId xmlns:a16="http://schemas.microsoft.com/office/drawing/2014/main" val="795105981"/>
                    </a:ext>
                  </a:extLst>
                </a:gridCol>
                <a:gridCol w="3822192">
                  <a:extLst>
                    <a:ext uri="{9D8B030D-6E8A-4147-A177-3AD203B41FA5}">
                      <a16:colId xmlns:a16="http://schemas.microsoft.com/office/drawing/2014/main" val="200431697"/>
                    </a:ext>
                  </a:extLst>
                </a:gridCol>
              </a:tblGrid>
              <a:tr h="370840">
                <a:tc>
                  <a:txBody>
                    <a:bodyPr/>
                    <a:lstStyle/>
                    <a:p>
                      <a:pPr algn="ctr"/>
                      <a:r>
                        <a:rPr lang="en-US" b="1" dirty="0">
                          <a:solidFill>
                            <a:schemeClr val="bg1"/>
                          </a:solidFill>
                          <a:effectLst/>
                        </a:rPr>
                        <a:t>Parameter</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pPr algn="ctr"/>
                      <a:r>
                        <a:rPr lang="en-US" dirty="0">
                          <a:solidFill>
                            <a:schemeClr val="bg1"/>
                          </a:solidFill>
                          <a:effectLst/>
                        </a:rPr>
                        <a:t>Low Setting</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pPr algn="ctr"/>
                      <a:r>
                        <a:rPr lang="en-US" dirty="0">
                          <a:solidFill>
                            <a:schemeClr val="bg1"/>
                          </a:solidFill>
                          <a:effectLst/>
                        </a:rPr>
                        <a:t>High Setting</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extLst>
                  <a:ext uri="{0D108BD9-81ED-4DB2-BD59-A6C34878D82A}">
                    <a16:rowId xmlns:a16="http://schemas.microsoft.com/office/drawing/2014/main" val="1676099270"/>
                  </a:ext>
                </a:extLst>
              </a:tr>
              <a:tr h="370840">
                <a:tc>
                  <a:txBody>
                    <a:bodyPr/>
                    <a:lstStyle/>
                    <a:p>
                      <a:pPr algn="ctr"/>
                      <a:r>
                        <a:rPr lang="en-US" b="1" dirty="0">
                          <a:solidFill>
                            <a:schemeClr val="bg1"/>
                          </a:solidFill>
                          <a:effectLst/>
                        </a:rPr>
                        <a:t>Temperature (0 – 1)</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pPr algn="ctr"/>
                      <a:r>
                        <a:rPr lang="en-US" sz="2400" dirty="0">
                          <a:effectLst/>
                        </a:rPr>
                        <a:t>0.2</a:t>
                      </a:r>
                      <a:br>
                        <a:rPr lang="en-US" dirty="0">
                          <a:effectLst/>
                        </a:rPr>
                      </a:br>
                      <a:r>
                        <a:rPr lang="en-US" dirty="0">
                          <a:effectLst/>
                        </a:rPr>
                        <a:t>More focused, less creative </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sz="2400" dirty="0">
                          <a:effectLst/>
                        </a:rPr>
                        <a:t>1.0</a:t>
                      </a:r>
                      <a:br>
                        <a:rPr lang="en-US" sz="2400" dirty="0">
                          <a:effectLst/>
                        </a:rPr>
                      </a:br>
                      <a:r>
                        <a:rPr lang="en-US" dirty="0">
                          <a:effectLst/>
                        </a:rPr>
                        <a:t>More diverse, more creative</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4089390685"/>
                  </a:ext>
                </a:extLst>
              </a:tr>
              <a:tr h="370840">
                <a:tc>
                  <a:txBody>
                    <a:bodyPr/>
                    <a:lstStyle/>
                    <a:p>
                      <a:pPr algn="ctr"/>
                      <a:r>
                        <a:rPr lang="en-US" b="1" dirty="0">
                          <a:solidFill>
                            <a:schemeClr val="bg1"/>
                          </a:solidFill>
                          <a:effectLst/>
                        </a:rPr>
                        <a:t>Top P (0 – 1)</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pPr algn="ctr"/>
                      <a:r>
                        <a:rPr lang="en-US" sz="2400" dirty="0">
                          <a:effectLst/>
                        </a:rPr>
                        <a:t>0.25</a:t>
                      </a:r>
                      <a:br>
                        <a:rPr lang="en-US" dirty="0">
                          <a:effectLst/>
                        </a:rPr>
                      </a:br>
                      <a:r>
                        <a:rPr lang="en-US" dirty="0">
                          <a:effectLst/>
                        </a:rPr>
                        <a:t>Limited word choices</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sz="2400" dirty="0">
                          <a:effectLst/>
                        </a:rPr>
                        <a:t>0.99</a:t>
                      </a:r>
                      <a:br>
                        <a:rPr lang="en-US" dirty="0">
                          <a:effectLst/>
                        </a:rPr>
                      </a:br>
                      <a:r>
                        <a:rPr lang="en-US" dirty="0">
                          <a:effectLst/>
                        </a:rPr>
                        <a:t>Wide range of word choices</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177687960"/>
                  </a:ext>
                </a:extLst>
              </a:tr>
              <a:tr h="370840">
                <a:tc>
                  <a:txBody>
                    <a:bodyPr/>
                    <a:lstStyle/>
                    <a:p>
                      <a:pPr algn="ctr"/>
                      <a:r>
                        <a:rPr lang="en-US" b="1" dirty="0">
                          <a:solidFill>
                            <a:schemeClr val="bg1"/>
                          </a:solidFill>
                          <a:effectLst/>
                        </a:rPr>
                        <a:t>Top K (0 – 500)</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pPr algn="ctr"/>
                      <a:r>
                        <a:rPr lang="en-US" sz="2400" dirty="0">
                          <a:effectLst/>
                        </a:rPr>
                        <a:t>10</a:t>
                      </a:r>
                      <a:br>
                        <a:rPr lang="en-US" dirty="0">
                          <a:effectLst/>
                        </a:rPr>
                      </a:br>
                      <a:r>
                        <a:rPr lang="en-US" dirty="0">
                          <a:effectLst/>
                        </a:rPr>
                        <a:t>Few word options</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sz="2400" dirty="0">
                          <a:effectLst/>
                        </a:rPr>
                        <a:t>500 </a:t>
                      </a:r>
                      <a:br>
                        <a:rPr lang="en-US" dirty="0">
                          <a:effectLst/>
                        </a:rPr>
                      </a:br>
                      <a:r>
                        <a:rPr lang="en-US" dirty="0">
                          <a:effectLst/>
                        </a:rPr>
                        <a:t>Many word options</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2549205054"/>
                  </a:ext>
                </a:extLst>
              </a:tr>
            </a:tbl>
          </a:graphicData>
        </a:graphic>
      </p:graphicFrame>
      <p:graphicFrame>
        <p:nvGraphicFramePr>
          <p:cNvPr id="10" name="Table 9">
            <a:extLst>
              <a:ext uri="{FF2B5EF4-FFF2-40B4-BE49-F238E27FC236}">
                <a16:creationId xmlns:a16="http://schemas.microsoft.com/office/drawing/2014/main" id="{1F5F8710-744A-27A0-A6D7-075209E0D29A}"/>
              </a:ext>
            </a:extLst>
          </p:cNvPr>
          <p:cNvGraphicFramePr>
            <a:graphicFrameLocks noGrp="1"/>
          </p:cNvGraphicFramePr>
          <p:nvPr/>
        </p:nvGraphicFramePr>
        <p:xfrm>
          <a:off x="365759" y="4135239"/>
          <a:ext cx="11466576" cy="1956072"/>
        </p:xfrm>
        <a:graphic>
          <a:graphicData uri="http://schemas.openxmlformats.org/drawingml/2006/table">
            <a:tbl>
              <a:tblPr firstRow="1" bandRow="1">
                <a:tableStyleId>{5C22544A-7EE6-4342-B048-85BDC9FD1C3A}</a:tableStyleId>
              </a:tblPr>
              <a:tblGrid>
                <a:gridCol w="3822192">
                  <a:extLst>
                    <a:ext uri="{9D8B030D-6E8A-4147-A177-3AD203B41FA5}">
                      <a16:colId xmlns:a16="http://schemas.microsoft.com/office/drawing/2014/main" val="353534447"/>
                    </a:ext>
                  </a:extLst>
                </a:gridCol>
                <a:gridCol w="3822192">
                  <a:extLst>
                    <a:ext uri="{9D8B030D-6E8A-4147-A177-3AD203B41FA5}">
                      <a16:colId xmlns:a16="http://schemas.microsoft.com/office/drawing/2014/main" val="3933011662"/>
                    </a:ext>
                  </a:extLst>
                </a:gridCol>
                <a:gridCol w="3822192">
                  <a:extLst>
                    <a:ext uri="{9D8B030D-6E8A-4147-A177-3AD203B41FA5}">
                      <a16:colId xmlns:a16="http://schemas.microsoft.com/office/drawing/2014/main" val="795105981"/>
                    </a:ext>
                  </a:extLst>
                </a:gridCol>
              </a:tblGrid>
              <a:tr h="439364">
                <a:tc>
                  <a:txBody>
                    <a:bodyPr/>
                    <a:lstStyle/>
                    <a:p>
                      <a:pPr algn="ctr"/>
                      <a:r>
                        <a:rPr lang="en-US" dirty="0">
                          <a:solidFill>
                            <a:schemeClr val="bg1"/>
                          </a:solidFill>
                          <a:effectLst/>
                        </a:rPr>
                        <a:t>Inference Parameter</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5276"/>
                    </a:solidFill>
                  </a:tcPr>
                </a:tc>
                <a:tc>
                  <a:txBody>
                    <a:bodyPr/>
                    <a:lstStyle/>
                    <a:p>
                      <a:pPr algn="ctr"/>
                      <a:r>
                        <a:rPr lang="en-US" dirty="0">
                          <a:solidFill>
                            <a:schemeClr val="bg1"/>
                          </a:solidFill>
                          <a:effectLst/>
                        </a:rPr>
                        <a:t>Description</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5276"/>
                    </a:solidFill>
                  </a:tcPr>
                </a:tc>
                <a:tc>
                  <a:txBody>
                    <a:bodyPr/>
                    <a:lstStyle/>
                    <a:p>
                      <a:pPr algn="ctr"/>
                      <a:r>
                        <a:rPr lang="en-US" dirty="0">
                          <a:solidFill>
                            <a:schemeClr val="bg1"/>
                          </a:solidFill>
                          <a:effectLst/>
                        </a:rPr>
                        <a:t>Purpose</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5276"/>
                    </a:solidFill>
                  </a:tcPr>
                </a:tc>
                <a:extLst>
                  <a:ext uri="{0D108BD9-81ED-4DB2-BD59-A6C34878D82A}">
                    <a16:rowId xmlns:a16="http://schemas.microsoft.com/office/drawing/2014/main" val="1676099270"/>
                  </a:ext>
                </a:extLst>
              </a:tr>
              <a:tr h="758354">
                <a:tc>
                  <a:txBody>
                    <a:bodyPr/>
                    <a:lstStyle/>
                    <a:p>
                      <a:pPr algn="ctr"/>
                      <a:r>
                        <a:rPr lang="en-US" b="1" dirty="0">
                          <a:solidFill>
                            <a:schemeClr val="bg1"/>
                          </a:solidFill>
                          <a:effectLst/>
                        </a:rPr>
                        <a:t>Maximum Length</a:t>
                      </a:r>
                      <a:endParaRPr lang="en-US" dirty="0">
                        <a:solidFill>
                          <a:schemeClr val="bg1"/>
                        </a:solidFill>
                        <a:effectLst/>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5276"/>
                    </a:solidFill>
                  </a:tcPr>
                </a:tc>
                <a:tc>
                  <a:txBody>
                    <a:bodyPr/>
                    <a:lstStyle/>
                    <a:p>
                      <a:pPr algn="ctr"/>
                      <a:r>
                        <a:rPr lang="en-US" dirty="0">
                          <a:solidFill>
                            <a:srgbClr val="000716"/>
                          </a:solidFill>
                          <a:effectLst/>
                        </a:rPr>
                        <a:t>Token limit</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dirty="0">
                          <a:solidFill>
                            <a:srgbClr val="000716"/>
                          </a:solidFill>
                          <a:effectLst/>
                        </a:rPr>
                        <a:t>Prevents excessive output</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4089390685"/>
                  </a:ext>
                </a:extLst>
              </a:tr>
              <a:tr h="758354">
                <a:tc>
                  <a:txBody>
                    <a:bodyPr/>
                    <a:lstStyle/>
                    <a:p>
                      <a:pPr algn="ctr"/>
                      <a:r>
                        <a:rPr lang="en-US" b="1" dirty="0">
                          <a:solidFill>
                            <a:schemeClr val="bg1"/>
                          </a:solidFill>
                          <a:effectLst/>
                        </a:rPr>
                        <a:t>Stop Sequences</a:t>
                      </a:r>
                      <a:endParaRPr lang="en-US" dirty="0">
                        <a:solidFill>
                          <a:schemeClr val="bg1"/>
                        </a:solidFill>
                        <a:effectLst/>
                      </a:endParaRP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5276"/>
                    </a:solidFill>
                  </a:tcPr>
                </a:tc>
                <a:tc>
                  <a:txBody>
                    <a:bodyPr/>
                    <a:lstStyle/>
                    <a:p>
                      <a:pPr algn="ctr"/>
                      <a:r>
                        <a:rPr lang="en-US" dirty="0">
                          <a:solidFill>
                            <a:srgbClr val="000716"/>
                          </a:solidFill>
                          <a:effectLst/>
                        </a:rPr>
                        <a:t>End-of-generation signals</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tc>
                  <a:txBody>
                    <a:bodyPr/>
                    <a:lstStyle/>
                    <a:p>
                      <a:pPr algn="ctr"/>
                      <a:r>
                        <a:rPr lang="en-US" dirty="0">
                          <a:solidFill>
                            <a:srgbClr val="000716"/>
                          </a:solidFill>
                          <a:effectLst/>
                        </a:rPr>
                        <a:t>Multiple sequences possible</a:t>
                      </a:r>
                    </a:p>
                  </a:txBody>
                  <a:tcPr anchor="ct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177687960"/>
                  </a:ext>
                </a:extLst>
              </a:tr>
            </a:tbl>
          </a:graphicData>
        </a:graphic>
      </p:graphicFrame>
    </p:spTree>
    <p:extLst>
      <p:ext uri="{BB962C8B-B14F-4D97-AF65-F5344CB8AC3E}">
        <p14:creationId xmlns:p14="http://schemas.microsoft.com/office/powerpoint/2010/main" val="3108940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40BAD88-757F-3050-176F-EA32A97DF002}"/>
              </a:ext>
            </a:extLst>
          </p:cNvPr>
          <p:cNvSpPr>
            <a:spLocks noGrp="1"/>
          </p:cNvSpPr>
          <p:nvPr>
            <p:ph type="sldNum" idx="97"/>
          </p:nvPr>
        </p:nvSpPr>
        <p:spPr/>
        <p:txBody>
          <a:bodyPr/>
          <a:lstStyle/>
          <a:p>
            <a:fld id="{4037B1B0-0345-4E15-985A-6BECCDBE474F}" type="slidenum">
              <a:rPr lang="en-US" smtClean="0"/>
              <a:pPr/>
              <a:t>28</a:t>
            </a:fld>
            <a:endParaRPr lang="en-US" dirty="0"/>
          </a:p>
        </p:txBody>
      </p:sp>
      <p:sp>
        <p:nvSpPr>
          <p:cNvPr id="3" name="Title">
            <a:extLst>
              <a:ext uri="{FF2B5EF4-FFF2-40B4-BE49-F238E27FC236}">
                <a16:creationId xmlns:a16="http://schemas.microsoft.com/office/drawing/2014/main" id="{C7877931-2058-06A8-20E4-A5B70F4A47B5}"/>
              </a:ext>
            </a:extLst>
          </p:cNvPr>
          <p:cNvSpPr>
            <a:spLocks noGrp="1"/>
          </p:cNvSpPr>
          <p:nvPr>
            <p:ph type="title" idx="1"/>
          </p:nvPr>
        </p:nvSpPr>
        <p:spPr/>
        <p:txBody>
          <a:bodyPr/>
          <a:lstStyle/>
          <a:p>
            <a:r>
              <a:rPr lang="en-US" dirty="0"/>
              <a:t>Prompt example</a:t>
            </a:r>
          </a:p>
        </p:txBody>
      </p:sp>
      <p:sp>
        <p:nvSpPr>
          <p:cNvPr id="4" name="Content Placeholder 3">
            <a:extLst>
              <a:ext uri="{FF2B5EF4-FFF2-40B4-BE49-F238E27FC236}">
                <a16:creationId xmlns:a16="http://schemas.microsoft.com/office/drawing/2014/main" id="{65CC398F-6CB1-BB73-FF7E-140FE9BC9CC3}"/>
              </a:ext>
            </a:extLst>
          </p:cNvPr>
          <p:cNvSpPr>
            <a:spLocks noGrp="1"/>
          </p:cNvSpPr>
          <p:nvPr>
            <p:ph idx="4294967295"/>
          </p:nvPr>
        </p:nvSpPr>
        <p:spPr>
          <a:xfrm>
            <a:off x="1579817" y="1096963"/>
            <a:ext cx="9767887" cy="5330825"/>
          </a:xfrm>
        </p:spPr>
        <p:txBody>
          <a:bodyPr/>
          <a:lstStyle/>
          <a:p>
            <a:pPr marL="0" indent="0">
              <a:buNone/>
            </a:pPr>
            <a:r>
              <a:rPr lang="en-US" sz="2400" dirty="0">
                <a:solidFill>
                  <a:srgbClr val="000000"/>
                </a:solidFill>
                <a:latin typeface="Ember Display"/>
              </a:rPr>
              <a:t>Parameters:</a:t>
            </a:r>
          </a:p>
          <a:p>
            <a:pPr marL="0" indent="0">
              <a:buNone/>
            </a:pPr>
            <a:endParaRPr lang="en-US" sz="2000" b="0" i="1" dirty="0">
              <a:solidFill>
                <a:srgbClr val="000000"/>
              </a:solidFill>
              <a:effectLst/>
              <a:latin typeface="Ember Display"/>
            </a:endParaRPr>
          </a:p>
          <a:p>
            <a:pPr marL="0" indent="0">
              <a:buNone/>
            </a:pPr>
            <a:r>
              <a:rPr lang="en-US" sz="2400" dirty="0">
                <a:solidFill>
                  <a:srgbClr val="000000"/>
                </a:solidFill>
                <a:latin typeface="Ember Display"/>
              </a:rPr>
              <a:t>Prompt:</a:t>
            </a:r>
          </a:p>
          <a:p>
            <a:pPr marL="0" indent="0">
              <a:buNone/>
            </a:pPr>
            <a:endParaRPr lang="en-US" sz="2400" b="0" i="1" dirty="0">
              <a:solidFill>
                <a:srgbClr val="000000"/>
              </a:solidFill>
              <a:effectLst/>
              <a:latin typeface="Ember Display"/>
            </a:endParaRPr>
          </a:p>
          <a:p>
            <a:pPr marL="0" indent="0">
              <a:buNone/>
            </a:pPr>
            <a:r>
              <a:rPr lang="en-US" sz="1800" dirty="0"/>
              <a:t>Generate a comprehensive market analysis report for a new product category in the finance industry for an audience of small and medium-sized businesses (SMBs). Structure the report with the following sections:</a:t>
            </a:r>
            <a:br>
              <a:rPr lang="en-US" sz="1800" dirty="0"/>
            </a:br>
            <a:br>
              <a:rPr lang="en-US" sz="1800" dirty="0"/>
            </a:br>
            <a:r>
              <a:rPr lang="en-US" sz="1800" dirty="0"/>
              <a:t>1. Executive Summary</a:t>
            </a:r>
            <a:br>
              <a:rPr lang="en-US" sz="1800" dirty="0"/>
            </a:br>
            <a:r>
              <a:rPr lang="en-US" sz="1800" dirty="0"/>
              <a:t>2. Industry Overview</a:t>
            </a:r>
            <a:br>
              <a:rPr lang="en-US" sz="1800" dirty="0"/>
            </a:br>
            <a:r>
              <a:rPr lang="en-US" sz="1800" dirty="0"/>
              <a:t>3. Target Audience Analysis</a:t>
            </a:r>
            <a:br>
              <a:rPr lang="en-US" sz="1800" dirty="0"/>
            </a:br>
            <a:r>
              <a:rPr lang="en-US" sz="1800" dirty="0"/>
              <a:t>4. Competitive Landscape</a:t>
            </a:r>
            <a:br>
              <a:rPr lang="en-US" sz="1800" dirty="0"/>
            </a:br>
            <a:r>
              <a:rPr lang="en-US" sz="1800" dirty="0"/>
              <a:t>5. Product Opportunity and Recommendations</a:t>
            </a:r>
            <a:br>
              <a:rPr lang="en-US" sz="1800" dirty="0"/>
            </a:br>
            <a:r>
              <a:rPr lang="en-US" sz="1800" dirty="0"/>
              <a:t>6. Financial Projections</a:t>
            </a:r>
            <a:br>
              <a:rPr lang="en-US" sz="1800" dirty="0"/>
            </a:br>
            <a:br>
              <a:rPr lang="en-US" sz="1800" dirty="0"/>
            </a:br>
            <a:r>
              <a:rPr lang="en-US" sz="1800" dirty="0"/>
              <a:t>The tone should be professional and tailored to the target audience of SMBs.</a:t>
            </a:r>
          </a:p>
        </p:txBody>
      </p:sp>
      <p:graphicFrame>
        <p:nvGraphicFramePr>
          <p:cNvPr id="5" name="Table 4">
            <a:extLst>
              <a:ext uri="{FF2B5EF4-FFF2-40B4-BE49-F238E27FC236}">
                <a16:creationId xmlns:a16="http://schemas.microsoft.com/office/drawing/2014/main" id="{E47F38F1-B9DA-D9B4-7FC2-7E14314E0375}"/>
              </a:ext>
            </a:extLst>
          </p:cNvPr>
          <p:cNvGraphicFramePr>
            <a:graphicFrameLocks noGrp="1"/>
          </p:cNvGraphicFramePr>
          <p:nvPr/>
        </p:nvGraphicFramePr>
        <p:xfrm>
          <a:off x="3317460" y="1220377"/>
          <a:ext cx="4580835" cy="1106484"/>
        </p:xfrm>
        <a:graphic>
          <a:graphicData uri="http://schemas.openxmlformats.org/drawingml/2006/table">
            <a:tbl>
              <a:tblPr>
                <a:tableStyleId>{5C22544A-7EE6-4342-B048-85BDC9FD1C3A}</a:tableStyleId>
              </a:tblPr>
              <a:tblGrid>
                <a:gridCol w="2486992">
                  <a:extLst>
                    <a:ext uri="{9D8B030D-6E8A-4147-A177-3AD203B41FA5}">
                      <a16:colId xmlns:a16="http://schemas.microsoft.com/office/drawing/2014/main" val="3514598156"/>
                    </a:ext>
                  </a:extLst>
                </a:gridCol>
                <a:gridCol w="2093843">
                  <a:extLst>
                    <a:ext uri="{9D8B030D-6E8A-4147-A177-3AD203B41FA5}">
                      <a16:colId xmlns:a16="http://schemas.microsoft.com/office/drawing/2014/main" val="2253109376"/>
                    </a:ext>
                  </a:extLst>
                </a:gridCol>
              </a:tblGrid>
              <a:tr h="369884">
                <a:tc>
                  <a:txBody>
                    <a:bodyPr/>
                    <a:lstStyle/>
                    <a:p>
                      <a:pPr marL="0" indent="0">
                        <a:spcAft>
                          <a:spcPts val="0"/>
                        </a:spcAft>
                        <a:buNone/>
                      </a:pPr>
                      <a:r>
                        <a:rPr lang="en-US" sz="1800" dirty="0">
                          <a:solidFill>
                            <a:schemeClr val="bg1"/>
                          </a:solidFill>
                          <a:latin typeface="+mn-lt"/>
                        </a:rPr>
                        <a:t>Temperature</a:t>
                      </a:r>
                      <a:endParaRPr lang="en-US" dirty="0">
                        <a:solidFill>
                          <a:schemeClr val="bg1"/>
                        </a:solidFill>
                        <a:latin typeface="+mn-lt"/>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r>
                        <a:rPr lang="en-US" dirty="0"/>
                        <a:t>0.9</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62915210"/>
                  </a:ext>
                </a:extLst>
              </a:tr>
              <a:tr h="370840">
                <a:tc>
                  <a:txBody>
                    <a:bodyPr/>
                    <a:lstStyle/>
                    <a:p>
                      <a:r>
                        <a:rPr lang="en-US" dirty="0">
                          <a:solidFill>
                            <a:schemeClr val="bg1"/>
                          </a:solidFill>
                        </a:rPr>
                        <a:t>Top P</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r>
                        <a:rPr lang="en-US" dirty="0"/>
                        <a:t>0.999</a:t>
                      </a: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3686276278"/>
                  </a:ext>
                </a:extLst>
              </a:tr>
              <a:tr h="0">
                <a:tc>
                  <a:txBody>
                    <a:bodyPr/>
                    <a:lstStyle/>
                    <a:p>
                      <a:r>
                        <a:rPr lang="en-US" sz="1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Maximum length</a:t>
                      </a:r>
                      <a:endParaRPr lang="en-US"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solidFill>
                      <a:srgbClr val="002060"/>
                    </a:solidFill>
                  </a:tcPr>
                </a:tc>
                <a:tc>
                  <a:txBody>
                    <a:bodyPr/>
                    <a:lstStyle/>
                    <a:p>
                      <a:r>
                        <a:rPr lang="en-US" sz="1800" dirty="0">
                          <a:solidFill>
                            <a:srgbClr val="000000"/>
                          </a:solidFill>
                          <a:latin typeface="Amazon Ember Display" panose="020F0603020204020204" pitchFamily="34" charset="0"/>
                          <a:ea typeface="Amazon Ember Display" panose="020F0603020204020204" pitchFamily="34" charset="0"/>
                          <a:cs typeface="Amazon Ember Display" panose="020F0603020204020204" pitchFamily="34" charset="0"/>
                        </a:rPr>
                        <a:t>5,000</a:t>
                      </a:r>
                      <a:endParaRPr lang="en-US" dirty="0">
                        <a:latin typeface="Amazon Ember Display" panose="020F0603020204020204" pitchFamily="34" charset="0"/>
                        <a:ea typeface="Amazon Ember Display" panose="020F0603020204020204" pitchFamily="34" charset="0"/>
                        <a:cs typeface="Amazon Ember Display" panose="020F0603020204020204" pitchFamily="34" charset="0"/>
                      </a:endParaRPr>
                    </a:p>
                  </a:txBody>
                  <a:tcPr>
                    <a:lnL w="12700" cap="flat" cmpd="sng" algn="ctr">
                      <a:solidFill>
                        <a:srgbClr val="002060"/>
                      </a:solidFill>
                      <a:prstDash val="solid"/>
                      <a:round/>
                      <a:headEnd type="none" w="med" len="med"/>
                      <a:tailEnd type="none" w="med" len="med"/>
                    </a:lnL>
                    <a:lnR w="12700" cap="flat" cmpd="sng" algn="ctr">
                      <a:solidFill>
                        <a:srgbClr val="002060"/>
                      </a:solid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1109833985"/>
                  </a:ext>
                </a:extLst>
              </a:tr>
            </a:tbl>
          </a:graphicData>
        </a:graphic>
      </p:graphicFrame>
    </p:spTree>
    <p:extLst>
      <p:ext uri="{BB962C8B-B14F-4D97-AF65-F5344CB8AC3E}">
        <p14:creationId xmlns:p14="http://schemas.microsoft.com/office/powerpoint/2010/main" val="3796860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29</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Module summary</a:t>
            </a:r>
          </a:p>
        </p:txBody>
      </p:sp>
    </p:spTree>
    <p:extLst>
      <p:ext uri="{BB962C8B-B14F-4D97-AF65-F5344CB8AC3E}">
        <p14:creationId xmlns:p14="http://schemas.microsoft.com/office/powerpoint/2010/main" val="1447665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30584-2B17-DC8F-51D3-05A117066E6F}"/>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542C2995-89F3-5291-F568-DE57754677FD}"/>
              </a:ext>
            </a:extLst>
          </p:cNvPr>
          <p:cNvSpPr>
            <a:spLocks noGrp="1"/>
          </p:cNvSpPr>
          <p:nvPr>
            <p:ph type="sldNum" idx="97"/>
          </p:nvPr>
        </p:nvSpPr>
        <p:spPr/>
        <p:txBody>
          <a:bodyPr/>
          <a:lstStyle/>
          <a:p>
            <a:fld id="{4037B1B0-0345-4E15-985A-6BECCDBE474F}" type="slidenum">
              <a:rPr lang="en-US" smtClean="0"/>
              <a:pPr/>
              <a:t>30</a:t>
            </a:fld>
            <a:endParaRPr lang="en-US" dirty="0"/>
          </a:p>
        </p:txBody>
      </p:sp>
      <p:sp>
        <p:nvSpPr>
          <p:cNvPr id="3" name="Title">
            <a:extLst>
              <a:ext uri="{FF2B5EF4-FFF2-40B4-BE49-F238E27FC236}">
                <a16:creationId xmlns:a16="http://schemas.microsoft.com/office/drawing/2014/main" id="{B208A671-BA62-158A-689D-C4F3D7856554}"/>
              </a:ext>
            </a:extLst>
          </p:cNvPr>
          <p:cNvSpPr>
            <a:spLocks noGrp="1"/>
          </p:cNvSpPr>
          <p:nvPr>
            <p:ph type="title" idx="1"/>
          </p:nvPr>
        </p:nvSpPr>
        <p:spPr/>
        <p:txBody>
          <a:bodyPr/>
          <a:lstStyle/>
          <a:p>
            <a:r>
              <a:rPr lang="en-US" dirty="0"/>
              <a:t>Module summary</a:t>
            </a:r>
          </a:p>
        </p:txBody>
      </p:sp>
      <p:sp>
        <p:nvSpPr>
          <p:cNvPr id="6" name="Text Placeholder 5">
            <a:extLst>
              <a:ext uri="{FF2B5EF4-FFF2-40B4-BE49-F238E27FC236}">
                <a16:creationId xmlns:a16="http://schemas.microsoft.com/office/drawing/2014/main" id="{95A135C3-E95A-7419-BC2C-FAF86964951B}"/>
              </a:ext>
            </a:extLst>
          </p:cNvPr>
          <p:cNvSpPr>
            <a:spLocks noGrp="1"/>
          </p:cNvSpPr>
          <p:nvPr>
            <p:ph type="body" idx="3"/>
          </p:nvPr>
        </p:nvSpPr>
        <p:spPr/>
        <p:txBody>
          <a:bodyPr/>
          <a:lstStyle/>
          <a:p>
            <a:pPr marL="0" indent="0">
              <a:buNone/>
            </a:pPr>
            <a:r>
              <a:rPr lang="en-US" sz="2400" dirty="0"/>
              <a:t>You should now be able to do the following:</a:t>
            </a:r>
          </a:p>
          <a:p>
            <a:r>
              <a:rPr lang="en-US" sz="2400" dirty="0">
                <a:effectLst/>
              </a:rPr>
              <a:t>Understand and apply key prompt engineering techniques.</a:t>
            </a:r>
          </a:p>
          <a:p>
            <a:r>
              <a:rPr lang="en-US" sz="2400" dirty="0">
                <a:effectLst/>
              </a:rPr>
              <a:t>Design effective prompts using best practices for clarity, context, and specificity.</a:t>
            </a:r>
          </a:p>
          <a:p>
            <a:r>
              <a:rPr lang="en-US" sz="2400" dirty="0">
                <a:effectLst/>
              </a:rPr>
              <a:t>Optimize model parameters such as temperature and Top P to control AI output characteristics.</a:t>
            </a:r>
          </a:p>
          <a:p>
            <a:r>
              <a:rPr lang="en-US" sz="2400" dirty="0">
                <a:effectLst/>
              </a:rPr>
              <a:t>Implement output refinement and constraint techniques to improve AI-generated content quality and relevance.</a:t>
            </a:r>
          </a:p>
          <a:p>
            <a:endParaRPr lang="en-US" sz="2000" dirty="0">
              <a:effectLst/>
            </a:endParaRPr>
          </a:p>
          <a:p>
            <a:endParaRPr lang="en-US" sz="1800" dirty="0"/>
          </a:p>
          <a:p>
            <a:endParaRPr lang="en-US" sz="1800" dirty="0"/>
          </a:p>
        </p:txBody>
      </p:sp>
      <p:pic>
        <p:nvPicPr>
          <p:cNvPr id="7" name="Content Placeholder 12">
            <a:extLst>
              <a:ext uri="{FF2B5EF4-FFF2-40B4-BE49-F238E27FC236}">
                <a16:creationId xmlns:a16="http://schemas.microsoft.com/office/drawing/2014/main" id="{34B6562E-7920-40FC-9ACB-03ADE6D347A2}"/>
              </a:ext>
              <a:ext uri="{C183D7F6-B498-43B3-948B-1728B52AA6E4}">
                <adec:decorative xmlns:adec="http://schemas.microsoft.com/office/drawing/2017/decorative" val="1"/>
              </a:ext>
            </a:extLst>
          </p:cNvPr>
          <p:cNvPicPr>
            <a:picLocks noGrp="1" noChangeAspect="1"/>
          </p:cNvPicPr>
          <p:nvPr>
            <p:ph idx="2"/>
          </p:nvPr>
        </p:nvPicPr>
        <p:blipFill>
          <a:blip r:embed="rId3">
            <a:extLst>
              <a:ext uri="{28A0092B-C50C-407E-A947-70E740481C1C}">
                <a14:useLocalDpi xmlns:a14="http://schemas.microsoft.com/office/drawing/2010/main" val="0"/>
              </a:ext>
            </a:extLst>
          </a:blip>
          <a:stretch>
            <a:fillRect/>
          </a:stretch>
        </p:blipFill>
        <p:spPr>
          <a:xfrm>
            <a:off x="448469" y="2435225"/>
            <a:ext cx="3657600" cy="3657600"/>
          </a:xfrm>
          <a:prstGeom prst="rect">
            <a:avLst/>
          </a:prstGeom>
        </p:spPr>
      </p:pic>
    </p:spTree>
    <p:extLst>
      <p:ext uri="{BB962C8B-B14F-4D97-AF65-F5344CB8AC3E}">
        <p14:creationId xmlns:p14="http://schemas.microsoft.com/office/powerpoint/2010/main" val="232715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13A5742-DA58-34B3-2DEA-6138E28B51AA}"/>
              </a:ext>
            </a:extLst>
          </p:cNvPr>
          <p:cNvSpPr>
            <a:spLocks noGrp="1"/>
          </p:cNvSpPr>
          <p:nvPr>
            <p:ph type="sldNum" idx="97"/>
          </p:nvPr>
        </p:nvSpPr>
        <p:spPr/>
        <p:txBody>
          <a:bodyPr/>
          <a:lstStyle/>
          <a:p>
            <a:fld id="{4037B1B0-0345-4E15-985A-6BECCDBE474F}" type="slidenum">
              <a:rPr lang="en-US" smtClean="0"/>
              <a:pPr/>
              <a:t>31</a:t>
            </a:fld>
            <a:endParaRPr lang="en-US" dirty="0"/>
          </a:p>
        </p:txBody>
      </p:sp>
      <p:sp>
        <p:nvSpPr>
          <p:cNvPr id="10" name="Title">
            <a:extLst>
              <a:ext uri="{FF2B5EF4-FFF2-40B4-BE49-F238E27FC236}">
                <a16:creationId xmlns:a16="http://schemas.microsoft.com/office/drawing/2014/main" id="{0C1B91A1-5586-311A-1634-1AB3462261DC}"/>
              </a:ext>
            </a:extLst>
          </p:cNvPr>
          <p:cNvSpPr>
            <a:spLocks noGrp="1"/>
          </p:cNvSpPr>
          <p:nvPr>
            <p:ph type="title" idx="1"/>
          </p:nvPr>
        </p:nvSpPr>
        <p:spPr/>
        <p:txBody>
          <a:bodyPr/>
          <a:lstStyle/>
          <a:p>
            <a:r>
              <a:rPr lang="en-US" dirty="0"/>
              <a:t>References used in this module</a:t>
            </a:r>
          </a:p>
        </p:txBody>
      </p:sp>
      <p:sp>
        <p:nvSpPr>
          <p:cNvPr id="11" name="TextBox 10">
            <a:extLst>
              <a:ext uri="{FF2B5EF4-FFF2-40B4-BE49-F238E27FC236}">
                <a16:creationId xmlns:a16="http://schemas.microsoft.com/office/drawing/2014/main" id="{89C83F58-0BE4-5B4D-7A1C-4AEEEDD4E106}"/>
              </a:ext>
            </a:extLst>
          </p:cNvPr>
          <p:cNvSpPr txBox="1"/>
          <p:nvPr/>
        </p:nvSpPr>
        <p:spPr>
          <a:xfrm>
            <a:off x="735981" y="1385406"/>
            <a:ext cx="6292107" cy="3683829"/>
          </a:xfrm>
          <a:prstGeom prst="rect">
            <a:avLst/>
          </a:prstGeom>
          <a:noFill/>
        </p:spPr>
        <p:txBody>
          <a:bodyPr wrap="none" rtlCol="0">
            <a:spAutoFit/>
          </a:bodyPr>
          <a:lstStyle/>
          <a:p>
            <a:pPr>
              <a:lnSpc>
                <a:spcPct val="200000"/>
              </a:lnSpc>
            </a:pPr>
            <a:r>
              <a:rPr lang="en-US" sz="2400" dirty="0">
                <a:effectLst/>
              </a:rPr>
              <a:t>Introduction to prompt engineering</a:t>
            </a:r>
          </a:p>
          <a:p>
            <a:pPr>
              <a:lnSpc>
                <a:spcPct val="200000"/>
              </a:lnSpc>
            </a:pPr>
            <a:r>
              <a:rPr lang="en-US" sz="2400" dirty="0">
                <a:effectLst/>
              </a:rPr>
              <a:t>Prompt design best practices </a:t>
            </a:r>
          </a:p>
          <a:p>
            <a:pPr>
              <a:lnSpc>
                <a:spcPct val="200000"/>
              </a:lnSpc>
            </a:pPr>
            <a:r>
              <a:rPr lang="en-US" sz="2400" dirty="0">
                <a:effectLst/>
              </a:rPr>
              <a:t>Advancing prompting strategies</a:t>
            </a:r>
          </a:p>
          <a:p>
            <a:pPr>
              <a:lnSpc>
                <a:spcPct val="200000"/>
              </a:lnSpc>
            </a:pPr>
            <a:r>
              <a:rPr lang="en-US" sz="2400" dirty="0">
                <a:effectLst/>
              </a:rPr>
              <a:t>Model settings and parameters</a:t>
            </a:r>
          </a:p>
          <a:p>
            <a:pPr>
              <a:lnSpc>
                <a:spcPct val="200000"/>
              </a:lnSpc>
            </a:pPr>
            <a:r>
              <a:rPr lang="en-US" sz="2400" dirty="0">
                <a:effectLst/>
              </a:rPr>
              <a:t>Lab: Prompt development and optimization</a:t>
            </a:r>
          </a:p>
        </p:txBody>
      </p:sp>
      <p:pic>
        <p:nvPicPr>
          <p:cNvPr id="12" name="Content Placeholder 7">
            <a:extLst>
              <a:ext uri="{FF2B5EF4-FFF2-40B4-BE49-F238E27FC236}">
                <a16:creationId xmlns:a16="http://schemas.microsoft.com/office/drawing/2014/main" id="{628AD321-911D-9E50-27DF-A6BC528830E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87892" y="1385406"/>
            <a:ext cx="2718571" cy="2718571"/>
          </a:xfrm>
          <a:prstGeom prst="rect">
            <a:avLst/>
          </a:prstGeom>
        </p:spPr>
      </p:pic>
    </p:spTree>
    <p:extLst>
      <p:ext uri="{BB962C8B-B14F-4D97-AF65-F5344CB8AC3E}">
        <p14:creationId xmlns:p14="http://schemas.microsoft.com/office/powerpoint/2010/main" val="251292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BBA40-683C-4B09-1D77-A3E70699F675}"/>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D532BEC6-AD03-EFF9-E0D8-FF80F63C4E7B}"/>
              </a:ext>
            </a:extLst>
          </p:cNvPr>
          <p:cNvSpPr>
            <a:spLocks noGrp="1"/>
          </p:cNvSpPr>
          <p:nvPr>
            <p:ph type="sldNum" idx="97"/>
          </p:nvPr>
        </p:nvSpPr>
        <p:spPr/>
        <p:txBody>
          <a:bodyPr/>
          <a:lstStyle/>
          <a:p>
            <a:fld id="{4037B1B0-0345-4E15-985A-6BECCDBE474F}" type="slidenum">
              <a:rPr lang="en-US" smtClean="0"/>
              <a:pPr/>
              <a:t>32</a:t>
            </a:fld>
            <a:endParaRPr lang="en-US" dirty="0"/>
          </a:p>
        </p:txBody>
      </p:sp>
      <p:sp>
        <p:nvSpPr>
          <p:cNvPr id="3" name="Title">
            <a:extLst>
              <a:ext uri="{FF2B5EF4-FFF2-40B4-BE49-F238E27FC236}">
                <a16:creationId xmlns:a16="http://schemas.microsoft.com/office/drawing/2014/main" id="{5D30937A-9C0B-B6E0-13D8-5BE0204514F0}"/>
              </a:ext>
            </a:extLst>
          </p:cNvPr>
          <p:cNvSpPr>
            <a:spLocks noGrp="1"/>
          </p:cNvSpPr>
          <p:nvPr>
            <p:ph type="title" idx="1"/>
          </p:nvPr>
        </p:nvSpPr>
        <p:spPr>
          <a:xfrm>
            <a:off x="365760" y="1541983"/>
            <a:ext cx="8547012" cy="1188720"/>
          </a:xfrm>
        </p:spPr>
        <p:txBody>
          <a:bodyPr/>
          <a:lstStyle/>
          <a:p>
            <a:r>
              <a:rPr lang="en-US" dirty="0"/>
              <a:t>Lab: Optimizing Slogan Generation with Amazon Bedrock</a:t>
            </a:r>
          </a:p>
        </p:txBody>
      </p:sp>
    </p:spTree>
    <p:extLst>
      <p:ext uri="{BB962C8B-B14F-4D97-AF65-F5344CB8AC3E}">
        <p14:creationId xmlns:p14="http://schemas.microsoft.com/office/powerpoint/2010/main" val="35732411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EDEB944-44DD-4DF0-8EED-1D2367A6426F}"/>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a:extLst>
              <a:ext uri="{FF2B5EF4-FFF2-40B4-BE49-F238E27FC236}">
                <a16:creationId xmlns:a16="http://schemas.microsoft.com/office/drawing/2014/main" id="{915C8786-B754-49D8-9EC0-711B81B431C0}"/>
              </a:ext>
            </a:extLst>
          </p:cNvPr>
          <p:cNvSpPr>
            <a:spLocks noGrp="1"/>
          </p:cNvSpPr>
          <p:nvPr>
            <p:ph type="title" idx="1"/>
          </p:nvPr>
        </p:nvSpPr>
        <p:spPr/>
        <p:txBody>
          <a:bodyPr>
            <a:normAutofit fontScale="90000"/>
          </a:bodyPr>
          <a:lstStyle/>
          <a:p>
            <a:r>
              <a:rPr lang="en-US" dirty="0"/>
              <a:t>Lab: </a:t>
            </a:r>
            <a:br>
              <a:rPr lang="en-US" dirty="0"/>
            </a:br>
            <a:r>
              <a:rPr lang="en-US" dirty="0"/>
              <a:t>Optimizing Slogan Generation with Amazon Bedrock</a:t>
            </a:r>
          </a:p>
        </p:txBody>
      </p:sp>
      <p:sp>
        <p:nvSpPr>
          <p:cNvPr id="6" name="Text Placeholder 5">
            <a:extLst>
              <a:ext uri="{FF2B5EF4-FFF2-40B4-BE49-F238E27FC236}">
                <a16:creationId xmlns:a16="http://schemas.microsoft.com/office/drawing/2014/main" id="{F3130C65-9172-4528-B872-9CC22938343C}"/>
              </a:ext>
            </a:extLst>
          </p:cNvPr>
          <p:cNvSpPr>
            <a:spLocks noGrp="1"/>
          </p:cNvSpPr>
          <p:nvPr>
            <p:ph type="body" idx="3"/>
          </p:nvPr>
        </p:nvSpPr>
        <p:spPr/>
        <p:txBody>
          <a:bodyPr/>
          <a:lstStyle/>
          <a:p>
            <a:pPr marL="0" indent="0">
              <a:buNone/>
            </a:pPr>
            <a:r>
              <a:rPr lang="en-US" sz="2400" dirty="0"/>
              <a:t>In this lab, you:</a:t>
            </a:r>
          </a:p>
          <a:p>
            <a:r>
              <a:rPr lang="en-US" sz="2400" dirty="0"/>
              <a:t>Use Amazon Bedrock and Claude Sonnet</a:t>
            </a:r>
          </a:p>
          <a:p>
            <a:r>
              <a:rPr lang="en-US" sz="2400" dirty="0"/>
              <a:t>Generate advertising slogans for a marketing agency</a:t>
            </a:r>
          </a:p>
          <a:p>
            <a:r>
              <a:rPr lang="en-US" sz="2400" dirty="0"/>
              <a:t>Progressively refine prompts using prompt engineering techniques</a:t>
            </a:r>
          </a:p>
        </p:txBody>
      </p:sp>
    </p:spTree>
    <p:extLst>
      <p:ext uri="{BB962C8B-B14F-4D97-AF65-F5344CB8AC3E}">
        <p14:creationId xmlns:p14="http://schemas.microsoft.com/office/powerpoint/2010/main" val="11783445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WS Brand 2023">
  <a:themeElements>
    <a:clrScheme name="OneBrand Color Set 4">
      <a:dk1>
        <a:sysClr val="windowText" lastClr="000000"/>
      </a:dk1>
      <a:lt1>
        <a:sysClr val="window" lastClr="FFFFFF"/>
      </a:lt1>
      <a:dk2>
        <a:srgbClr val="232F3E"/>
      </a:dk2>
      <a:lt2>
        <a:srgbClr val="F1F3F3"/>
      </a:lt2>
      <a:accent1>
        <a:srgbClr val="003181"/>
      </a:accent1>
      <a:accent2>
        <a:srgbClr val="2074D5"/>
      </a:accent2>
      <a:accent3>
        <a:srgbClr val="FFAD97"/>
      </a:accent3>
      <a:accent4>
        <a:srgbClr val="F46EBB"/>
      </a:accent4>
      <a:accent5>
        <a:srgbClr val="B5335C"/>
      </a:accent5>
      <a:accent6>
        <a:srgbClr val="563377"/>
      </a:accent6>
      <a:hlink>
        <a:srgbClr val="563377"/>
      </a:hlink>
      <a:folHlink>
        <a:srgbClr val="563377"/>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heme2" id="{1618EBA3-C883-4CCF-BB5E-40E9E176BF3F}" vid="{985A9CC4-2A35-4281-ABF2-4C1A2BC123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OneBrand EVO (2023-Q2) ColorSet 4</Template>
  <TotalTime>742</TotalTime>
  <Words>8934</Words>
  <Application>Microsoft Office PowerPoint</Application>
  <PresentationFormat>Widescreen</PresentationFormat>
  <Paragraphs>753</Paragraphs>
  <Slides>33</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Amazon Ember</vt:lpstr>
      <vt:lpstr>Amazon Ember Display</vt:lpstr>
      <vt:lpstr>Amazon Ember Display Heavy</vt:lpstr>
      <vt:lpstr>Arial</vt:lpstr>
      <vt:lpstr>Calibri</vt:lpstr>
      <vt:lpstr>Ember Display</vt:lpstr>
      <vt:lpstr>Lucida Console</vt:lpstr>
      <vt:lpstr>AWS Brand 2023</vt:lpstr>
      <vt:lpstr>Module 3: Essentials of Prompt Engineering</vt:lpstr>
      <vt:lpstr>Module outline</vt:lpstr>
      <vt:lpstr>Introduction to prompt engineering</vt:lpstr>
      <vt:lpstr>Prompt engineering</vt:lpstr>
      <vt:lpstr>Prompt example</vt:lpstr>
      <vt:lpstr>Better example of prompt</vt:lpstr>
      <vt:lpstr>Prompt design best practices</vt:lpstr>
      <vt:lpstr>Best practices for prompting</vt:lpstr>
      <vt:lpstr>Prompt components</vt:lpstr>
      <vt:lpstr>Prompt elements</vt:lpstr>
      <vt:lpstr>Components and elements of prompt engineering</vt:lpstr>
      <vt:lpstr>Common questions</vt:lpstr>
      <vt:lpstr>Prompt example 1</vt:lpstr>
      <vt:lpstr>Prompt example 2</vt:lpstr>
      <vt:lpstr>Prompt example 3</vt:lpstr>
      <vt:lpstr>Advanced prompting strategies</vt:lpstr>
      <vt:lpstr>Prompt techniques</vt:lpstr>
      <vt:lpstr>Providing example output</vt:lpstr>
      <vt:lpstr>Retrieval-Augmented Generation (RAG)</vt:lpstr>
      <vt:lpstr>Using knowledge bases with FMs</vt:lpstr>
      <vt:lpstr>Tool-use prompting and action-oriented prompting</vt:lpstr>
      <vt:lpstr>CoT and ToT prompting</vt:lpstr>
      <vt:lpstr>Constraint techniques: Negative prompting</vt:lpstr>
      <vt:lpstr>Other output refinement techniques</vt:lpstr>
      <vt:lpstr>Model settings and parameters</vt:lpstr>
      <vt:lpstr>Settings overview</vt:lpstr>
      <vt:lpstr>Generative AI model parameters</vt:lpstr>
      <vt:lpstr>Prompt example</vt:lpstr>
      <vt:lpstr>Module summary</vt:lpstr>
      <vt:lpstr>Module summary</vt:lpstr>
      <vt:lpstr>References used in this module</vt:lpstr>
      <vt:lpstr>Lab: Optimizing Slogan Generation with Amazon Bedrock</vt:lpstr>
      <vt:lpstr>Lab:  Optimizing Slogan Generation with Amazon Bedrock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Essentials of Prompt Engineering</dc:title>
  <dc:creator>Sobek, Jeremy</dc:creator>
  <cp:lastModifiedBy>Sobek, Jeremy</cp:lastModifiedBy>
  <cp:revision>20</cp:revision>
  <dcterms:created xsi:type="dcterms:W3CDTF">2024-12-18T15:16:19Z</dcterms:created>
  <dcterms:modified xsi:type="dcterms:W3CDTF">2025-02-25T03:42:28Z</dcterms:modified>
</cp:coreProperties>
</file>